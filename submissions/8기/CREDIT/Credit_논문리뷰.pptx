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73" r:id="rId13"/>
    <p:sldId id="274" r:id="rId14"/>
    <p:sldId id="275" r:id="rId15"/>
    <p:sldId id="276" r:id="rId16"/>
    <p:sldId id="277" r:id="rId17"/>
    <p:sldId id="266" r:id="rId18"/>
    <p:sldId id="268" r:id="rId19"/>
    <p:sldId id="269" r:id="rId20"/>
    <p:sldId id="270" r:id="rId21"/>
    <p:sldId id="271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9022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1417320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Tools of Causal Inference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C8C8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Reflections on Machine Learning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401568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Judea Pearl (2019)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Communications of the ACM, 62(3), pp. 54–60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DOI 10.1145/3241036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58368" y="5440680"/>
            <a:ext cx="228600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5623560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9A9A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발표자</a:t>
            </a:r>
            <a:r>
              <a:rPr lang="en-US" sz="1150" dirty="0">
                <a:solidFill>
                  <a:srgbClr val="9A9A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150" dirty="0">
                <a:solidFill>
                  <a:srgbClr val="9A9A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김건우</a:t>
            </a:r>
            <a:r>
              <a:rPr lang="en-US" sz="1150" dirty="0">
                <a:solidFill>
                  <a:srgbClr val="9A9A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|   DAT 학회   |  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7" y="850643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1760471"/>
            <a:ext cx="457200" cy="45720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58368" y="176047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1760471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— 왜 지금 인과인가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58368" y="2693159"/>
            <a:ext cx="457200" cy="457200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58368" y="269315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08176" y="2693159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인과 사다리 — 세 개의 층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58368" y="3625847"/>
            <a:ext cx="457200" cy="457200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658368" y="362584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08176" y="3625847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가지 도구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58368" y="4558535"/>
            <a:ext cx="457200" cy="457200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658368" y="45585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4558535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머신러닝에 대한 성찰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116885" y="2555999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메시지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53846" y="2994409"/>
            <a:ext cx="475487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ko-KR" altLang="en-US" sz="2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</a:rPr>
              <a:t>인과법칙을 수학으로 표현할 수 있다</a:t>
            </a:r>
            <a:r>
              <a:rPr lang="en-US" altLang="ko-KR" sz="2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</a:rPr>
              <a:t>.</a:t>
            </a:r>
            <a:endParaRPr lang="en-US" sz="2000" b="1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논문이 푸는 문제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7" y="1335024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</a:t>
            </a:r>
            <a:r>
              <a:rPr lang="ko-KR" altLang="en-US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진흙이 비를 만들지 않는다</a:t>
            </a:r>
            <a:r>
              <a:rPr lang="en-US" altLang="ko-KR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.”</a:t>
            </a:r>
            <a:r>
              <a:rPr lang="ko-KR" altLang="en-US" sz="1250" dirty="0" err="1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</a:t>
            </a:r>
            <a:r>
              <a:rPr lang="ko-KR" altLang="en-US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수학으로 표현</a:t>
            </a:r>
            <a:r>
              <a:rPr lang="en-US" altLang="ko-KR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r>
              <a:rPr lang="ko-KR" altLang="en-US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증명할 수 있을까</a:t>
            </a:r>
            <a:r>
              <a:rPr lang="en-US" altLang="ko-KR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5117440" cy="3291840"/>
          </a:xfrm>
          <a:prstGeom prst="roundRect">
            <a:avLst>
              <a:gd name="adj" fmla="val 166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42416" y="2157984"/>
            <a:ext cx="434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</a:t>
            </a:r>
            <a:r>
              <a:rPr lang="ko-KR" altLang="en-US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는</a:t>
            </a:r>
            <a:r>
              <a:rPr lang="en-US" altLang="ko-KR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r>
              <a:rPr lang="ko-KR" altLang="en-US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9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통계적</a:t>
            </a:r>
            <a:r>
              <a:rPr lang="en-US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학습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724912"/>
            <a:ext cx="434934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데이터의 분포에서 패턴을 찾는다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P(y|x) — 본 것으로 예측한다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개입 · 설명 · 반사실은 다루지 못한다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블라인드 </a:t>
            </a:r>
            <a:r>
              <a:rPr lang="en-US" sz="1350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15888" y="1828800"/>
            <a:ext cx="5117440" cy="3291840"/>
          </a:xfrm>
          <a:prstGeom prst="roundRect">
            <a:avLst>
              <a:gd name="adj" fmla="val 1667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799936" y="2157984"/>
            <a:ext cx="434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r>
              <a:rPr lang="en-US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9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</a:t>
            </a:r>
            <a:r>
              <a:rPr lang="ko-KR" altLang="en-US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</a:t>
            </a:r>
            <a:r>
              <a:rPr lang="en-US" altLang="ko-KR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r>
              <a:rPr lang="en-US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인과 추론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799936" y="2724912"/>
            <a:ext cx="434934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밖의 인과 모형을 함께 쓴다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do(x) — 개입의 결과를 계산한다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“왜” 와 “만약 ~였다면” 에 답한다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인간의 인과 추론을 알고리즘화한다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775808" y="3218688"/>
            <a:ext cx="640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그림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</a:t>
            </a: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</a:t>
            </a: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가정 · 질문 · 데이터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8098383" y="2034540"/>
            <a:ext cx="50410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8070951" y="2660904"/>
            <a:ext cx="347472" cy="347472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070951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01303" y="2642616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가정을 그래프로 명시한다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070951" y="3227832"/>
            <a:ext cx="347472" cy="347472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8070951" y="3227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601303" y="3209544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</a:t>
            </a:r>
            <a:r>
              <a:rPr lang="en-US" sz="1300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추정식으로</a:t>
            </a:r>
            <a:r>
              <a:rPr lang="en-US" sz="13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300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바꾼다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0951" y="3794760"/>
            <a:ext cx="347472" cy="347472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8070951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601303" y="3776472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데이터를 넣어 값과 적합도를 얻는다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410DBD82-BD8F-8679-947A-B289A02AE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634" y="1445932"/>
            <a:ext cx="7678437" cy="50451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 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6858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</a:t>
            </a: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EBEB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103120"/>
            <a:ext cx="986911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y | do(x) )   ≠   P( y | x 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481328" y="3794760"/>
            <a:ext cx="109728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481328" y="3950208"/>
            <a:ext cx="94119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Pearl (2019) — 관찰한 x 와 개입한 x 는 서로 다른 질문이다. 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 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인과 사다리 — 세 개의 층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325880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질문의 종류가 층을 정한다 (논문 Figure 1)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84048" cy="38404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5836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38528"/>
            <a:ext cx="102531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· 연관 (Association)   —   P(y | x)   ·   보기 Seeing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67712"/>
            <a:ext cx="102531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“X를 보면 Y에 대한 믿음이 어떻게 바뀌나” — 증상과 질병, 설문 예측.  오늘날 머신러닝의 대부분이 여기.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280160" y="2980944"/>
            <a:ext cx="10253167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0" name="Shape 8"/>
          <p:cNvSpPr/>
          <p:nvPr/>
        </p:nvSpPr>
        <p:spPr>
          <a:xfrm>
            <a:off x="658368" y="3136392"/>
            <a:ext cx="384048" cy="384048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58368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108960"/>
            <a:ext cx="102531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 · 개입 (Intervention)   —   P(y | do(x))   ·   하기 Doing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438144"/>
            <a:ext cx="102531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“X를 하면 어떻게 되나” — 약의 효과, 금연 정책의 결과.  무작위 실험 또는 인과 모형이 있어야 답한다.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80160" y="4151376"/>
            <a:ext cx="10253167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5" name="Shape 13"/>
          <p:cNvSpPr/>
          <p:nvPr/>
        </p:nvSpPr>
        <p:spPr>
          <a:xfrm>
            <a:off x="658368" y="4306824"/>
            <a:ext cx="384048" cy="384048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58368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279392"/>
            <a:ext cx="102531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 · 반사실 (Counterfactual)   —   P(y_x | x′, y′)   ·   상상하기 Imagining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608576"/>
            <a:ext cx="102531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“그때 다르게 했다면 어땠을까” — 실제 인과, 책임 판단.  과학적 사고와 법적·도덕적 추론의 기본 단위.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" y="5486400"/>
            <a:ext cx="10874959" cy="640080"/>
          </a:xfrm>
          <a:prstGeom prst="roundRect">
            <a:avLst>
              <a:gd name="adj" fmla="val 8571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024128" y="5486400"/>
            <a:ext cx="10143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사다리의 원리   ·   i층 질문은 j층(j &gt; i) 정보가 있어야만 답할 수 있다 — 위에서 아래로는 되지만, 아래에서 위로는 불가능하다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 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do(x) 기호 읽는 법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325880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조건부확률과 개입확률은 왜 다른가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384048" cy="38404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58368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74520"/>
            <a:ext cx="102531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do(x)  ·  개입 연산자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03704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X를 x로 강제로 고정하고, X로 들어오던 화살표를 모두 끊는다 — 그래프에서 X의 원인들과의 연결을 잘라내는 조작.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280160" y="2798064"/>
            <a:ext cx="10253167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0" name="Shape 8"/>
          <p:cNvSpPr/>
          <p:nvPr/>
        </p:nvSpPr>
        <p:spPr>
          <a:xfrm>
            <a:off x="658368" y="2953512"/>
            <a:ext cx="384048" cy="384048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58368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926080"/>
            <a:ext cx="102531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P(y | x)  ·  관찰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255264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x인 사람들에게서 y를 본다. 왜 그들이 x가 되었는지는 묻지 않는다 — 그래서 교란 요인이 섞여 들어온다.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80160" y="3849624"/>
            <a:ext cx="10253167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5" name="Shape 13"/>
          <p:cNvSpPr/>
          <p:nvPr/>
        </p:nvSpPr>
        <p:spPr>
          <a:xfrm>
            <a:off x="658368" y="4005072"/>
            <a:ext cx="384048" cy="384048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58368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977640"/>
            <a:ext cx="102531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P(y | do(x))  ·  개입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06824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x를 시켰을 때의 y. 무작위 대조 실험이 실제로 재는 값 — 정책과 처방이 알고 싶어 하는 값.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80160" y="4901184"/>
            <a:ext cx="10253167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Shape 18"/>
          <p:cNvSpPr/>
          <p:nvPr/>
        </p:nvSpPr>
        <p:spPr>
          <a:xfrm>
            <a:off x="658368" y="5056632"/>
            <a:ext cx="384048" cy="384048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58368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029200"/>
            <a:ext cx="102531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do-calculus  ·  세 개의 변환 규칙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358384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그래프가 조건(예: 뒷문 기준)을 만족하면 do(·)를 관찰 확률식으로 바꿔 쓸 수 있다 — 실험 없이 실험값을 얻는 길.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 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사례로 보기 — 약 · 회복 · 성별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0" y="1719072"/>
            <a:ext cx="5806440" cy="5138928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02920" y="1965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가 X 와 Y </a:t>
            </a:r>
            <a:r>
              <a:rPr lang="ko-KR" altLang="en-US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교란원인이라면</a:t>
            </a:r>
            <a:r>
              <a:rPr lang="en-US" altLang="ko-KR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48840" y="251460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" name="Text 6"/>
          <p:cNvSpPr txBox="1"/>
          <p:nvPr/>
        </p:nvSpPr>
        <p:spPr>
          <a:xfrm>
            <a:off x="2148840" y="256946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· 성별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28072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관찰되는 교란 요인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85800" y="38496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· 약 복용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8736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379476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3611880" y="38496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 · 회복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08736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 flipH="1">
            <a:off x="1463040" y="3081528"/>
            <a:ext cx="1005840" cy="713232"/>
          </a:xfrm>
          <a:prstGeom prst="line">
            <a:avLst/>
          </a:prstGeom>
          <a:noFill/>
          <a:ln w="19050">
            <a:solidFill>
              <a:srgbClr val="8A8A8A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7" name="Shape 15"/>
          <p:cNvSpPr/>
          <p:nvPr/>
        </p:nvSpPr>
        <p:spPr>
          <a:xfrm>
            <a:off x="3383280" y="3081528"/>
            <a:ext cx="1005840" cy="713232"/>
          </a:xfrm>
          <a:prstGeom prst="line">
            <a:avLst/>
          </a:prstGeom>
          <a:noFill/>
          <a:ln w="19050">
            <a:solidFill>
              <a:srgbClr val="8A8A8A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8" name="Shape 16"/>
          <p:cNvSpPr/>
          <p:nvPr/>
        </p:nvSpPr>
        <p:spPr>
          <a:xfrm>
            <a:off x="2240280" y="4078224"/>
            <a:ext cx="1371600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2103120" y="4133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알고 싶은 효과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4846320" cy="0"/>
          </a:xfrm>
          <a:prstGeom prst="line">
            <a:avLst/>
          </a:prstGeom>
          <a:noFill/>
          <a:ln w="1270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02920" y="5029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추정식 (Estimand)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5303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Y | do(X) )  =  Σz  P(Y | X, Z) P(Z)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057400"/>
            <a:ext cx="50410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그냥 비교하면 안 되나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542032"/>
            <a:ext cx="504108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먹은 집단의 회복률이 더 높아도, 애초에 약을 먹는 사람과 안 먹는 사람의 성별 구성이 다르면 그 차이는 약 때문이 아닐 수 있다. 데이터만으로는 둘을 구분할 방법이 없다.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92240" y="3813048"/>
            <a:ext cx="347472" cy="347472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92240" y="3813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22592" y="37947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그래프가 Z 를 교란 요인으로 지목한다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92240" y="4379976"/>
            <a:ext cx="347472" cy="347472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492240" y="4379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022592" y="4361688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뒷문 기준이 “Z 로 층화하라”는 추정식을 만든다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92240" y="4946904"/>
            <a:ext cx="347472" cy="347472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492240" y="4946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4928616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데이터를 넣으면 개입 효과가 나온다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 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데이터를 더 모으면 되지 않나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5117440" cy="3291840"/>
          </a:xfrm>
          <a:prstGeom prst="roundRect">
            <a:avLst>
              <a:gd name="adj" fmla="val 166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42416" y="2157984"/>
            <a:ext cx="434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데이터가 아무리 많아도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724912"/>
            <a:ext cx="434934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데이터에는 1층 정보만 담긴다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목적함수를 아무리 정교하게 해도 마찬가지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“데이터 밖 세계를 참조하지 않는 한 1층”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모형을 키우는 것으로는 층이 바뀌지 않는다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15888" y="1828800"/>
            <a:ext cx="5117440" cy="3291840"/>
          </a:xfrm>
          <a:prstGeom prst="roundRect">
            <a:avLst>
              <a:gd name="adj" fmla="val 1667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799936" y="2157984"/>
            <a:ext cx="434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799936" y="2724912"/>
            <a:ext cx="434934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데이터에 없는 인과 가정 — 그래프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가정은 명시적이고 검증 가능해야 한다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d-분리가 가정의 검증 가능한 함의를 준다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 + 데이터 → 비로소 2층 · 3층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775808" y="3218688"/>
            <a:ext cx="640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아이디어 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 · 반사실 — X</a:t>
            </a:r>
            <a:r>
              <a:rPr lang="ko-KR" alt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일어나지 않은 세계를 계산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2103120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최고 층인가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523744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반사실을 알면 개입과 연관은 자동으로 따라 나온다. 반대 방향은 불가능하다 — 3층이 아래 </a:t>
            </a:r>
            <a:r>
              <a:rPr lang="en-US" sz="1250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</a:t>
            </a: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50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</a:t>
            </a:r>
            <a:r>
              <a:rPr lang="ko-KR" altLang="en-US" sz="1250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</a:t>
            </a:r>
            <a:r>
              <a:rPr lang="ko-KR" alt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대한 답을 줄 수 있다</a:t>
            </a:r>
            <a:r>
              <a:rPr lang="en-US" altLang="ko-KR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47308" y="1828800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694780" y="2103120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묻나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694780" y="2523744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“오스왈드가 쏘지 않았다면 케네디는 살아 있었을까” — 관찰된 사실(x′, y′)과 모순되는 가정을 함께 다룬다.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078224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05840" y="4352544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계산하나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4773168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구조방정식 모형이 반사실 문장의 참·거짓을 결정한다. 어떤 반사실 확률이 데이터로 추정 가능한지도 알고리즘이 판정한다.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47308" y="4078224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694780" y="4352544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6694780" y="4773168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 · 귀인 · 차별 판단, 그리고 설명. “결과의 원인”을 묻는 모든 질문이 여기 산다 — “원인의 결과”를 묻는 2층과 구분.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10904"/>
            <a:ext cx="10874959" cy="1188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남자는 약을 잘 챙겨 먹었고</a:t>
            </a:r>
            <a:r>
              <a:rPr lang="en-US" altLang="ko-KR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r>
              <a:rPr lang="ko-KR" alt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여자는 잘 안 먹었다</a:t>
            </a:r>
            <a:br>
              <a:rPr lang="en-US" altLang="ko-KR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약의 효과는 몇 %p인가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0" y="1719072"/>
            <a:ext cx="5257800" cy="5138928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관찰 데이터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복용     ○  미복용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02996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02996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02996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회복률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359152"/>
            <a:ext cx="3886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Shape 18"/>
          <p:cNvSpPr/>
          <p:nvPr/>
        </p:nvSpPr>
        <p:spPr>
          <a:xfrm>
            <a:off x="548640" y="268833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48640" y="235915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06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301752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8640" y="26883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26883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7373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606040" y="26883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34670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48640" y="301752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060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67588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48640" y="334670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334670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606040" y="334670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35661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400507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48640" y="367588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15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17373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2606040" y="367588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35661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33425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48640" y="400507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51560" y="400507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7373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2606040" y="40050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35661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48640" y="466344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48640" y="433425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1560" y="433425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17373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2606040" y="433425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35661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48640" y="499262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548640" y="466344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1051560" y="46634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17373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2606040" y="46634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35661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48640" y="532180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48640" y="499262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1051560" y="4992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17373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2606040" y="499262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35661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548640" y="565099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548640" y="5321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1051560" y="532180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17373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2606040" y="532180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79" name="Text 77"/>
          <p:cNvSpPr txBox="1"/>
          <p:nvPr/>
        </p:nvSpPr>
        <p:spPr>
          <a:xfrm>
            <a:off x="35661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577900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오차는 없다고 가정한 이상적 데이터.</a:t>
            </a:r>
            <a:endParaRPr lang="en-US" sz="9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환자가 100만 명이어도 남녀 비율이 그대로면 결과는 같다.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5806440" y="2084832"/>
            <a:ext cx="57268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약의 효과</a:t>
            </a:r>
            <a:r>
              <a:rPr lang="en-US" altLang="ko-KR" sz="15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</a:t>
            </a:r>
            <a:r>
              <a:rPr lang="ko-KR" altLang="en-US" sz="15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</a:t>
            </a:r>
            <a:r>
              <a:rPr lang="en-US" altLang="ko-KR" sz="15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500" dirty="0"/>
          </a:p>
        </p:txBody>
      </p:sp>
      <p:sp>
        <p:nvSpPr>
          <p:cNvPr id="82" name="Shape 80"/>
          <p:cNvSpPr/>
          <p:nvPr/>
        </p:nvSpPr>
        <p:spPr>
          <a:xfrm>
            <a:off x="5806440" y="2889504"/>
            <a:ext cx="54864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5806440" y="248716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84" name="Text 82"/>
          <p:cNvSpPr txBox="1"/>
          <p:nvPr/>
        </p:nvSpPr>
        <p:spPr>
          <a:xfrm>
            <a:off x="7818120" y="24871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먹으면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9555480" y="24871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안 먹으면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5806440" y="3310128"/>
            <a:ext cx="54864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5806440" y="29077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</a:t>
            </a:r>
            <a:endParaRPr lang="en-US" sz="1250" dirty="0"/>
          </a:p>
        </p:txBody>
      </p:sp>
      <p:sp>
        <p:nvSpPr>
          <p:cNvPr id="88" name="Text 86"/>
          <p:cNvSpPr txBox="1"/>
          <p:nvPr/>
        </p:nvSpPr>
        <p:spPr>
          <a:xfrm>
            <a:off x="7818120" y="290779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250" dirty="0"/>
          </a:p>
        </p:txBody>
      </p:sp>
      <p:sp>
        <p:nvSpPr>
          <p:cNvPr id="89" name="Text 87"/>
          <p:cNvSpPr txBox="1"/>
          <p:nvPr/>
        </p:nvSpPr>
        <p:spPr>
          <a:xfrm>
            <a:off x="9555480" y="290779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250" dirty="0"/>
          </a:p>
        </p:txBody>
      </p:sp>
      <p:sp>
        <p:nvSpPr>
          <p:cNvPr id="90" name="Shape 88"/>
          <p:cNvSpPr/>
          <p:nvPr/>
        </p:nvSpPr>
        <p:spPr>
          <a:xfrm>
            <a:off x="5806440" y="3730752"/>
            <a:ext cx="54864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5806440" y="332841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</a:t>
            </a:r>
            <a:endParaRPr lang="en-US" sz="1250" dirty="0"/>
          </a:p>
        </p:txBody>
      </p:sp>
      <p:sp>
        <p:nvSpPr>
          <p:cNvPr id="92" name="Text 90"/>
          <p:cNvSpPr txBox="1"/>
          <p:nvPr/>
        </p:nvSpPr>
        <p:spPr>
          <a:xfrm>
            <a:off x="7818120" y="33284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250" dirty="0"/>
          </a:p>
        </p:txBody>
      </p:sp>
      <p:sp>
        <p:nvSpPr>
          <p:cNvPr id="93" name="Text 91"/>
          <p:cNvSpPr txBox="1"/>
          <p:nvPr/>
        </p:nvSpPr>
        <p:spPr>
          <a:xfrm>
            <a:off x="9555480" y="33284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250" dirty="0"/>
          </a:p>
        </p:txBody>
      </p:sp>
      <p:sp>
        <p:nvSpPr>
          <p:cNvPr id="94" name="Text 92"/>
          <p:cNvSpPr txBox="1"/>
          <p:nvPr/>
        </p:nvSpPr>
        <p:spPr>
          <a:xfrm>
            <a:off x="5806440" y="3895344"/>
            <a:ext cx="57268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남성도 여성도 약을 먹으면 정확히 20%p 좋아진다 — 참된 인과효과는 +20%p.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806440" y="4434840"/>
            <a:ext cx="5726887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6" name="Text 94"/>
          <p:cNvSpPr txBox="1"/>
          <p:nvPr/>
        </p:nvSpPr>
        <p:spPr>
          <a:xfrm>
            <a:off x="6126480" y="4434840"/>
            <a:ext cx="50868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20%p 를 기억해두자.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데이터만 보고 이 숫자를 맞힐 수 있을까?</a:t>
            </a:r>
            <a:endParaRPr lang="en-US" sz="1350" dirty="0"/>
          </a:p>
        </p:txBody>
      </p:sp>
      <p:sp>
        <p:nvSpPr>
          <p:cNvPr id="97" name="Text 95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 ·  교란과 do(x)</a:t>
            </a:r>
            <a:endParaRPr lang="en-US" sz="900" dirty="0"/>
          </a:p>
        </p:txBody>
      </p:sp>
      <p:sp>
        <p:nvSpPr>
          <p:cNvPr id="98" name="Text 96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9"/>
          <p:cNvSpPr/>
          <p:nvPr/>
        </p:nvSpPr>
        <p:spPr>
          <a:xfrm>
            <a:off x="0" y="1719072"/>
            <a:ext cx="5257800" cy="5138928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관찰 데이터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복용     ○  미복용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02996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02996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02996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회복률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359152"/>
            <a:ext cx="3886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Shape 18"/>
          <p:cNvSpPr/>
          <p:nvPr/>
        </p:nvSpPr>
        <p:spPr>
          <a:xfrm>
            <a:off x="548640" y="268833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48640" y="235915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06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301752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8640" y="26883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26883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7373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606040" y="26883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34670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48640" y="301752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060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67588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48640" y="334670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334670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606040" y="334670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35661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400507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48640" y="367588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15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17373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2606040" y="367588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35661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33425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48640" y="400507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51560" y="400507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7373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2606040" y="40050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35661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48640" y="466344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48640" y="433425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1560" y="433425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17373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2606040" y="433425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35661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48640" y="499262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548640" y="466344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1051560" y="46634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17373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2606040" y="46634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35661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48640" y="532180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48640" y="499262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1051560" y="4992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17373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2606040" y="499262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35661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548640" y="565099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548640" y="5321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1051560" y="532180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17373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2606040" y="532180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79" name="Text 77"/>
          <p:cNvSpPr txBox="1"/>
          <p:nvPr/>
        </p:nvSpPr>
        <p:spPr>
          <a:xfrm>
            <a:off x="35661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577900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오차는 없다고 가정한 이상적 데이터.</a:t>
            </a:r>
            <a:endParaRPr lang="en-US" sz="9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환자가 100만 명이어도 남녀 비율이 그대로면 </a:t>
            </a:r>
            <a:r>
              <a:rPr lang="en-US" sz="950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</a:t>
            </a: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</a:t>
            </a:r>
            <a:r>
              <a:rPr lang="ko-KR" alt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</a:t>
            </a: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5806440" y="2084832"/>
            <a:ext cx="57268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평균</a:t>
            </a:r>
            <a:endParaRPr lang="en-US" sz="1500" dirty="0"/>
          </a:p>
        </p:txBody>
      </p:sp>
      <p:sp>
        <p:nvSpPr>
          <p:cNvPr id="82" name="Text 80"/>
          <p:cNvSpPr txBox="1"/>
          <p:nvPr/>
        </p:nvSpPr>
        <p:spPr>
          <a:xfrm>
            <a:off x="5806440" y="254203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먹은 5명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498080" y="254203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(90+90+90+90+60) / 5</a:t>
            </a:r>
            <a:endParaRPr lang="en-US" sz="1150" dirty="0"/>
          </a:p>
        </p:txBody>
      </p:sp>
      <p:sp>
        <p:nvSpPr>
          <p:cNvPr id="84" name="Text 82"/>
          <p:cNvSpPr txBox="1"/>
          <p:nvPr/>
        </p:nvSpPr>
        <p:spPr>
          <a:xfrm>
            <a:off x="10104120" y="2542032"/>
            <a:ext cx="1429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806440" y="29260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먹은 5명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7498080" y="29260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(70+40+40+40+40) / 5</a:t>
            </a:r>
            <a:endParaRPr lang="en-US" sz="1150" dirty="0"/>
          </a:p>
        </p:txBody>
      </p:sp>
      <p:sp>
        <p:nvSpPr>
          <p:cNvPr id="87" name="Text 85"/>
          <p:cNvSpPr txBox="1"/>
          <p:nvPr/>
        </p:nvSpPr>
        <p:spPr>
          <a:xfrm>
            <a:off x="10104120" y="2926080"/>
            <a:ext cx="1429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5806440" y="3346704"/>
            <a:ext cx="5726887" cy="0"/>
          </a:xfrm>
          <a:prstGeom prst="line">
            <a:avLst/>
          </a:prstGeom>
          <a:noFill/>
          <a:ln w="1270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9" name="Shape 87"/>
          <p:cNvSpPr/>
          <p:nvPr/>
        </p:nvSpPr>
        <p:spPr>
          <a:xfrm>
            <a:off x="5806440" y="3520440"/>
            <a:ext cx="5726887" cy="786384"/>
          </a:xfrm>
          <a:prstGeom prst="roundRect">
            <a:avLst>
              <a:gd name="adj" fmla="val 6977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6126480" y="352044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그룹의 차이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8549640" y="3520440"/>
            <a:ext cx="266364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+38%p</a:t>
            </a:r>
            <a:endParaRPr lang="en-US" sz="2600" dirty="0"/>
          </a:p>
        </p:txBody>
      </p:sp>
      <p:sp>
        <p:nvSpPr>
          <p:cNvPr id="92" name="Shape 90"/>
          <p:cNvSpPr/>
          <p:nvPr/>
        </p:nvSpPr>
        <p:spPr>
          <a:xfrm>
            <a:off x="5806440" y="4617720"/>
            <a:ext cx="5726887" cy="786384"/>
          </a:xfrm>
          <a:prstGeom prst="roundRect">
            <a:avLst>
              <a:gd name="adj" fmla="val 6977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6126480" y="461772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참된 인과효과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8549640" y="4617720"/>
            <a:ext cx="266364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+20%p</a:t>
            </a:r>
            <a:endParaRPr lang="en-US" sz="2600" dirty="0"/>
          </a:p>
        </p:txBody>
      </p:sp>
      <p:sp>
        <p:nvSpPr>
          <p:cNvPr id="97" name="Text 95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00" name="Text 1">
            <a:extLst>
              <a:ext uri="{FF2B5EF4-FFF2-40B4-BE49-F238E27FC236}">
                <a16:creationId xmlns:a16="http://schemas.microsoft.com/office/drawing/2014/main" id="{5397BC00-AF17-904F-5AFB-579BBA43CF99}"/>
              </a:ext>
            </a:extLst>
          </p:cNvPr>
          <p:cNvSpPr txBox="1"/>
          <p:nvPr/>
        </p:nvSpPr>
        <p:spPr>
          <a:xfrm>
            <a:off x="548640" y="310904"/>
            <a:ext cx="10874959" cy="1188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남자는 약을 잘 챙겨 먹었고</a:t>
            </a:r>
            <a:r>
              <a:rPr lang="en-US" altLang="ko-KR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r>
              <a:rPr lang="ko-KR" alt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여자는 잘 안 먹었다</a:t>
            </a:r>
            <a:br>
              <a:rPr lang="en-US" altLang="ko-KR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약의 효과는 몇 %p인가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9"/>
          <p:cNvSpPr/>
          <p:nvPr/>
        </p:nvSpPr>
        <p:spPr>
          <a:xfrm>
            <a:off x="0" y="1719072"/>
            <a:ext cx="5257800" cy="5138928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관찰 데이터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복용     ○  미복용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02996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02996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02996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회복률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359152"/>
            <a:ext cx="3886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Shape 18"/>
          <p:cNvSpPr/>
          <p:nvPr/>
        </p:nvSpPr>
        <p:spPr>
          <a:xfrm>
            <a:off x="548640" y="268833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48640" y="235915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06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301752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8640" y="26883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26883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7373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606040" y="26883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34670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48640" y="301752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060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67588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48640" y="334670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334670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606040" y="334670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35661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400507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48640" y="367588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15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17373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2606040" y="367588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35661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33425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48640" y="400507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51560" y="400507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7373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2606040" y="40050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35661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48640" y="466344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48640" y="433425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1560" y="433425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17373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2606040" y="433425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35661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48640" y="499262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548640" y="466344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1051560" y="46634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17373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2606040" y="46634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35661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48640" y="532180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48640" y="499262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1051560" y="4992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17373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2606040" y="499262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35661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548640" y="565099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548640" y="5321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1051560" y="532180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17373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2606040" y="532180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79" name="Text 77"/>
          <p:cNvSpPr txBox="1"/>
          <p:nvPr/>
        </p:nvSpPr>
        <p:spPr>
          <a:xfrm>
            <a:off x="35661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577900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오차는 없다고 가정한 이상적 데이터.</a:t>
            </a:r>
            <a:endParaRPr lang="en-US" sz="9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환자가 100만 명이어도 남녀 비율이 그대로면 결과는 같다.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5806440" y="20116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먹은 5명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498080" y="20116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(90+90+90+90+60) / 5</a:t>
            </a:r>
            <a:endParaRPr lang="en-US" sz="1150" dirty="0"/>
          </a:p>
        </p:txBody>
      </p:sp>
      <p:sp>
        <p:nvSpPr>
          <p:cNvPr id="83" name="Text 81"/>
          <p:cNvSpPr txBox="1"/>
          <p:nvPr/>
        </p:nvSpPr>
        <p:spPr>
          <a:xfrm>
            <a:off x="10104120" y="2011680"/>
            <a:ext cx="1429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806440" y="237744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먹은 5명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7498080" y="237744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(70+40+40+40+40) / 5</a:t>
            </a:r>
            <a:endParaRPr lang="en-US" sz="1150" dirty="0"/>
          </a:p>
        </p:txBody>
      </p:sp>
      <p:sp>
        <p:nvSpPr>
          <p:cNvPr id="86" name="Text 84"/>
          <p:cNvSpPr txBox="1"/>
          <p:nvPr/>
        </p:nvSpPr>
        <p:spPr>
          <a:xfrm>
            <a:off x="10104120" y="2377440"/>
            <a:ext cx="1429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46%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5806440" y="274320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7498080" y="274320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89" name="Text 87"/>
          <p:cNvSpPr txBox="1"/>
          <p:nvPr/>
        </p:nvSpPr>
        <p:spPr>
          <a:xfrm>
            <a:off x="10104120" y="2743200"/>
            <a:ext cx="1429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+38%p  (틀림)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5806440" y="3182112"/>
            <a:ext cx="5726887" cy="0"/>
          </a:xfrm>
          <a:prstGeom prst="line">
            <a:avLst/>
          </a:prstGeom>
          <a:noFill/>
          <a:ln w="1270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5806440" y="3310128"/>
            <a:ext cx="57268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구성비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5806440" y="4096512"/>
            <a:ext cx="54864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5806440" y="371246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94" name="Text 92"/>
          <p:cNvSpPr txBox="1"/>
          <p:nvPr/>
        </p:nvSpPr>
        <p:spPr>
          <a:xfrm>
            <a:off x="8001000" y="37124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</a:t>
            </a:r>
            <a:endParaRPr lang="en-US" sz="1050" dirty="0"/>
          </a:p>
        </p:txBody>
      </p:sp>
      <p:sp>
        <p:nvSpPr>
          <p:cNvPr id="95" name="Text 93"/>
          <p:cNvSpPr txBox="1"/>
          <p:nvPr/>
        </p:nvSpPr>
        <p:spPr>
          <a:xfrm>
            <a:off x="9646920" y="37124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806440" y="4498848"/>
            <a:ext cx="54864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5806440" y="41148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먹은 그룹</a:t>
            </a:r>
            <a:endParaRPr lang="en-US" sz="1250" dirty="0"/>
          </a:p>
        </p:txBody>
      </p:sp>
      <p:sp>
        <p:nvSpPr>
          <p:cNvPr id="98" name="Text 96"/>
          <p:cNvSpPr txBox="1"/>
          <p:nvPr/>
        </p:nvSpPr>
        <p:spPr>
          <a:xfrm>
            <a:off x="8001000" y="4114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1250" dirty="0"/>
          </a:p>
        </p:txBody>
      </p:sp>
      <p:sp>
        <p:nvSpPr>
          <p:cNvPr id="99" name="Text 97"/>
          <p:cNvSpPr txBox="1"/>
          <p:nvPr/>
        </p:nvSpPr>
        <p:spPr>
          <a:xfrm>
            <a:off x="9646920" y="4114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250" dirty="0"/>
          </a:p>
        </p:txBody>
      </p:sp>
      <p:sp>
        <p:nvSpPr>
          <p:cNvPr id="100" name="Shape 98"/>
          <p:cNvSpPr/>
          <p:nvPr/>
        </p:nvSpPr>
        <p:spPr>
          <a:xfrm>
            <a:off x="5806440" y="4901184"/>
            <a:ext cx="54864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01" name="Text 99"/>
          <p:cNvSpPr txBox="1"/>
          <p:nvPr/>
        </p:nvSpPr>
        <p:spPr>
          <a:xfrm>
            <a:off x="5806440" y="45171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먹은 그룹</a:t>
            </a:r>
            <a:endParaRPr lang="en-US" sz="1250" dirty="0"/>
          </a:p>
        </p:txBody>
      </p:sp>
      <p:sp>
        <p:nvSpPr>
          <p:cNvPr id="102" name="Text 100"/>
          <p:cNvSpPr txBox="1"/>
          <p:nvPr/>
        </p:nvSpPr>
        <p:spPr>
          <a:xfrm>
            <a:off x="8001000" y="45171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250" dirty="0"/>
          </a:p>
        </p:txBody>
      </p:sp>
      <p:sp>
        <p:nvSpPr>
          <p:cNvPr id="103" name="Text 101"/>
          <p:cNvSpPr txBox="1"/>
          <p:nvPr/>
        </p:nvSpPr>
        <p:spPr>
          <a:xfrm>
            <a:off x="9646920" y="45171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1250" dirty="0"/>
          </a:p>
        </p:txBody>
      </p:sp>
      <p:sp>
        <p:nvSpPr>
          <p:cNvPr id="104" name="Shape 102"/>
          <p:cNvSpPr/>
          <p:nvPr/>
        </p:nvSpPr>
        <p:spPr>
          <a:xfrm>
            <a:off x="5806440" y="5084064"/>
            <a:ext cx="5726887" cy="1042416"/>
          </a:xfrm>
          <a:prstGeom prst="roundRect">
            <a:avLst>
              <a:gd name="adj" fmla="val 5263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05" name="Text 103"/>
          <p:cNvSpPr txBox="1"/>
          <p:nvPr/>
        </p:nvSpPr>
        <p:spPr>
          <a:xfrm>
            <a:off x="6126480" y="5084064"/>
            <a:ext cx="5086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남성은 원래부터 회복이 잘 된다 (90 vs 60).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84% 안에는 “약의 효과”와 “원래 잘 낫는 사람이 많다”가 뒤섞여 있다.</a:t>
            </a:r>
            <a:endParaRPr lang="en-US" sz="125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 ·  교란과 do(x)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109" name="Text 1">
            <a:extLst>
              <a:ext uri="{FF2B5EF4-FFF2-40B4-BE49-F238E27FC236}">
                <a16:creationId xmlns:a16="http://schemas.microsoft.com/office/drawing/2014/main" id="{A152A8EE-1DFF-659D-E3E6-39E7466FE6AA}"/>
              </a:ext>
            </a:extLst>
          </p:cNvPr>
          <p:cNvSpPr txBox="1"/>
          <p:nvPr/>
        </p:nvSpPr>
        <p:spPr>
          <a:xfrm>
            <a:off x="548640" y="310904"/>
            <a:ext cx="10874959" cy="1188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남자는 약을 잘 챙겨 먹었고</a:t>
            </a:r>
            <a:r>
              <a:rPr lang="en-US" altLang="ko-KR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r>
              <a:rPr lang="ko-KR" alt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여자는 잘 안 먹었다</a:t>
            </a:r>
            <a:br>
              <a:rPr lang="en-US" altLang="ko-KR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약의 효과는 몇 %p인가</a:t>
            </a:r>
            <a:endParaRPr lang="en-US" sz="3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9"/>
          <p:cNvSpPr/>
          <p:nvPr/>
        </p:nvSpPr>
        <p:spPr>
          <a:xfrm>
            <a:off x="0" y="1719072"/>
            <a:ext cx="5257800" cy="5138928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A — 전원 복용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복용     ○  미복용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02996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02996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02996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회복률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359152"/>
            <a:ext cx="3886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Shape 18"/>
          <p:cNvSpPr/>
          <p:nvPr/>
        </p:nvSpPr>
        <p:spPr>
          <a:xfrm>
            <a:off x="548640" y="268833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48640" y="235915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06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301752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8640" y="26883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26883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7373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606040" y="26883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34670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48640" y="301752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060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67588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48640" y="334670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334670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606040" y="334670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35661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3675888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5" name="Shape 43"/>
          <p:cNvSpPr/>
          <p:nvPr/>
        </p:nvSpPr>
        <p:spPr>
          <a:xfrm>
            <a:off x="548640" y="400507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48640" y="367588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10515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7373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2606040" y="367588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35661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48640" y="433425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48640" y="400507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051560" y="400507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7373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2606040" y="40050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35661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48640" y="4334256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8" name="Shape 56"/>
          <p:cNvSpPr/>
          <p:nvPr/>
        </p:nvSpPr>
        <p:spPr>
          <a:xfrm>
            <a:off x="548640" y="466344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48640" y="433425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1051560" y="433425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17373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2606040" y="433425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35661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548640" y="4663440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5" name="Shape 63"/>
          <p:cNvSpPr/>
          <p:nvPr/>
        </p:nvSpPr>
        <p:spPr>
          <a:xfrm>
            <a:off x="548640" y="499262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48640" y="466344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1051560" y="46634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17373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2606040" y="46634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35661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4992624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2" name="Shape 70"/>
          <p:cNvSpPr/>
          <p:nvPr/>
        </p:nvSpPr>
        <p:spPr>
          <a:xfrm>
            <a:off x="548640" y="532180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548640" y="499262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1051560" y="4992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5" name="Text 73"/>
          <p:cNvSpPr txBox="1"/>
          <p:nvPr/>
        </p:nvSpPr>
        <p:spPr>
          <a:xfrm>
            <a:off x="17373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499262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35661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48640" y="5321808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9" name="Shape 77"/>
          <p:cNvSpPr/>
          <p:nvPr/>
        </p:nvSpPr>
        <p:spPr>
          <a:xfrm>
            <a:off x="548640" y="565099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548640" y="5321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1051560" y="532180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17373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2606040" y="532180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050" dirty="0"/>
          </a:p>
        </p:txBody>
      </p:sp>
      <p:sp>
        <p:nvSpPr>
          <p:cNvPr id="84" name="Text 82"/>
          <p:cNvSpPr txBox="1"/>
          <p:nvPr/>
        </p:nvSpPr>
        <p:spPr>
          <a:xfrm>
            <a:off x="35661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577900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칸만 전부 ● 로 덮어썼다. 성별은 손대지 않는다.</a:t>
            </a:r>
            <a:endParaRPr lang="en-US" sz="950" dirty="0"/>
          </a:p>
        </p:txBody>
      </p:sp>
      <p:sp>
        <p:nvSpPr>
          <p:cNvPr id="87" name="Text 85"/>
          <p:cNvSpPr txBox="1"/>
          <p:nvPr/>
        </p:nvSpPr>
        <p:spPr>
          <a:xfrm>
            <a:off x="5806440" y="2747772"/>
            <a:ext cx="57268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 5명이 90%, 여 5명이 60%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806440" y="3076956"/>
            <a:ext cx="57268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(90 × 5 + 60 × 5) / 10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715000" y="1719072"/>
            <a:ext cx="5726887" cy="786384"/>
          </a:xfrm>
          <a:prstGeom prst="roundRect">
            <a:avLst>
              <a:gd name="adj" fmla="val 6977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603504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A 평균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8458200" y="1719072"/>
            <a:ext cx="266364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600" dirty="0"/>
          </a:p>
        </p:txBody>
      </p:sp>
      <p:sp>
        <p:nvSpPr>
          <p:cNvPr id="92" name="Shape 90"/>
          <p:cNvSpPr/>
          <p:nvPr/>
        </p:nvSpPr>
        <p:spPr>
          <a:xfrm>
            <a:off x="5733593" y="3735324"/>
            <a:ext cx="5726887" cy="137160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6053633" y="3735324"/>
            <a:ext cx="508680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그룹을 나누지 않았다는 점이 중요하다.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10명 전원이 이 계산에 들어간다 — 남 5, 여 5 그대로.</a:t>
            </a:r>
            <a:endParaRPr lang="en-US" sz="125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 ·  교란과 do(x)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96" name="Text 1">
            <a:extLst>
              <a:ext uri="{FF2B5EF4-FFF2-40B4-BE49-F238E27FC236}">
                <a16:creationId xmlns:a16="http://schemas.microsoft.com/office/drawing/2014/main" id="{95D14CA3-9E4B-43AA-29DA-4FD924864424}"/>
              </a:ext>
            </a:extLst>
          </p:cNvPr>
          <p:cNvSpPr txBox="1"/>
          <p:nvPr/>
        </p:nvSpPr>
        <p:spPr>
          <a:xfrm>
            <a:off x="548640" y="137164"/>
            <a:ext cx="10874959" cy="1188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r>
              <a:rPr lang="en-US" altLang="ko-Kore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A — </a:t>
            </a:r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전원에게</a:t>
            </a:r>
            <a:r>
              <a:rPr lang="en-US" altLang="ko-Kore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</a:t>
            </a:r>
            <a:r>
              <a:rPr lang="en-US" altLang="ko-Kore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먹인</a:t>
            </a:r>
            <a:r>
              <a:rPr lang="en-US" altLang="ko-Kore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</a:t>
            </a:r>
            <a:endParaRPr lang="en-US" altLang="ko-Kore-KR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9"/>
          <p:cNvSpPr/>
          <p:nvPr/>
        </p:nvSpPr>
        <p:spPr>
          <a:xfrm>
            <a:off x="0" y="1719072"/>
            <a:ext cx="5257800" cy="5138928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B — 전원 미복용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복용     ○  미복용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02996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02996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02996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회복률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0299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359152"/>
            <a:ext cx="3886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Shape 18"/>
          <p:cNvSpPr/>
          <p:nvPr/>
        </p:nvSpPr>
        <p:spPr>
          <a:xfrm>
            <a:off x="548640" y="2359152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1" name="Shape 19"/>
          <p:cNvSpPr/>
          <p:nvPr/>
        </p:nvSpPr>
        <p:spPr>
          <a:xfrm>
            <a:off x="548640" y="268833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548640" y="235915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606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23591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48640" y="2688336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8" name="Shape 26"/>
          <p:cNvSpPr/>
          <p:nvPr/>
        </p:nvSpPr>
        <p:spPr>
          <a:xfrm>
            <a:off x="548640" y="301752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548640" y="26883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26883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7373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606040" y="26883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2688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8640" y="3017520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5" name="Shape 33"/>
          <p:cNvSpPr/>
          <p:nvPr/>
        </p:nvSpPr>
        <p:spPr>
          <a:xfrm>
            <a:off x="548640" y="334670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48640" y="301752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5156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6060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56616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48640" y="3346704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2" name="Shape 40"/>
          <p:cNvSpPr/>
          <p:nvPr/>
        </p:nvSpPr>
        <p:spPr>
          <a:xfrm>
            <a:off x="548640" y="367588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48640" y="334670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334670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7373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2606040" y="334670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566160" y="33467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8640" y="400507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48640" y="367588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15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7373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2606040" y="367588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566160" y="36758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005072"/>
            <a:ext cx="3886200" cy="329184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5" name="Shape 53"/>
          <p:cNvSpPr/>
          <p:nvPr/>
        </p:nvSpPr>
        <p:spPr>
          <a:xfrm>
            <a:off x="548640" y="4334256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548640" y="400507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051560" y="400507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7373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2606040" y="40050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3566160" y="40050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바뀜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48640" y="4663440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548640" y="433425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1051560" y="433425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17373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2606040" y="433425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3566160" y="43342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48640" y="4992624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548640" y="466344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1051560" y="46634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17373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2606040" y="46634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3566160" y="46634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48640" y="5321808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548640" y="499262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50" dirty="0"/>
          </a:p>
        </p:txBody>
      </p:sp>
      <p:sp>
        <p:nvSpPr>
          <p:cNvPr id="75" name="Text 73"/>
          <p:cNvSpPr txBox="1"/>
          <p:nvPr/>
        </p:nvSpPr>
        <p:spPr>
          <a:xfrm>
            <a:off x="1051560" y="4992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17373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2606040" y="499262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3566160" y="499262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48640" y="5650992"/>
            <a:ext cx="3886200" cy="0"/>
          </a:xfrm>
          <a:prstGeom prst="line">
            <a:avLst/>
          </a:prstGeom>
          <a:noFill/>
          <a:ln w="762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548640" y="5321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1051560" y="532180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17373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FAF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2606040" y="532180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84" name="Text 82"/>
          <p:cNvSpPr txBox="1"/>
          <p:nvPr/>
        </p:nvSpPr>
        <p:spPr>
          <a:xfrm>
            <a:off x="3566160" y="532180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577900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이번엔 약 칸을 전부 ○ 로 덮어썼다. 성별은 역시 그대로.</a:t>
            </a:r>
            <a:endParaRPr lang="en-US" sz="95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048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A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7498080" y="204825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전원 복용   (90×5 + 60×5)/10</a:t>
            </a:r>
            <a:endParaRPr lang="en-US" sz="1150" dirty="0"/>
          </a:p>
        </p:txBody>
      </p:sp>
      <p:sp>
        <p:nvSpPr>
          <p:cNvPr id="92" name="Shape 90"/>
          <p:cNvSpPr/>
          <p:nvPr/>
        </p:nvSpPr>
        <p:spPr>
          <a:xfrm>
            <a:off x="5806440" y="2889504"/>
            <a:ext cx="5726887" cy="0"/>
          </a:xfrm>
          <a:prstGeom prst="line">
            <a:avLst/>
          </a:prstGeom>
          <a:noFill/>
          <a:ln w="1270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6126480" y="396849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B 평균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8549640" y="3968496"/>
            <a:ext cx="266364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55%</a:t>
            </a:r>
            <a:endParaRPr lang="en-US" sz="2600" dirty="0"/>
          </a:p>
        </p:txBody>
      </p:sp>
      <p:sp>
        <p:nvSpPr>
          <p:cNvPr id="100" name="Text 98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 ·  교란과 do(x)</a:t>
            </a:r>
            <a:endParaRPr lang="en-US" sz="900" dirty="0"/>
          </a:p>
        </p:txBody>
      </p:sp>
      <p:sp>
        <p:nvSpPr>
          <p:cNvPr id="101" name="Text 99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103" name="Text 86">
            <a:extLst>
              <a:ext uri="{FF2B5EF4-FFF2-40B4-BE49-F238E27FC236}">
                <a16:creationId xmlns:a16="http://schemas.microsoft.com/office/drawing/2014/main" id="{12B46904-0270-A9E1-E74D-0463A469DC33}"/>
              </a:ext>
            </a:extLst>
          </p:cNvPr>
          <p:cNvSpPr txBox="1"/>
          <p:nvPr/>
        </p:nvSpPr>
        <p:spPr>
          <a:xfrm>
            <a:off x="5806440" y="3076956"/>
            <a:ext cx="57268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(70 × 5 + 40 × 5) / 10</a:t>
            </a:r>
            <a:endParaRPr lang="en-US" sz="1300" dirty="0"/>
          </a:p>
        </p:txBody>
      </p:sp>
      <p:sp>
        <p:nvSpPr>
          <p:cNvPr id="104" name="Shape 87">
            <a:extLst>
              <a:ext uri="{FF2B5EF4-FFF2-40B4-BE49-F238E27FC236}">
                <a16:creationId xmlns:a16="http://schemas.microsoft.com/office/drawing/2014/main" id="{B255B02C-6951-2493-CF22-EB612A99AA05}"/>
              </a:ext>
            </a:extLst>
          </p:cNvPr>
          <p:cNvSpPr/>
          <p:nvPr/>
        </p:nvSpPr>
        <p:spPr>
          <a:xfrm>
            <a:off x="5715000" y="1719072"/>
            <a:ext cx="5726887" cy="786384"/>
          </a:xfrm>
          <a:prstGeom prst="roundRect">
            <a:avLst>
              <a:gd name="adj" fmla="val 6977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05" name="Text 88">
            <a:extLst>
              <a:ext uri="{FF2B5EF4-FFF2-40B4-BE49-F238E27FC236}">
                <a16:creationId xmlns:a16="http://schemas.microsoft.com/office/drawing/2014/main" id="{8A26A375-E95D-C579-8ED6-28370277637A}"/>
              </a:ext>
            </a:extLst>
          </p:cNvPr>
          <p:cNvSpPr txBox="1"/>
          <p:nvPr/>
        </p:nvSpPr>
        <p:spPr>
          <a:xfrm>
            <a:off x="603504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B </a:t>
            </a:r>
            <a:r>
              <a:rPr lang="en-US" sz="13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</a:t>
            </a:r>
            <a:endParaRPr lang="en-US" sz="1300" dirty="0"/>
          </a:p>
        </p:txBody>
      </p:sp>
      <p:sp>
        <p:nvSpPr>
          <p:cNvPr id="106" name="Text 89">
            <a:extLst>
              <a:ext uri="{FF2B5EF4-FFF2-40B4-BE49-F238E27FC236}">
                <a16:creationId xmlns:a16="http://schemas.microsoft.com/office/drawing/2014/main" id="{43A99497-0B71-3BB2-E2A1-8D212E351DE8}"/>
              </a:ext>
            </a:extLst>
          </p:cNvPr>
          <p:cNvSpPr txBox="1"/>
          <p:nvPr/>
        </p:nvSpPr>
        <p:spPr>
          <a:xfrm>
            <a:off x="8458200" y="1719072"/>
            <a:ext cx="266364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55%</a:t>
            </a:r>
            <a:endParaRPr lang="en-US" sz="2600" dirty="0"/>
          </a:p>
        </p:txBody>
      </p:sp>
      <p:sp>
        <p:nvSpPr>
          <p:cNvPr id="107" name="Shape 90">
            <a:extLst>
              <a:ext uri="{FF2B5EF4-FFF2-40B4-BE49-F238E27FC236}">
                <a16:creationId xmlns:a16="http://schemas.microsoft.com/office/drawing/2014/main" id="{A54412AD-798B-142B-B11A-F6FF63227F0A}"/>
              </a:ext>
            </a:extLst>
          </p:cNvPr>
          <p:cNvSpPr/>
          <p:nvPr/>
        </p:nvSpPr>
        <p:spPr>
          <a:xfrm>
            <a:off x="5733593" y="3735324"/>
            <a:ext cx="5726887" cy="137160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08" name="Text 91">
            <a:extLst>
              <a:ext uri="{FF2B5EF4-FFF2-40B4-BE49-F238E27FC236}">
                <a16:creationId xmlns:a16="http://schemas.microsoft.com/office/drawing/2014/main" id="{9F75BE0F-96F4-D443-05F7-9615C9071231}"/>
              </a:ext>
            </a:extLst>
          </p:cNvPr>
          <p:cNvSpPr txBox="1"/>
          <p:nvPr/>
        </p:nvSpPr>
        <p:spPr>
          <a:xfrm>
            <a:off x="6053633" y="3735324"/>
            <a:ext cx="508680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</a:rPr>
              <a:t>두 표를 나란히 놓고 보면 성별 열이 완전히 같다</a:t>
            </a:r>
            <a:r>
              <a:rPr lang="en-US" altLang="ko-KR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</a:rPr>
              <a:t>.</a:t>
            </a:r>
            <a:r>
              <a:rPr lang="ko-KR" alt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</a:rPr>
              <a:t> </a:t>
            </a:r>
            <a:endParaRPr lang="en-US" altLang="ko-KR" sz="1250" b="1" dirty="0">
              <a:solidFill>
                <a:srgbClr val="111111"/>
              </a:solidFill>
              <a:latin typeface="맑은 고딕" pitchFamily="34" charset="0"/>
              <a:ea typeface="맑은 고딕" pitchFamily="34" charset="-122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</a:rPr>
              <a:t>약 복용 여부만 달라짐</a:t>
            </a:r>
            <a:endParaRPr lang="en-US" sz="1250" dirty="0"/>
          </a:p>
        </p:txBody>
      </p:sp>
      <p:sp>
        <p:nvSpPr>
          <p:cNvPr id="111" name="Text 1">
            <a:extLst>
              <a:ext uri="{FF2B5EF4-FFF2-40B4-BE49-F238E27FC236}">
                <a16:creationId xmlns:a16="http://schemas.microsoft.com/office/drawing/2014/main" id="{6A70BA56-7B0D-C315-9F6E-DEF527815B3B}"/>
              </a:ext>
            </a:extLst>
          </p:cNvPr>
          <p:cNvSpPr txBox="1"/>
          <p:nvPr/>
        </p:nvSpPr>
        <p:spPr>
          <a:xfrm>
            <a:off x="548640" y="137164"/>
            <a:ext cx="10874959" cy="1188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r>
              <a:rPr lang="en-US" altLang="ko-Kore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B — </a:t>
            </a:r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전원에게</a:t>
            </a:r>
            <a:r>
              <a:rPr lang="en-US" altLang="ko-Kore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</a:t>
            </a:r>
            <a:r>
              <a:rPr lang="en-US" altLang="ko-Kore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</a:t>
            </a:r>
            <a:r>
              <a:rPr lang="ko-KR" alt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이지 않은</a:t>
            </a:r>
            <a:r>
              <a:rPr lang="en-US" altLang="ko-Kore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</a:t>
            </a:r>
            <a:endParaRPr lang="en-US" altLang="ko-Kore-KR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10명으로 손계산 — 약의 효과는 몇 %p인가</a:t>
            </a:r>
            <a:endParaRPr lang="en-US" sz="3000" dirty="0"/>
          </a:p>
        </p:txBody>
      </p:sp>
      <p:sp>
        <p:nvSpPr>
          <p:cNvPr id="86" name="Text 84"/>
          <p:cNvSpPr txBox="1"/>
          <p:nvPr/>
        </p:nvSpPr>
        <p:spPr>
          <a:xfrm>
            <a:off x="3232556" y="186537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A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4924196" y="186537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전원 복용</a:t>
            </a:r>
            <a:endParaRPr lang="en-US" sz="1150" dirty="0"/>
          </a:p>
        </p:txBody>
      </p:sp>
      <p:sp>
        <p:nvSpPr>
          <p:cNvPr id="88" name="Text 86"/>
          <p:cNvSpPr txBox="1"/>
          <p:nvPr/>
        </p:nvSpPr>
        <p:spPr>
          <a:xfrm>
            <a:off x="7530236" y="1865376"/>
            <a:ext cx="1429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3232556" y="22677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B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24196" y="226771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8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전원 미복용</a:t>
            </a:r>
            <a:endParaRPr lang="en-US" sz="1150" dirty="0"/>
          </a:p>
        </p:txBody>
      </p:sp>
      <p:sp>
        <p:nvSpPr>
          <p:cNvPr id="91" name="Text 89"/>
          <p:cNvSpPr txBox="1"/>
          <p:nvPr/>
        </p:nvSpPr>
        <p:spPr>
          <a:xfrm>
            <a:off x="7530236" y="2267712"/>
            <a:ext cx="1429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55%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3232556" y="2706624"/>
            <a:ext cx="5726887" cy="0"/>
          </a:xfrm>
          <a:prstGeom prst="line">
            <a:avLst/>
          </a:prstGeom>
          <a:noFill/>
          <a:ln w="12700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3" name="Shape 91"/>
          <p:cNvSpPr/>
          <p:nvPr/>
        </p:nvSpPr>
        <p:spPr>
          <a:xfrm>
            <a:off x="3232556" y="2907792"/>
            <a:ext cx="5726887" cy="786384"/>
          </a:xfrm>
          <a:prstGeom prst="roundRect">
            <a:avLst>
              <a:gd name="adj" fmla="val 6977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4" name="Text 92"/>
          <p:cNvSpPr txBox="1"/>
          <p:nvPr/>
        </p:nvSpPr>
        <p:spPr>
          <a:xfrm>
            <a:off x="3552596" y="290779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인과효과  75 − 55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975756" y="2907792"/>
            <a:ext cx="266364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+20%p</a:t>
            </a:r>
            <a:endParaRPr lang="en-US" sz="2600" dirty="0"/>
          </a:p>
        </p:txBody>
      </p:sp>
      <p:sp>
        <p:nvSpPr>
          <p:cNvPr id="96" name="Text 94"/>
          <p:cNvSpPr txBox="1"/>
          <p:nvPr/>
        </p:nvSpPr>
        <p:spPr>
          <a:xfrm>
            <a:off x="3232556" y="3803904"/>
            <a:ext cx="57268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참값과 정확히 일치한다.</a:t>
            </a:r>
            <a:endParaRPr lang="en-US" sz="1250" dirty="0"/>
          </a:p>
        </p:txBody>
      </p:sp>
      <p:sp>
        <p:nvSpPr>
          <p:cNvPr id="97" name="Shape 95"/>
          <p:cNvSpPr/>
          <p:nvPr/>
        </p:nvSpPr>
        <p:spPr>
          <a:xfrm>
            <a:off x="3232556" y="4261104"/>
            <a:ext cx="5726887" cy="1463040"/>
          </a:xfrm>
          <a:prstGeom prst="roundRect">
            <a:avLst>
              <a:gd name="adj" fmla="val 375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8" name="Text 96"/>
          <p:cNvSpPr txBox="1"/>
          <p:nvPr/>
        </p:nvSpPr>
        <p:spPr>
          <a:xfrm>
            <a:off x="3552596" y="4261104"/>
            <a:ext cx="508680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이번엔 맞았나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7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시나리오의 구성원이 완전히 같기 때문이다. 성별 구성이 동일하니 성별의 영향이 양쪽에서 상쇄되고, 차이로 남는 것은 약의 효과뿐이다.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 ·  교란과 do(x)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③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반사실에 접근하기 위한 </a:t>
            </a:r>
            <a:r>
              <a:rPr lang="en-US" altLang="ko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 Tools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10874959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58368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8745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1874520"/>
            <a:ext cx="5982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2359152"/>
            <a:ext cx="10874959" cy="4572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1" name="Shape 9"/>
          <p:cNvSpPr/>
          <p:nvPr/>
        </p:nvSpPr>
        <p:spPr>
          <a:xfrm>
            <a:off x="658368" y="2816352"/>
            <a:ext cx="10874959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58368" y="23591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35915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인과 가정의 부호화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15968" y="2359152"/>
            <a:ext cx="5982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가정을 명시하고 검증 </a:t>
            </a:r>
            <a:r>
              <a:rPr lang="en-US" sz="1150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가능하게</a:t>
            </a:r>
            <a:r>
              <a:rPr 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50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만든다</a:t>
            </a:r>
            <a:r>
              <a:rPr lang="en-US" altLang="ko-KR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r>
              <a:rPr lang="ko-KR" alt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투명성과 검증가능성이 있어야 한다</a:t>
            </a:r>
            <a:r>
              <a:rPr lang="en-US" altLang="ko-KR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r>
              <a:rPr lang="ko-KR" alt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3300984"/>
            <a:ext cx="10874959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658368" y="28437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" y="284378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do-계산법과 교란 통제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15968" y="2843784"/>
            <a:ext cx="5982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뒷문 기준으로 교란을 가려내고 개입 효과를 식별한다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" y="3328416"/>
            <a:ext cx="10874959" cy="4572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2" name="Shape 20"/>
          <p:cNvSpPr/>
          <p:nvPr/>
        </p:nvSpPr>
        <p:spPr>
          <a:xfrm>
            <a:off x="658368" y="3785616"/>
            <a:ext cx="10874959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658368" y="332841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" y="4270248"/>
            <a:ext cx="10874959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58368" y="381304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58368" y="4297680"/>
            <a:ext cx="10874959" cy="4572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3" name="Shape 31"/>
          <p:cNvSpPr/>
          <p:nvPr/>
        </p:nvSpPr>
        <p:spPr>
          <a:xfrm>
            <a:off x="658368" y="4754880"/>
            <a:ext cx="10874959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58368" y="42976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3314701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적응성 · 외적 타당도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315968" y="3314701"/>
            <a:ext cx="5982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환경이 바뀌어도 결과를 옮겨 쓴다 — 전이학습 · 표본선택편향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58368" y="5239512"/>
            <a:ext cx="10874959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478231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결측 데이터 복원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315968" y="4782312"/>
            <a:ext cx="5982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결측이 생긴 과정 자체를 인과적으로 모형화한다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58368" y="5266944"/>
            <a:ext cx="10874959" cy="4572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4" name="Shape 42"/>
          <p:cNvSpPr/>
          <p:nvPr/>
        </p:nvSpPr>
        <p:spPr>
          <a:xfrm>
            <a:off x="658368" y="5724144"/>
            <a:ext cx="10874959" cy="0"/>
          </a:xfrm>
          <a:prstGeom prst="line">
            <a:avLst/>
          </a:prstGeom>
          <a:noFill/>
          <a:ln w="9525">
            <a:solidFill>
              <a:srgbClr val="DBDBD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58368" y="52669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61288" y="526694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인과 발견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4315968" y="5266944"/>
            <a:ext cx="5982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데이터에서 그래프 구조 자체를 추정한다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3813049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반사실의 알고리즘화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315968" y="3813049"/>
            <a:ext cx="5982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수준 “만약 ~였다면”을 계산 가능하게 만든다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297681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매개 분석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315968" y="4297681"/>
            <a:ext cx="5982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효과와 간접 효과를 분해한다 — 메커니즘 규명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성찰 ④</a:t>
            </a:r>
            <a:endParaRPr lang="en-US" sz="1050" b="1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딥러닝은</a:t>
            </a:r>
            <a:r>
              <a:rPr lang="ko-KR" alt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단순 곡선 맞추기다</a:t>
            </a:r>
            <a:r>
              <a:rPr lang="en-US" altLang="ko-KR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3200" b="1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EBEB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b="1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77440"/>
            <a:ext cx="986911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Pearl (2019) — </a:t>
            </a:r>
          </a:p>
          <a:p>
            <a:pPr>
              <a:lnSpc>
                <a:spcPct val="130000"/>
              </a:lnSpc>
            </a:pP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목적함수가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아무리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정교하고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고상해도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관찰된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데이터의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속성을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최적화하는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그친다면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결국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1층이다.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모형의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ore-KR" sz="2800" b="1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층이다</a:t>
            </a:r>
            <a:r>
              <a:rPr lang="en-US" altLang="ko-Kore-KR" sz="2800" b="1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altLang="ko-Kore-KR" sz="2800" b="1" dirty="0"/>
          </a:p>
        </p:txBody>
      </p:sp>
      <p:sp>
        <p:nvSpPr>
          <p:cNvPr id="7" name="Shape 5"/>
          <p:cNvSpPr/>
          <p:nvPr/>
        </p:nvSpPr>
        <p:spPr>
          <a:xfrm>
            <a:off x="1481328" y="4287130"/>
            <a:ext cx="109728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 b="1"/>
          </a:p>
        </p:txBody>
      </p:sp>
      <p:sp>
        <p:nvSpPr>
          <p:cNvPr id="9" name="Text 7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b="1" dirty="0"/>
          </a:p>
        </p:txBody>
      </p:sp>
      <p:sp>
        <p:nvSpPr>
          <p:cNvPr id="10" name="Text 8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성찰 ④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</a:rPr>
              <a:t>논문의 장애물과 약점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325880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Pearl 이 지목한 오늘날 AI 의 한계와 그가 내미는 도구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2103120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강건성 · 적응성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523744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환경이 바뀌면 무너진다 — 낯선 상황을 알아차리지도, 대응하지도 못한다.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도구 ⑤ 외적 타당도 · 전이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47308" y="1828800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694780" y="2103120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설명 가능성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694780" y="2523744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블랙박스로 남는다 — 왜 그렇게 예측했는지 스스로 말하지 못한다.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도구 ③ · ④ 반사실 · 매개 분석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078224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05840" y="4352544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인과 이해의 부재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4773168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“만약 ~한다면” 을 묻지 못하니 새로운 행동과 실험을 추론할 수 없다.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도구 ② do-계산법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47308" y="4078224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694780" y="4352544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저자의 </a:t>
            </a:r>
            <a:r>
              <a:rPr lang="en-US" sz="165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유보</a:t>
            </a:r>
            <a:r>
              <a:rPr lang="ko-KR" alt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사항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6694780" y="4773168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가정이 틀리면 결과도 틀린다. 데이터와 똑같이 맞는 다른 구조가 큰 오차를 낼 수 있어 민감도 분석이 필요하다. 예측 · 진단 · 인식 과제에는 이 한계가 적용되지 </a:t>
            </a:r>
            <a:r>
              <a:rPr lang="en-US" sz="1250" dirty="0" err="1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않는다</a:t>
            </a: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8C8C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정리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</a:t>
            </a:r>
            <a:r>
              <a:rPr lang="en-US" sz="320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3200" b="1" dirty="0" err="1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2103120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523744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통계적 학습은 P(y|x) 만 다룬다 — 개입 · 설명 · 반사실에는 원리적으로 답할 수 없다.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47308" y="1828800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694780" y="2103120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핵심 아이디어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694780" y="2523744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인과 사다리 세 층 — 연관 / 개입 / 반사실. P(y|do(x)) ≠ P(y|x) 이고, 위층은 아래층 데이터만으로 도달할 수 없다.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078224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005840" y="4352544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도구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4773168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가정을 쓰고(①), do-계산법으로 개입을(②·⑤), 반사실로 설명을(③·④) 계산한다. ⑥·⑦ 은 데이터 쪽을 받친다.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47308" y="4078224"/>
            <a:ext cx="5186020" cy="1865376"/>
          </a:xfrm>
          <a:prstGeom prst="roundRect">
            <a:avLst>
              <a:gd name="adj" fmla="val 294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694780" y="4352544"/>
            <a:ext cx="4491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111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이후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6694780" y="4773168"/>
            <a:ext cx="44910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인과 추론은 정책평가 · 역학 · 추천 · 공정성 평가의 표준 언어가 되었다. 이 글은 그 전체 지도를 7개 항목으로 압축한 입문서.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논문리뷰 발표  ·  Pearl (2019)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618927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5B5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6060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566928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7E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Pearl, J. (2019). The Seven Tools of Causal Inference, with Reflections on Machine Learning.  Communications of the ACM, 62(3), 54–60.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2192</Words>
  <Application>Microsoft Macintosh PowerPoint</Application>
  <PresentationFormat>와이드스크린</PresentationFormat>
  <Paragraphs>554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Seven Tools of Causal Inference</dc:title>
  <dc:subject>PptxGenJS Presentation</dc:subject>
  <dc:creator>논문리뷰</dc:creator>
  <cp:lastModifiedBy>김건우</cp:lastModifiedBy>
  <cp:revision>3</cp:revision>
  <dcterms:created xsi:type="dcterms:W3CDTF">2026-09-09T00:14:06Z</dcterms:created>
  <dcterms:modified xsi:type="dcterms:W3CDTF">2026-09-09T00:58:31Z</dcterms:modified>
</cp:coreProperties>
</file>