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8" r:id="rId4"/>
    <p:sldId id="261" r:id="rId5"/>
    <p:sldId id="258" r:id="rId6"/>
    <p:sldId id="264" r:id="rId7"/>
    <p:sldId id="279" r:id="rId8"/>
    <p:sldId id="259" r:id="rId9"/>
    <p:sldId id="260" r:id="rId10"/>
    <p:sldId id="272" r:id="rId11"/>
    <p:sldId id="273" r:id="rId12"/>
    <p:sldId id="263" r:id="rId13"/>
    <p:sldId id="275" r:id="rId14"/>
    <p:sldId id="276" r:id="rId15"/>
    <p:sldId id="277" r:id="rId16"/>
    <p:sldId id="266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902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71B5F-A2EC-0728-1479-186965614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11D95-8B81-ABE9-AF55-84373FCEF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3E41D4-815A-1F42-7971-0EBE6D81B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A60E8-EAA0-182D-40A8-82379E01DC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603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417320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논문리뷰 발표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Tools of Causal Inference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60604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8C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Reflections on Machine Learning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401568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Judea Pearl (2019)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Communications of the ACM, 62(3), pp. 54–60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DOI 10.1145/3241036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5440680"/>
            <a:ext cx="228600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58368" y="5623560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</a:t>
            </a:r>
            <a:r>
              <a:rPr lang="en-US" sz="1150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김건우</a:t>
            </a:r>
            <a:r>
              <a:rPr lang="en-US" sz="1150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|   DAT 학회   |  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논문리뷰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58367" y="850643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1760471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58368" y="176047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08176" y="1760471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— </a:t>
            </a:r>
            <a:r>
              <a:rPr lang="en-US" sz="1900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</a:t>
            </a:r>
            <a:r>
              <a:rPr lang="en-US" sz="19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9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인과 법칙이 필요한가</a:t>
            </a:r>
            <a:r>
              <a:rPr lang="en-US" altLang="ko-KR" sz="19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58368" y="2693159"/>
            <a:ext cx="457200" cy="457200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58368" y="269315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08176" y="2693159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인과</a:t>
            </a:r>
            <a:r>
              <a:rPr lang="en-US" sz="19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900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58368" y="3625847"/>
            <a:ext cx="457200" cy="457200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58368" y="362584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08176" y="3625847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일곱 가지 도구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58368" y="4558535"/>
            <a:ext cx="457200" cy="457200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58368" y="45585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08176" y="4558535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머신러닝에 대한 성찰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116885" y="2555999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메시지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6" y="2921759"/>
            <a:ext cx="475487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ko-KR" altLang="en-US" sz="2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인과법칙을 수학으로 표현하면</a:t>
            </a:r>
            <a:r>
              <a:rPr lang="en-US" altLang="ko-KR" sz="2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,</a:t>
            </a:r>
            <a:r>
              <a:rPr lang="ko-KR" altLang="en-US" sz="2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ko-KR" altLang="en-US" sz="20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딥러닝을</a:t>
            </a:r>
            <a:r>
              <a:rPr lang="ko-KR" altLang="en-US" sz="2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 넘을 수 있다</a:t>
            </a:r>
            <a:r>
              <a:rPr lang="en-US" altLang="ko-KR" sz="2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.</a:t>
            </a:r>
            <a:endParaRPr lang="en-US" sz="2000" b="1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논문리뷰 발표  ·  Pearl (2019)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61892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5D22F-3A63-6A4E-46DF-F678047D0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F1FD243-7802-228D-69B0-94353FCE013F}"/>
              </a:ext>
            </a:extLst>
          </p:cNvPr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딥러닝의</a:t>
            </a:r>
            <a:r>
              <a:rPr lang="ko-KR" altLang="en-US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 한계</a:t>
            </a:r>
            <a:endParaRPr lang="en-US" sz="3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9827599-6D0F-2F28-334F-A3840CC9B917}"/>
              </a:ext>
            </a:extLst>
          </p:cNvPr>
          <p:cNvSpPr txBox="1"/>
          <p:nvPr/>
        </p:nvSpPr>
        <p:spPr>
          <a:xfrm>
            <a:off x="685800" y="1899073"/>
            <a:ext cx="50410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1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한계</a:t>
            </a:r>
            <a:endParaRPr lang="en-US" sz="21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DE6D1D8-9C5E-05E7-B01C-7D05666F8110}"/>
              </a:ext>
            </a:extLst>
          </p:cNvPr>
          <p:cNvSpPr/>
          <p:nvPr/>
        </p:nvSpPr>
        <p:spPr>
          <a:xfrm>
            <a:off x="658368" y="2525437"/>
            <a:ext cx="347472" cy="347472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950A0AA-1274-E9FC-C5B6-773937BD90BA}"/>
              </a:ext>
            </a:extLst>
          </p:cNvPr>
          <p:cNvSpPr txBox="1"/>
          <p:nvPr/>
        </p:nvSpPr>
        <p:spPr>
          <a:xfrm>
            <a:off x="658368" y="252543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C67BF5E-765B-C33E-31F5-05BAF35A26F1}"/>
              </a:ext>
            </a:extLst>
          </p:cNvPr>
          <p:cNvSpPr txBox="1"/>
          <p:nvPr/>
        </p:nvSpPr>
        <p:spPr>
          <a:xfrm>
            <a:off x="1188720" y="2507149"/>
            <a:ext cx="55750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기계는 처음 보는 상황에 잘 적응하지 못한다</a:t>
            </a:r>
            <a:r>
              <a:rPr lang="en-US" altLang="ko-KR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400" b="1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DD632DA-63B7-EC58-3C8D-7DE36B42EF05}"/>
              </a:ext>
            </a:extLst>
          </p:cNvPr>
          <p:cNvSpPr/>
          <p:nvPr/>
        </p:nvSpPr>
        <p:spPr>
          <a:xfrm>
            <a:off x="658368" y="3092365"/>
            <a:ext cx="347472" cy="347472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A0D4316-DCD7-62D6-F2D4-2F3B44EBB884}"/>
              </a:ext>
            </a:extLst>
          </p:cNvPr>
          <p:cNvSpPr txBox="1"/>
          <p:nvPr/>
        </p:nvSpPr>
        <p:spPr>
          <a:xfrm>
            <a:off x="658368" y="309236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41BC70C1-9036-DDF0-54BA-76A3CDA88157}"/>
              </a:ext>
            </a:extLst>
          </p:cNvPr>
          <p:cNvSpPr txBox="1"/>
          <p:nvPr/>
        </p:nvSpPr>
        <p:spPr>
          <a:xfrm>
            <a:off x="1188720" y="3025224"/>
            <a:ext cx="8869680" cy="48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기계학습 모델의 블랙박스 성질로 인하여 모델이 왜 그런 판단을 내렸는지 설명하지 못한다</a:t>
            </a:r>
            <a:r>
              <a:rPr lang="en-US" altLang="ko-KR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400" b="1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2FB2013E-494A-473B-029A-50FC02257D5C}"/>
              </a:ext>
            </a:extLst>
          </p:cNvPr>
          <p:cNvSpPr/>
          <p:nvPr/>
        </p:nvSpPr>
        <p:spPr>
          <a:xfrm>
            <a:off x="658368" y="3659293"/>
            <a:ext cx="347472" cy="347472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B605CE13-FBA7-4BF4-9DA5-AD244DF0C463}"/>
              </a:ext>
            </a:extLst>
          </p:cNvPr>
          <p:cNvSpPr txBox="1"/>
          <p:nvPr/>
        </p:nvSpPr>
        <p:spPr>
          <a:xfrm>
            <a:off x="658368" y="365929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F6B50EC-4BE7-1DA8-3828-CA9B318D1CCA}"/>
              </a:ext>
            </a:extLst>
          </p:cNvPr>
          <p:cNvSpPr txBox="1"/>
          <p:nvPr/>
        </p:nvSpPr>
        <p:spPr>
          <a:xfrm>
            <a:off x="1188720" y="3641005"/>
            <a:ext cx="55750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원인과 결과를 구분하는 능력이 없다</a:t>
            </a:r>
            <a:r>
              <a:rPr lang="en-US" altLang="ko-KR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400" b="1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BFCF084-A8DA-529B-6D0B-3147965C9D90}"/>
              </a:ext>
            </a:extLst>
          </p:cNvPr>
          <p:cNvSpPr txBox="1"/>
          <p:nvPr/>
        </p:nvSpPr>
        <p:spPr>
          <a:xfrm>
            <a:off x="1061892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8158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 ②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</a:t>
            </a:r>
            <a:r>
              <a:rPr lang="en-US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개의 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84048" cy="38404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5836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38528"/>
            <a:ext cx="102531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· 연관 (Association)   —   P(y | x)   ·   Seeing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59" y="2350008"/>
            <a:ext cx="1025316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데이터를 그냥 관찰해서 그 안에 있는 상관관계를 뽑아내는 수준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2980944"/>
            <a:ext cx="10253167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Shape 8"/>
          <p:cNvSpPr/>
          <p:nvPr/>
        </p:nvSpPr>
        <p:spPr>
          <a:xfrm>
            <a:off x="658368" y="3136392"/>
            <a:ext cx="384048" cy="384048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58368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108960"/>
            <a:ext cx="102531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 · 개입 (Intervention)   —   P(y | do(x))   ·   Doing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58" y="3502152"/>
            <a:ext cx="1025316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가격을 두 배로 올리면 어떻게 될까</a:t>
            </a:r>
            <a:endParaRPr lang="en-US" altLang="ko-KR" sz="1200" dirty="0">
              <a:solidFill>
                <a:srgbClr val="3C3C3C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ko-KR" alt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과거에 가격이 두 배로 오른 시절은 여러 이유가 있었을 것이고</a:t>
            </a:r>
            <a:r>
              <a:rPr lang="en-US" altLang="ko-KR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ko-KR" alt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그 이유 자체가 매출에 영향을 줬을 수 있기에</a:t>
            </a:r>
            <a:endParaRPr lang="en-US" altLang="ko-KR" sz="1200" dirty="0">
              <a:solidFill>
                <a:srgbClr val="3C3C3C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ko-KR" alt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데이터로 단정적으로 판단할 수 없다</a:t>
            </a:r>
            <a:r>
              <a:rPr lang="en-US" altLang="ko-KR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</a:p>
        </p:txBody>
      </p:sp>
      <p:sp>
        <p:nvSpPr>
          <p:cNvPr id="14" name="Shape 12"/>
          <p:cNvSpPr/>
          <p:nvPr/>
        </p:nvSpPr>
        <p:spPr>
          <a:xfrm>
            <a:off x="1280160" y="4151376"/>
            <a:ext cx="10253167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5" name="Shape 13"/>
          <p:cNvSpPr/>
          <p:nvPr/>
        </p:nvSpPr>
        <p:spPr>
          <a:xfrm>
            <a:off x="658368" y="4306824"/>
            <a:ext cx="384048" cy="384048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58368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279392"/>
            <a:ext cx="102531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3층 · 반사실 (Counterfactual)   —   P(y_x | x′, y′)   ·   Imagining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608576"/>
            <a:ext cx="1025316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</a:t>
            </a: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다르게 </a:t>
            </a:r>
            <a:r>
              <a:rPr lang="en-US" sz="1200" dirty="0" err="1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했다면</a:t>
            </a: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어땠을까</a:t>
            </a:r>
            <a:endParaRPr lang="en-US" sz="1200" dirty="0">
              <a:solidFill>
                <a:srgbClr val="3C3C3C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ko-KR" alt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일상 언어와 사고</a:t>
            </a:r>
            <a:r>
              <a:rPr lang="en-US" altLang="ko-KR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ko-KR" alt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법정에서의 책임 공방이 이뤄지는 층위</a:t>
            </a:r>
            <a:endParaRPr lang="en-US" altLang="ko-KR" sz="1200" dirty="0">
              <a:solidFill>
                <a:srgbClr val="3C3C3C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ko-KR" alt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어떤 사람에게 사고의 책임을 묻는 것 </a:t>
            </a:r>
            <a:r>
              <a:rPr lang="en-US" altLang="ko-KR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–</a:t>
            </a:r>
            <a:r>
              <a:rPr lang="ko-KR" alt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 그 사람이 그렇게 행동하지 않았더라면 사고가 안 났을 것</a:t>
            </a:r>
            <a:r>
              <a:rPr lang="en-US" altLang="ko-KR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을 계산하는 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5486400"/>
            <a:ext cx="10874959" cy="640080"/>
          </a:xfrm>
          <a:prstGeom prst="roundRect">
            <a:avLst>
              <a:gd name="adj" fmla="val 8571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024128" y="5486400"/>
            <a:ext cx="101434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i층</a:t>
            </a:r>
            <a:r>
              <a:rPr lang="en-US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질문은 j층(j &gt; i) 정보가 있어야만 답할 수 있다 — 위에서 아래로는 되지만, 아래에서 위로는 불가능하다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논문리뷰 발표  ·  Pearl (2019)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61892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①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딥러닝의</a:t>
            </a:r>
            <a:r>
              <a:rPr lang="ko-KR" altLang="en-US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한계와 논문이 푸는 문제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58367" y="1335024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완전 다른 인과관계를 가진 두 세상이 정확히 똑같은 관찰 데이터를 만들 수 있다</a:t>
            </a:r>
            <a:r>
              <a:rPr lang="en-US" altLang="ko-KR" sz="12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5117440" cy="3291840"/>
          </a:xfrm>
          <a:prstGeom prst="roundRect">
            <a:avLst>
              <a:gd name="adj" fmla="val 166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42416" y="2157984"/>
            <a:ext cx="434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세상 </a:t>
            </a:r>
            <a:r>
              <a:rPr lang="en-US" altLang="ko-KR" sz="1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A_</a:t>
            </a:r>
            <a:r>
              <a:rPr lang="ko-KR" altLang="en-US" sz="1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이가 코로나에 걸렸다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2724912"/>
            <a:ext cx="434934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altLang="ko-KR" sz="13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A</a:t>
            </a:r>
            <a:r>
              <a:rPr lang="ko-KR" altLang="en-US" sz="13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약의 실제 효과가 </a:t>
            </a:r>
            <a:r>
              <a:rPr lang="en-US" altLang="ko-KR" sz="13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100%</a:t>
            </a:r>
            <a:r>
              <a:rPr lang="ko-KR" altLang="en-US" sz="13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임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15888" y="1828800"/>
            <a:ext cx="5117440" cy="3291840"/>
          </a:xfrm>
          <a:prstGeom prst="roundRect">
            <a:avLst>
              <a:gd name="adj" fmla="val 1667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799936" y="2157984"/>
            <a:ext cx="434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세상 </a:t>
            </a:r>
            <a:r>
              <a:rPr lang="en-US" altLang="ko-KR" sz="1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B_</a:t>
            </a:r>
            <a:r>
              <a:rPr lang="ko-KR" altLang="en-US" sz="1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모든 사람이 감기에 걸렸다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799936" y="2724912"/>
            <a:ext cx="434934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altLang="ko-KR" sz="13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r>
              <a:rPr lang="ko-KR" altLang="en-US" sz="13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약은 효과가 </a:t>
            </a:r>
            <a:r>
              <a:rPr lang="en-US" altLang="ko-KR" sz="13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0%</a:t>
            </a:r>
            <a:r>
              <a:rPr lang="ko-KR" altLang="en-US" sz="13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</a:t>
            </a:r>
            <a:endParaRPr lang="en-US" altLang="ko-KR" sz="1350" dirty="0">
              <a:solidFill>
                <a:srgbClr val="3C3C3C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775808" y="321868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6344581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논문리뷰 발표  ·  Pearl (2019)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61892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FE1DF3A7-DD20-C0E3-1ED7-4E2061FCA2D2}"/>
              </a:ext>
            </a:extLst>
          </p:cNvPr>
          <p:cNvSpPr txBox="1"/>
          <p:nvPr/>
        </p:nvSpPr>
        <p:spPr>
          <a:xfrm>
            <a:off x="1874520" y="3730752"/>
            <a:ext cx="434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일주일 후 전원 완치</a:t>
            </a:r>
            <a:endParaRPr lang="en-US" sz="19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A55F1A8C-65E4-B7F4-B45B-0B81ED3A3BE7}"/>
              </a:ext>
            </a:extLst>
          </p:cNvPr>
          <p:cNvSpPr txBox="1"/>
          <p:nvPr/>
        </p:nvSpPr>
        <p:spPr>
          <a:xfrm>
            <a:off x="7842656" y="3730752"/>
            <a:ext cx="434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일주일 후 전원 완치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 ②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더 모으면 되지 않나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5117440" cy="3291840"/>
          </a:xfrm>
          <a:prstGeom prst="roundRect">
            <a:avLst>
              <a:gd name="adj" fmla="val 166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42416" y="2157984"/>
            <a:ext cx="434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아무리 많아도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2724912"/>
            <a:ext cx="434934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데이터에는 1층 정보만 담긴다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목적함수를 아무리 정교하게 해도 마찬가지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“데이터 밖 세계를 참조하지 않는 한 1층”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모형을 키우는 것으로는 층이 바뀌지 않는다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15888" y="1828800"/>
            <a:ext cx="5117440" cy="3291840"/>
          </a:xfrm>
          <a:prstGeom prst="roundRect">
            <a:avLst>
              <a:gd name="adj" fmla="val 1667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799936" y="2157984"/>
            <a:ext cx="434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799936" y="2724912"/>
            <a:ext cx="434934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개입해서 얻은 실험 결과나 그 분야 전문가가 가진 지식이 필요</a:t>
            </a:r>
            <a:endParaRPr lang="en-US" sz="1350" dirty="0">
              <a:solidFill>
                <a:srgbClr val="3C3C3C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 err="1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데이터에</a:t>
            </a:r>
            <a:r>
              <a:rPr lang="en-US" sz="13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없는 인과 가정 — 그래프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d-분리가 가정의 검증 가능한 함의를 준다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 + 데이터 → 비로소 2층 · 3층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775808" y="321868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논문리뷰 발표  ·  Pearl (2019)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61892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431A72A-75BD-1719-9F73-691A51D18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498" y="434355"/>
            <a:ext cx="8385004" cy="598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85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그림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</a:t>
            </a:r>
            <a:r>
              <a:rPr lang="en-US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</a:t>
            </a:r>
            <a:r>
              <a:rPr lang="en-US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가정 · 질문 · 데이터</a:t>
            </a:r>
            <a:endParaRPr lang="en-US" sz="3200" dirty="0"/>
          </a:p>
        </p:txBody>
      </p:sp>
      <p:sp>
        <p:nvSpPr>
          <p:cNvPr id="29" name="Text 27"/>
          <p:cNvSpPr txBox="1"/>
          <p:nvPr/>
        </p:nvSpPr>
        <p:spPr>
          <a:xfrm>
            <a:off x="8098383" y="2034540"/>
            <a:ext cx="50410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8070951" y="2660904"/>
            <a:ext cx="347472" cy="347472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8070951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601303" y="2642616"/>
            <a:ext cx="4510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가정을 그래프로 명시한다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070951" y="3227832"/>
            <a:ext cx="347472" cy="347472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8070951" y="3227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601303" y="3209544"/>
            <a:ext cx="4510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</a:t>
            </a:r>
            <a:r>
              <a:rPr lang="en-US" sz="1300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추정식으로</a:t>
            </a:r>
            <a:r>
              <a:rPr 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바꾼다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0951" y="3794760"/>
            <a:ext cx="347472" cy="347472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8070951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601303" y="3776472"/>
            <a:ext cx="4510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넣어 값과 적합도를 얻는다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061892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410DBD82-BD8F-8679-947A-B289A02AE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34" y="1445932"/>
            <a:ext cx="7678437" cy="50451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 ②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858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r>
              <a:rPr lang="en-US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32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BEB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2103120"/>
            <a:ext cx="986911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 y | do(x) )   ≠   P( y | x )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481328" y="3794760"/>
            <a:ext cx="109728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논문리뷰 발표  ·  Pearl (2019)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61892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10904"/>
            <a:ext cx="10874959" cy="1188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남자는 약을 잘 챙겨 먹었고</a:t>
            </a:r>
            <a:r>
              <a:rPr lang="en-US" altLang="ko-KR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ko-KR" alt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여자는 잘 안 먹었다</a:t>
            </a:r>
            <a:br>
              <a:rPr lang="en-US" altLang="ko-KR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약의 효과는 몇 %p인가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0" y="1719072"/>
            <a:ext cx="5257800" cy="5138928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관찰 데이터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 복용     ○  미복용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0299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02996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성별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20299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20299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회복률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0299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388620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Shape 18"/>
          <p:cNvSpPr/>
          <p:nvPr/>
        </p:nvSpPr>
        <p:spPr>
          <a:xfrm>
            <a:off x="548640" y="2688336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548640" y="235915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35915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23591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606040" y="235915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23591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3017520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48640" y="26883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268833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26883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606040" y="26883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26883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3346704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548640" y="30175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301752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737360" y="30175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606040" y="30175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3566160" y="30175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" y="3675888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548640" y="33467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334670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737360" y="33467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2606040" y="334670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566160" y="33467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8640" y="4005072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548640" y="36758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1051560" y="36758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1737360" y="36758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2606040" y="367588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3566160" y="36758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8640" y="4334256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548640" y="400507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" y="400507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1737360" y="40050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2606040" y="400507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3566160" y="40050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48640" y="4663440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548640" y="433425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1051560" y="433425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1737360" y="43342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2606040" y="433425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3566160" y="43342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48640" y="4992624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548640" y="46634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1051560" y="466344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1737360" y="46634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2606040" y="46634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3566160" y="46634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48640" y="5321808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548640" y="499262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1051560" y="499262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1737360" y="499262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2606040" y="499262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</a:t>
            </a:r>
            <a:endParaRPr lang="en-US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3566160" y="499262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48640" y="5650992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548640" y="532180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1051560" y="532180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1737360" y="53218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2606040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</a:t>
            </a:r>
            <a:endParaRPr lang="en-US" sz="1050" dirty="0"/>
          </a:p>
        </p:txBody>
      </p:sp>
      <p:sp>
        <p:nvSpPr>
          <p:cNvPr id="79" name="Text 77"/>
          <p:cNvSpPr txBox="1"/>
          <p:nvPr/>
        </p:nvSpPr>
        <p:spPr>
          <a:xfrm>
            <a:off x="3566160" y="53218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80" name="Text 78"/>
          <p:cNvSpPr txBox="1"/>
          <p:nvPr/>
        </p:nvSpPr>
        <p:spPr>
          <a:xfrm>
            <a:off x="548640" y="577900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오차는 없다고 가정한 이상적 데이터.</a:t>
            </a:r>
            <a:endParaRPr lang="en-US" sz="9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환자가 100만 명이어도 남녀 비율이 그대로면 결과는 같다.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5806440" y="2084832"/>
            <a:ext cx="57268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약의 효과</a:t>
            </a:r>
            <a:r>
              <a:rPr lang="en-US" altLang="ko-KR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r>
              <a:rPr lang="en-US" altLang="ko-KR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500" dirty="0"/>
          </a:p>
        </p:txBody>
      </p:sp>
      <p:sp>
        <p:nvSpPr>
          <p:cNvPr id="82" name="Shape 80"/>
          <p:cNvSpPr/>
          <p:nvPr/>
        </p:nvSpPr>
        <p:spPr>
          <a:xfrm>
            <a:off x="5806440" y="2889504"/>
            <a:ext cx="548640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3" name="Text 81"/>
          <p:cNvSpPr txBox="1"/>
          <p:nvPr/>
        </p:nvSpPr>
        <p:spPr>
          <a:xfrm>
            <a:off x="5806440" y="24871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84" name="Text 82"/>
          <p:cNvSpPr txBox="1"/>
          <p:nvPr/>
        </p:nvSpPr>
        <p:spPr>
          <a:xfrm>
            <a:off x="7818120" y="24871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먹으면</a:t>
            </a:r>
            <a:endParaRPr lang="en-US" sz="1050" dirty="0"/>
          </a:p>
        </p:txBody>
      </p:sp>
      <p:sp>
        <p:nvSpPr>
          <p:cNvPr id="85" name="Text 83"/>
          <p:cNvSpPr txBox="1"/>
          <p:nvPr/>
        </p:nvSpPr>
        <p:spPr>
          <a:xfrm>
            <a:off x="9555480" y="24871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안 먹으면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5806440" y="3310128"/>
            <a:ext cx="54864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7" name="Text 85"/>
          <p:cNvSpPr txBox="1"/>
          <p:nvPr/>
        </p:nvSpPr>
        <p:spPr>
          <a:xfrm>
            <a:off x="5806440" y="29077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남성</a:t>
            </a:r>
            <a:endParaRPr lang="en-US" sz="1250" dirty="0"/>
          </a:p>
        </p:txBody>
      </p:sp>
      <p:sp>
        <p:nvSpPr>
          <p:cNvPr id="88" name="Text 86"/>
          <p:cNvSpPr txBox="1"/>
          <p:nvPr/>
        </p:nvSpPr>
        <p:spPr>
          <a:xfrm>
            <a:off x="7818120" y="290779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250" dirty="0"/>
          </a:p>
        </p:txBody>
      </p:sp>
      <p:sp>
        <p:nvSpPr>
          <p:cNvPr id="89" name="Text 87"/>
          <p:cNvSpPr txBox="1"/>
          <p:nvPr/>
        </p:nvSpPr>
        <p:spPr>
          <a:xfrm>
            <a:off x="9555480" y="290779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</a:t>
            </a:r>
            <a:endParaRPr lang="en-US" sz="1250" dirty="0"/>
          </a:p>
        </p:txBody>
      </p:sp>
      <p:sp>
        <p:nvSpPr>
          <p:cNvPr id="90" name="Shape 88"/>
          <p:cNvSpPr/>
          <p:nvPr/>
        </p:nvSpPr>
        <p:spPr>
          <a:xfrm>
            <a:off x="5806440" y="3730752"/>
            <a:ext cx="54864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1" name="Text 89"/>
          <p:cNvSpPr txBox="1"/>
          <p:nvPr/>
        </p:nvSpPr>
        <p:spPr>
          <a:xfrm>
            <a:off x="5806440" y="332841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</a:t>
            </a:r>
            <a:endParaRPr lang="en-US" sz="1250" dirty="0"/>
          </a:p>
        </p:txBody>
      </p:sp>
      <p:sp>
        <p:nvSpPr>
          <p:cNvPr id="92" name="Text 90"/>
          <p:cNvSpPr txBox="1"/>
          <p:nvPr/>
        </p:nvSpPr>
        <p:spPr>
          <a:xfrm>
            <a:off x="7818120" y="332841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</a:t>
            </a:r>
            <a:endParaRPr lang="en-US" sz="1250" dirty="0"/>
          </a:p>
        </p:txBody>
      </p:sp>
      <p:sp>
        <p:nvSpPr>
          <p:cNvPr id="93" name="Text 91"/>
          <p:cNvSpPr txBox="1"/>
          <p:nvPr/>
        </p:nvSpPr>
        <p:spPr>
          <a:xfrm>
            <a:off x="9555480" y="332841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</a:t>
            </a:r>
            <a:endParaRPr lang="en-US" sz="1250" dirty="0"/>
          </a:p>
        </p:txBody>
      </p:sp>
      <p:sp>
        <p:nvSpPr>
          <p:cNvPr id="95" name="Shape 93"/>
          <p:cNvSpPr/>
          <p:nvPr/>
        </p:nvSpPr>
        <p:spPr>
          <a:xfrm>
            <a:off x="5760720" y="4034197"/>
            <a:ext cx="5726887" cy="9144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6" name="Text 94"/>
          <p:cNvSpPr txBox="1"/>
          <p:nvPr/>
        </p:nvSpPr>
        <p:spPr>
          <a:xfrm>
            <a:off x="6143396" y="3679953"/>
            <a:ext cx="5086807" cy="161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ore-KR" sz="1400" b="1" dirty="0" err="1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남성도</a:t>
            </a:r>
            <a:r>
              <a:rPr lang="en-US" altLang="ko-Kore-KR" sz="14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1400" b="1" dirty="0" err="1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여성도</a:t>
            </a:r>
            <a:r>
              <a:rPr lang="en-US" altLang="ko-Kore-KR" sz="14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1400" b="1" dirty="0" err="1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약을</a:t>
            </a:r>
            <a:r>
              <a:rPr lang="en-US" altLang="ko-Kore-KR" sz="14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1400" b="1" dirty="0" err="1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먹으면</a:t>
            </a:r>
            <a:r>
              <a:rPr lang="en-US" altLang="ko-Kore-KR" sz="14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1400" b="1" dirty="0" err="1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</a:t>
            </a:r>
            <a:r>
              <a:rPr lang="en-US" altLang="ko-Kore-KR" sz="14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20%p </a:t>
            </a:r>
            <a:r>
              <a:rPr lang="en-US" altLang="ko-Kore-KR" sz="1400" b="1" dirty="0" err="1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좋아진다</a:t>
            </a:r>
            <a:r>
              <a:rPr lang="en-US" altLang="ko-Kore-KR" sz="14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r>
              <a:rPr lang="en-US" altLang="ko-Kore-KR" sz="14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</a:t>
            </a:r>
            <a:r>
              <a:rPr lang="en-US" altLang="ko-Kore-KR" sz="1400" b="1" dirty="0" err="1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참된</a:t>
            </a:r>
            <a:r>
              <a:rPr lang="en-US" altLang="ko-Kore-KR" sz="14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1400" b="1" dirty="0" err="1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인과효과는</a:t>
            </a:r>
            <a:r>
              <a:rPr lang="en-US" altLang="ko-Kore-KR" sz="14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+20%p.</a:t>
            </a:r>
          </a:p>
          <a:p>
            <a:r>
              <a:rPr lang="ko-KR" altLang="en-US" sz="14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근데 남자가 여자보다 약을 더 잘 챙겨먹는다</a:t>
            </a:r>
            <a:r>
              <a:rPr lang="en-US" altLang="ko-KR" sz="14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.</a:t>
            </a:r>
            <a:endParaRPr lang="en-US" altLang="ko-Kore-KR" sz="1400" b="1" dirty="0"/>
          </a:p>
        </p:txBody>
      </p:sp>
      <p:sp>
        <p:nvSpPr>
          <p:cNvPr id="97" name="Text 95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 ·  교란과 do(x)</a:t>
            </a:r>
            <a:endParaRPr lang="en-US" sz="900" dirty="0"/>
          </a:p>
        </p:txBody>
      </p:sp>
      <p:sp>
        <p:nvSpPr>
          <p:cNvPr id="98" name="Text 96"/>
          <p:cNvSpPr txBox="1"/>
          <p:nvPr/>
        </p:nvSpPr>
        <p:spPr>
          <a:xfrm>
            <a:off x="1061892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/>
          <p:cNvSpPr/>
          <p:nvPr/>
        </p:nvSpPr>
        <p:spPr>
          <a:xfrm>
            <a:off x="0" y="1719072"/>
            <a:ext cx="5257800" cy="5138928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관찰 데이터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 복용     ○  미복용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0299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02996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성별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20299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20299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회복률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0299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388620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Shape 18"/>
          <p:cNvSpPr/>
          <p:nvPr/>
        </p:nvSpPr>
        <p:spPr>
          <a:xfrm>
            <a:off x="548640" y="2688336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548640" y="235915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35915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23591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606040" y="235915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23591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3017520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48640" y="26883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268833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26883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606040" y="26883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26883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3346704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548640" y="30175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301752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737360" y="30175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606040" y="30175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3566160" y="30175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" y="3675888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548640" y="33467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334670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737360" y="33467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2606040" y="334670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566160" y="33467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8640" y="4005072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548640" y="36758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1051560" y="36758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1737360" y="36758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2606040" y="367588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3566160" y="36758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8640" y="4334256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548640" y="400507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" y="400507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1737360" y="40050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2606040" y="400507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3566160" y="40050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48640" y="4663440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548640" y="433425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1051560" y="433425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1737360" y="43342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2606040" y="433425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3566160" y="43342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48640" y="4992624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548640" y="46634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1051560" y="466344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1737360" y="46634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2606040" y="46634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3566160" y="46634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48640" y="5321808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548640" y="499262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1051560" y="499262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1737360" y="499262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2606040" y="499262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</a:t>
            </a:r>
            <a:endParaRPr lang="en-US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3566160" y="499262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48640" y="5650992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548640" y="532180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1051560" y="532180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1737360" y="53218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2606040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</a:t>
            </a:r>
            <a:endParaRPr lang="en-US" sz="1050" dirty="0"/>
          </a:p>
        </p:txBody>
      </p:sp>
      <p:sp>
        <p:nvSpPr>
          <p:cNvPr id="79" name="Text 77"/>
          <p:cNvSpPr txBox="1"/>
          <p:nvPr/>
        </p:nvSpPr>
        <p:spPr>
          <a:xfrm>
            <a:off x="3566160" y="53218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80" name="Text 78"/>
          <p:cNvSpPr txBox="1"/>
          <p:nvPr/>
        </p:nvSpPr>
        <p:spPr>
          <a:xfrm>
            <a:off x="548640" y="577900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오차는 없다고 가정한 이상적 데이터.</a:t>
            </a:r>
            <a:endParaRPr lang="en-US" sz="9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환자가 100만 명이어도 남녀 비율이 그대로면 </a:t>
            </a:r>
            <a:r>
              <a:rPr lang="en-US" sz="950" dirty="0" err="1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결과는</a:t>
            </a:r>
            <a:r>
              <a:rPr lang="en-US" sz="9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</a:t>
            </a:r>
            <a:r>
              <a:rPr lang="ko-KR" altLang="en-US" sz="9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</a:t>
            </a:r>
            <a:r>
              <a:rPr lang="en-US" sz="9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5806440" y="2084832"/>
            <a:ext cx="57268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그룹별 평균</a:t>
            </a:r>
            <a:endParaRPr lang="en-US" sz="1500" dirty="0"/>
          </a:p>
        </p:txBody>
      </p:sp>
      <p:sp>
        <p:nvSpPr>
          <p:cNvPr id="82" name="Text 80"/>
          <p:cNvSpPr txBox="1"/>
          <p:nvPr/>
        </p:nvSpPr>
        <p:spPr>
          <a:xfrm>
            <a:off x="5806440" y="254203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먹은 5명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7498080" y="25420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(90+90+90+90+60) / 5</a:t>
            </a:r>
            <a:endParaRPr lang="en-US" sz="1150" dirty="0"/>
          </a:p>
        </p:txBody>
      </p:sp>
      <p:sp>
        <p:nvSpPr>
          <p:cNvPr id="84" name="Text 82"/>
          <p:cNvSpPr txBox="1"/>
          <p:nvPr/>
        </p:nvSpPr>
        <p:spPr>
          <a:xfrm>
            <a:off x="10104120" y="2542032"/>
            <a:ext cx="14292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84%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5806440" y="29260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먹은 5명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7498080" y="29260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(70+40+40+40+40) / 5</a:t>
            </a:r>
            <a:endParaRPr lang="en-US" sz="1150" dirty="0"/>
          </a:p>
        </p:txBody>
      </p:sp>
      <p:sp>
        <p:nvSpPr>
          <p:cNvPr id="87" name="Text 85"/>
          <p:cNvSpPr txBox="1"/>
          <p:nvPr/>
        </p:nvSpPr>
        <p:spPr>
          <a:xfrm>
            <a:off x="10104120" y="2926080"/>
            <a:ext cx="14292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46%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5806440" y="3346704"/>
            <a:ext cx="5726887" cy="0"/>
          </a:xfrm>
          <a:prstGeom prst="line">
            <a:avLst/>
          </a:prstGeom>
          <a:noFill/>
          <a:ln w="1270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9" name="Shape 87"/>
          <p:cNvSpPr/>
          <p:nvPr/>
        </p:nvSpPr>
        <p:spPr>
          <a:xfrm>
            <a:off x="5806440" y="3520440"/>
            <a:ext cx="5726887" cy="786384"/>
          </a:xfrm>
          <a:prstGeom prst="roundRect">
            <a:avLst>
              <a:gd name="adj" fmla="val 697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0" name="Text 88"/>
          <p:cNvSpPr txBox="1"/>
          <p:nvPr/>
        </p:nvSpPr>
        <p:spPr>
          <a:xfrm>
            <a:off x="6126480" y="352044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그룹의 차이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8549640" y="3520440"/>
            <a:ext cx="266364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+38%p</a:t>
            </a:r>
            <a:endParaRPr lang="en-US" sz="2600" dirty="0"/>
          </a:p>
        </p:txBody>
      </p:sp>
      <p:sp>
        <p:nvSpPr>
          <p:cNvPr id="92" name="Shape 90"/>
          <p:cNvSpPr/>
          <p:nvPr/>
        </p:nvSpPr>
        <p:spPr>
          <a:xfrm>
            <a:off x="5806440" y="4617720"/>
            <a:ext cx="5726887" cy="786384"/>
          </a:xfrm>
          <a:prstGeom prst="roundRect">
            <a:avLst>
              <a:gd name="adj" fmla="val 6977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3" name="Text 91"/>
          <p:cNvSpPr txBox="1"/>
          <p:nvPr/>
        </p:nvSpPr>
        <p:spPr>
          <a:xfrm>
            <a:off x="6126480" y="461772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참된 인과효과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8549640" y="4617720"/>
            <a:ext cx="266364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+20%p</a:t>
            </a:r>
            <a:endParaRPr lang="en-US" sz="2600" dirty="0"/>
          </a:p>
        </p:txBody>
      </p:sp>
      <p:sp>
        <p:nvSpPr>
          <p:cNvPr id="97" name="Text 95"/>
          <p:cNvSpPr txBox="1"/>
          <p:nvPr/>
        </p:nvSpPr>
        <p:spPr>
          <a:xfrm>
            <a:off x="1061892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00" name="Text 1">
            <a:extLst>
              <a:ext uri="{FF2B5EF4-FFF2-40B4-BE49-F238E27FC236}">
                <a16:creationId xmlns:a16="http://schemas.microsoft.com/office/drawing/2014/main" id="{5397BC00-AF17-904F-5AFB-579BBA43CF99}"/>
              </a:ext>
            </a:extLst>
          </p:cNvPr>
          <p:cNvSpPr txBox="1"/>
          <p:nvPr/>
        </p:nvSpPr>
        <p:spPr>
          <a:xfrm>
            <a:off x="548640" y="310904"/>
            <a:ext cx="10874959" cy="1188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남자는 약을 잘 챙겨 먹었고</a:t>
            </a:r>
            <a:r>
              <a:rPr lang="en-US" altLang="ko-KR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ko-KR" alt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여자는 잘 안 먹었다</a:t>
            </a:r>
            <a:br>
              <a:rPr lang="en-US" altLang="ko-KR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약의 효과는 몇 %p인가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 ②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데이터만으로는 앞의 계산을 반박할 수 없다</a:t>
            </a:r>
            <a:r>
              <a:rPr lang="en-US" altLang="ko-KR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1737360"/>
            <a:ext cx="5806440" cy="5138928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인과 다이어그램을 활용한 기존의 통계방법론 뛰어넘기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48840" y="251460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Text 6"/>
          <p:cNvSpPr txBox="1"/>
          <p:nvPr/>
        </p:nvSpPr>
        <p:spPr>
          <a:xfrm>
            <a:off x="2148840" y="25694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· 성별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8072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관찰되는 교란 요인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85800" y="38496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· 약 복용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873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11880" y="379476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3611880" y="38496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· 회복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40873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 flipH="1">
            <a:off x="1463040" y="3081528"/>
            <a:ext cx="1005840" cy="713232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Shape 15"/>
          <p:cNvSpPr/>
          <p:nvPr/>
        </p:nvSpPr>
        <p:spPr>
          <a:xfrm>
            <a:off x="3383280" y="3081528"/>
            <a:ext cx="1005840" cy="713232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" name="Shape 16"/>
          <p:cNvSpPr/>
          <p:nvPr/>
        </p:nvSpPr>
        <p:spPr>
          <a:xfrm>
            <a:off x="2240280" y="4078224"/>
            <a:ext cx="137160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2103120" y="4133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알고 싶은 효과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4892040"/>
            <a:ext cx="4846320" cy="0"/>
          </a:xfrm>
          <a:prstGeom prst="line">
            <a:avLst/>
          </a:prstGeom>
          <a:noFill/>
          <a:ln w="1270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502920" y="50292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추정식 (Estimand)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5303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 Y | do(X) )  =  Σz  P(Y | X, Z) P(Z)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465113" y="3044952"/>
            <a:ext cx="347472" cy="347472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465113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995465" y="3026664"/>
            <a:ext cx="4510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그래프가</a:t>
            </a:r>
            <a:r>
              <a:rPr 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</a:t>
            </a:r>
            <a:r>
              <a:rPr lang="ko-KR" alt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성별</a:t>
            </a:r>
            <a:r>
              <a:rPr lang="en-US" altLang="ko-KR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”</a:t>
            </a:r>
            <a:r>
              <a:rPr lang="ko-KR" alt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</a:t>
            </a:r>
            <a:r>
              <a:rPr 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교란 요인으로 지목한다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65113" y="3611880"/>
            <a:ext cx="347472" cy="347472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6465113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995465" y="3593592"/>
            <a:ext cx="4510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인과 법칙이</a:t>
            </a:r>
            <a:r>
              <a:rPr 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“</a:t>
            </a:r>
            <a:r>
              <a:rPr lang="ko-KR" alt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성별 </a:t>
            </a:r>
            <a:r>
              <a:rPr lang="en-US" sz="1300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</a:t>
            </a:r>
            <a:r>
              <a:rPr 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층화하라”는 추정식을 만든다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65113" y="4178808"/>
            <a:ext cx="347472" cy="347472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6465113" y="4178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995465" y="4160520"/>
            <a:ext cx="4510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넣으면 개입 효과가 나온다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논문리뷰 발표  ·  Pearl (2019)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61892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/>
          <p:cNvSpPr/>
          <p:nvPr/>
        </p:nvSpPr>
        <p:spPr>
          <a:xfrm>
            <a:off x="0" y="1719072"/>
            <a:ext cx="5257800" cy="5138928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A — 전원 복용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 복용     ○  미복용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0299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02996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성별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20299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20299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회복률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0299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388620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Shape 18"/>
          <p:cNvSpPr/>
          <p:nvPr/>
        </p:nvSpPr>
        <p:spPr>
          <a:xfrm>
            <a:off x="548640" y="2688336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548640" y="235915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35915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23591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606040" y="235915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23591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3017520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48640" y="26883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268833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26883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606040" y="26883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26883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3346704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548640" y="30175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301752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737360" y="30175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606040" y="30175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3566160" y="30175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" y="3675888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548640" y="33467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334670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737360" y="33467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2606040" y="334670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566160" y="33467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8640" y="3675888"/>
            <a:ext cx="3886200" cy="329184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5" name="Shape 43"/>
          <p:cNvSpPr/>
          <p:nvPr/>
        </p:nvSpPr>
        <p:spPr>
          <a:xfrm>
            <a:off x="548640" y="4005072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548640" y="36758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36758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1737360" y="36758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2606040" y="367588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3566160" y="36758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바뀜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48640" y="4334256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548640" y="400507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1051560" y="400507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1737360" y="40050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2606040" y="400507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3566160" y="40050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48640" y="4334256"/>
            <a:ext cx="3886200" cy="329184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8" name="Shape 56"/>
          <p:cNvSpPr/>
          <p:nvPr/>
        </p:nvSpPr>
        <p:spPr>
          <a:xfrm>
            <a:off x="548640" y="4663440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9" name="Text 57"/>
          <p:cNvSpPr txBox="1"/>
          <p:nvPr/>
        </p:nvSpPr>
        <p:spPr>
          <a:xfrm>
            <a:off x="548640" y="433425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1051560" y="433425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1737360" y="43342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2606040" y="433425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3566160" y="43342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바뀜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48640" y="4663440"/>
            <a:ext cx="3886200" cy="329184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5" name="Shape 63"/>
          <p:cNvSpPr/>
          <p:nvPr/>
        </p:nvSpPr>
        <p:spPr>
          <a:xfrm>
            <a:off x="548640" y="4992624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548640" y="46634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1051560" y="466344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1737360" y="46634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2606040" y="46634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3566160" y="46634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바뀜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48640" y="4992624"/>
            <a:ext cx="3886200" cy="329184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2" name="Shape 70"/>
          <p:cNvSpPr/>
          <p:nvPr/>
        </p:nvSpPr>
        <p:spPr>
          <a:xfrm>
            <a:off x="548640" y="5321808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3" name="Text 71"/>
          <p:cNvSpPr txBox="1"/>
          <p:nvPr/>
        </p:nvSpPr>
        <p:spPr>
          <a:xfrm>
            <a:off x="548640" y="499262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1051560" y="499262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1737360" y="499262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2606040" y="499262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3566160" y="499262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바뀜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548640" y="5321808"/>
            <a:ext cx="3886200" cy="329184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9" name="Shape 77"/>
          <p:cNvSpPr/>
          <p:nvPr/>
        </p:nvSpPr>
        <p:spPr>
          <a:xfrm>
            <a:off x="548640" y="5650992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0" name="Text 78"/>
          <p:cNvSpPr txBox="1"/>
          <p:nvPr/>
        </p:nvSpPr>
        <p:spPr>
          <a:xfrm>
            <a:off x="548640" y="532180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50" dirty="0"/>
          </a:p>
        </p:txBody>
      </p:sp>
      <p:sp>
        <p:nvSpPr>
          <p:cNvPr id="81" name="Text 79"/>
          <p:cNvSpPr txBox="1"/>
          <p:nvPr/>
        </p:nvSpPr>
        <p:spPr>
          <a:xfrm>
            <a:off x="1051560" y="532180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82" name="Text 80"/>
          <p:cNvSpPr txBox="1"/>
          <p:nvPr/>
        </p:nvSpPr>
        <p:spPr>
          <a:xfrm>
            <a:off x="1737360" y="53218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2606040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</a:t>
            </a:r>
            <a:endParaRPr lang="en-US" sz="1050" dirty="0"/>
          </a:p>
        </p:txBody>
      </p:sp>
      <p:sp>
        <p:nvSpPr>
          <p:cNvPr id="84" name="Text 82"/>
          <p:cNvSpPr txBox="1"/>
          <p:nvPr/>
        </p:nvSpPr>
        <p:spPr>
          <a:xfrm>
            <a:off x="3566160" y="53218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바뀜</a:t>
            </a:r>
            <a:endParaRPr lang="en-US" sz="850" dirty="0"/>
          </a:p>
        </p:txBody>
      </p:sp>
      <p:sp>
        <p:nvSpPr>
          <p:cNvPr id="85" name="Text 83"/>
          <p:cNvSpPr txBox="1"/>
          <p:nvPr/>
        </p:nvSpPr>
        <p:spPr>
          <a:xfrm>
            <a:off x="548640" y="577900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칸만 전부 ● 로 덮어썼다. 성별은 손대지 않는다.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5806440" y="2747772"/>
            <a:ext cx="57268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 5명이 90%, 여 5명이 60%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5806440" y="3076956"/>
            <a:ext cx="57268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(90 × 5 + 60 × 5) / 10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5715000" y="1719072"/>
            <a:ext cx="5726887" cy="786384"/>
          </a:xfrm>
          <a:prstGeom prst="roundRect">
            <a:avLst>
              <a:gd name="adj" fmla="val 697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0" name="Text 88"/>
          <p:cNvSpPr txBox="1"/>
          <p:nvPr/>
        </p:nvSpPr>
        <p:spPr>
          <a:xfrm>
            <a:off x="6035040" y="1719072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A 평균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8458200" y="1719072"/>
            <a:ext cx="266364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75%</a:t>
            </a:r>
            <a:endParaRPr lang="en-US" sz="2600" dirty="0"/>
          </a:p>
        </p:txBody>
      </p:sp>
      <p:sp>
        <p:nvSpPr>
          <p:cNvPr id="92" name="Shape 90"/>
          <p:cNvSpPr/>
          <p:nvPr/>
        </p:nvSpPr>
        <p:spPr>
          <a:xfrm>
            <a:off x="5733593" y="3735324"/>
            <a:ext cx="5726887" cy="13716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3" name="Text 91"/>
          <p:cNvSpPr txBox="1"/>
          <p:nvPr/>
        </p:nvSpPr>
        <p:spPr>
          <a:xfrm>
            <a:off x="6053633" y="3735324"/>
            <a:ext cx="508680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그룹을 나누지 않았다는 점이 중요하다.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10명 전원이 이 계산에 들어간다 — 남 5, 여 5 그대로.</a:t>
            </a:r>
            <a:endParaRPr lang="en-US" sz="1250" dirty="0"/>
          </a:p>
        </p:txBody>
      </p:sp>
      <p:sp>
        <p:nvSpPr>
          <p:cNvPr id="94" name="Text 92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 ·  교란과 do(x)</a:t>
            </a:r>
            <a:endParaRPr lang="en-US" sz="900" dirty="0"/>
          </a:p>
        </p:txBody>
      </p:sp>
      <p:sp>
        <p:nvSpPr>
          <p:cNvPr id="95" name="Text 93"/>
          <p:cNvSpPr txBox="1"/>
          <p:nvPr/>
        </p:nvSpPr>
        <p:spPr>
          <a:xfrm>
            <a:off x="1061892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96" name="Text 1">
            <a:extLst>
              <a:ext uri="{FF2B5EF4-FFF2-40B4-BE49-F238E27FC236}">
                <a16:creationId xmlns:a16="http://schemas.microsoft.com/office/drawing/2014/main" id="{95D14CA3-9E4B-43AA-29DA-4FD924864424}"/>
              </a:ext>
            </a:extLst>
          </p:cNvPr>
          <p:cNvSpPr txBox="1"/>
          <p:nvPr/>
        </p:nvSpPr>
        <p:spPr>
          <a:xfrm>
            <a:off x="548640" y="137164"/>
            <a:ext cx="10874959" cy="1188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ore-KR" sz="32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</a:t>
            </a:r>
            <a:r>
              <a:rPr lang="en-US" altLang="ko-Kore-KR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 — </a:t>
            </a:r>
            <a:r>
              <a:rPr lang="en-US" altLang="ko-Kore-KR" sz="32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전원에게</a:t>
            </a:r>
            <a:r>
              <a:rPr lang="en-US" altLang="ko-Kore-KR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32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약을</a:t>
            </a:r>
            <a:r>
              <a:rPr lang="en-US" altLang="ko-Kore-KR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32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먹인</a:t>
            </a:r>
            <a:r>
              <a:rPr lang="en-US" altLang="ko-Kore-KR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32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세상</a:t>
            </a:r>
            <a:endParaRPr lang="en-US" altLang="ko-Kore-KR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/>
          <p:cNvSpPr/>
          <p:nvPr/>
        </p:nvSpPr>
        <p:spPr>
          <a:xfrm>
            <a:off x="0" y="1719072"/>
            <a:ext cx="5257800" cy="5138928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B — 전원 미복용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 복용     ○  미복용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0299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02996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성별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20299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20299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회복률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0299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359152"/>
            <a:ext cx="388620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Shape 18"/>
          <p:cNvSpPr/>
          <p:nvPr/>
        </p:nvSpPr>
        <p:spPr>
          <a:xfrm>
            <a:off x="548640" y="2359152"/>
            <a:ext cx="3886200" cy="329184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2688336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548640" y="235915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235915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23591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606040" y="235915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23591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바뀜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" y="2688336"/>
            <a:ext cx="3886200" cy="329184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8" name="Shape 26"/>
          <p:cNvSpPr/>
          <p:nvPr/>
        </p:nvSpPr>
        <p:spPr>
          <a:xfrm>
            <a:off x="548640" y="3017520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6883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268833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737360" y="26883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606040" y="26883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566160" y="26883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바뀜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8640" y="3017520"/>
            <a:ext cx="3886200" cy="329184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Shape 33"/>
          <p:cNvSpPr/>
          <p:nvPr/>
        </p:nvSpPr>
        <p:spPr>
          <a:xfrm>
            <a:off x="548640" y="3346704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548640" y="30175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301752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737360" y="30175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606040" y="30175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3566160" y="30175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바뀜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" y="3346704"/>
            <a:ext cx="3886200" cy="329184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2" name="Shape 40"/>
          <p:cNvSpPr/>
          <p:nvPr/>
        </p:nvSpPr>
        <p:spPr>
          <a:xfrm>
            <a:off x="548640" y="3675888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548640" y="33467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051560" y="334670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1737360" y="33467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2606040" y="334670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3566160" y="33467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바뀜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8640" y="4005072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548640" y="36758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1051560" y="36758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1737360" y="36758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2606040" y="367588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566160" y="36758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48640" y="4005072"/>
            <a:ext cx="3886200" cy="329184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5" name="Shape 53"/>
          <p:cNvSpPr/>
          <p:nvPr/>
        </p:nvSpPr>
        <p:spPr>
          <a:xfrm>
            <a:off x="548640" y="4334256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6" name="Text 54"/>
          <p:cNvSpPr txBox="1"/>
          <p:nvPr/>
        </p:nvSpPr>
        <p:spPr>
          <a:xfrm>
            <a:off x="548640" y="400507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1051560" y="400507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1737360" y="40050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2606040" y="400507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3566160" y="40050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바뀜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48640" y="4663440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2" name="Text 60"/>
          <p:cNvSpPr txBox="1"/>
          <p:nvPr/>
        </p:nvSpPr>
        <p:spPr>
          <a:xfrm>
            <a:off x="548640" y="433425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1051560" y="433425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1737360" y="43342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2606040" y="433425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3566160" y="43342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48640" y="4992624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8" name="Text 66"/>
          <p:cNvSpPr txBox="1"/>
          <p:nvPr/>
        </p:nvSpPr>
        <p:spPr>
          <a:xfrm>
            <a:off x="548640" y="46634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1051560" y="466344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1737360" y="46634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2606040" y="46634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3566160" y="46634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48640" y="5321808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4" name="Text 72"/>
          <p:cNvSpPr txBox="1"/>
          <p:nvPr/>
        </p:nvSpPr>
        <p:spPr>
          <a:xfrm>
            <a:off x="548640" y="499262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1051560" y="499262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1737360" y="499262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2606040" y="499262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</a:t>
            </a:r>
            <a:endParaRPr lang="en-US" sz="1050" dirty="0"/>
          </a:p>
        </p:txBody>
      </p:sp>
      <p:sp>
        <p:nvSpPr>
          <p:cNvPr id="78" name="Text 76"/>
          <p:cNvSpPr txBox="1"/>
          <p:nvPr/>
        </p:nvSpPr>
        <p:spPr>
          <a:xfrm>
            <a:off x="3566160" y="499262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48640" y="5650992"/>
            <a:ext cx="3886200" cy="0"/>
          </a:xfrm>
          <a:prstGeom prst="line">
            <a:avLst/>
          </a:prstGeom>
          <a:noFill/>
          <a:ln w="762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0" name="Text 78"/>
          <p:cNvSpPr txBox="1"/>
          <p:nvPr/>
        </p:nvSpPr>
        <p:spPr>
          <a:xfrm>
            <a:off x="548640" y="532180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50" dirty="0"/>
          </a:p>
        </p:txBody>
      </p:sp>
      <p:sp>
        <p:nvSpPr>
          <p:cNvPr id="81" name="Text 79"/>
          <p:cNvSpPr txBox="1"/>
          <p:nvPr/>
        </p:nvSpPr>
        <p:spPr>
          <a:xfrm>
            <a:off x="1051560" y="532180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en-US" sz="1050" dirty="0"/>
          </a:p>
        </p:txBody>
      </p:sp>
      <p:sp>
        <p:nvSpPr>
          <p:cNvPr id="82" name="Text 80"/>
          <p:cNvSpPr txBox="1"/>
          <p:nvPr/>
        </p:nvSpPr>
        <p:spPr>
          <a:xfrm>
            <a:off x="1737360" y="53218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AF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2606040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</a:t>
            </a:r>
            <a:endParaRPr lang="en-US" sz="1050" dirty="0"/>
          </a:p>
        </p:txBody>
      </p:sp>
      <p:sp>
        <p:nvSpPr>
          <p:cNvPr id="84" name="Text 82"/>
          <p:cNvSpPr txBox="1"/>
          <p:nvPr/>
        </p:nvSpPr>
        <p:spPr>
          <a:xfrm>
            <a:off x="3566160" y="53218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85" name="Text 83"/>
          <p:cNvSpPr txBox="1"/>
          <p:nvPr/>
        </p:nvSpPr>
        <p:spPr>
          <a:xfrm>
            <a:off x="548640" y="577900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이번엔 약 칸을 전부 ○ 로 덮어썼다. 성별은 역시 그대로.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5806440" y="20482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A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7498080" y="204825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전원 복용   (90×5 + 60×5)/10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5806440" y="2889504"/>
            <a:ext cx="5726887" cy="0"/>
          </a:xfrm>
          <a:prstGeom prst="line">
            <a:avLst/>
          </a:prstGeom>
          <a:noFill/>
          <a:ln w="1270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7" name="Text 95"/>
          <p:cNvSpPr txBox="1"/>
          <p:nvPr/>
        </p:nvSpPr>
        <p:spPr>
          <a:xfrm>
            <a:off x="6126480" y="3968496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B 평균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8549640" y="3968496"/>
            <a:ext cx="266364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55%</a:t>
            </a:r>
            <a:endParaRPr lang="en-US" sz="2600" dirty="0"/>
          </a:p>
        </p:txBody>
      </p:sp>
      <p:sp>
        <p:nvSpPr>
          <p:cNvPr id="100" name="Text 98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 ·  교란과 do(x)</a:t>
            </a:r>
            <a:endParaRPr lang="en-US" sz="900" dirty="0"/>
          </a:p>
        </p:txBody>
      </p:sp>
      <p:sp>
        <p:nvSpPr>
          <p:cNvPr id="101" name="Text 99"/>
          <p:cNvSpPr txBox="1"/>
          <p:nvPr/>
        </p:nvSpPr>
        <p:spPr>
          <a:xfrm>
            <a:off x="1061892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103" name="Text 86">
            <a:extLst>
              <a:ext uri="{FF2B5EF4-FFF2-40B4-BE49-F238E27FC236}">
                <a16:creationId xmlns:a16="http://schemas.microsoft.com/office/drawing/2014/main" id="{12B46904-0270-A9E1-E74D-0463A469DC33}"/>
              </a:ext>
            </a:extLst>
          </p:cNvPr>
          <p:cNvSpPr txBox="1"/>
          <p:nvPr/>
        </p:nvSpPr>
        <p:spPr>
          <a:xfrm>
            <a:off x="5806440" y="3076956"/>
            <a:ext cx="57268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(70 × 5 + 40 × 5) / 10</a:t>
            </a:r>
            <a:endParaRPr lang="en-US" sz="1300" dirty="0"/>
          </a:p>
        </p:txBody>
      </p:sp>
      <p:sp>
        <p:nvSpPr>
          <p:cNvPr id="104" name="Shape 87">
            <a:extLst>
              <a:ext uri="{FF2B5EF4-FFF2-40B4-BE49-F238E27FC236}">
                <a16:creationId xmlns:a16="http://schemas.microsoft.com/office/drawing/2014/main" id="{B255B02C-6951-2493-CF22-EB612A99AA05}"/>
              </a:ext>
            </a:extLst>
          </p:cNvPr>
          <p:cNvSpPr/>
          <p:nvPr/>
        </p:nvSpPr>
        <p:spPr>
          <a:xfrm>
            <a:off x="5715000" y="1719072"/>
            <a:ext cx="5726887" cy="786384"/>
          </a:xfrm>
          <a:prstGeom prst="roundRect">
            <a:avLst>
              <a:gd name="adj" fmla="val 697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5" name="Text 88">
            <a:extLst>
              <a:ext uri="{FF2B5EF4-FFF2-40B4-BE49-F238E27FC236}">
                <a16:creationId xmlns:a16="http://schemas.microsoft.com/office/drawing/2014/main" id="{8A26A375-E95D-C579-8ED6-28370277637A}"/>
              </a:ext>
            </a:extLst>
          </p:cNvPr>
          <p:cNvSpPr txBox="1"/>
          <p:nvPr/>
        </p:nvSpPr>
        <p:spPr>
          <a:xfrm>
            <a:off x="6035040" y="1719072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</a:t>
            </a: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 </a:t>
            </a:r>
            <a:r>
              <a:rPr lang="en-US" sz="13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</a:t>
            </a:r>
            <a:endParaRPr lang="en-US" sz="1300" dirty="0"/>
          </a:p>
        </p:txBody>
      </p:sp>
      <p:sp>
        <p:nvSpPr>
          <p:cNvPr id="106" name="Text 89">
            <a:extLst>
              <a:ext uri="{FF2B5EF4-FFF2-40B4-BE49-F238E27FC236}">
                <a16:creationId xmlns:a16="http://schemas.microsoft.com/office/drawing/2014/main" id="{43A99497-0B71-3BB2-E2A1-8D212E351DE8}"/>
              </a:ext>
            </a:extLst>
          </p:cNvPr>
          <p:cNvSpPr txBox="1"/>
          <p:nvPr/>
        </p:nvSpPr>
        <p:spPr>
          <a:xfrm>
            <a:off x="8458200" y="1719072"/>
            <a:ext cx="266364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55%</a:t>
            </a:r>
            <a:endParaRPr lang="en-US" sz="2600" dirty="0"/>
          </a:p>
        </p:txBody>
      </p:sp>
      <p:sp>
        <p:nvSpPr>
          <p:cNvPr id="107" name="Shape 90">
            <a:extLst>
              <a:ext uri="{FF2B5EF4-FFF2-40B4-BE49-F238E27FC236}">
                <a16:creationId xmlns:a16="http://schemas.microsoft.com/office/drawing/2014/main" id="{A54412AD-798B-142B-B11A-F6FF63227F0A}"/>
              </a:ext>
            </a:extLst>
          </p:cNvPr>
          <p:cNvSpPr/>
          <p:nvPr/>
        </p:nvSpPr>
        <p:spPr>
          <a:xfrm>
            <a:off x="5733593" y="3735324"/>
            <a:ext cx="5726887" cy="13716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8" name="Text 91">
            <a:extLst>
              <a:ext uri="{FF2B5EF4-FFF2-40B4-BE49-F238E27FC236}">
                <a16:creationId xmlns:a16="http://schemas.microsoft.com/office/drawing/2014/main" id="{9F75BE0F-96F4-D443-05F7-9615C9071231}"/>
              </a:ext>
            </a:extLst>
          </p:cNvPr>
          <p:cNvSpPr txBox="1"/>
          <p:nvPr/>
        </p:nvSpPr>
        <p:spPr>
          <a:xfrm>
            <a:off x="6053633" y="3735324"/>
            <a:ext cx="508680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ko-KR" altLang="en-US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두 표를 나란히 놓고 보면 성별 열이 완전히 같다</a:t>
            </a:r>
            <a:r>
              <a:rPr lang="en-US" altLang="ko-KR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.</a:t>
            </a:r>
            <a:r>
              <a:rPr lang="ko-KR" altLang="en-US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endParaRPr lang="en-US" altLang="ko-KR" sz="1250" b="1" dirty="0">
              <a:solidFill>
                <a:srgbClr val="111111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ko-KR" altLang="en-US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</a:rPr>
              <a:t>약 복용 여부만 달라짐</a:t>
            </a:r>
            <a:endParaRPr lang="en-US" sz="1250" dirty="0"/>
          </a:p>
        </p:txBody>
      </p:sp>
      <p:sp>
        <p:nvSpPr>
          <p:cNvPr id="111" name="Text 1">
            <a:extLst>
              <a:ext uri="{FF2B5EF4-FFF2-40B4-BE49-F238E27FC236}">
                <a16:creationId xmlns:a16="http://schemas.microsoft.com/office/drawing/2014/main" id="{6A70BA56-7B0D-C315-9F6E-DEF527815B3B}"/>
              </a:ext>
            </a:extLst>
          </p:cNvPr>
          <p:cNvSpPr txBox="1"/>
          <p:nvPr/>
        </p:nvSpPr>
        <p:spPr>
          <a:xfrm>
            <a:off x="548640" y="137164"/>
            <a:ext cx="10874959" cy="1188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ore-KR" sz="32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</a:t>
            </a:r>
            <a:r>
              <a:rPr lang="en-US" altLang="ko-Kore-KR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 — </a:t>
            </a:r>
            <a:r>
              <a:rPr lang="en-US" altLang="ko-Kore-KR" sz="32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전원에게</a:t>
            </a:r>
            <a:r>
              <a:rPr lang="en-US" altLang="ko-Kore-KR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32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약을</a:t>
            </a:r>
            <a:r>
              <a:rPr lang="en-US" altLang="ko-Kore-KR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32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</a:t>
            </a:r>
            <a:r>
              <a:rPr lang="ko-KR" altLang="en-US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이지 않은</a:t>
            </a:r>
            <a:r>
              <a:rPr lang="en-US" altLang="ko-Kore-KR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32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세상</a:t>
            </a:r>
            <a:endParaRPr lang="en-US" altLang="ko-Kore-KR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10명으로 손계산 — 약의 효과는 몇 %p인가</a:t>
            </a:r>
            <a:endParaRPr lang="en-US" sz="3000" dirty="0"/>
          </a:p>
        </p:txBody>
      </p:sp>
      <p:sp>
        <p:nvSpPr>
          <p:cNvPr id="86" name="Text 84"/>
          <p:cNvSpPr txBox="1"/>
          <p:nvPr/>
        </p:nvSpPr>
        <p:spPr>
          <a:xfrm>
            <a:off x="3232556" y="186537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A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4924196" y="186537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전원 복용</a:t>
            </a:r>
            <a:endParaRPr lang="en-US" sz="1150" dirty="0"/>
          </a:p>
        </p:txBody>
      </p:sp>
      <p:sp>
        <p:nvSpPr>
          <p:cNvPr id="88" name="Text 86"/>
          <p:cNvSpPr txBox="1"/>
          <p:nvPr/>
        </p:nvSpPr>
        <p:spPr>
          <a:xfrm>
            <a:off x="7530236" y="1865376"/>
            <a:ext cx="14292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75%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3232556" y="22677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B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4924196" y="226771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전원 미복용</a:t>
            </a:r>
            <a:endParaRPr lang="en-US" sz="1150" dirty="0"/>
          </a:p>
        </p:txBody>
      </p:sp>
      <p:sp>
        <p:nvSpPr>
          <p:cNvPr id="91" name="Text 89"/>
          <p:cNvSpPr txBox="1"/>
          <p:nvPr/>
        </p:nvSpPr>
        <p:spPr>
          <a:xfrm>
            <a:off x="7530236" y="2267712"/>
            <a:ext cx="14292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55%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3232556" y="2706624"/>
            <a:ext cx="5726887" cy="0"/>
          </a:xfrm>
          <a:prstGeom prst="line">
            <a:avLst/>
          </a:prstGeom>
          <a:noFill/>
          <a:ln w="1270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3" name="Shape 91"/>
          <p:cNvSpPr/>
          <p:nvPr/>
        </p:nvSpPr>
        <p:spPr>
          <a:xfrm>
            <a:off x="3232556" y="2907792"/>
            <a:ext cx="5726887" cy="786384"/>
          </a:xfrm>
          <a:prstGeom prst="roundRect">
            <a:avLst>
              <a:gd name="adj" fmla="val 697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4" name="Text 92"/>
          <p:cNvSpPr txBox="1"/>
          <p:nvPr/>
        </p:nvSpPr>
        <p:spPr>
          <a:xfrm>
            <a:off x="3552596" y="2907792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인과효과  75 − 55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5975756" y="2907792"/>
            <a:ext cx="266364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+20%p</a:t>
            </a:r>
            <a:endParaRPr lang="en-US" sz="2600" dirty="0"/>
          </a:p>
        </p:txBody>
      </p:sp>
      <p:sp>
        <p:nvSpPr>
          <p:cNvPr id="96" name="Text 94"/>
          <p:cNvSpPr txBox="1"/>
          <p:nvPr/>
        </p:nvSpPr>
        <p:spPr>
          <a:xfrm>
            <a:off x="3232556" y="3803904"/>
            <a:ext cx="57268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참값과 정확히 일치한다.</a:t>
            </a:r>
            <a:endParaRPr lang="en-US" sz="1250" dirty="0"/>
          </a:p>
        </p:txBody>
      </p:sp>
      <p:sp>
        <p:nvSpPr>
          <p:cNvPr id="97" name="Shape 95"/>
          <p:cNvSpPr/>
          <p:nvPr/>
        </p:nvSpPr>
        <p:spPr>
          <a:xfrm>
            <a:off x="3232556" y="4261104"/>
            <a:ext cx="5726887" cy="1463040"/>
          </a:xfrm>
          <a:prstGeom prst="roundRect">
            <a:avLst>
              <a:gd name="adj" fmla="val 375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8" name="Text 96"/>
          <p:cNvSpPr txBox="1"/>
          <p:nvPr/>
        </p:nvSpPr>
        <p:spPr>
          <a:xfrm>
            <a:off x="3552596" y="4261104"/>
            <a:ext cx="508680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이번엔 맞았나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시나리오의 구성원이 완전히 같기 때문이다. 성별 구성이 동일하니 성별의 영향이 양쪽에서 상쇄되고, 차이로 남는 것은 약의 효과뿐이다.</a:t>
            </a:r>
            <a:endParaRPr lang="en-US" sz="1400" dirty="0"/>
          </a:p>
        </p:txBody>
      </p:sp>
      <p:sp>
        <p:nvSpPr>
          <p:cNvPr id="99" name="Text 97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 ·  교란과 do(x)</a:t>
            </a:r>
            <a:endParaRPr lang="en-US" sz="900" dirty="0"/>
          </a:p>
        </p:txBody>
      </p:sp>
      <p:sp>
        <p:nvSpPr>
          <p:cNvPr id="100" name="Text 98"/>
          <p:cNvSpPr txBox="1"/>
          <p:nvPr/>
        </p:nvSpPr>
        <p:spPr>
          <a:xfrm>
            <a:off x="1061892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③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인과법칙을 수립하기 위한 </a:t>
            </a:r>
            <a:r>
              <a:rPr lang="en-US" altLang="ko-KR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Seven Tools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10874959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58368" y="1874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1874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315968" y="1874520"/>
            <a:ext cx="5982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2359152"/>
            <a:ext cx="10874959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Shape 9"/>
          <p:cNvSpPr/>
          <p:nvPr/>
        </p:nvSpPr>
        <p:spPr>
          <a:xfrm>
            <a:off x="658368" y="2816352"/>
            <a:ext cx="10874959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58368" y="23591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3591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인과 가정의 부호화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15968" y="2359152"/>
            <a:ext cx="5982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그래프로 가정을 명시하고 검증 </a:t>
            </a:r>
            <a:r>
              <a:rPr lang="en-US" sz="1150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가능하게</a:t>
            </a:r>
            <a:r>
              <a:rPr lang="en-US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만든다</a:t>
            </a:r>
            <a:r>
              <a:rPr lang="en-US" altLang="ko-KR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r>
              <a:rPr lang="ko-KR" altLang="en-US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투명성과 검증가능성이 있어야 한다</a:t>
            </a:r>
            <a:r>
              <a:rPr lang="en-US" altLang="ko-KR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r>
              <a:rPr lang="ko-KR" altLang="en-US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3300984"/>
            <a:ext cx="10874959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58368" y="28437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" y="284378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do-계산법과 교란 통제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15968" y="2843784"/>
            <a:ext cx="5982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교란</a:t>
            </a:r>
            <a:r>
              <a:rPr lang="ko-KR" altLang="en-US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요인</a:t>
            </a:r>
            <a:r>
              <a:rPr lang="en-US" sz="1150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</a:t>
            </a:r>
            <a:r>
              <a:rPr lang="en-US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가려내고 개입 효과를 식별한다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" y="3328416"/>
            <a:ext cx="10874959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2" name="Shape 20"/>
          <p:cNvSpPr/>
          <p:nvPr/>
        </p:nvSpPr>
        <p:spPr>
          <a:xfrm>
            <a:off x="658368" y="3785616"/>
            <a:ext cx="10874959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58368" y="33284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" y="4270248"/>
            <a:ext cx="10874959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58368" y="3813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" y="4297680"/>
            <a:ext cx="10874959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Shape 31"/>
          <p:cNvSpPr/>
          <p:nvPr/>
        </p:nvSpPr>
        <p:spPr>
          <a:xfrm>
            <a:off x="658368" y="4754880"/>
            <a:ext cx="10874959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658368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" y="3314701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적응성 · 외적 타당도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315968" y="3314701"/>
            <a:ext cx="5982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환경이 바뀌어도 결과를 옮겨 쓴다 — 전이학습 · 표본선택편향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58368" y="5239512"/>
            <a:ext cx="10874959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658368" y="47823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161288" y="47823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 데이터 복원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315968" y="4782312"/>
            <a:ext cx="5982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결측이 생긴 과정 자체를 인과적으로 모형화한다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58368" y="5266944"/>
            <a:ext cx="10874959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4" name="Shape 42"/>
          <p:cNvSpPr/>
          <p:nvPr/>
        </p:nvSpPr>
        <p:spPr>
          <a:xfrm>
            <a:off x="658368" y="5724144"/>
            <a:ext cx="10874959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658368" y="52669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161288" y="526694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인과 발견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315968" y="5266944"/>
            <a:ext cx="5982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데이터에서 그래프 구조 자체를 추정한다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논문리뷰 발표  ·  Pearl (2019)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061892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" y="3813049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반사실의 알고리즘화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315968" y="3813049"/>
            <a:ext cx="5982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수준 “만약 ~였다면”을 계산 가능하게 만든다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" y="4297681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매개 분석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315968" y="4297681"/>
            <a:ext cx="5982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효과와 간접 효과를 분해한다 — 메커니즘 규명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정리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</a:t>
            </a:r>
            <a:r>
              <a:rPr lang="en-US" sz="3200" b="1" dirty="0" err="1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5186020" cy="1865376"/>
          </a:xfrm>
          <a:prstGeom prst="roundRect">
            <a:avLst>
              <a:gd name="adj" fmla="val 2941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2103120"/>
            <a:ext cx="44910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문제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23744"/>
            <a:ext cx="44910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통계적 학습은 P(y|x) 만 다룬다 — 개입 · 설명 · 반사실에는 원리적으로 답할 수 없다.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47308" y="1828800"/>
            <a:ext cx="5186020" cy="1865376"/>
          </a:xfrm>
          <a:prstGeom prst="roundRect">
            <a:avLst>
              <a:gd name="adj" fmla="val 2941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694780" y="2103120"/>
            <a:ext cx="44910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핵심 아이디어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694780" y="2523744"/>
            <a:ext cx="44910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2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인간의 인과 법칙을 </a:t>
            </a:r>
            <a:r>
              <a:rPr lang="ko-KR" altLang="en-US" sz="1250" dirty="0" err="1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다이어그램화하여</a:t>
            </a:r>
            <a:r>
              <a:rPr lang="ko-KR" altLang="en-US" sz="12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endParaRPr lang="en-US" altLang="ko-KR" sz="1250" dirty="0">
              <a:solidFill>
                <a:srgbClr val="3C3C3C"/>
              </a:solidFill>
              <a:latin typeface="맑은 고딕" pitchFamily="34" charset="0"/>
              <a:ea typeface="맑은 고딕" pitchFamily="34" charset="-122"/>
            </a:endParaRPr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2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통계수치로 계산하면</a:t>
            </a:r>
            <a:endParaRPr lang="en-US" altLang="ko-KR" sz="1250" dirty="0">
              <a:solidFill>
                <a:srgbClr val="3C3C3C"/>
              </a:solidFill>
              <a:latin typeface="맑은 고딕" pitchFamily="34" charset="0"/>
              <a:ea typeface="맑은 고딕" pitchFamily="34" charset="-122"/>
            </a:endParaRPr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250" dirty="0" err="1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딥러닝의</a:t>
            </a:r>
            <a:r>
              <a:rPr lang="ko-KR" altLang="en-US" sz="12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 한계를 이길 수 있다</a:t>
            </a:r>
            <a:r>
              <a:rPr lang="en-US" altLang="ko-KR" sz="12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</a:rPr>
              <a:t>.</a:t>
            </a:r>
          </a:p>
          <a:p>
            <a:pPr marL="342900" indent="-342900">
              <a:lnSpc>
                <a:spcPct val="125000"/>
              </a:lnSpc>
              <a:buAutoNum type="arabicPeriod"/>
            </a:pPr>
            <a:endParaRPr lang="en-US" altLang="ko-KR" sz="1250" dirty="0">
              <a:solidFill>
                <a:srgbClr val="3C3C3C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4078224"/>
            <a:ext cx="5186020" cy="1865376"/>
          </a:xfrm>
          <a:prstGeom prst="roundRect">
            <a:avLst>
              <a:gd name="adj" fmla="val 2941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4352544"/>
            <a:ext cx="44910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도구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773168"/>
            <a:ext cx="44910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그래프로 가정을 쓰고(①), do-계산법으로 개입을(②·⑤), 반사실로 설명을(③·④) 계산한다. ⑥·⑦ 은 데이터 쪽을 받친다.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47308" y="4078224"/>
            <a:ext cx="5186020" cy="1865376"/>
          </a:xfrm>
          <a:prstGeom prst="roundRect">
            <a:avLst>
              <a:gd name="adj" fmla="val 2941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694780" y="4352544"/>
            <a:ext cx="44910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이후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6694780" y="4739302"/>
            <a:ext cx="44910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인과 추론은 정책평가 · 역학 · 추천 · 공정성 평가의 표준 언어가 되었다. 이 글은 그 전체 지도를 7개 항목으로 압축한 입문서.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논문리뷰 발표  ·  Pearl (2019)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61892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606040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Pearl, J. (2019). The Seven Tools of Causal Inference, with Reflections on Machine Learning.  Communications of the ACM, 62(3), 54–60.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2012</TotalTime>
  <Words>1481</Words>
  <Application>Microsoft Macintosh PowerPoint</Application>
  <PresentationFormat>와이드스크린</PresentationFormat>
  <Paragraphs>435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Seven Tools of Causal Inference</dc:title>
  <dc:subject>PptxGenJS Presentation</dc:subject>
  <dc:creator>논문리뷰</dc:creator>
  <cp:lastModifiedBy>김건우</cp:lastModifiedBy>
  <cp:revision>4</cp:revision>
  <dcterms:created xsi:type="dcterms:W3CDTF">2026-09-09T00:14:06Z</dcterms:created>
  <dcterms:modified xsi:type="dcterms:W3CDTF">2026-09-10T09:51:20Z</dcterms:modified>
</cp:coreProperties>
</file>