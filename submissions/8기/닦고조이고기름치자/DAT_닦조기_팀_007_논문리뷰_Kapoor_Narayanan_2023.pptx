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125" d="100"/>
          <a:sy n="125" d="100"/>
        </p:scale>
        <p:origin x="5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031357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이번 주 논문리뷰에서 소개할 논문은 Kapoor와 Narayanan이 2023년 Patterns에 발표한 '데이터 누출과 머신러닝 기반 과학의 재현성 위기'입니다.
오늘은 저희 팀 연구 발표가 아니라, 대상 팀인 00:7이 다루는 '기업부실 예측의 시점 누출'이 학문적으로 어디에 뿌리를 두는지를 다른 팀들에게 소개하는 자리입니다. 이 논문이 그 주제의 근본 논문입니다.
저자는 프린스턴대 소속이고 Arvind Narayanan은 AI 과대광고를 비판하는 걸로 유명합니다. 오픈액세스이고 코드·데이터도 CodeOcean에 전부 공개돼 있어서 직접 확인해 볼 수 있습니다.
약 10분간 문제 → 핵심 아이디어 → 결과 순으로 보겠습니다. 중간중간 논문 원문 문장과 수치를 그대로 인용해 두었습니다.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발표를 한 줄로 요약하면 이겁니다. '머신러닝이 과학을 더 정확하게 만든 게 아니라, 데이터 누출이 정확해 보이게 만들었을 수 있다. 그리고 그 누출은 3범주 8유형으로 전부 정리된다.' 이 한 문장만 기억하셔도 됩니다.
순서는 문제 → 핵심 아이디어 → 작동 장치 → 결과 → 정리입니다. 세 번째 작동 장치에서 나오는 시점 누출이 대상 팀 00:7의 주제이니 거기서 집중해 주세요.
그리고 맨 아래 적어둔 것처럼, 앞으로 나오는 회색 인용 박스는 제가 요약한 게 아니라 논문 원문 문장을 그대로 옮긴 것이고, 붉은 숫자는 논문이 실제로 보고한 수치입니다.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문제입니다. 논문 서론 첫 문장이 회색 박스 그대로인데, '정량 과학 분야 전반에서 예측 모델링 패러다임으로의 뚜렷한 전환이 있었다'입니다.
왼쪽을 보시면 과학에서 ML은 세 가지로 쓰입니다. 더 나은 예측으로 이해를 돕고, 의료 진단 도구를 만들고, 현상이 원래 얼마나 예측 가능한지를 따져보는 데 씁니다. '이 환자는 재발할까', '이 나라에 내전이 날까', '이 기업은 부실해질까' 같은 질문이죠. 그리고 대부분 복잡한 ML이 기존 통계 모델보다 훨씬 정확하다고 주장합니다.
오른쪽이 문제입니다. 재현 실패가 분야마다 따로따로 발견되고 있었는데, 왜 반복되는지 공통 설명이 없었어요. 게다가 체계적 리뷰들을 보면 검토 논문의 과반수가 함정을 안고 있었습니다.
아래 붉은 띠가 이 상황이 왜 저절로 나아지지 않는지를 보여주는 수치입니다. 이건 이 논문이 각주로 인용한 다른 연구인데, Serra-Garcia와 Gneezy가 2021년 Science Advances에 낸 겁니다. 심리학, 경제학, Nature와 Science의 재현 프로젝트 80편을 분석했어요.
결과가 좀 충격적입니다. 재현에 성공한 논문은 재현에 실패한 논문보다 평균 153회 적게 인용됩니다. 연간으로 따지면 약 16회 차이고요. 즉 재현이 안 되는 논문이 오히려 더 많이 인용된다는 거죠.
더 심각한 건 마지막 숫자입니다. 재현 실패가 공식적으로 발표된 뒤에도, 그 논문을 인용한 글 중 실패 사실을 언급한 건 12%뿐이었습니다. 나머지 88%는 재현이 안 됐다는 걸 모르거나 무시하고 계속 인용했다는 뜻입니다.
그래서 과잉낙관이 스스로를 강화합니다. 이 논문은 여기서 출발합니다. 분야는 달라도 원인은 하나 아닐까?</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아이디어의 첫 번째, 정의입니다. 논문의 정의를 그대로 옮기면 '데이터 누출이란, 데이터 수집·표집·전처리 전략의 부산물로 생겨난, 독립변수와 목표변수 사이의 허위 관계다'입니다.
여기서 핵심 단어는 '허위 관계'예요. 현실에 원래 있던 신호가 아니라, 내가 데이터를 다룬 방식 때문에 생긴 가짜 연관이라는 뜻입니다. 그래서 누출은 자연 현상이 아니라 연구자가 만든 오류입니다.
그리고 이 정의가 친절한 게, 그 가짜 연관이 생기는 지점을 셋으로 못박아 줍니다. 수집, 표집, 전처리. 각각 실제 예시로 보겠습니다.
첫째 수집입니다. 결과 때문에 생긴 변수를 애초에 피처로 모아버린 경우예요. 논문이 든 예가 고혈압 예측에 '항고혈압제 복용'을 피처로 쓴 겁니다. 그 약을 먹고 있다는 건 이미 고혈압이라는 뜻이니까 사실상 정답을 넣은 거죠. 기업부실로 옮기면, 감사의견 거절이나 법정관리 신청처럼 부실의 '결과'인 항목을 피처로 넣는 겁니다.
둘째 표집입니다. 학습·평가에 쓸 표본을 잘못 나눈 경우고, 이게 우리 대상 팀 주제입니다. 논문의 Wang 사례가 시계열 데이터에 k-겹 교차검증을 써서 미래가 과거 예측에 섞인 경우죠. 기업부실이라면 2015년부터 2022년 데이터를 시간 순서 무시하고 무작위로 나누는 겁니다.
셋째 전처리입니다. 나누기 전에 전체 데이터를 미리 손댄 경우예요. Muchlinski 논문이 훈련과 테스트를 함께 결측 대치했는데, 그것 때문에 랜덤 포레스트 AUC가 0.95로 나왔다가 정정하니 0.64로 떨어졌습니다. 기업부실이라면 재무비율 표준화나 결측 대치를 전체 데이터로 먼저 해버리는 거죠.
세 경우 다 결과는 같습니다. 실제로는 쓸 수 없어야 할 정보가 새어 들어가서 성능이 부풀려집니다. 다음 장에서 볼 8유형이 바로 이 세 지점을 더 잘게 나눈 지도입니다.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이 논문을 논문이게 하는 딱 한 가지, 핵심 기여입니다. 흩어져 있던 누출 사례를 3범주 8유형으로 지도처럼 정리했습니다.
L1은 훈련·테스트 분리 실패로 4유형입니다. 테스트셋을 아예 안 두거나, 결측 대치나 과대표집 같은 전처리를 분할 전에 전체 데이터로 하거나, 피처 선택을 전체로 하거나, 중복 샘플이 양쪽에 들어간 경우입니다.
L2는 부적절한 피처 사용 1유형입니다. 논문이 든 예가 인상적인데, 고혈압을 예측하면서 '항고혈압제 복용 여부'를 피처로 넣은 경우입니다. 사실상 정답을 알려주는 대리변수죠. 이건 도메인 지식이 있어야 판별됩니다.
L3은 테스트셋이 정작 관심 분포와 다른 경우로 3유형인데, 빨갛게 표시한 L3.1 시점 누출이 바로 대상 팀 00:7의 주제입니다.
아래 박스가 중요한데, 이 8칸이 조사에서 나온 모든 누출 사례를 포괄합니다. 기존 분류에서는 누출로 안 보던 표집 편향까지, 원인과 결과가 같다는 이유로 한 지도 안에 넣은 게 이 논문의 판단입니다.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8유형 중 대상 팀 주제인 L3.1 시점 누출만 떼어서 보겠습니다. 논문의 정의를 그대로 읽으면 '미래의 결과를 예측하는 데 ML 모델을 쓴다면, 테스트셋에는 학습셋보다 이전 날짜의 데이터가 전혀 들어 있어서는 안 된다'입니다.
오른쪽 붉은 박스가 논문에 실제로 나오는 사례입니다. Wang이라는 논문인데, 시계열 데이터에 훈련·테스트 분할 대신 k-겹 교차검증을 써버렸습니다. k-겹은 데이터를 무작위로 쪼개니까 미래 데이터로 학습해서 과거를 맞히는 상황이 생기죠. 그게 시점 누출입니다.
가운데 그림을 보시면 위쪽이 잘못된 분할입니다. 학습과 테스트가 시간축에서 뒤섞여 있죠. 아래쪽이 올바른 방법으로, 과거로 학습하고 미래로 평가합니다.
맨 아래가 우리 대상 팀 얘기입니다. 2020년 부실을 예측한다면서 학습에 2021, 2022년 재무 정보가 들어가거나 무작위로 나누면 아직 오지 않은 미래를 보고 맞힌 게 됩니다. 논문 성능은 화려해도 실제 예측엔 쓸모가 없습니다.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누출을 8가지로 분류만 해서는 실제로 줄지 않겠죠. 그래서 저자들은 예방 도구를 함께 제안합니다.
논문 문장을 그대로 옮기면 '단지 훈련셋과 테스트셋을 나누고 테스트셋 성능 지표를 보고하는 것만으로는 충분하지 않다'입니다. 성능 주장과 과학적 주장을 잇는 명시적 논증이 필요하고, 그 입증 책임은 연구자에게 있다는 겁니다.
그 도구가 21개 질문짜리 모델 정보 시트입니다. 답하면 세 가지 논증이 완성됩니다. A는 훈련·테스트를 깨끗이 분리했는가로 L1 방지, B는 각 피처가 정당한가로 L2 방지인데 피처가 수백 개여도 하나만 잘못되면 누출이라는 점이 중요합니다. C는 테스트셋이 주장하려는 분포와 맞는가로, 시간 순서와 독립성, 표집 편향을 묻습니다. 바로 시점 누출 방지죠.
그리고 맨 아래, 이게 말뿐이 아니라는 증거입니다. 오류가 확인된 내전 예측 논문 4편에 이 시트를 실제로 적용해 봤더니 각 논문의 누출 유형을 모두 탐지해냈습니다.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 첫 번째, 이게 얼마나 넓은 문제인지입니다. 논문의 주제문장을 그대로 읽으면 '우리는 17개 분야에서 자기 분야의 ML 기반 과학 오류를 정리한 22편의 논문을 찾았고, 이들이 다룬 논문은 총 294편에 이른다'입니다.
왼쪽 숫자가 그겁니다. 리뷰 22편, 분야 17개, 영향받은 논문 294편. 그런데 더 중요한 건 그 아래 붉은 박스입니다. 조사한 리뷰 전부에서 예외 없이 데이터 누출이 등장했습니다. 하나도 빠짐없이요.
그리고 저자들이 스스로 밝히는 한계도 짚어둘 만합니다. 분야마다 용어가 달라서 체계적 검색이 어려웠기 때문에, 이 294편이라는 숫자는 실제 문제의 하한선이라는 겁니다. 실제로는 더 많을 거라는 뜻이죠.
오른쪽은 누출 말고 반복된 문제들입니다. 데이터 품질이 10편으로 가장 많고, 표준 데이터셋을 썼는데도 분할이나 지표 절차가 제각각이라 문제가 생긴 게 7편, 계산적 재현성 5편, 지표 선택 4편입니다.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 두 번째, 실제로 바로잡으면 어떻게 되는가입니다. 이 논문은 지적에서 그치지 않고 직접 재현을 했습니다.
맨 위가 선별 과정입니다. 2016년부터 2021년까지 검색해 124편을 확보했고, 훈련·테스트 분할로 평가한 15편으로 좁히고, 코드와 데이터를 완전히 공개한 12편을 정밀 검토해서, 그중 4편에서 누출을 찾았습니다.
왼쪽 인용이 핵심 결론입니다. '오류를 바로잡으면, 복잡한 ML 모델은 기준 로지스틱 회귀보다 조금도 낫지 않다.' 그리고 이 4편이 전부 정치학·국제관계 상위 10위권 저널에 실렸다는 점도 덧붙여야겠습니다.
오른쪽이 오늘 기억하실 딱 하나의 숫자입니다. Wang 논문에서 복잡 ML과 LR의 AUC 격차가 0.14였는데, 누출을 바로잡으니 0.01로 떨어졌습니다. 사실상 차이가 사라진 거죠.
아래 표가 나머지입니다. Muchlinski는 훈련·테스트를 함께 결측 대치했는데, 테스트셋 결측률이 95%였습니다. 90개 변수 중 70개가 통째로 비어 있었어요. 그러니 랜덤 포레스트 AUC 0.95가 정정 후 0.64로 떨어집니다. Colaresi와 Mahmood는 그 오염된 데이터를 그대로 재사용해서 0.91이 0.75가 됐고요.
마지막 줄도 짚고 넘어가면, 12편 중 9편은 유의성 검정 자체가 없었습니다. Blair와 Sambanis 논문은 테스트셋에 내전 발발 사례가 11건뿐인데 AUC 0.85라고 보고했지만, 신뢰구간이 0.66에서 0.95로 넓고 p값도 유의하지 않았습니다.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한 장이 오늘 발표의 요약입니다. 처음 보시는 분도 이 슬라이드만 보면 논문이 뭔지 아실 수 있게 정리했습니다.
①번, 이 논문이 푸는 문제. 여러 분야에서 복잡한 ML이 더 낫다는 결과가 재현되지 않는데 그 원인에 대한 통합된 설명이 없었다는 겁니다. 각 분야가 우리 분야만의 문제로 여겼고요.
②번, 핵심 아이디어 하나. 원인은 데이터 누출 하나로 수렴하고, 이걸 3범주 8유형으로 지도화했다. 그중 L3.1이 우리 대상 팀 주제인 시점 누출이고, 예방 도구로 21문항 모델 정보 시트를 제안했다.
③번, 결과 숫자 하나. 17개 분야 294편에서 누출이 발견됐고, 내전 예측에서 복잡 ML의 우위가 AUC 격차 기준 0.14에서 0.01로 사라졌다. 수십 년 된 로지스틱 회귀와 차이가 없었다는 겁니다.
아래 작은 글씨는 혹시 논문을 직접 찾아보실 분들을 위한 건데, 영향 논문 수가 게재본은 294편, 일부 arXiv 판본은 329편으로 다르게 적혀 있습니다. 저는 게재본 기준으로 통일했습니다.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마무리하겠습니다. 이 논문은 대상 팀 00:7 주제의 근본 근거입니다. 기업부실 예측의 시점 누출은 이 논문 분류의 L3.1 그 자체예요. 미래의 부실을 예측한다면서 미래 정보를 학습에 넣으면, 화려한 성능은 실력이 아니라 누출인 겁니다.
세 가지만 가져가시면 됩니다. 첫째, 누출은 특정 분야만의 문제가 아니라 17개 분야 294편의 공통 함정이고 조사한 리뷰 전부에서 등장했다. 둘째, 미래를 예측하는 모델은 시간 순서를 반드시 지켜야 하며 k-겹 교차검증도 시계열에는 위험하다. 셋째, 21문항 모델 정보 시트로 누출이 없음을 스스로 논증하자, 입증 책임은 연구자에게 있다.
마지막으로 회색 줄이 다른 팀들도 자기 프로젝트에 그대로 물어볼 수 있는 질문입니다. 우리 모델의 훈련·테스트는 시간 순으로 나뉘어 있는가? 피처에 예측 시점 이후의 정보가 들어가 있지 않은가?
여기까지입니다. 질문 있으시면 받겠습니다.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E63946"/>
          </a:solidFill>
          <a:ln/>
        </p:spPr>
        <p:txBody>
          <a:bodyPr/>
          <a:lstStyle/>
          <a:p>
            <a:endParaRPr lang="ko-KR" altLang="en-US"/>
          </a:p>
        </p:txBody>
      </p:sp>
      <p:sp>
        <p:nvSpPr>
          <p:cNvPr id="3" name="Text 1"/>
          <p:cNvSpPr txBox="1"/>
          <p:nvPr/>
        </p:nvSpPr>
        <p:spPr>
          <a:xfrm>
            <a:off x="640080" y="566928"/>
            <a:ext cx="10972800" cy="347472"/>
          </a:xfrm>
          <a:prstGeom prst="rect">
            <a:avLst/>
          </a:prstGeom>
          <a:noFill/>
          <a:ln/>
        </p:spPr>
        <p:txBody>
          <a:bodyPr wrap="square" rtlCol="0" anchor="ctr"/>
          <a:lstStyle/>
          <a:p>
            <a:pPr marL="0" indent="0">
              <a:buNone/>
            </a:pPr>
            <a:r>
              <a:rPr lang="en-US" sz="1400" b="1" kern="0" spc="100" dirty="0">
                <a:solidFill>
                  <a:srgbClr val="98C1D9"/>
                </a:solidFill>
                <a:latin typeface="Calibri" pitchFamily="34" charset="0"/>
                <a:ea typeface="Calibri" pitchFamily="34" charset="-122"/>
                <a:cs typeface="Calibri" pitchFamily="34" charset="-120"/>
              </a:rPr>
              <a:t>DAT 8기 · 논문리뷰 · 대상 팀 00:7 (기업부실 예측의 시점 누출)</a:t>
            </a:r>
            <a:endParaRPr lang="en-US" sz="1400" dirty="0"/>
          </a:p>
        </p:txBody>
      </p:sp>
      <p:sp>
        <p:nvSpPr>
          <p:cNvPr id="4" name="Text 2"/>
          <p:cNvSpPr txBox="1"/>
          <p:nvPr/>
        </p:nvSpPr>
        <p:spPr>
          <a:xfrm>
            <a:off x="640080" y="1234440"/>
            <a:ext cx="10972800" cy="1508760"/>
          </a:xfrm>
          <a:prstGeom prst="rect">
            <a:avLst/>
          </a:prstGeom>
          <a:noFill/>
          <a:ln/>
        </p:spPr>
        <p:txBody>
          <a:bodyPr wrap="square" rtlCol="0" anchor="ctr"/>
          <a:lstStyle/>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데이터 누출과</a:t>
            </a:r>
            <a:endParaRPr lang="en-US" sz="3800" dirty="0"/>
          </a:p>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머신러닝 기반 과학의 재현성 위기</a:t>
            </a:r>
            <a:endParaRPr lang="en-US" sz="3800" dirty="0"/>
          </a:p>
        </p:txBody>
      </p:sp>
      <p:sp>
        <p:nvSpPr>
          <p:cNvPr id="5" name="Text 3"/>
          <p:cNvSpPr txBox="1"/>
          <p:nvPr/>
        </p:nvSpPr>
        <p:spPr>
          <a:xfrm>
            <a:off x="658368" y="2788920"/>
            <a:ext cx="10972800" cy="411480"/>
          </a:xfrm>
          <a:prstGeom prst="rect">
            <a:avLst/>
          </a:prstGeom>
          <a:noFill/>
          <a:ln/>
        </p:spPr>
        <p:txBody>
          <a:bodyPr wrap="square" rtlCol="0" anchor="ctr"/>
          <a:lstStyle/>
          <a:p>
            <a:pPr marL="0" indent="0">
              <a:buNone/>
            </a:pPr>
            <a:r>
              <a:rPr lang="en-US" sz="1550" i="1" dirty="0">
                <a:solidFill>
                  <a:srgbClr val="98C1D9"/>
                </a:solidFill>
                <a:latin typeface="Calibri" pitchFamily="34" charset="0"/>
                <a:ea typeface="Calibri" pitchFamily="34" charset="-122"/>
                <a:cs typeface="Calibri" pitchFamily="34" charset="-120"/>
              </a:rPr>
              <a:t>Leakage and the Reproducibility Crisis in Machine-Learning-Based Science</a:t>
            </a:r>
            <a:endParaRPr lang="en-US" sz="1550" dirty="0"/>
          </a:p>
        </p:txBody>
      </p:sp>
      <p:sp>
        <p:nvSpPr>
          <p:cNvPr id="6" name="Shape 4"/>
          <p:cNvSpPr/>
          <p:nvPr/>
        </p:nvSpPr>
        <p:spPr>
          <a:xfrm>
            <a:off x="640080" y="3429000"/>
            <a:ext cx="7498080" cy="2788920"/>
          </a:xfrm>
          <a:prstGeom prst="roundRect">
            <a:avLst>
              <a:gd name="adj" fmla="val 1967"/>
            </a:avLst>
          </a:prstGeom>
          <a:solidFill>
            <a:srgbClr val="1F3155"/>
          </a:solidFill>
          <a:ln/>
        </p:spPr>
        <p:txBody>
          <a:bodyPr/>
          <a:lstStyle/>
          <a:p>
            <a:endParaRPr lang="ko-KR" altLang="en-US"/>
          </a:p>
        </p:txBody>
      </p:sp>
      <p:sp>
        <p:nvSpPr>
          <p:cNvPr id="7" name="Text 5"/>
          <p:cNvSpPr txBox="1"/>
          <p:nvPr/>
        </p:nvSpPr>
        <p:spPr>
          <a:xfrm>
            <a:off x="868680" y="3611880"/>
            <a:ext cx="1600200" cy="365760"/>
          </a:xfrm>
          <a:prstGeom prst="rect">
            <a:avLst/>
          </a:prstGeom>
          <a:noFill/>
          <a:ln/>
        </p:spPr>
        <p:txBody>
          <a:bodyPr wrap="square" lIns="0" tIns="0" rIns="0" bIns="0" rtlCol="0" anchor="ctr"/>
          <a:lstStyle/>
          <a:p>
            <a:pPr marL="0" indent="0">
              <a:buNone/>
            </a:pPr>
            <a:r>
              <a:rPr lang="en-US" sz="1250" b="1" dirty="0">
                <a:solidFill>
                  <a:srgbClr val="98C1D9"/>
                </a:solidFill>
                <a:latin typeface="Calibri" pitchFamily="34" charset="0"/>
                <a:ea typeface="Calibri" pitchFamily="34" charset="-122"/>
                <a:cs typeface="Calibri" pitchFamily="34" charset="-120"/>
              </a:rPr>
              <a:t>저자</a:t>
            </a:r>
            <a:endParaRPr lang="en-US" sz="1250" dirty="0"/>
          </a:p>
        </p:txBody>
      </p:sp>
      <p:sp>
        <p:nvSpPr>
          <p:cNvPr id="8" name="Text 6"/>
          <p:cNvSpPr txBox="1"/>
          <p:nvPr/>
        </p:nvSpPr>
        <p:spPr>
          <a:xfrm>
            <a:off x="2487168" y="3611880"/>
            <a:ext cx="5486400" cy="41148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Sayash Kapoor · Arvind Narayanan (Princeton University)</a:t>
            </a:r>
            <a:endParaRPr lang="en-US" sz="1250" dirty="0"/>
          </a:p>
        </p:txBody>
      </p:sp>
      <p:sp>
        <p:nvSpPr>
          <p:cNvPr id="9" name="Text 7"/>
          <p:cNvSpPr txBox="1"/>
          <p:nvPr/>
        </p:nvSpPr>
        <p:spPr>
          <a:xfrm>
            <a:off x="868680" y="4133088"/>
            <a:ext cx="1600200" cy="365760"/>
          </a:xfrm>
          <a:prstGeom prst="rect">
            <a:avLst/>
          </a:prstGeom>
          <a:noFill/>
          <a:ln/>
        </p:spPr>
        <p:txBody>
          <a:bodyPr wrap="square" lIns="0" tIns="0" rIns="0" bIns="0" rtlCol="0" anchor="ctr"/>
          <a:lstStyle/>
          <a:p>
            <a:pPr marL="0" indent="0">
              <a:buNone/>
            </a:pPr>
            <a:r>
              <a:rPr lang="en-US" sz="1250" b="1" dirty="0">
                <a:solidFill>
                  <a:srgbClr val="98C1D9"/>
                </a:solidFill>
                <a:latin typeface="Calibri" pitchFamily="34" charset="0"/>
                <a:ea typeface="Calibri" pitchFamily="34" charset="-122"/>
                <a:cs typeface="Calibri" pitchFamily="34" charset="-120"/>
              </a:rPr>
              <a:t>연도</a:t>
            </a:r>
            <a:endParaRPr lang="en-US" sz="1250" dirty="0"/>
          </a:p>
        </p:txBody>
      </p:sp>
      <p:sp>
        <p:nvSpPr>
          <p:cNvPr id="10" name="Text 8"/>
          <p:cNvSpPr txBox="1"/>
          <p:nvPr/>
        </p:nvSpPr>
        <p:spPr>
          <a:xfrm>
            <a:off x="2487168" y="4133088"/>
            <a:ext cx="5486400" cy="41148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2023 (온라인 게재 2023.09.08)</a:t>
            </a:r>
            <a:endParaRPr lang="en-US" sz="1250" dirty="0"/>
          </a:p>
        </p:txBody>
      </p:sp>
      <p:sp>
        <p:nvSpPr>
          <p:cNvPr id="11" name="Text 9"/>
          <p:cNvSpPr txBox="1"/>
          <p:nvPr/>
        </p:nvSpPr>
        <p:spPr>
          <a:xfrm>
            <a:off x="868680" y="4654296"/>
            <a:ext cx="1600200" cy="365760"/>
          </a:xfrm>
          <a:prstGeom prst="rect">
            <a:avLst/>
          </a:prstGeom>
          <a:noFill/>
          <a:ln/>
        </p:spPr>
        <p:txBody>
          <a:bodyPr wrap="square" lIns="0" tIns="0" rIns="0" bIns="0" rtlCol="0" anchor="ctr"/>
          <a:lstStyle/>
          <a:p>
            <a:pPr marL="0" indent="0">
              <a:buNone/>
            </a:pPr>
            <a:r>
              <a:rPr lang="en-US" sz="1250" b="1" dirty="0">
                <a:solidFill>
                  <a:srgbClr val="98C1D9"/>
                </a:solidFill>
                <a:latin typeface="Calibri" pitchFamily="34" charset="0"/>
                <a:ea typeface="Calibri" pitchFamily="34" charset="-122"/>
                <a:cs typeface="Calibri" pitchFamily="34" charset="-120"/>
              </a:rPr>
              <a:t>게재처</a:t>
            </a:r>
            <a:endParaRPr lang="en-US" sz="1250" dirty="0"/>
          </a:p>
        </p:txBody>
      </p:sp>
      <p:sp>
        <p:nvSpPr>
          <p:cNvPr id="12" name="Text 10"/>
          <p:cNvSpPr txBox="1"/>
          <p:nvPr/>
        </p:nvSpPr>
        <p:spPr>
          <a:xfrm>
            <a:off x="2487168" y="4654296"/>
            <a:ext cx="5486400" cy="41148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Patterns (Cell Press), Vol. 4, Article 100804</a:t>
            </a:r>
            <a:endParaRPr lang="en-US" sz="1250" dirty="0"/>
          </a:p>
        </p:txBody>
      </p:sp>
      <p:sp>
        <p:nvSpPr>
          <p:cNvPr id="13" name="Text 11"/>
          <p:cNvSpPr txBox="1"/>
          <p:nvPr/>
        </p:nvSpPr>
        <p:spPr>
          <a:xfrm>
            <a:off x="868680" y="5175504"/>
            <a:ext cx="1600200" cy="365760"/>
          </a:xfrm>
          <a:prstGeom prst="rect">
            <a:avLst/>
          </a:prstGeom>
          <a:noFill/>
          <a:ln/>
        </p:spPr>
        <p:txBody>
          <a:bodyPr wrap="square" lIns="0" tIns="0" rIns="0" bIns="0" rtlCol="0" anchor="ctr"/>
          <a:lstStyle/>
          <a:p>
            <a:pPr marL="0" indent="0">
              <a:buNone/>
            </a:pPr>
            <a:r>
              <a:rPr lang="en-US" sz="1250" b="1" dirty="0">
                <a:solidFill>
                  <a:srgbClr val="98C1D9"/>
                </a:solidFill>
                <a:latin typeface="Calibri" pitchFamily="34" charset="0"/>
                <a:ea typeface="Calibri" pitchFamily="34" charset="-122"/>
                <a:cs typeface="Calibri" pitchFamily="34" charset="-120"/>
              </a:rPr>
              <a:t>DOI</a:t>
            </a:r>
            <a:endParaRPr lang="en-US" sz="1250" dirty="0"/>
          </a:p>
        </p:txBody>
      </p:sp>
      <p:sp>
        <p:nvSpPr>
          <p:cNvPr id="14" name="Text 12"/>
          <p:cNvSpPr txBox="1"/>
          <p:nvPr/>
        </p:nvSpPr>
        <p:spPr>
          <a:xfrm>
            <a:off x="2487168" y="5175504"/>
            <a:ext cx="5486400" cy="41148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10.1016/j.patter.2023.100804</a:t>
            </a:r>
            <a:endParaRPr lang="en-US" sz="1250" dirty="0"/>
          </a:p>
        </p:txBody>
      </p:sp>
      <p:sp>
        <p:nvSpPr>
          <p:cNvPr id="15" name="Text 13"/>
          <p:cNvSpPr txBox="1"/>
          <p:nvPr/>
        </p:nvSpPr>
        <p:spPr>
          <a:xfrm>
            <a:off x="868680" y="5696712"/>
            <a:ext cx="1600200" cy="365760"/>
          </a:xfrm>
          <a:prstGeom prst="rect">
            <a:avLst/>
          </a:prstGeom>
          <a:noFill/>
          <a:ln/>
        </p:spPr>
        <p:txBody>
          <a:bodyPr wrap="square" lIns="0" tIns="0" rIns="0" bIns="0" rtlCol="0" anchor="ctr"/>
          <a:lstStyle/>
          <a:p>
            <a:pPr marL="0" indent="0">
              <a:buNone/>
            </a:pPr>
            <a:r>
              <a:rPr lang="en-US" sz="1250" b="1" dirty="0">
                <a:solidFill>
                  <a:srgbClr val="98C1D9"/>
                </a:solidFill>
                <a:latin typeface="Calibri" pitchFamily="34" charset="0"/>
                <a:ea typeface="Calibri" pitchFamily="34" charset="-122"/>
                <a:cs typeface="Calibri" pitchFamily="34" charset="-120"/>
              </a:rPr>
              <a:t>코드·데이터</a:t>
            </a:r>
            <a:endParaRPr lang="en-US" sz="1250" dirty="0"/>
          </a:p>
        </p:txBody>
      </p:sp>
      <p:sp>
        <p:nvSpPr>
          <p:cNvPr id="16" name="Text 14"/>
          <p:cNvSpPr txBox="1"/>
          <p:nvPr/>
        </p:nvSpPr>
        <p:spPr>
          <a:xfrm>
            <a:off x="2487168" y="5696712"/>
            <a:ext cx="5486400" cy="41148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CodeOcean — DOI 10.24433/CO.4899453.v1</a:t>
            </a:r>
            <a:endParaRPr lang="en-US" sz="1250" dirty="0"/>
          </a:p>
        </p:txBody>
      </p:sp>
      <p:sp>
        <p:nvSpPr>
          <p:cNvPr id="17" name="Shape 15"/>
          <p:cNvSpPr/>
          <p:nvPr/>
        </p:nvSpPr>
        <p:spPr>
          <a:xfrm>
            <a:off x="8321040" y="3429000"/>
            <a:ext cx="3200400" cy="2788920"/>
          </a:xfrm>
          <a:prstGeom prst="roundRect">
            <a:avLst>
              <a:gd name="adj" fmla="val 1967"/>
            </a:avLst>
          </a:prstGeom>
          <a:solidFill>
            <a:srgbClr val="E63946"/>
          </a:solidFill>
          <a:ln/>
        </p:spPr>
        <p:txBody>
          <a:bodyPr/>
          <a:lstStyle/>
          <a:p>
            <a:endParaRPr lang="ko-KR" altLang="en-US"/>
          </a:p>
        </p:txBody>
      </p:sp>
      <p:sp>
        <p:nvSpPr>
          <p:cNvPr id="18" name="Text 16"/>
          <p:cNvSpPr txBox="1"/>
          <p:nvPr/>
        </p:nvSpPr>
        <p:spPr>
          <a:xfrm>
            <a:off x="8549640" y="3611880"/>
            <a:ext cx="274320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리뷰 팀 / 대상 팀</a:t>
            </a:r>
            <a:endParaRPr lang="en-US" sz="1250" dirty="0"/>
          </a:p>
        </p:txBody>
      </p:sp>
      <p:sp>
        <p:nvSpPr>
          <p:cNvPr id="19" name="Text 17"/>
          <p:cNvSpPr txBox="1"/>
          <p:nvPr/>
        </p:nvSpPr>
        <p:spPr>
          <a:xfrm>
            <a:off x="8549640" y="4069080"/>
            <a:ext cx="2788920" cy="1920240"/>
          </a:xfrm>
          <a:prstGeom prst="rect">
            <a:avLst/>
          </a:prstGeom>
          <a:noFill/>
          <a:ln/>
        </p:spPr>
        <p:txBody>
          <a:bodyPr wrap="square" lIns="0" tIns="0" rIns="0" bIns="0" rtlCol="0" anchor="t"/>
          <a:lstStyle/>
          <a:p>
            <a:pPr marL="0" indent="0">
              <a:lnSpc>
                <a:spcPct val="105000"/>
              </a:lnSpc>
              <a:buNone/>
            </a:pPr>
            <a:r>
              <a:rPr lang="en-US" sz="1500" b="1" dirty="0">
                <a:solidFill>
                  <a:srgbClr val="FFFFFF"/>
                </a:solidFill>
              </a:rPr>
              <a:t>리뷰 팀:  </a:t>
            </a:r>
            <a:r>
              <a:rPr lang="ko-KR" altLang="en-US" sz="1500" b="1" dirty="0">
                <a:solidFill>
                  <a:srgbClr val="FFFFFF"/>
                </a:solidFill>
              </a:rPr>
              <a:t>닦고 조이고 </a:t>
            </a:r>
            <a:r>
              <a:rPr lang="ko-KR" altLang="en-US" sz="1500" b="1" dirty="0" err="1">
                <a:solidFill>
                  <a:srgbClr val="FFFFFF"/>
                </a:solidFill>
              </a:rPr>
              <a:t>기름치자</a:t>
            </a:r>
            <a:r>
              <a:rPr lang="en-US" sz="1500" b="1" dirty="0">
                <a:solidFill>
                  <a:srgbClr val="FFFFFF"/>
                </a:solidFill>
              </a:rPr>
              <a:t>
</a:t>
            </a:r>
            <a:r>
              <a:rPr lang="en-US" sz="1100" dirty="0">
                <a:solidFill>
                  <a:srgbClr val="FFD8DC"/>
                </a:solidFill>
              </a:rPr>
              <a:t>(발표 팀명 입력)
</a:t>
            </a:r>
            <a:r>
              <a:rPr lang="en-US" sz="1500" b="1" dirty="0">
                <a:solidFill>
                  <a:srgbClr val="FFFFFF"/>
                </a:solidFill>
              </a:rPr>
              <a:t>대상 팀:  00:7
</a:t>
            </a:r>
            <a:r>
              <a:rPr lang="en-US" sz="1100" dirty="0">
                <a:solidFill>
                  <a:srgbClr val="FFD8DC"/>
                </a:solidFill>
              </a:rPr>
              <a:t>기업부실 예측의 시점 누출</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rtlCol="0" anchor="ctr"/>
          <a:lstStyle/>
          <a:p>
            <a:pPr marL="0" indent="0">
              <a:buNone/>
            </a:pPr>
            <a:r>
              <a:rPr lang="en-US" sz="1250" b="1" kern="0" spc="200" dirty="0">
                <a:solidFill>
                  <a:srgbClr val="E63946"/>
                </a:solidFill>
                <a:latin typeface="Calibri" pitchFamily="34" charset="0"/>
                <a:ea typeface="Calibri" pitchFamily="34" charset="-122"/>
                <a:cs typeface="Calibri" pitchFamily="34" charset="-120"/>
              </a:rPr>
              <a:t>목차 · 오늘의 한 줄</a:t>
            </a:r>
            <a:endParaRPr lang="en-US" sz="1250" dirty="0"/>
          </a:p>
        </p:txBody>
      </p:sp>
      <p:sp>
        <p:nvSpPr>
          <p:cNvPr id="3" name="Text 1"/>
          <p:cNvSpPr txBox="1"/>
          <p:nvPr/>
        </p:nvSpPr>
        <p:spPr>
          <a:xfrm>
            <a:off x="548640" y="621792"/>
            <a:ext cx="11064240" cy="658368"/>
          </a:xfrm>
          <a:prstGeom prst="rect">
            <a:avLst/>
          </a:prstGeom>
          <a:noFill/>
          <a:ln/>
        </p:spPr>
        <p:txBody>
          <a:bodyPr wrap="square" rtlCol="0" anchor="ctr"/>
          <a:lstStyle/>
          <a:p>
            <a:pPr marL="0" indent="0">
              <a:buNone/>
            </a:pPr>
            <a:r>
              <a:rPr lang="en-US" sz="2800" b="1" dirty="0">
                <a:solidFill>
                  <a:srgbClr val="1D2433"/>
                </a:solidFill>
                <a:latin typeface="Cambria" pitchFamily="34" charset="0"/>
                <a:ea typeface="Cambria" pitchFamily="34" charset="-122"/>
                <a:cs typeface="Cambria" pitchFamily="34" charset="-120"/>
              </a:rPr>
              <a:t>발표를 관통하는 메시지</a:t>
            </a:r>
            <a:endParaRPr lang="en-US" sz="2800" dirty="0"/>
          </a:p>
        </p:txBody>
      </p:sp>
      <p:sp>
        <p:nvSpPr>
          <p:cNvPr id="4" name="Shape 2"/>
          <p:cNvSpPr/>
          <p:nvPr/>
        </p:nvSpPr>
        <p:spPr>
          <a:xfrm>
            <a:off x="548640" y="1481328"/>
            <a:ext cx="11064240" cy="1024128"/>
          </a:xfrm>
          <a:prstGeom prst="roundRect">
            <a:avLst>
              <a:gd name="adj" fmla="val 5357"/>
            </a:avLst>
          </a:prstGeom>
          <a:solidFill>
            <a:srgbClr val="14213D"/>
          </a:solidFill>
          <a:ln/>
        </p:spPr>
        <p:txBody>
          <a:bodyPr/>
          <a:lstStyle/>
          <a:p>
            <a:endParaRPr lang="ko-KR" altLang="en-US"/>
          </a:p>
        </p:txBody>
      </p:sp>
      <p:sp>
        <p:nvSpPr>
          <p:cNvPr id="5" name="Text 3"/>
          <p:cNvSpPr txBox="1"/>
          <p:nvPr/>
        </p:nvSpPr>
        <p:spPr>
          <a:xfrm>
            <a:off x="822960" y="1481328"/>
            <a:ext cx="10515600" cy="1024128"/>
          </a:xfrm>
          <a:prstGeom prst="rect">
            <a:avLst/>
          </a:prstGeom>
          <a:noFill/>
          <a:ln/>
        </p:spPr>
        <p:txBody>
          <a:bodyPr wrap="square" lIns="0" tIns="0" rIns="0" bIns="0" rtlCol="0" anchor="ctr"/>
          <a:lstStyle/>
          <a:p>
            <a:pPr marL="0" indent="0">
              <a:lnSpc>
                <a:spcPct val="112000"/>
              </a:lnSpc>
              <a:buNone/>
            </a:pPr>
            <a:r>
              <a:rPr lang="en-US" sz="1650" b="1" dirty="0">
                <a:solidFill>
                  <a:srgbClr val="FFFFFF"/>
                </a:solidFill>
                <a:latin typeface="Calibri" pitchFamily="34" charset="0"/>
                <a:ea typeface="Calibri" pitchFamily="34" charset="-122"/>
                <a:cs typeface="Calibri" pitchFamily="34" charset="-120"/>
              </a:rPr>
              <a:t>“머신러닝이 과학을 더 정확하게 만든 게 아니라, </a:t>
            </a:r>
            <a:r>
              <a:rPr lang="en-US" sz="1650" b="1" dirty="0">
                <a:solidFill>
                  <a:srgbClr val="E63946"/>
                </a:solidFill>
                <a:latin typeface="Calibri" pitchFamily="34" charset="0"/>
                <a:ea typeface="Calibri" pitchFamily="34" charset="-122"/>
                <a:cs typeface="Calibri" pitchFamily="34" charset="-120"/>
              </a:rPr>
              <a:t>데이터 누출</a:t>
            </a:r>
            <a:r>
              <a:rPr lang="en-US" sz="1650" b="1" dirty="0">
                <a:solidFill>
                  <a:srgbClr val="FFFFFF"/>
                </a:solidFill>
                <a:latin typeface="Calibri" pitchFamily="34" charset="0"/>
                <a:ea typeface="Calibri" pitchFamily="34" charset="-122"/>
                <a:cs typeface="Calibri" pitchFamily="34" charset="-120"/>
              </a:rPr>
              <a:t>이 ‘정확해 보이게’ 만들었을 수 있다 —</a:t>
            </a:r>
            <a:endParaRPr lang="en-US" sz="1650" dirty="0"/>
          </a:p>
          <a:p>
            <a:pPr marL="0" indent="0">
              <a:lnSpc>
                <a:spcPct val="112000"/>
              </a:lnSpc>
              <a:buNone/>
            </a:pPr>
            <a:r>
              <a:rPr lang="en-US" sz="1650" b="1" dirty="0">
                <a:solidFill>
                  <a:srgbClr val="FFFFFF"/>
                </a:solidFill>
                <a:latin typeface="Calibri" pitchFamily="34" charset="0"/>
                <a:ea typeface="Calibri" pitchFamily="34" charset="-122"/>
                <a:cs typeface="Calibri" pitchFamily="34" charset="-120"/>
              </a:rPr>
              <a:t>그리고 그 </a:t>
            </a:r>
            <a:r>
              <a:rPr lang="en-US" sz="1650" b="1" dirty="0" err="1">
                <a:solidFill>
                  <a:srgbClr val="FFFFFF"/>
                </a:solidFill>
                <a:latin typeface="Calibri" pitchFamily="34" charset="0"/>
                <a:ea typeface="Calibri" pitchFamily="34" charset="-122"/>
                <a:cs typeface="Calibri" pitchFamily="34" charset="-120"/>
              </a:rPr>
              <a:t>누출은</a:t>
            </a:r>
            <a:r>
              <a:rPr lang="en-US" sz="1650" b="1" dirty="0">
                <a:solidFill>
                  <a:srgbClr val="FFFFFF"/>
                </a:solidFill>
                <a:latin typeface="Calibri" pitchFamily="34" charset="0"/>
                <a:ea typeface="Calibri" pitchFamily="34" charset="-122"/>
                <a:cs typeface="Calibri" pitchFamily="34" charset="-120"/>
              </a:rPr>
              <a:t> </a:t>
            </a:r>
            <a:r>
              <a:rPr lang="en-US" sz="1650" b="1" dirty="0">
                <a:solidFill>
                  <a:srgbClr val="98C1D9"/>
                </a:solidFill>
                <a:latin typeface="Calibri" pitchFamily="34" charset="0"/>
                <a:ea typeface="Calibri" pitchFamily="34" charset="-122"/>
                <a:cs typeface="Calibri" pitchFamily="34" charset="-120"/>
              </a:rPr>
              <a:t>3범주 · 8유형</a:t>
            </a:r>
            <a:r>
              <a:rPr lang="en-US" sz="1650" b="1" dirty="0">
                <a:solidFill>
                  <a:srgbClr val="FFFFFF"/>
                </a:solidFill>
                <a:latin typeface="Calibri" pitchFamily="34" charset="0"/>
                <a:ea typeface="Calibri" pitchFamily="34" charset="-122"/>
                <a:cs typeface="Calibri" pitchFamily="34" charset="-120"/>
              </a:rPr>
              <a:t>으로 전부 정리된다.”</a:t>
            </a:r>
            <a:endParaRPr lang="en-US" sz="1650" dirty="0"/>
          </a:p>
        </p:txBody>
      </p:sp>
      <p:sp>
        <p:nvSpPr>
          <p:cNvPr id="6" name="Shape 4"/>
          <p:cNvSpPr/>
          <p:nvPr/>
        </p:nvSpPr>
        <p:spPr>
          <a:xfrm>
            <a:off x="640080" y="2788920"/>
            <a:ext cx="438912" cy="438912"/>
          </a:xfrm>
          <a:prstGeom prst="ellipse">
            <a:avLst/>
          </a:prstGeom>
          <a:solidFill>
            <a:srgbClr val="3D5A80"/>
          </a:solidFill>
          <a:ln/>
        </p:spPr>
        <p:txBody>
          <a:bodyPr/>
          <a:lstStyle/>
          <a:p>
            <a:endParaRPr lang="ko-KR" altLang="en-US"/>
          </a:p>
        </p:txBody>
      </p:sp>
      <p:sp>
        <p:nvSpPr>
          <p:cNvPr id="7" name="Text 5"/>
          <p:cNvSpPr txBox="1"/>
          <p:nvPr/>
        </p:nvSpPr>
        <p:spPr>
          <a:xfrm>
            <a:off x="640080" y="27889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261872" y="2770632"/>
            <a:ext cx="2743200" cy="475488"/>
          </a:xfrm>
          <a:prstGeom prst="rect">
            <a:avLst/>
          </a:prstGeom>
          <a:noFill/>
          <a:ln/>
        </p:spPr>
        <p:txBody>
          <a:bodyPr wrap="square" lIns="0" tIns="0" rIns="0" bIns="0" rtlCol="0" anchor="ctr"/>
          <a:lstStyle/>
          <a:p>
            <a:pPr marL="0" indent="0">
              <a:buNone/>
            </a:pPr>
            <a:r>
              <a:rPr lang="en-US" sz="1550" b="1" dirty="0">
                <a:solidFill>
                  <a:srgbClr val="1D2433"/>
                </a:solidFill>
                <a:latin typeface="Cambria" pitchFamily="34" charset="0"/>
                <a:ea typeface="Cambria" pitchFamily="34" charset="-122"/>
                <a:cs typeface="Cambria" pitchFamily="34" charset="-120"/>
              </a:rPr>
              <a:t>문제</a:t>
            </a:r>
            <a:endParaRPr lang="en-US" sz="1550" dirty="0"/>
          </a:p>
        </p:txBody>
      </p:sp>
      <p:sp>
        <p:nvSpPr>
          <p:cNvPr id="9" name="Text 7"/>
          <p:cNvSpPr txBox="1"/>
          <p:nvPr/>
        </p:nvSpPr>
        <p:spPr>
          <a:xfrm>
            <a:off x="4069080" y="2770632"/>
            <a:ext cx="6309360" cy="50292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ML 기반 과학은 뭘 하려는 분야이고, 그 전엔 뭐가 안 됐나</a:t>
            </a:r>
            <a:endParaRPr lang="en-US" sz="1300" dirty="0"/>
          </a:p>
        </p:txBody>
      </p:sp>
      <p:sp>
        <p:nvSpPr>
          <p:cNvPr id="10" name="Text 8"/>
          <p:cNvSpPr txBox="1"/>
          <p:nvPr/>
        </p:nvSpPr>
        <p:spPr>
          <a:xfrm>
            <a:off x="10515600" y="2770632"/>
            <a:ext cx="1097280" cy="475488"/>
          </a:xfrm>
          <a:prstGeom prst="rect">
            <a:avLst/>
          </a:prstGeom>
          <a:noFill/>
          <a:ln/>
        </p:spPr>
        <p:txBody>
          <a:bodyPr wrap="square" lIns="0" tIns="0" rIns="0" bIns="0" rtlCol="0" anchor="ctr"/>
          <a:lstStyle/>
          <a:p>
            <a:pPr marL="0" indent="0" algn="r">
              <a:buNone/>
            </a:pPr>
            <a:r>
              <a:rPr lang="en-US" sz="1200" b="1" dirty="0">
                <a:solidFill>
                  <a:srgbClr val="3D5A80"/>
                </a:solidFill>
                <a:latin typeface="Calibri" pitchFamily="34" charset="0"/>
                <a:ea typeface="Calibri" pitchFamily="34" charset="-122"/>
                <a:cs typeface="Calibri" pitchFamily="34" charset="-120"/>
              </a:rPr>
              <a:t>2분</a:t>
            </a:r>
            <a:endParaRPr lang="en-US" sz="1200" dirty="0"/>
          </a:p>
        </p:txBody>
      </p:sp>
      <p:sp>
        <p:nvSpPr>
          <p:cNvPr id="11" name="Shape 9"/>
          <p:cNvSpPr/>
          <p:nvPr/>
        </p:nvSpPr>
        <p:spPr>
          <a:xfrm>
            <a:off x="640080" y="3447288"/>
            <a:ext cx="438912" cy="438912"/>
          </a:xfrm>
          <a:prstGeom prst="ellipse">
            <a:avLst/>
          </a:prstGeom>
          <a:solidFill>
            <a:srgbClr val="3D5A80"/>
          </a:solidFill>
          <a:ln/>
        </p:spPr>
        <p:txBody>
          <a:bodyPr/>
          <a:lstStyle/>
          <a:p>
            <a:endParaRPr lang="ko-KR" altLang="en-US"/>
          </a:p>
        </p:txBody>
      </p:sp>
      <p:sp>
        <p:nvSpPr>
          <p:cNvPr id="12" name="Text 10"/>
          <p:cNvSpPr txBox="1"/>
          <p:nvPr/>
        </p:nvSpPr>
        <p:spPr>
          <a:xfrm>
            <a:off x="640080" y="3447288"/>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1261872" y="3429000"/>
            <a:ext cx="2743200" cy="475488"/>
          </a:xfrm>
          <a:prstGeom prst="rect">
            <a:avLst/>
          </a:prstGeom>
          <a:noFill/>
          <a:ln/>
        </p:spPr>
        <p:txBody>
          <a:bodyPr wrap="square" lIns="0" tIns="0" rIns="0" bIns="0" rtlCol="0" anchor="ctr"/>
          <a:lstStyle/>
          <a:p>
            <a:pPr marL="0" indent="0">
              <a:buNone/>
            </a:pPr>
            <a:r>
              <a:rPr lang="en-US" sz="1550" b="1" dirty="0">
                <a:solidFill>
                  <a:srgbClr val="1D2433"/>
                </a:solidFill>
                <a:latin typeface="Cambria" pitchFamily="34" charset="0"/>
                <a:ea typeface="Cambria" pitchFamily="34" charset="-122"/>
                <a:cs typeface="Cambria" pitchFamily="34" charset="-120"/>
              </a:rPr>
              <a:t>핵심 아이디어</a:t>
            </a:r>
            <a:endParaRPr lang="en-US" sz="1550" dirty="0"/>
          </a:p>
        </p:txBody>
      </p:sp>
      <p:sp>
        <p:nvSpPr>
          <p:cNvPr id="14" name="Text 12"/>
          <p:cNvSpPr txBox="1"/>
          <p:nvPr/>
        </p:nvSpPr>
        <p:spPr>
          <a:xfrm>
            <a:off x="4069080" y="3429000"/>
            <a:ext cx="6309360" cy="50292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‘데이터 누출’의 정의 → 3범주 8유형 분류</a:t>
            </a:r>
            <a:endParaRPr lang="en-US" sz="1300" dirty="0"/>
          </a:p>
        </p:txBody>
      </p:sp>
      <p:sp>
        <p:nvSpPr>
          <p:cNvPr id="15" name="Text 13"/>
          <p:cNvSpPr txBox="1"/>
          <p:nvPr/>
        </p:nvSpPr>
        <p:spPr>
          <a:xfrm>
            <a:off x="10515600" y="3429000"/>
            <a:ext cx="1097280" cy="475488"/>
          </a:xfrm>
          <a:prstGeom prst="rect">
            <a:avLst/>
          </a:prstGeom>
          <a:noFill/>
          <a:ln/>
        </p:spPr>
        <p:txBody>
          <a:bodyPr wrap="square" lIns="0" tIns="0" rIns="0" bIns="0" rtlCol="0" anchor="ctr"/>
          <a:lstStyle/>
          <a:p>
            <a:pPr marL="0" indent="0" algn="r">
              <a:buNone/>
            </a:pPr>
            <a:r>
              <a:rPr lang="en-US" sz="1200" b="1" dirty="0">
                <a:solidFill>
                  <a:srgbClr val="3D5A80"/>
                </a:solidFill>
                <a:latin typeface="Calibri" pitchFamily="34" charset="0"/>
                <a:ea typeface="Calibri" pitchFamily="34" charset="-122"/>
                <a:cs typeface="Calibri" pitchFamily="34" charset="-120"/>
              </a:rPr>
              <a:t>3분</a:t>
            </a:r>
            <a:endParaRPr lang="en-US" sz="1200" dirty="0"/>
          </a:p>
        </p:txBody>
      </p:sp>
      <p:sp>
        <p:nvSpPr>
          <p:cNvPr id="16" name="Shape 14"/>
          <p:cNvSpPr/>
          <p:nvPr/>
        </p:nvSpPr>
        <p:spPr>
          <a:xfrm>
            <a:off x="640080" y="4105656"/>
            <a:ext cx="438912" cy="438912"/>
          </a:xfrm>
          <a:prstGeom prst="ellipse">
            <a:avLst/>
          </a:prstGeom>
          <a:solidFill>
            <a:srgbClr val="E63946"/>
          </a:solidFill>
          <a:ln/>
        </p:spPr>
        <p:txBody>
          <a:bodyPr/>
          <a:lstStyle/>
          <a:p>
            <a:endParaRPr lang="ko-KR" altLang="en-US"/>
          </a:p>
        </p:txBody>
      </p:sp>
      <p:sp>
        <p:nvSpPr>
          <p:cNvPr id="17" name="Text 15"/>
          <p:cNvSpPr txBox="1"/>
          <p:nvPr/>
        </p:nvSpPr>
        <p:spPr>
          <a:xfrm>
            <a:off x="640080" y="4105656"/>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txBox="1"/>
          <p:nvPr/>
        </p:nvSpPr>
        <p:spPr>
          <a:xfrm>
            <a:off x="1261872" y="4087368"/>
            <a:ext cx="2743200" cy="475488"/>
          </a:xfrm>
          <a:prstGeom prst="rect">
            <a:avLst/>
          </a:prstGeom>
          <a:noFill/>
          <a:ln/>
        </p:spPr>
        <p:txBody>
          <a:bodyPr wrap="square" lIns="0" tIns="0" rIns="0" bIns="0" rtlCol="0" anchor="ctr"/>
          <a:lstStyle/>
          <a:p>
            <a:pPr marL="0" indent="0">
              <a:buNone/>
            </a:pPr>
            <a:r>
              <a:rPr lang="en-US" sz="1550" b="1" dirty="0">
                <a:solidFill>
                  <a:srgbClr val="1D2433"/>
                </a:solidFill>
                <a:latin typeface="Cambria" pitchFamily="34" charset="0"/>
                <a:ea typeface="Cambria" pitchFamily="34" charset="-122"/>
                <a:cs typeface="Cambria" pitchFamily="34" charset="-120"/>
              </a:rPr>
              <a:t>작동 장치</a:t>
            </a:r>
            <a:endParaRPr lang="en-US" sz="1550" dirty="0"/>
          </a:p>
        </p:txBody>
      </p:sp>
      <p:sp>
        <p:nvSpPr>
          <p:cNvPr id="19" name="Text 17"/>
          <p:cNvSpPr txBox="1"/>
          <p:nvPr/>
        </p:nvSpPr>
        <p:spPr>
          <a:xfrm>
            <a:off x="4069080" y="4087368"/>
            <a:ext cx="6309360" cy="50292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시점 누출(L3.1, 우리 주제) + 예방 도구 ‘모델 정보 시트’</a:t>
            </a:r>
            <a:endParaRPr lang="en-US" sz="1300" dirty="0"/>
          </a:p>
        </p:txBody>
      </p:sp>
      <p:sp>
        <p:nvSpPr>
          <p:cNvPr id="20" name="Text 18"/>
          <p:cNvSpPr txBox="1"/>
          <p:nvPr/>
        </p:nvSpPr>
        <p:spPr>
          <a:xfrm>
            <a:off x="10515600" y="4087368"/>
            <a:ext cx="1097280" cy="475488"/>
          </a:xfrm>
          <a:prstGeom prst="rect">
            <a:avLst/>
          </a:prstGeom>
          <a:noFill/>
          <a:ln/>
        </p:spPr>
        <p:txBody>
          <a:bodyPr wrap="square" lIns="0" tIns="0" rIns="0" bIns="0" rtlCol="0" anchor="ctr"/>
          <a:lstStyle/>
          <a:p>
            <a:pPr marL="0" indent="0" algn="r">
              <a:buNone/>
            </a:pPr>
            <a:r>
              <a:rPr lang="en-US" sz="1200" b="1" dirty="0">
                <a:solidFill>
                  <a:srgbClr val="3D5A80"/>
                </a:solidFill>
                <a:latin typeface="Calibri" pitchFamily="34" charset="0"/>
                <a:ea typeface="Calibri" pitchFamily="34" charset="-122"/>
                <a:cs typeface="Calibri" pitchFamily="34" charset="-120"/>
              </a:rPr>
              <a:t>2분</a:t>
            </a:r>
            <a:endParaRPr lang="en-US" sz="1200" dirty="0"/>
          </a:p>
        </p:txBody>
      </p:sp>
      <p:sp>
        <p:nvSpPr>
          <p:cNvPr id="21" name="Shape 19"/>
          <p:cNvSpPr/>
          <p:nvPr/>
        </p:nvSpPr>
        <p:spPr>
          <a:xfrm>
            <a:off x="640080" y="4764024"/>
            <a:ext cx="438912" cy="438912"/>
          </a:xfrm>
          <a:prstGeom prst="ellipse">
            <a:avLst/>
          </a:prstGeom>
          <a:solidFill>
            <a:srgbClr val="3D5A80"/>
          </a:solidFill>
          <a:ln/>
        </p:spPr>
        <p:txBody>
          <a:bodyPr/>
          <a:lstStyle/>
          <a:p>
            <a:endParaRPr lang="ko-KR" altLang="en-US"/>
          </a:p>
        </p:txBody>
      </p:sp>
      <p:sp>
        <p:nvSpPr>
          <p:cNvPr id="22" name="Text 20"/>
          <p:cNvSpPr txBox="1"/>
          <p:nvPr/>
        </p:nvSpPr>
        <p:spPr>
          <a:xfrm>
            <a:off x="640080" y="4764024"/>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3" name="Text 21"/>
          <p:cNvSpPr txBox="1"/>
          <p:nvPr/>
        </p:nvSpPr>
        <p:spPr>
          <a:xfrm>
            <a:off x="1261872" y="4745736"/>
            <a:ext cx="2743200" cy="475488"/>
          </a:xfrm>
          <a:prstGeom prst="rect">
            <a:avLst/>
          </a:prstGeom>
          <a:noFill/>
          <a:ln/>
        </p:spPr>
        <p:txBody>
          <a:bodyPr wrap="square" lIns="0" tIns="0" rIns="0" bIns="0" rtlCol="0" anchor="ctr"/>
          <a:lstStyle/>
          <a:p>
            <a:pPr marL="0" indent="0">
              <a:buNone/>
            </a:pPr>
            <a:r>
              <a:rPr lang="en-US" sz="1550" b="1" dirty="0">
                <a:solidFill>
                  <a:srgbClr val="1D2433"/>
                </a:solidFill>
                <a:latin typeface="Cambria" pitchFamily="34" charset="0"/>
                <a:ea typeface="Cambria" pitchFamily="34" charset="-122"/>
                <a:cs typeface="Cambria" pitchFamily="34" charset="-120"/>
              </a:rPr>
              <a:t>결과</a:t>
            </a:r>
            <a:endParaRPr lang="en-US" sz="1550" dirty="0"/>
          </a:p>
        </p:txBody>
      </p:sp>
      <p:sp>
        <p:nvSpPr>
          <p:cNvPr id="24" name="Text 22"/>
          <p:cNvSpPr txBox="1"/>
          <p:nvPr/>
        </p:nvSpPr>
        <p:spPr>
          <a:xfrm>
            <a:off x="4069080" y="4745736"/>
            <a:ext cx="6309360" cy="50292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조사 규모(17분야 294편) + 내전 예측 재현 사례</a:t>
            </a:r>
            <a:endParaRPr lang="en-US" sz="1300" dirty="0"/>
          </a:p>
        </p:txBody>
      </p:sp>
      <p:sp>
        <p:nvSpPr>
          <p:cNvPr id="25" name="Text 23"/>
          <p:cNvSpPr txBox="1"/>
          <p:nvPr/>
        </p:nvSpPr>
        <p:spPr>
          <a:xfrm>
            <a:off x="10515600" y="4745736"/>
            <a:ext cx="1097280" cy="475488"/>
          </a:xfrm>
          <a:prstGeom prst="rect">
            <a:avLst/>
          </a:prstGeom>
          <a:noFill/>
          <a:ln/>
        </p:spPr>
        <p:txBody>
          <a:bodyPr wrap="square" lIns="0" tIns="0" rIns="0" bIns="0" rtlCol="0" anchor="ctr"/>
          <a:lstStyle/>
          <a:p>
            <a:pPr marL="0" indent="0" algn="r">
              <a:buNone/>
            </a:pPr>
            <a:r>
              <a:rPr lang="en-US" sz="1200" b="1" dirty="0">
                <a:solidFill>
                  <a:srgbClr val="3D5A80"/>
                </a:solidFill>
                <a:latin typeface="Calibri" pitchFamily="34" charset="0"/>
                <a:ea typeface="Calibri" pitchFamily="34" charset="-122"/>
                <a:cs typeface="Calibri" pitchFamily="34" charset="-120"/>
              </a:rPr>
              <a:t>2분</a:t>
            </a:r>
            <a:endParaRPr lang="en-US" sz="1200" dirty="0"/>
          </a:p>
        </p:txBody>
      </p:sp>
      <p:sp>
        <p:nvSpPr>
          <p:cNvPr id="26" name="Shape 24"/>
          <p:cNvSpPr/>
          <p:nvPr/>
        </p:nvSpPr>
        <p:spPr>
          <a:xfrm>
            <a:off x="640080" y="5422392"/>
            <a:ext cx="438912" cy="438912"/>
          </a:xfrm>
          <a:prstGeom prst="ellipse">
            <a:avLst/>
          </a:prstGeom>
          <a:solidFill>
            <a:srgbClr val="3D5A80"/>
          </a:solidFill>
          <a:ln/>
        </p:spPr>
        <p:txBody>
          <a:bodyPr/>
          <a:lstStyle/>
          <a:p>
            <a:endParaRPr lang="ko-KR" altLang="en-US"/>
          </a:p>
        </p:txBody>
      </p:sp>
      <p:sp>
        <p:nvSpPr>
          <p:cNvPr id="27" name="Text 25"/>
          <p:cNvSpPr txBox="1"/>
          <p:nvPr/>
        </p:nvSpPr>
        <p:spPr>
          <a:xfrm>
            <a:off x="640080" y="5422392"/>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8" name="Text 26"/>
          <p:cNvSpPr txBox="1"/>
          <p:nvPr/>
        </p:nvSpPr>
        <p:spPr>
          <a:xfrm>
            <a:off x="1261872" y="5404104"/>
            <a:ext cx="2743200" cy="475488"/>
          </a:xfrm>
          <a:prstGeom prst="rect">
            <a:avLst/>
          </a:prstGeom>
          <a:noFill/>
          <a:ln/>
        </p:spPr>
        <p:txBody>
          <a:bodyPr wrap="square" lIns="0" tIns="0" rIns="0" bIns="0" rtlCol="0" anchor="ctr"/>
          <a:lstStyle/>
          <a:p>
            <a:pPr marL="0" indent="0">
              <a:buNone/>
            </a:pPr>
            <a:r>
              <a:rPr lang="en-US" sz="1550" b="1" dirty="0">
                <a:solidFill>
                  <a:srgbClr val="1D2433"/>
                </a:solidFill>
                <a:latin typeface="Cambria" pitchFamily="34" charset="0"/>
                <a:ea typeface="Cambria" pitchFamily="34" charset="-122"/>
                <a:cs typeface="Cambria" pitchFamily="34" charset="-120"/>
              </a:rPr>
              <a:t>핵심 정리 &amp; 마무리</a:t>
            </a:r>
            <a:endParaRPr lang="en-US" sz="1550" dirty="0"/>
          </a:p>
        </p:txBody>
      </p:sp>
      <p:sp>
        <p:nvSpPr>
          <p:cNvPr id="29" name="Text 27"/>
          <p:cNvSpPr txBox="1"/>
          <p:nvPr/>
        </p:nvSpPr>
        <p:spPr>
          <a:xfrm>
            <a:off x="4069080" y="5404104"/>
            <a:ext cx="6309360" cy="50292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①②③ 한 장 요약, 00:7 주제와의 연결</a:t>
            </a:r>
            <a:endParaRPr lang="en-US" sz="1300" dirty="0"/>
          </a:p>
        </p:txBody>
      </p:sp>
      <p:sp>
        <p:nvSpPr>
          <p:cNvPr id="30" name="Text 28"/>
          <p:cNvSpPr txBox="1"/>
          <p:nvPr/>
        </p:nvSpPr>
        <p:spPr>
          <a:xfrm>
            <a:off x="10515600" y="5404104"/>
            <a:ext cx="1097280" cy="475488"/>
          </a:xfrm>
          <a:prstGeom prst="rect">
            <a:avLst/>
          </a:prstGeom>
          <a:noFill/>
          <a:ln/>
        </p:spPr>
        <p:txBody>
          <a:bodyPr wrap="square" lIns="0" tIns="0" rIns="0" bIns="0" rtlCol="0" anchor="ctr"/>
          <a:lstStyle/>
          <a:p>
            <a:pPr marL="0" indent="0" algn="r">
              <a:buNone/>
            </a:pPr>
            <a:r>
              <a:rPr lang="en-US" sz="1200" b="1" dirty="0">
                <a:solidFill>
                  <a:srgbClr val="3D5A80"/>
                </a:solidFill>
                <a:latin typeface="Calibri" pitchFamily="34" charset="0"/>
                <a:ea typeface="Calibri" pitchFamily="34" charset="-122"/>
                <a:cs typeface="Calibri" pitchFamily="34" charset="-120"/>
              </a:rPr>
              <a:t>1분</a:t>
            </a:r>
            <a:endParaRPr lang="en-US" sz="1200" dirty="0"/>
          </a:p>
        </p:txBody>
      </p:sp>
      <p:sp>
        <p:nvSpPr>
          <p:cNvPr id="31" name="Text 29"/>
          <p:cNvSpPr txBox="1"/>
          <p:nvPr/>
        </p:nvSpPr>
        <p:spPr>
          <a:xfrm>
            <a:off x="548640" y="6172200"/>
            <a:ext cx="11064240" cy="320040"/>
          </a:xfrm>
          <a:prstGeom prst="rect">
            <a:avLst/>
          </a:prstGeom>
          <a:noFill/>
          <a:ln/>
        </p:spPr>
        <p:txBody>
          <a:bodyPr wrap="square"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 각 장의 회색 인용 박스는 논문 원문 문장, 붉은 숫자는 논문에 </a:t>
            </a:r>
            <a:r>
              <a:rPr lang="en-US" sz="1150" i="1" dirty="0" err="1">
                <a:solidFill>
                  <a:srgbClr val="6B7280"/>
                </a:solidFill>
                <a:latin typeface="Calibri" pitchFamily="34" charset="0"/>
                <a:ea typeface="Calibri" pitchFamily="34" charset="-122"/>
                <a:cs typeface="Calibri" pitchFamily="34" charset="-120"/>
              </a:rPr>
              <a:t>보고된</a:t>
            </a:r>
            <a:r>
              <a:rPr lang="en-US" sz="1150" i="1" dirty="0">
                <a:solidFill>
                  <a:srgbClr val="6B7280"/>
                </a:solidFill>
                <a:latin typeface="Calibri" pitchFamily="34" charset="0"/>
                <a:ea typeface="Calibri" pitchFamily="34" charset="-122"/>
                <a:cs typeface="Calibri" pitchFamily="34" charset="-120"/>
              </a:rPr>
              <a:t> </a:t>
            </a:r>
            <a:r>
              <a:rPr lang="en-US" sz="1150" i="1" dirty="0" err="1">
                <a:solidFill>
                  <a:srgbClr val="6B7280"/>
                </a:solidFill>
                <a:latin typeface="Calibri" pitchFamily="34" charset="0"/>
                <a:ea typeface="Calibri" pitchFamily="34" charset="-122"/>
                <a:cs typeface="Calibri" pitchFamily="34" charset="-120"/>
              </a:rPr>
              <a:t>수치</a:t>
            </a:r>
            <a:r>
              <a:rPr lang="ko-KR" altLang="en-US" sz="1150" i="1" dirty="0">
                <a:solidFill>
                  <a:srgbClr val="6B7280"/>
                </a:solidFill>
                <a:latin typeface="Calibri" pitchFamily="34" charset="0"/>
                <a:ea typeface="Calibri" pitchFamily="34" charset="-122"/>
                <a:cs typeface="Calibri" pitchFamily="34" charset="-120"/>
              </a:rPr>
              <a:t>이다</a:t>
            </a:r>
            <a:r>
              <a:rPr lang="en-US" sz="1150" i="1" dirty="0">
                <a:solidFill>
                  <a:srgbClr val="6B7280"/>
                </a:solidFill>
                <a:latin typeface="Calibri" pitchFamily="34" charset="0"/>
                <a:ea typeface="Calibri" pitchFamily="34" charset="-122"/>
                <a:cs typeface="Calibri" pitchFamily="34" charset="-120"/>
              </a:rPr>
              <a: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rtlCol="0" anchor="ctr"/>
          <a:lstStyle/>
          <a:p>
            <a:pPr marL="0" indent="0">
              <a:buNone/>
            </a:pPr>
            <a:r>
              <a:rPr lang="en-US" sz="1250" b="1" kern="0" spc="200" dirty="0">
                <a:solidFill>
                  <a:srgbClr val="E63946"/>
                </a:solidFill>
                <a:latin typeface="Calibri" pitchFamily="34" charset="0"/>
                <a:ea typeface="Calibri" pitchFamily="34" charset="-122"/>
                <a:cs typeface="Calibri" pitchFamily="34" charset="-120"/>
              </a:rPr>
              <a:t>① 문제 — 이 분야는 무엇을 하려 하나</a:t>
            </a:r>
            <a:endParaRPr lang="en-US" sz="1250" dirty="0"/>
          </a:p>
        </p:txBody>
      </p:sp>
      <p:sp>
        <p:nvSpPr>
          <p:cNvPr id="3" name="Text 1"/>
          <p:cNvSpPr txBox="1"/>
          <p:nvPr/>
        </p:nvSpPr>
        <p:spPr>
          <a:xfrm>
            <a:off x="548640" y="621792"/>
            <a:ext cx="11064240" cy="658368"/>
          </a:xfrm>
          <a:prstGeom prst="rect">
            <a:avLst/>
          </a:prstGeom>
          <a:noFill/>
          <a:ln/>
        </p:spPr>
        <p:txBody>
          <a:bodyPr wrap="square" rtlCol="0" anchor="ctr"/>
          <a:lstStyle/>
          <a:p>
            <a:pPr marL="0" indent="0">
              <a:buNone/>
            </a:pPr>
            <a:r>
              <a:rPr lang="en-US" sz="2800" b="1" dirty="0">
                <a:solidFill>
                  <a:srgbClr val="1D2433"/>
                </a:solidFill>
                <a:latin typeface="Cambria" pitchFamily="34" charset="0"/>
                <a:ea typeface="Cambria" pitchFamily="34" charset="-122"/>
                <a:cs typeface="Cambria" pitchFamily="34" charset="-120"/>
              </a:rPr>
              <a:t>‘복잡한 ML이 더 낫다’는 결과가 왜 자꾸 재현이 안 될까</a:t>
            </a:r>
            <a:endParaRPr lang="en-US" sz="2800" dirty="0"/>
          </a:p>
        </p:txBody>
      </p:sp>
      <p:sp>
        <p:nvSpPr>
          <p:cNvPr id="4" name="Shape 2"/>
          <p:cNvSpPr/>
          <p:nvPr/>
        </p:nvSpPr>
        <p:spPr>
          <a:xfrm>
            <a:off x="548640" y="1371600"/>
            <a:ext cx="11064240" cy="1170432"/>
          </a:xfrm>
          <a:prstGeom prst="roundRect">
            <a:avLst>
              <a:gd name="adj" fmla="val 3906"/>
            </a:avLst>
          </a:prstGeom>
          <a:solidFill>
            <a:srgbClr val="EAEFF5"/>
          </a:solidFill>
          <a:ln/>
        </p:spPr>
        <p:txBody>
          <a:bodyPr/>
          <a:lstStyle/>
          <a:p>
            <a:endParaRPr lang="ko-KR" altLang="en-US"/>
          </a:p>
        </p:txBody>
      </p:sp>
      <p:sp>
        <p:nvSpPr>
          <p:cNvPr id="5" name="Text 3"/>
          <p:cNvSpPr txBox="1"/>
          <p:nvPr/>
        </p:nvSpPr>
        <p:spPr>
          <a:xfrm>
            <a:off x="658368" y="1389888"/>
            <a:ext cx="548640" cy="548640"/>
          </a:xfrm>
          <a:prstGeom prst="rect">
            <a:avLst/>
          </a:prstGeom>
          <a:noFill/>
          <a:ln/>
        </p:spPr>
        <p:txBody>
          <a:bodyPr wrap="square" lIns="0" tIns="0" rIns="0" bIns="0" rtlCol="0" anchor="ctr"/>
          <a:lstStyle/>
          <a:p>
            <a:pPr marL="0" indent="0">
              <a:buNone/>
            </a:pPr>
            <a:r>
              <a:rPr lang="en-US" sz="4000" b="1" dirty="0">
                <a:solidFill>
                  <a:srgbClr val="98C1D9"/>
                </a:solidFill>
                <a:latin typeface="Cambria" pitchFamily="34" charset="0"/>
                <a:ea typeface="Cambria" pitchFamily="34" charset="-122"/>
                <a:cs typeface="Cambria" pitchFamily="34" charset="-120"/>
              </a:rPr>
              <a:t>“</a:t>
            </a:r>
            <a:endParaRPr lang="en-US" sz="4000" dirty="0"/>
          </a:p>
        </p:txBody>
      </p:sp>
      <p:sp>
        <p:nvSpPr>
          <p:cNvPr id="6" name="Text 4"/>
          <p:cNvSpPr txBox="1"/>
          <p:nvPr/>
        </p:nvSpPr>
        <p:spPr>
          <a:xfrm>
            <a:off x="1207008" y="1499616"/>
            <a:ext cx="10149840" cy="566928"/>
          </a:xfrm>
          <a:prstGeom prst="rect">
            <a:avLst/>
          </a:prstGeom>
          <a:noFill/>
          <a:ln/>
        </p:spPr>
        <p:txBody>
          <a:bodyPr wrap="square" lIns="0" tIns="0" rIns="0" bIns="0" rtlCol="0" anchor="ctr"/>
          <a:lstStyle/>
          <a:p>
            <a:pPr marL="0" indent="0">
              <a:lnSpc>
                <a:spcPct val="105000"/>
              </a:lnSpc>
              <a:buNone/>
            </a:pPr>
            <a:r>
              <a:rPr lang="en-US" sz="1150" i="1" dirty="0">
                <a:solidFill>
                  <a:srgbClr val="3D5A80"/>
                </a:solidFill>
                <a:latin typeface="Calibri" pitchFamily="34" charset="0"/>
                <a:ea typeface="Calibri" pitchFamily="34" charset="-122"/>
                <a:cs typeface="Calibri" pitchFamily="34" charset="-120"/>
              </a:rPr>
              <a:t>“There has been a marked shift toward the paradigm of predictive modeling across quantitative science fields.”</a:t>
            </a:r>
            <a:endParaRPr lang="en-US" sz="1150" dirty="0"/>
          </a:p>
        </p:txBody>
      </p:sp>
      <p:sp>
        <p:nvSpPr>
          <p:cNvPr id="7" name="Text 5"/>
          <p:cNvSpPr txBox="1"/>
          <p:nvPr/>
        </p:nvSpPr>
        <p:spPr>
          <a:xfrm>
            <a:off x="1207008" y="2048256"/>
            <a:ext cx="10149840" cy="210312"/>
          </a:xfrm>
          <a:prstGeom prst="rect">
            <a:avLst/>
          </a:prstGeom>
          <a:noFill/>
          <a:ln/>
        </p:spPr>
        <p:txBody>
          <a:bodyPr wrap="square" lIns="0" tIns="0" rIns="0" bIns="0" rtlCol="0" anchor="ctr"/>
          <a:lstStyle/>
          <a:p>
            <a:pPr marL="0" indent="0">
              <a:lnSpc>
                <a:spcPct val="110000"/>
              </a:lnSpc>
              <a:buNone/>
            </a:pPr>
            <a:r>
              <a:rPr lang="en-US" sz="1400" b="1" dirty="0">
                <a:solidFill>
                  <a:srgbClr val="1D2433"/>
                </a:solidFill>
                <a:latin typeface="Calibri" pitchFamily="34" charset="0"/>
                <a:ea typeface="Calibri" pitchFamily="34" charset="-122"/>
                <a:cs typeface="Calibri" pitchFamily="34" charset="-120"/>
              </a:rPr>
              <a:t>“정량 과학 분야 전반에서 예측 모델링 패러다임으로의 뚜렷한 전환이 있었다.”</a:t>
            </a:r>
            <a:endParaRPr lang="en-US" sz="1400" dirty="0"/>
          </a:p>
        </p:txBody>
      </p:sp>
      <p:sp>
        <p:nvSpPr>
          <p:cNvPr id="8" name="Text 6"/>
          <p:cNvSpPr txBox="1"/>
          <p:nvPr/>
        </p:nvSpPr>
        <p:spPr>
          <a:xfrm>
            <a:off x="8595360" y="2231136"/>
            <a:ext cx="2834640" cy="256032"/>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 서론 첫 문단 (주제문장)</a:t>
            </a:r>
            <a:endParaRPr lang="en-US" sz="950" dirty="0"/>
          </a:p>
        </p:txBody>
      </p:sp>
      <p:sp>
        <p:nvSpPr>
          <p:cNvPr id="9" name="Shape 7"/>
          <p:cNvSpPr/>
          <p:nvPr/>
        </p:nvSpPr>
        <p:spPr>
          <a:xfrm>
            <a:off x="548640" y="2651760"/>
            <a:ext cx="5394960" cy="2852928"/>
          </a:xfrm>
          <a:prstGeom prst="roundRect">
            <a:avLst>
              <a:gd name="adj" fmla="val 1923"/>
            </a:avLst>
          </a:prstGeom>
          <a:solidFill>
            <a:srgbClr val="F1F4F8"/>
          </a:solidFill>
          <a:ln/>
        </p:spPr>
        <p:txBody>
          <a:bodyPr/>
          <a:lstStyle/>
          <a:p>
            <a:endParaRPr lang="ko-KR" altLang="en-US"/>
          </a:p>
        </p:txBody>
      </p:sp>
      <p:sp>
        <p:nvSpPr>
          <p:cNvPr id="10" name="Text 8"/>
          <p:cNvSpPr txBox="1"/>
          <p:nvPr/>
        </p:nvSpPr>
        <p:spPr>
          <a:xfrm>
            <a:off x="822960" y="2779776"/>
            <a:ext cx="4846320" cy="347472"/>
          </a:xfrm>
          <a:prstGeom prst="rect">
            <a:avLst/>
          </a:prstGeom>
          <a:noFill/>
          <a:ln/>
        </p:spPr>
        <p:txBody>
          <a:bodyPr wrap="square" lIns="0" tIns="0" rIns="0" bIns="0" rtlCol="0" anchor="ctr"/>
          <a:lstStyle/>
          <a:p>
            <a:pPr marL="0" indent="0">
              <a:buNone/>
            </a:pPr>
            <a:r>
              <a:rPr lang="en-US" sz="1600" b="1" dirty="0">
                <a:solidFill>
                  <a:srgbClr val="3D5A80"/>
                </a:solidFill>
                <a:latin typeface="Cambria" pitchFamily="34" charset="0"/>
                <a:ea typeface="Cambria" pitchFamily="34" charset="-122"/>
                <a:cs typeface="Cambria" pitchFamily="34" charset="-120"/>
              </a:rPr>
              <a:t>과학에서 ML은 어디에 쓰이나</a:t>
            </a:r>
            <a:endParaRPr lang="en-US" sz="1600" dirty="0"/>
          </a:p>
        </p:txBody>
      </p:sp>
      <p:sp>
        <p:nvSpPr>
          <p:cNvPr id="11" name="Text 9"/>
          <p:cNvSpPr txBox="1"/>
          <p:nvPr/>
        </p:nvSpPr>
        <p:spPr>
          <a:xfrm>
            <a:off x="822960" y="3163824"/>
            <a:ext cx="4846320" cy="2194560"/>
          </a:xfrm>
          <a:prstGeom prst="rect">
            <a:avLst/>
          </a:prstGeom>
          <a:noFill/>
          <a:ln/>
        </p:spPr>
        <p:txBody>
          <a:bodyPr wrap="square" lIns="0" tIns="0" rIns="0" bIns="0" rtlCol="0" anchor="t"/>
          <a:lstStyle/>
          <a:p>
            <a:pPr marL="0" indent="0">
              <a:lnSpc>
                <a:spcPct val="112000"/>
              </a:lnSpc>
              <a:buNone/>
            </a:pPr>
            <a:r>
              <a:rPr lang="en-US" sz="1350" dirty="0">
                <a:solidFill>
                  <a:srgbClr val="1D2433"/>
                </a:solidFill>
                <a:latin typeface="Calibri" pitchFamily="34" charset="0"/>
                <a:ea typeface="Calibri" pitchFamily="34" charset="-122"/>
                <a:cs typeface="Calibri" pitchFamily="34" charset="-120"/>
              </a:rPr>
              <a:t>① 더 나은 예측으로 현상의 이해를 돕기
② 의료 진단 도구 개발
③ 현상의 ‘본질적 예측가능성’ 탐구
</a:t>
            </a:r>
            <a:r>
              <a:rPr lang="en-US" sz="1250" i="1" dirty="0">
                <a:solidFill>
                  <a:srgbClr val="6B7280"/>
                </a:solidFill>
                <a:latin typeface="Calibri" pitchFamily="34" charset="0"/>
                <a:ea typeface="Calibri" pitchFamily="34" charset="-122"/>
                <a:cs typeface="Calibri" pitchFamily="34" charset="-120"/>
              </a:rPr>
              <a:t>“이 환자는 재발할까?” · “이 나라에 내전이 날까?”
“이 기업은 부실해질까?”
</a:t>
            </a:r>
            <a:r>
              <a:rPr lang="en-US" sz="1350" dirty="0">
                <a:solidFill>
                  <a:srgbClr val="1D2433"/>
                </a:solidFill>
                <a:latin typeface="Calibri" pitchFamily="34" charset="0"/>
                <a:ea typeface="Calibri" pitchFamily="34" charset="-122"/>
                <a:cs typeface="Calibri" pitchFamily="34" charset="-120"/>
              </a:rPr>
              <a:t>그리고 대부분 </a:t>
            </a:r>
            <a:r>
              <a:rPr lang="en-US" sz="1350" b="1" dirty="0">
                <a:solidFill>
                  <a:srgbClr val="E63946"/>
                </a:solidFill>
                <a:latin typeface="Calibri" pitchFamily="34" charset="0"/>
                <a:ea typeface="Calibri" pitchFamily="34" charset="-122"/>
                <a:cs typeface="Calibri" pitchFamily="34" charset="-120"/>
              </a:rPr>
              <a:t>“복잡한 ML이 훨씬 정확하다”</a:t>
            </a:r>
            <a:r>
              <a:rPr lang="en-US" sz="1350" dirty="0">
                <a:solidFill>
                  <a:srgbClr val="1D2433"/>
                </a:solidFill>
                <a:latin typeface="Calibri" pitchFamily="34" charset="0"/>
                <a:ea typeface="Calibri" pitchFamily="34" charset="-122"/>
                <a:cs typeface="Calibri" pitchFamily="34" charset="-120"/>
              </a:rPr>
              <a:t>고 주장합니다.</a:t>
            </a:r>
            <a:endParaRPr lang="en-US" sz="1350" dirty="0"/>
          </a:p>
        </p:txBody>
      </p:sp>
      <p:sp>
        <p:nvSpPr>
          <p:cNvPr id="12" name="Shape 10"/>
          <p:cNvSpPr/>
          <p:nvPr/>
        </p:nvSpPr>
        <p:spPr>
          <a:xfrm>
            <a:off x="6217920" y="2651760"/>
            <a:ext cx="5394960" cy="2852928"/>
          </a:xfrm>
          <a:prstGeom prst="roundRect">
            <a:avLst>
              <a:gd name="adj" fmla="val 1923"/>
            </a:avLst>
          </a:prstGeom>
          <a:solidFill>
            <a:srgbClr val="14213D"/>
          </a:solidFill>
          <a:ln/>
        </p:spPr>
        <p:txBody>
          <a:bodyPr/>
          <a:lstStyle/>
          <a:p>
            <a:endParaRPr lang="ko-KR" altLang="en-US"/>
          </a:p>
        </p:txBody>
      </p:sp>
      <p:sp>
        <p:nvSpPr>
          <p:cNvPr id="13" name="Text 11"/>
          <p:cNvSpPr txBox="1"/>
          <p:nvPr/>
        </p:nvSpPr>
        <p:spPr>
          <a:xfrm>
            <a:off x="6492240" y="2779776"/>
            <a:ext cx="4846320" cy="347472"/>
          </a:xfrm>
          <a:prstGeom prst="rect">
            <a:avLst/>
          </a:prstGeom>
          <a:noFill/>
          <a:ln/>
        </p:spPr>
        <p:txBody>
          <a:bodyPr wrap="square" lIns="0" tIns="0" rIns="0" bIns="0" rtlCol="0" anchor="ctr"/>
          <a:lstStyle/>
          <a:p>
            <a:pPr marL="0" indent="0">
              <a:buNone/>
            </a:pPr>
            <a:r>
              <a:rPr lang="ko-KR" altLang="en-US" sz="1600" b="1" dirty="0">
                <a:solidFill>
                  <a:srgbClr val="98C1D9"/>
                </a:solidFill>
                <a:latin typeface="Cambria" pitchFamily="34" charset="0"/>
              </a:rPr>
              <a:t>반복되는 재현 실패</a:t>
            </a:r>
            <a:endParaRPr lang="en-US" sz="1600" dirty="0"/>
          </a:p>
        </p:txBody>
      </p:sp>
      <p:sp>
        <p:nvSpPr>
          <p:cNvPr id="14" name="Text 12"/>
          <p:cNvSpPr txBox="1"/>
          <p:nvPr/>
        </p:nvSpPr>
        <p:spPr>
          <a:xfrm>
            <a:off x="6492240" y="3163824"/>
            <a:ext cx="4846320" cy="2194560"/>
          </a:xfrm>
          <a:prstGeom prst="rect">
            <a:avLst/>
          </a:prstGeom>
          <a:noFill/>
          <a:ln/>
        </p:spPr>
        <p:txBody>
          <a:bodyPr wrap="square" lIns="0" tIns="0" rIns="0" bIns="0" rtlCol="0" anchor="t"/>
          <a:lstStyle/>
          <a:p>
            <a:pPr marL="0" indent="0">
              <a:lnSpc>
                <a:spcPct val="112000"/>
              </a:lnSpc>
              <a:buNone/>
            </a:pPr>
            <a:r>
              <a:rPr lang="en-US" sz="1350" dirty="0">
                <a:solidFill>
                  <a:srgbClr val="FFFFFF"/>
                </a:solidFill>
                <a:latin typeface="Calibri" pitchFamily="34" charset="0"/>
                <a:ea typeface="Calibri" pitchFamily="34" charset="-122"/>
                <a:cs typeface="Calibri" pitchFamily="34" charset="-120"/>
              </a:rPr>
              <a:t>재현 실패가 분야마다 </a:t>
            </a:r>
            <a:r>
              <a:rPr lang="en-US" sz="1350" b="1" dirty="0">
                <a:solidFill>
                  <a:srgbClr val="E63946"/>
                </a:solidFill>
                <a:latin typeface="Calibri" pitchFamily="34" charset="0"/>
                <a:ea typeface="Calibri" pitchFamily="34" charset="-122"/>
                <a:cs typeface="Calibri" pitchFamily="34" charset="-120"/>
              </a:rPr>
              <a:t>따로따로</a:t>
            </a:r>
            <a:r>
              <a:rPr lang="en-US" sz="1350" dirty="0">
                <a:solidFill>
                  <a:srgbClr val="FFFFFF"/>
                </a:solidFill>
                <a:latin typeface="Calibri" pitchFamily="34" charset="0"/>
                <a:ea typeface="Calibri" pitchFamily="34" charset="-122"/>
                <a:cs typeface="Calibri" pitchFamily="34" charset="-120"/>
              </a:rPr>
              <a:t> 발견될 뿐,</a:t>
            </a:r>
            <a:endParaRPr lang="en-US" sz="1350" dirty="0"/>
          </a:p>
          <a:p>
            <a:pPr marL="0" indent="0">
              <a:lnSpc>
                <a:spcPct val="112000"/>
              </a:lnSpc>
              <a:buNone/>
            </a:pPr>
            <a:r>
              <a:rPr lang="en-US" sz="1350" dirty="0">
                <a:solidFill>
                  <a:srgbClr val="FFFFFF"/>
                </a:solidFill>
                <a:latin typeface="Calibri" pitchFamily="34" charset="0"/>
                <a:ea typeface="Calibri" pitchFamily="34" charset="-122"/>
                <a:cs typeface="Calibri" pitchFamily="34" charset="-120"/>
              </a:rPr>
              <a:t>왜 반복되는지 </a:t>
            </a:r>
            <a:endParaRPr lang="en-US" sz="1350" dirty="0"/>
          </a:p>
          <a:p>
            <a:pPr marL="0" indent="0">
              <a:lnSpc>
                <a:spcPct val="112000"/>
              </a:lnSpc>
              <a:buNone/>
            </a:pPr>
            <a:r>
              <a:rPr lang="en-US" sz="1350" b="1" dirty="0">
                <a:solidFill>
                  <a:srgbClr val="FFFFFF"/>
                </a:solidFill>
                <a:latin typeface="Calibri" pitchFamily="34" charset="0"/>
                <a:ea typeface="Calibri" pitchFamily="34" charset="-122"/>
                <a:cs typeface="Calibri" pitchFamily="34" charset="-120"/>
              </a:rPr>
              <a:t>공통된 설명이 없었습니다.</a:t>
            </a:r>
            <a:r>
              <a:rPr lang="en-US" sz="1350" dirty="0">
                <a:solidFill>
                  <a:srgbClr val="FFFFFF"/>
                </a:solidFill>
                <a:latin typeface="Calibri" pitchFamily="34" charset="0"/>
                <a:ea typeface="Calibri" pitchFamily="34" charset="-122"/>
                <a:cs typeface="Calibri" pitchFamily="34" charset="-120"/>
              </a:rPr>
              <a:t>
· 체계적 리뷰들에서 검토 논문의 과반수가
  함정을 안고 있었음
</a:t>
            </a:r>
            <a:r>
              <a:rPr lang="en-US" sz="1350" b="1" i="1" dirty="0">
                <a:solidFill>
                  <a:srgbClr val="98C1D9"/>
                </a:solidFill>
                <a:latin typeface="Calibri" pitchFamily="34" charset="0"/>
                <a:ea typeface="Calibri" pitchFamily="34" charset="-122"/>
                <a:cs typeface="Calibri" pitchFamily="34" charset="-120"/>
              </a:rPr>
              <a:t>이 논문의 출발점:</a:t>
            </a:r>
            <a:endParaRPr lang="en-US" sz="1350" dirty="0"/>
          </a:p>
          <a:p>
            <a:pPr marL="0" indent="0">
              <a:lnSpc>
                <a:spcPct val="112000"/>
              </a:lnSpc>
              <a:buNone/>
            </a:pPr>
            <a:r>
              <a:rPr lang="en-US" sz="1350" b="1" i="1" dirty="0">
                <a:solidFill>
                  <a:srgbClr val="98C1D9"/>
                </a:solidFill>
                <a:latin typeface="Calibri" pitchFamily="34" charset="0"/>
                <a:ea typeface="Calibri" pitchFamily="34" charset="-122"/>
                <a:cs typeface="Calibri" pitchFamily="34" charset="-120"/>
              </a:rPr>
              <a:t>“분야는 달라도 원인은 하나 아닐까?”</a:t>
            </a:r>
            <a:endParaRPr lang="en-US" sz="1350" dirty="0"/>
          </a:p>
        </p:txBody>
      </p:sp>
      <p:sp>
        <p:nvSpPr>
          <p:cNvPr id="15" name="Shape 13"/>
          <p:cNvSpPr/>
          <p:nvPr/>
        </p:nvSpPr>
        <p:spPr>
          <a:xfrm>
            <a:off x="548640" y="5632704"/>
            <a:ext cx="11064240" cy="969264"/>
          </a:xfrm>
          <a:prstGeom prst="roundRect">
            <a:avLst>
              <a:gd name="adj" fmla="val 4717"/>
            </a:avLst>
          </a:prstGeom>
          <a:solidFill>
            <a:srgbClr val="FCEBEC"/>
          </a:solidFill>
          <a:ln/>
        </p:spPr>
        <p:txBody>
          <a:bodyPr/>
          <a:lstStyle/>
          <a:p>
            <a:endParaRPr lang="ko-KR" altLang="en-US"/>
          </a:p>
        </p:txBody>
      </p:sp>
      <p:sp>
        <p:nvSpPr>
          <p:cNvPr id="16" name="Text 14"/>
          <p:cNvSpPr txBox="1"/>
          <p:nvPr/>
        </p:nvSpPr>
        <p:spPr>
          <a:xfrm>
            <a:off x="777240" y="5705856"/>
            <a:ext cx="4114800" cy="841248"/>
          </a:xfrm>
          <a:prstGeom prst="rect">
            <a:avLst/>
          </a:prstGeom>
          <a:noFill/>
          <a:ln/>
        </p:spPr>
        <p:txBody>
          <a:bodyPr wrap="square" lIns="0" tIns="0" rIns="0" bIns="0" rtlCol="0" anchor="ctr"/>
          <a:lstStyle/>
          <a:p>
            <a:pPr marL="0" indent="0">
              <a:lnSpc>
                <a:spcPct val="105000"/>
              </a:lnSpc>
              <a:buNone/>
            </a:pPr>
            <a:r>
              <a:rPr lang="en-US" sz="1300" b="1" dirty="0">
                <a:solidFill>
                  <a:srgbClr val="1D2433"/>
                </a:solidFill>
                <a:latin typeface="Calibri" pitchFamily="34" charset="0"/>
                <a:ea typeface="Calibri" pitchFamily="34" charset="-122"/>
                <a:cs typeface="Calibri" pitchFamily="34" charset="-120"/>
              </a:rPr>
              <a:t>왜 과잉낙관이 스스로 강화되나
</a:t>
            </a:r>
            <a:r>
              <a:rPr lang="en-US" sz="1200" b="1" dirty="0">
                <a:solidFill>
                  <a:srgbClr val="E63946"/>
                </a:solidFill>
                <a:latin typeface="Calibri" pitchFamily="34" charset="0"/>
                <a:ea typeface="Calibri" pitchFamily="34" charset="-122"/>
                <a:cs typeface="Calibri" pitchFamily="34" charset="-120"/>
              </a:rPr>
              <a:t>재현 실패 논문이 오히려 더 인용된다
</a:t>
            </a:r>
            <a:r>
              <a:rPr lang="en-US" sz="850" dirty="0">
                <a:solidFill>
                  <a:srgbClr val="6B7280"/>
                </a:solidFill>
                <a:latin typeface="Calibri" pitchFamily="34" charset="0"/>
                <a:ea typeface="Calibri" pitchFamily="34" charset="-122"/>
                <a:cs typeface="Calibri" pitchFamily="34" charset="-120"/>
              </a:rPr>
              <a:t>Serra-Garcia &amp; Gneezy (2021), Science Advances 7(21) — 심리학·경제학·Nature/Science 재현 프로젝트 80편 </a:t>
            </a:r>
            <a:r>
              <a:rPr lang="en-US" sz="850" dirty="0" err="1">
                <a:solidFill>
                  <a:srgbClr val="6B7280"/>
                </a:solidFill>
                <a:latin typeface="Calibri" pitchFamily="34" charset="0"/>
                <a:ea typeface="Calibri" pitchFamily="34" charset="-122"/>
                <a:cs typeface="Calibri" pitchFamily="34" charset="-120"/>
              </a:rPr>
              <a:t>분석</a:t>
            </a:r>
            <a:r>
              <a:rPr lang="ko-KR" altLang="en-US" sz="850" dirty="0">
                <a:solidFill>
                  <a:srgbClr val="6B7280"/>
                </a:solidFill>
                <a:latin typeface="Calibri" pitchFamily="34" charset="0"/>
                <a:ea typeface="Calibri" pitchFamily="34" charset="-122"/>
                <a:cs typeface="Calibri" pitchFamily="34" charset="-120"/>
              </a:rPr>
              <a:t> </a:t>
            </a:r>
            <a:r>
              <a:rPr lang="en-US" altLang="ko-KR" sz="850" dirty="0">
                <a:solidFill>
                  <a:srgbClr val="6B7280"/>
                </a:solidFill>
                <a:latin typeface="Calibri" pitchFamily="34" charset="0"/>
                <a:ea typeface="Calibri" pitchFamily="34" charset="-122"/>
                <a:cs typeface="Calibri" pitchFamily="34" charset="-120"/>
              </a:rPr>
              <a:t>:</a:t>
            </a:r>
            <a:r>
              <a:rPr lang="ko-KR" altLang="en-US" sz="850" dirty="0">
                <a:solidFill>
                  <a:srgbClr val="6B7280"/>
                </a:solidFill>
                <a:latin typeface="Calibri" pitchFamily="34" charset="0"/>
                <a:ea typeface="Calibri" pitchFamily="34" charset="-122"/>
                <a:cs typeface="Calibri" pitchFamily="34" charset="-120"/>
              </a:rPr>
              <a:t> 인용된 선행연구 참조</a:t>
            </a:r>
            <a:endParaRPr lang="en-US" sz="1300" dirty="0"/>
          </a:p>
        </p:txBody>
      </p:sp>
      <p:sp>
        <p:nvSpPr>
          <p:cNvPr id="17" name="Text 15"/>
          <p:cNvSpPr txBox="1"/>
          <p:nvPr/>
        </p:nvSpPr>
        <p:spPr>
          <a:xfrm>
            <a:off x="5029200" y="5724144"/>
            <a:ext cx="2103120" cy="402336"/>
          </a:xfrm>
          <a:prstGeom prst="rect">
            <a:avLst/>
          </a:prstGeom>
          <a:noFill/>
          <a:ln/>
        </p:spPr>
        <p:txBody>
          <a:bodyPr wrap="square" lIns="0" tIns="0" rIns="0" bIns="0" rtlCol="0" anchor="ctr"/>
          <a:lstStyle/>
          <a:p>
            <a:pPr marL="0" indent="0">
              <a:buNone/>
            </a:pPr>
            <a:r>
              <a:rPr lang="ko-KR" altLang="en-US" sz="2400" b="1" dirty="0">
                <a:solidFill>
                  <a:srgbClr val="E63946"/>
                </a:solidFill>
                <a:latin typeface="Cambria" pitchFamily="34" charset="0"/>
                <a:ea typeface="Cambria" pitchFamily="34" charset="-122"/>
                <a:cs typeface="Cambria" pitchFamily="34" charset="-120"/>
              </a:rPr>
              <a:t> </a:t>
            </a:r>
            <a:r>
              <a:rPr lang="en-US" sz="2400" b="1" dirty="0">
                <a:solidFill>
                  <a:srgbClr val="E63946"/>
                </a:solidFill>
                <a:latin typeface="Cambria" pitchFamily="34" charset="0"/>
                <a:ea typeface="Cambria" pitchFamily="34" charset="-122"/>
                <a:cs typeface="Cambria" pitchFamily="34" charset="-120"/>
              </a:rPr>
              <a:t>153</a:t>
            </a:r>
            <a:r>
              <a:rPr lang="en-US" sz="1200" b="1" dirty="0">
                <a:solidFill>
                  <a:srgbClr val="1D2433"/>
                </a:solidFill>
                <a:latin typeface="Calibri" pitchFamily="34" charset="0"/>
                <a:ea typeface="Calibri" pitchFamily="34" charset="-122"/>
                <a:cs typeface="Calibri" pitchFamily="34" charset="-120"/>
              </a:rPr>
              <a:t>회</a:t>
            </a:r>
            <a:r>
              <a:rPr lang="ko-KR" altLang="en-US" sz="1200" b="1" dirty="0">
                <a:solidFill>
                  <a:srgbClr val="1D2433"/>
                </a:solidFill>
                <a:latin typeface="Calibri" pitchFamily="34" charset="0"/>
                <a:ea typeface="Calibri" pitchFamily="34" charset="-122"/>
                <a:cs typeface="Calibri" pitchFamily="34" charset="-120"/>
              </a:rPr>
              <a:t> 차이</a:t>
            </a:r>
            <a:r>
              <a:rPr lang="en-US" altLang="ko-KR" sz="1200" b="1" dirty="0">
                <a:solidFill>
                  <a:srgbClr val="1D2433"/>
                </a:solidFill>
                <a:latin typeface="Calibri" pitchFamily="34" charset="0"/>
                <a:ea typeface="Calibri" pitchFamily="34" charset="-122"/>
                <a:cs typeface="Calibri" pitchFamily="34" charset="-120"/>
              </a:rPr>
              <a:t>(</a:t>
            </a:r>
            <a:r>
              <a:rPr lang="ko-KR" altLang="en-US" sz="1200" b="1" dirty="0">
                <a:solidFill>
                  <a:srgbClr val="1D2433"/>
                </a:solidFill>
                <a:latin typeface="Calibri" pitchFamily="34" charset="0"/>
                <a:ea typeface="Calibri" pitchFamily="34" charset="-122"/>
                <a:cs typeface="Calibri" pitchFamily="34" charset="-120"/>
              </a:rPr>
              <a:t>절대인용횟수</a:t>
            </a:r>
            <a:r>
              <a:rPr lang="en-US" altLang="ko-KR" sz="1200" b="1" dirty="0">
                <a:solidFill>
                  <a:srgbClr val="1D2433"/>
                </a:solidFill>
                <a:latin typeface="Calibri" pitchFamily="34" charset="0"/>
                <a:ea typeface="Calibri" pitchFamily="34" charset="-122"/>
                <a:cs typeface="Calibri" pitchFamily="34" charset="-120"/>
              </a:rPr>
              <a:t>)</a:t>
            </a:r>
            <a:endParaRPr lang="en-US" sz="2400" dirty="0"/>
          </a:p>
        </p:txBody>
      </p:sp>
      <p:sp>
        <p:nvSpPr>
          <p:cNvPr id="18" name="Text 16"/>
          <p:cNvSpPr txBox="1"/>
          <p:nvPr/>
        </p:nvSpPr>
        <p:spPr>
          <a:xfrm>
            <a:off x="5029200" y="6108192"/>
            <a:ext cx="2194560" cy="457200"/>
          </a:xfrm>
          <a:prstGeom prst="rect">
            <a:avLst/>
          </a:prstGeom>
          <a:noFill/>
          <a:ln/>
        </p:spPr>
        <p:txBody>
          <a:bodyPr wrap="square" lIns="0" tIns="0" rIns="0" bIns="0" rtlCol="0" anchor="ctr"/>
          <a:lstStyle/>
          <a:p>
            <a:pPr marL="0" indent="0">
              <a:lnSpc>
                <a:spcPct val="100000"/>
              </a:lnSpc>
              <a:buNone/>
            </a:pPr>
            <a:r>
              <a:rPr lang="en-US" sz="950" dirty="0">
                <a:solidFill>
                  <a:srgbClr val="6B7280"/>
                </a:solidFill>
                <a:latin typeface="Calibri" pitchFamily="34" charset="0"/>
                <a:ea typeface="Calibri" pitchFamily="34" charset="-122"/>
                <a:cs typeface="Calibri" pitchFamily="34" charset="-120"/>
              </a:rPr>
              <a:t>재현되는 논문이 평균</a:t>
            </a:r>
            <a:endParaRPr lang="en-US" sz="950" dirty="0"/>
          </a:p>
          <a:p>
            <a:pPr marL="0" indent="0">
              <a:lnSpc>
                <a:spcPct val="100000"/>
              </a:lnSpc>
              <a:buNone/>
            </a:pPr>
            <a:r>
              <a:rPr lang="en-US" sz="950" dirty="0">
                <a:solidFill>
                  <a:srgbClr val="6B7280"/>
                </a:solidFill>
                <a:latin typeface="Calibri" pitchFamily="34" charset="0"/>
                <a:ea typeface="Calibri" pitchFamily="34" charset="-122"/>
                <a:cs typeface="Calibri" pitchFamily="34" charset="-120"/>
              </a:rPr>
              <a:t>그만큼 적게 인용됨</a:t>
            </a:r>
            <a:endParaRPr lang="en-US" sz="950" dirty="0"/>
          </a:p>
        </p:txBody>
      </p:sp>
      <p:sp>
        <p:nvSpPr>
          <p:cNvPr id="19" name="Text 17"/>
          <p:cNvSpPr txBox="1"/>
          <p:nvPr/>
        </p:nvSpPr>
        <p:spPr>
          <a:xfrm>
            <a:off x="7360920" y="5724144"/>
            <a:ext cx="2103120" cy="402336"/>
          </a:xfrm>
          <a:prstGeom prst="rect">
            <a:avLst/>
          </a:prstGeom>
          <a:noFill/>
          <a:ln/>
        </p:spPr>
        <p:txBody>
          <a:bodyPr wrap="square" lIns="0" tIns="0" rIns="0" bIns="0" rtlCol="0" anchor="ctr"/>
          <a:lstStyle/>
          <a:p>
            <a:pPr marL="0" indent="0">
              <a:buNone/>
            </a:pPr>
            <a:r>
              <a:rPr lang="en-US" sz="2400" b="1" dirty="0">
                <a:solidFill>
                  <a:srgbClr val="E63946"/>
                </a:solidFill>
                <a:latin typeface="Cambria" pitchFamily="34" charset="0"/>
                <a:ea typeface="Cambria" pitchFamily="34" charset="-122"/>
                <a:cs typeface="Cambria" pitchFamily="34" charset="-120"/>
              </a:rPr>
              <a:t>16</a:t>
            </a:r>
            <a:r>
              <a:rPr lang="en-US" sz="1200" b="1" dirty="0">
                <a:solidFill>
                  <a:srgbClr val="1D2433"/>
                </a:solidFill>
                <a:latin typeface="Calibri" pitchFamily="34" charset="0"/>
                <a:ea typeface="Calibri" pitchFamily="34" charset="-122"/>
                <a:cs typeface="Calibri" pitchFamily="34" charset="-120"/>
              </a:rPr>
              <a:t>회</a:t>
            </a:r>
            <a:endParaRPr lang="en-US" sz="2400" dirty="0"/>
          </a:p>
        </p:txBody>
      </p:sp>
      <p:sp>
        <p:nvSpPr>
          <p:cNvPr id="20" name="Text 18"/>
          <p:cNvSpPr txBox="1"/>
          <p:nvPr/>
        </p:nvSpPr>
        <p:spPr>
          <a:xfrm>
            <a:off x="7360920" y="6108192"/>
            <a:ext cx="2194560" cy="457200"/>
          </a:xfrm>
          <a:prstGeom prst="rect">
            <a:avLst/>
          </a:prstGeom>
          <a:noFill/>
          <a:ln/>
        </p:spPr>
        <p:txBody>
          <a:bodyPr wrap="square" lIns="0" tIns="0" rIns="0" bIns="0" rtlCol="0" anchor="ctr"/>
          <a:lstStyle/>
          <a:p>
            <a:pPr marL="0" indent="0">
              <a:lnSpc>
                <a:spcPct val="100000"/>
              </a:lnSpc>
              <a:buNone/>
            </a:pPr>
            <a:r>
              <a:rPr lang="en-US" sz="950" dirty="0">
                <a:solidFill>
                  <a:srgbClr val="6B7280"/>
                </a:solidFill>
                <a:latin typeface="Calibri" pitchFamily="34" charset="0"/>
                <a:ea typeface="Calibri" pitchFamily="34" charset="-122"/>
                <a:cs typeface="Calibri" pitchFamily="34" charset="-120"/>
              </a:rPr>
              <a:t>연간 인용 수 차이</a:t>
            </a:r>
            <a:endParaRPr lang="en-US" sz="950" dirty="0"/>
          </a:p>
        </p:txBody>
      </p:sp>
      <p:sp>
        <p:nvSpPr>
          <p:cNvPr id="21" name="Text 19"/>
          <p:cNvSpPr txBox="1"/>
          <p:nvPr/>
        </p:nvSpPr>
        <p:spPr>
          <a:xfrm>
            <a:off x="9235440" y="5724144"/>
            <a:ext cx="2103120" cy="402336"/>
          </a:xfrm>
          <a:prstGeom prst="rect">
            <a:avLst/>
          </a:prstGeom>
          <a:noFill/>
          <a:ln/>
        </p:spPr>
        <p:txBody>
          <a:bodyPr wrap="square" lIns="0" tIns="0" rIns="0" bIns="0" rtlCol="0" anchor="ctr"/>
          <a:lstStyle/>
          <a:p>
            <a:pPr marL="0" indent="0">
              <a:buNone/>
            </a:pPr>
            <a:r>
              <a:rPr lang="en-US" sz="2400" b="1" dirty="0">
                <a:solidFill>
                  <a:srgbClr val="E63946"/>
                </a:solidFill>
                <a:latin typeface="Cambria" pitchFamily="34" charset="0"/>
                <a:ea typeface="Cambria" pitchFamily="34" charset="-122"/>
                <a:cs typeface="Cambria" pitchFamily="34" charset="-120"/>
              </a:rPr>
              <a:t>12</a:t>
            </a:r>
            <a:r>
              <a:rPr lang="en-US" sz="1200" b="1" dirty="0">
                <a:solidFill>
                  <a:srgbClr val="1D2433"/>
                </a:solidFill>
                <a:latin typeface="Calibri" pitchFamily="34" charset="0"/>
                <a:ea typeface="Calibri" pitchFamily="34" charset="-122"/>
                <a:cs typeface="Calibri" pitchFamily="34" charset="-120"/>
              </a:rPr>
              <a:t>%</a:t>
            </a:r>
            <a:endParaRPr lang="en-US" sz="2400" dirty="0"/>
          </a:p>
        </p:txBody>
      </p:sp>
      <p:sp>
        <p:nvSpPr>
          <p:cNvPr id="22" name="Text 20"/>
          <p:cNvSpPr txBox="1"/>
          <p:nvPr/>
        </p:nvSpPr>
        <p:spPr>
          <a:xfrm>
            <a:off x="9235440" y="6108192"/>
            <a:ext cx="2194560" cy="457200"/>
          </a:xfrm>
          <a:prstGeom prst="rect">
            <a:avLst/>
          </a:prstGeom>
          <a:noFill/>
          <a:ln/>
        </p:spPr>
        <p:txBody>
          <a:bodyPr wrap="square" lIns="0" tIns="0" rIns="0" bIns="0" rtlCol="0" anchor="ctr"/>
          <a:lstStyle/>
          <a:p>
            <a:pPr marL="0" indent="0">
              <a:lnSpc>
                <a:spcPct val="100000"/>
              </a:lnSpc>
              <a:buNone/>
            </a:pPr>
            <a:r>
              <a:rPr lang="en-US" sz="950" dirty="0">
                <a:solidFill>
                  <a:srgbClr val="6B7280"/>
                </a:solidFill>
                <a:latin typeface="Calibri" pitchFamily="34" charset="0"/>
                <a:ea typeface="Calibri" pitchFamily="34" charset="-122"/>
                <a:cs typeface="Calibri" pitchFamily="34" charset="-120"/>
              </a:rPr>
              <a:t>재현 실패 후 인용 중</a:t>
            </a:r>
            <a:endParaRPr lang="en-US" sz="950" dirty="0"/>
          </a:p>
          <a:p>
            <a:pPr marL="0" indent="0">
              <a:lnSpc>
                <a:spcPct val="100000"/>
              </a:lnSpc>
              <a:buNone/>
            </a:pPr>
            <a:r>
              <a:rPr lang="en-US" sz="950" dirty="0">
                <a:solidFill>
                  <a:srgbClr val="6B7280"/>
                </a:solidFill>
                <a:latin typeface="Calibri" pitchFamily="34" charset="0"/>
                <a:ea typeface="Calibri" pitchFamily="34" charset="-122"/>
                <a:cs typeface="Calibri" pitchFamily="34" charset="-120"/>
              </a:rPr>
              <a:t>그 실패를 언급한 비율</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rtlCol="0" anchor="ctr"/>
          <a:lstStyle/>
          <a:p>
            <a:pPr marL="0" indent="0">
              <a:buNone/>
            </a:pPr>
            <a:r>
              <a:rPr lang="en-US" sz="1250" b="1" kern="0" spc="200" dirty="0">
                <a:solidFill>
                  <a:srgbClr val="E63946"/>
                </a:solidFill>
                <a:latin typeface="Calibri" pitchFamily="34" charset="0"/>
                <a:ea typeface="Calibri" pitchFamily="34" charset="-122"/>
                <a:cs typeface="Calibri" pitchFamily="34" charset="-120"/>
              </a:rPr>
              <a:t>② 핵심 아이디어 (1/2) · 정의</a:t>
            </a:r>
            <a:endParaRPr lang="en-US" sz="1250" dirty="0"/>
          </a:p>
        </p:txBody>
      </p:sp>
      <p:sp>
        <p:nvSpPr>
          <p:cNvPr id="3" name="Text 1"/>
          <p:cNvSpPr txBox="1"/>
          <p:nvPr/>
        </p:nvSpPr>
        <p:spPr>
          <a:xfrm>
            <a:off x="548640" y="621792"/>
            <a:ext cx="11064240" cy="658368"/>
          </a:xfrm>
          <a:prstGeom prst="rect">
            <a:avLst/>
          </a:prstGeom>
          <a:noFill/>
          <a:ln/>
        </p:spPr>
        <p:txBody>
          <a:bodyPr wrap="square" rtlCol="0" anchor="ctr"/>
          <a:lstStyle/>
          <a:p>
            <a:pPr marL="0" indent="0">
              <a:buNone/>
            </a:pPr>
            <a:r>
              <a:rPr lang="en-US" sz="2800" b="1" dirty="0">
                <a:solidFill>
                  <a:srgbClr val="1D2433"/>
                </a:solidFill>
                <a:latin typeface="Cambria" pitchFamily="34" charset="0"/>
                <a:ea typeface="Cambria" pitchFamily="34" charset="-122"/>
                <a:cs typeface="Cambria" pitchFamily="34" charset="-120"/>
              </a:rPr>
              <a:t>데이터 누출(Data Leakage)이란 정확히 무엇인가</a:t>
            </a:r>
            <a:endParaRPr lang="en-US" sz="2800" dirty="0"/>
          </a:p>
        </p:txBody>
      </p:sp>
      <p:sp>
        <p:nvSpPr>
          <p:cNvPr id="4" name="Shape 2"/>
          <p:cNvSpPr/>
          <p:nvPr/>
        </p:nvSpPr>
        <p:spPr>
          <a:xfrm>
            <a:off x="548640" y="1353312"/>
            <a:ext cx="11064240" cy="1280160"/>
          </a:xfrm>
          <a:prstGeom prst="roundRect">
            <a:avLst>
              <a:gd name="adj" fmla="val 3571"/>
            </a:avLst>
          </a:prstGeom>
          <a:solidFill>
            <a:srgbClr val="EAEFF5"/>
          </a:solidFill>
          <a:ln/>
        </p:spPr>
        <p:txBody>
          <a:bodyPr/>
          <a:lstStyle/>
          <a:p>
            <a:endParaRPr lang="ko-KR" altLang="en-US"/>
          </a:p>
        </p:txBody>
      </p:sp>
      <p:sp>
        <p:nvSpPr>
          <p:cNvPr id="5" name="Text 3"/>
          <p:cNvSpPr txBox="1"/>
          <p:nvPr/>
        </p:nvSpPr>
        <p:spPr>
          <a:xfrm>
            <a:off x="658368" y="1371600"/>
            <a:ext cx="548640" cy="548640"/>
          </a:xfrm>
          <a:prstGeom prst="rect">
            <a:avLst/>
          </a:prstGeom>
          <a:noFill/>
          <a:ln/>
        </p:spPr>
        <p:txBody>
          <a:bodyPr wrap="square" lIns="0" tIns="0" rIns="0" bIns="0" rtlCol="0" anchor="ctr"/>
          <a:lstStyle/>
          <a:p>
            <a:pPr marL="0" indent="0">
              <a:buNone/>
            </a:pPr>
            <a:r>
              <a:rPr lang="en-US" sz="4000" b="1" dirty="0">
                <a:solidFill>
                  <a:srgbClr val="98C1D9"/>
                </a:solidFill>
                <a:latin typeface="Cambria" pitchFamily="34" charset="0"/>
                <a:ea typeface="Cambria" pitchFamily="34" charset="-122"/>
                <a:cs typeface="Cambria" pitchFamily="34" charset="-120"/>
              </a:rPr>
              <a:t>“</a:t>
            </a:r>
            <a:endParaRPr lang="en-US" sz="4000" dirty="0"/>
          </a:p>
        </p:txBody>
      </p:sp>
      <p:sp>
        <p:nvSpPr>
          <p:cNvPr id="6" name="Text 4"/>
          <p:cNvSpPr txBox="1"/>
          <p:nvPr/>
        </p:nvSpPr>
        <p:spPr>
          <a:xfrm>
            <a:off x="1207008" y="1481328"/>
            <a:ext cx="10149840" cy="566928"/>
          </a:xfrm>
          <a:prstGeom prst="rect">
            <a:avLst/>
          </a:prstGeom>
          <a:noFill/>
          <a:ln/>
        </p:spPr>
        <p:txBody>
          <a:bodyPr wrap="square" lIns="0" tIns="0" rIns="0" bIns="0" rtlCol="0" anchor="ctr"/>
          <a:lstStyle/>
          <a:p>
            <a:pPr marL="0" indent="0">
              <a:lnSpc>
                <a:spcPct val="105000"/>
              </a:lnSpc>
              <a:buNone/>
            </a:pPr>
            <a:r>
              <a:rPr lang="en-US" sz="1150" i="1" dirty="0">
                <a:solidFill>
                  <a:srgbClr val="3D5A80"/>
                </a:solidFill>
                <a:latin typeface="Calibri" pitchFamily="34" charset="0"/>
                <a:ea typeface="Calibri" pitchFamily="34" charset="-122"/>
                <a:cs typeface="Calibri" pitchFamily="34" charset="-120"/>
              </a:rPr>
              <a:t>“Data leakage is a spurious relationship between the independent variables and the target variable that arises as an artifact of the data collection, sampling, or pre-processing strategy.”</a:t>
            </a:r>
            <a:endParaRPr lang="en-US" sz="1150" dirty="0"/>
          </a:p>
        </p:txBody>
      </p:sp>
      <p:sp>
        <p:nvSpPr>
          <p:cNvPr id="7" name="Text 5"/>
          <p:cNvSpPr txBox="1"/>
          <p:nvPr/>
        </p:nvSpPr>
        <p:spPr>
          <a:xfrm>
            <a:off x="1207008" y="2029968"/>
            <a:ext cx="10149840" cy="320040"/>
          </a:xfrm>
          <a:prstGeom prst="rect">
            <a:avLst/>
          </a:prstGeom>
          <a:noFill/>
          <a:ln/>
        </p:spPr>
        <p:txBody>
          <a:bodyPr wrap="square" lIns="0" tIns="0" rIns="0" bIns="0" rtlCol="0" anchor="ctr"/>
          <a:lstStyle/>
          <a:p>
            <a:pPr marL="0" indent="0">
              <a:lnSpc>
                <a:spcPct val="110000"/>
              </a:lnSpc>
              <a:buNone/>
            </a:pPr>
            <a:r>
              <a:rPr lang="en-US" sz="1400" b="1" dirty="0">
                <a:solidFill>
                  <a:srgbClr val="1D2433"/>
                </a:solidFill>
                <a:latin typeface="Calibri" pitchFamily="34" charset="0"/>
                <a:ea typeface="Calibri" pitchFamily="34" charset="-122"/>
                <a:cs typeface="Calibri" pitchFamily="34" charset="-120"/>
              </a:rPr>
              <a:t>“데이터 누출이란, 데이터 수집·표집·전처리 전략의 부산물로 생겨난, 독립변수와 목표변수 사이의 허위 관계다.”</a:t>
            </a:r>
            <a:endParaRPr lang="en-US" sz="1400" dirty="0"/>
          </a:p>
        </p:txBody>
      </p:sp>
      <p:sp>
        <p:nvSpPr>
          <p:cNvPr id="8" name="Text 6"/>
          <p:cNvSpPr txBox="1"/>
          <p:nvPr/>
        </p:nvSpPr>
        <p:spPr>
          <a:xfrm>
            <a:off x="8595360" y="2322576"/>
            <a:ext cx="2834640" cy="256032"/>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 서론 4문단 (논문의 정의)</a:t>
            </a:r>
            <a:endParaRPr lang="en-US" sz="950" dirty="0"/>
          </a:p>
        </p:txBody>
      </p:sp>
      <p:sp>
        <p:nvSpPr>
          <p:cNvPr id="9" name="Text 7"/>
          <p:cNvSpPr txBox="1"/>
          <p:nvPr/>
        </p:nvSpPr>
        <p:spPr>
          <a:xfrm>
            <a:off x="548640" y="2706624"/>
            <a:ext cx="11064240" cy="329184"/>
          </a:xfrm>
          <a:prstGeom prst="rect">
            <a:avLst/>
          </a:prstGeom>
          <a:noFill/>
          <a:ln/>
        </p:spPr>
        <p:txBody>
          <a:bodyPr wrap="square" lIns="0" tIns="0" rIns="0" bIns="0" rtlCol="0" anchor="ctr"/>
          <a:lstStyle/>
          <a:p>
            <a:pPr marL="0" indent="0">
              <a:buNone/>
            </a:pPr>
            <a:r>
              <a:rPr lang="en-US" sz="1350" dirty="0">
                <a:solidFill>
                  <a:srgbClr val="1D2433"/>
                </a:solidFill>
                <a:latin typeface="Calibri" pitchFamily="34" charset="0"/>
                <a:ea typeface="Calibri" pitchFamily="34" charset="-122"/>
                <a:cs typeface="Calibri" pitchFamily="34" charset="-120"/>
              </a:rPr>
              <a:t>핵심은 ‘허위 관계’ — 현실에 원래 있던 신호가 아니라, </a:t>
            </a:r>
            <a:r>
              <a:rPr lang="en-US" sz="1350" b="1" dirty="0">
                <a:solidFill>
                  <a:srgbClr val="E63946"/>
                </a:solidFill>
                <a:latin typeface="Calibri" pitchFamily="34" charset="0"/>
                <a:ea typeface="Calibri" pitchFamily="34" charset="-122"/>
                <a:cs typeface="Calibri" pitchFamily="34" charset="-120"/>
              </a:rPr>
              <a:t>내가 데이터를 다룬 방식 때문에 생긴 </a:t>
            </a:r>
            <a:r>
              <a:rPr lang="en-US" sz="1350" b="1" dirty="0" err="1">
                <a:solidFill>
                  <a:srgbClr val="E63946"/>
                </a:solidFill>
                <a:latin typeface="Calibri" pitchFamily="34" charset="0"/>
                <a:ea typeface="Calibri" pitchFamily="34" charset="-122"/>
                <a:cs typeface="Calibri" pitchFamily="34" charset="-120"/>
              </a:rPr>
              <a:t>가짜</a:t>
            </a:r>
            <a:r>
              <a:rPr lang="en-US" sz="1350" b="1" dirty="0">
                <a:solidFill>
                  <a:srgbClr val="E63946"/>
                </a:solidFill>
                <a:latin typeface="Calibri" pitchFamily="34" charset="0"/>
                <a:ea typeface="Calibri" pitchFamily="34" charset="-122"/>
                <a:cs typeface="Calibri" pitchFamily="34" charset="-120"/>
              </a:rPr>
              <a:t> </a:t>
            </a:r>
            <a:r>
              <a:rPr lang="en-US" sz="1350" b="1" dirty="0" err="1">
                <a:solidFill>
                  <a:srgbClr val="E63946"/>
                </a:solidFill>
                <a:latin typeface="Calibri" pitchFamily="34" charset="0"/>
                <a:ea typeface="Calibri" pitchFamily="34" charset="-122"/>
                <a:cs typeface="Calibri" pitchFamily="34" charset="-120"/>
              </a:rPr>
              <a:t>연관</a:t>
            </a:r>
            <a:r>
              <a:rPr lang="en-US" sz="1350" dirty="0">
                <a:solidFill>
                  <a:srgbClr val="1D2433"/>
                </a:solidFill>
                <a:latin typeface="Calibri" pitchFamily="34" charset="0"/>
                <a:ea typeface="Calibri" pitchFamily="34" charset="-122"/>
                <a:cs typeface="Calibri" pitchFamily="34" charset="-120"/>
              </a:rPr>
              <a:t> </a:t>
            </a:r>
            <a:endParaRPr lang="en-US" sz="1350" dirty="0"/>
          </a:p>
        </p:txBody>
      </p:sp>
      <p:sp>
        <p:nvSpPr>
          <p:cNvPr id="10" name="Shape 8"/>
          <p:cNvSpPr/>
          <p:nvPr/>
        </p:nvSpPr>
        <p:spPr>
          <a:xfrm>
            <a:off x="548640" y="3108960"/>
            <a:ext cx="3529584" cy="2670048"/>
          </a:xfrm>
          <a:prstGeom prst="roundRect">
            <a:avLst>
              <a:gd name="adj" fmla="val 1712"/>
            </a:avLst>
          </a:prstGeom>
          <a:solidFill>
            <a:srgbClr val="F1F4F8"/>
          </a:solidFill>
          <a:ln/>
        </p:spPr>
        <p:txBody>
          <a:bodyPr/>
          <a:lstStyle/>
          <a:p>
            <a:endParaRPr lang="ko-KR" altLang="en-US"/>
          </a:p>
        </p:txBody>
      </p:sp>
      <p:sp>
        <p:nvSpPr>
          <p:cNvPr id="11" name="Text 9"/>
          <p:cNvSpPr txBox="1"/>
          <p:nvPr/>
        </p:nvSpPr>
        <p:spPr>
          <a:xfrm>
            <a:off x="777240" y="3218688"/>
            <a:ext cx="2011680" cy="237744"/>
          </a:xfrm>
          <a:prstGeom prst="rect">
            <a:avLst/>
          </a:prstGeom>
          <a:noFill/>
          <a:ln/>
        </p:spPr>
        <p:txBody>
          <a:bodyPr wrap="square" lIns="0" tIns="0" rIns="0" bIns="0" rtlCol="0" anchor="ctr"/>
          <a:lstStyle/>
          <a:p>
            <a:pPr marL="0" indent="0">
              <a:buNone/>
            </a:pPr>
            <a:r>
              <a:rPr lang="en-US" sz="1050" i="1" dirty="0">
                <a:solidFill>
                  <a:srgbClr val="3D5A80"/>
                </a:solidFill>
                <a:latin typeface="Calibri" pitchFamily="34" charset="0"/>
                <a:ea typeface="Calibri" pitchFamily="34" charset="-122"/>
                <a:cs typeface="Calibri" pitchFamily="34" charset="-120"/>
              </a:rPr>
              <a:t>data collection</a:t>
            </a:r>
            <a:endParaRPr lang="en-US" sz="1050" dirty="0"/>
          </a:p>
        </p:txBody>
      </p:sp>
      <p:sp>
        <p:nvSpPr>
          <p:cNvPr id="12" name="Text 10"/>
          <p:cNvSpPr txBox="1"/>
          <p:nvPr/>
        </p:nvSpPr>
        <p:spPr>
          <a:xfrm>
            <a:off x="2286000" y="3218688"/>
            <a:ext cx="1600200" cy="237744"/>
          </a:xfrm>
          <a:prstGeom prst="rect">
            <a:avLst/>
          </a:prstGeom>
          <a:noFill/>
          <a:ln/>
        </p:spPr>
        <p:txBody>
          <a:bodyPr wrap="square" lIns="0" tIns="0" rIns="0" bIns="0" rtlCol="0" anchor="ctr"/>
          <a:lstStyle/>
          <a:p>
            <a:pPr marL="0" indent="0" algn="r">
              <a:buNone/>
            </a:pPr>
            <a:r>
              <a:rPr lang="en-US" sz="1050" b="1" dirty="0">
                <a:solidFill>
                  <a:srgbClr val="3D5A80"/>
                </a:solidFill>
                <a:latin typeface="Calibri" pitchFamily="34" charset="0"/>
                <a:ea typeface="Calibri" pitchFamily="34" charset="-122"/>
                <a:cs typeface="Calibri" pitchFamily="34" charset="-120"/>
              </a:rPr>
              <a:t>→ L2</a:t>
            </a:r>
            <a:endParaRPr lang="en-US" sz="1050" dirty="0"/>
          </a:p>
        </p:txBody>
      </p:sp>
      <p:sp>
        <p:nvSpPr>
          <p:cNvPr id="13" name="Text 11"/>
          <p:cNvSpPr txBox="1"/>
          <p:nvPr/>
        </p:nvSpPr>
        <p:spPr>
          <a:xfrm>
            <a:off x="777240" y="3474720"/>
            <a:ext cx="3072384" cy="310896"/>
          </a:xfrm>
          <a:prstGeom prst="rect">
            <a:avLst/>
          </a:prstGeom>
          <a:noFill/>
          <a:ln/>
        </p:spPr>
        <p:txBody>
          <a:bodyPr wrap="square" lIns="0" tIns="0" rIns="0" bIns="0" rtlCol="0" anchor="ctr"/>
          <a:lstStyle/>
          <a:p>
            <a:pPr marL="0" indent="0">
              <a:buNone/>
            </a:pPr>
            <a:r>
              <a:rPr lang="en-US" sz="1700" b="1" dirty="0">
                <a:solidFill>
                  <a:srgbClr val="1D2433"/>
                </a:solidFill>
                <a:latin typeface="Cambria" pitchFamily="34" charset="0"/>
                <a:ea typeface="Cambria" pitchFamily="34" charset="-122"/>
                <a:cs typeface="Cambria" pitchFamily="34" charset="-120"/>
              </a:rPr>
              <a:t>① 수집</a:t>
            </a:r>
            <a:endParaRPr lang="en-US" sz="1700" dirty="0"/>
          </a:p>
        </p:txBody>
      </p:sp>
      <p:sp>
        <p:nvSpPr>
          <p:cNvPr id="14" name="Text 12"/>
          <p:cNvSpPr txBox="1"/>
          <p:nvPr/>
        </p:nvSpPr>
        <p:spPr>
          <a:xfrm>
            <a:off x="777240" y="3822192"/>
            <a:ext cx="3072384" cy="420624"/>
          </a:xfrm>
          <a:prstGeom prst="rect">
            <a:avLst/>
          </a:prstGeom>
          <a:noFill/>
          <a:ln/>
        </p:spPr>
        <p:txBody>
          <a:bodyPr wrap="square" lIns="0" tIns="0" rIns="0" bIns="0" rtlCol="0" anchor="t"/>
          <a:lstStyle/>
          <a:p>
            <a:pPr marL="0" indent="0">
              <a:lnSpc>
                <a:spcPct val="108000"/>
              </a:lnSpc>
              <a:buNone/>
            </a:pPr>
            <a:r>
              <a:rPr lang="en-US" sz="1200" dirty="0">
                <a:solidFill>
                  <a:srgbClr val="1D2433"/>
                </a:solidFill>
                <a:latin typeface="Calibri" pitchFamily="34" charset="0"/>
                <a:ea typeface="Calibri" pitchFamily="34" charset="-122"/>
                <a:cs typeface="Calibri" pitchFamily="34" charset="-120"/>
              </a:rPr>
              <a:t>결과 때문에 생긴 변수를 애초에 피처로 모아버린 경우</a:t>
            </a:r>
            <a:endParaRPr lang="en-US" sz="1200" dirty="0"/>
          </a:p>
        </p:txBody>
      </p:sp>
      <p:sp>
        <p:nvSpPr>
          <p:cNvPr id="15" name="Shape 13"/>
          <p:cNvSpPr/>
          <p:nvPr/>
        </p:nvSpPr>
        <p:spPr>
          <a:xfrm>
            <a:off x="713232" y="4279392"/>
            <a:ext cx="3200400" cy="1371600"/>
          </a:xfrm>
          <a:prstGeom prst="roundRect">
            <a:avLst>
              <a:gd name="adj" fmla="val 2667"/>
            </a:avLst>
          </a:prstGeom>
          <a:solidFill>
            <a:srgbClr val="FFFFFF"/>
          </a:solidFill>
          <a:ln/>
        </p:spPr>
        <p:txBody>
          <a:bodyPr/>
          <a:lstStyle/>
          <a:p>
            <a:endParaRPr lang="ko-KR" altLang="en-US"/>
          </a:p>
        </p:txBody>
      </p:sp>
      <p:sp>
        <p:nvSpPr>
          <p:cNvPr id="16" name="Text 14"/>
          <p:cNvSpPr txBox="1"/>
          <p:nvPr/>
        </p:nvSpPr>
        <p:spPr>
          <a:xfrm>
            <a:off x="841248" y="4352544"/>
            <a:ext cx="2962656" cy="658368"/>
          </a:xfrm>
          <a:prstGeom prst="rect">
            <a:avLst/>
          </a:prstGeom>
          <a:noFill/>
          <a:ln/>
        </p:spPr>
        <p:txBody>
          <a:bodyPr wrap="square" lIns="0" tIns="0" rIns="0" bIns="0" rtlCol="0" anchor="t"/>
          <a:lstStyle/>
          <a:p>
            <a:pPr marL="0" indent="0">
              <a:lnSpc>
                <a:spcPct val="106000"/>
              </a:lnSpc>
              <a:buNone/>
            </a:pPr>
            <a:r>
              <a:rPr lang="en-US" sz="1000" b="1" dirty="0">
                <a:solidFill>
                  <a:srgbClr val="3D5A80"/>
                </a:solidFill>
                <a:latin typeface="Calibri" pitchFamily="34" charset="0"/>
                <a:ea typeface="Calibri" pitchFamily="34" charset="-122"/>
                <a:cs typeface="Calibri" pitchFamily="34" charset="-120"/>
              </a:rPr>
              <a:t>논문 속 예
</a:t>
            </a:r>
            <a:r>
              <a:rPr lang="en-US" sz="1050" dirty="0">
                <a:solidFill>
                  <a:srgbClr val="1D2433"/>
                </a:solidFill>
                <a:latin typeface="Calibri" pitchFamily="34" charset="0"/>
                <a:ea typeface="Calibri" pitchFamily="34" charset="-122"/>
                <a:cs typeface="Calibri" pitchFamily="34" charset="-120"/>
              </a:rPr>
              <a:t>고혈압 예측에 ‘항고혈압제 복용’을 피처로 사용 — 약을 먹는다는 건 이미 고혈압이라는 뜻</a:t>
            </a:r>
            <a:endParaRPr lang="en-US" sz="1000" dirty="0"/>
          </a:p>
        </p:txBody>
      </p:sp>
      <p:sp>
        <p:nvSpPr>
          <p:cNvPr id="17" name="Text 15"/>
          <p:cNvSpPr txBox="1"/>
          <p:nvPr/>
        </p:nvSpPr>
        <p:spPr>
          <a:xfrm>
            <a:off x="841248" y="4992624"/>
            <a:ext cx="2962656" cy="603504"/>
          </a:xfrm>
          <a:prstGeom prst="rect">
            <a:avLst/>
          </a:prstGeom>
          <a:noFill/>
          <a:ln/>
        </p:spPr>
        <p:txBody>
          <a:bodyPr wrap="square" lIns="0" tIns="0" rIns="0" bIns="0" rtlCol="0" anchor="t"/>
          <a:lstStyle/>
          <a:p>
            <a:pPr marL="0" indent="0">
              <a:lnSpc>
                <a:spcPct val="106000"/>
              </a:lnSpc>
              <a:buNone/>
            </a:pPr>
            <a:r>
              <a:rPr lang="en-US" sz="1000" b="1" dirty="0">
                <a:solidFill>
                  <a:srgbClr val="6B7280"/>
                </a:solidFill>
                <a:latin typeface="Calibri" pitchFamily="34" charset="0"/>
                <a:ea typeface="Calibri" pitchFamily="34" charset="-122"/>
                <a:cs typeface="Calibri" pitchFamily="34" charset="-120"/>
              </a:rPr>
              <a:t>기업부실이라면
</a:t>
            </a:r>
            <a:r>
              <a:rPr lang="en-US" sz="1050" dirty="0">
                <a:solidFill>
                  <a:srgbClr val="6B7280"/>
                </a:solidFill>
                <a:latin typeface="Calibri" pitchFamily="34" charset="0"/>
                <a:ea typeface="Calibri" pitchFamily="34" charset="-122"/>
                <a:cs typeface="Calibri" pitchFamily="34" charset="-120"/>
              </a:rPr>
              <a:t>감사의견 거절·법정관리 신청처럼 ‘부실의 결과’인 항목을 투입</a:t>
            </a:r>
            <a:endParaRPr lang="en-US" sz="1000" dirty="0"/>
          </a:p>
        </p:txBody>
      </p:sp>
      <p:sp>
        <p:nvSpPr>
          <p:cNvPr id="18" name="Shape 16"/>
          <p:cNvSpPr/>
          <p:nvPr/>
        </p:nvSpPr>
        <p:spPr>
          <a:xfrm>
            <a:off x="4261104" y="3108960"/>
            <a:ext cx="3529584" cy="2670048"/>
          </a:xfrm>
          <a:prstGeom prst="roundRect">
            <a:avLst>
              <a:gd name="adj" fmla="val 1712"/>
            </a:avLst>
          </a:prstGeom>
          <a:solidFill>
            <a:srgbClr val="FCEBEC"/>
          </a:solidFill>
          <a:ln/>
        </p:spPr>
        <p:txBody>
          <a:bodyPr/>
          <a:lstStyle/>
          <a:p>
            <a:endParaRPr lang="ko-KR" altLang="en-US"/>
          </a:p>
        </p:txBody>
      </p:sp>
      <p:sp>
        <p:nvSpPr>
          <p:cNvPr id="19" name="Text 17"/>
          <p:cNvSpPr txBox="1"/>
          <p:nvPr/>
        </p:nvSpPr>
        <p:spPr>
          <a:xfrm>
            <a:off x="4489704" y="3218688"/>
            <a:ext cx="2011680" cy="237744"/>
          </a:xfrm>
          <a:prstGeom prst="rect">
            <a:avLst/>
          </a:prstGeom>
          <a:noFill/>
          <a:ln/>
        </p:spPr>
        <p:txBody>
          <a:bodyPr wrap="square" lIns="0" tIns="0" rIns="0" bIns="0" rtlCol="0" anchor="ctr"/>
          <a:lstStyle/>
          <a:p>
            <a:pPr marL="0" indent="0">
              <a:buNone/>
            </a:pPr>
            <a:r>
              <a:rPr lang="en-US" sz="1050" i="1" dirty="0">
                <a:solidFill>
                  <a:srgbClr val="E63946"/>
                </a:solidFill>
                <a:latin typeface="Calibri" pitchFamily="34" charset="0"/>
                <a:ea typeface="Calibri" pitchFamily="34" charset="-122"/>
                <a:cs typeface="Calibri" pitchFamily="34" charset="-120"/>
              </a:rPr>
              <a:t>sampling</a:t>
            </a:r>
            <a:endParaRPr lang="en-US" sz="1050" dirty="0"/>
          </a:p>
        </p:txBody>
      </p:sp>
      <p:sp>
        <p:nvSpPr>
          <p:cNvPr id="20" name="Text 18"/>
          <p:cNvSpPr txBox="1"/>
          <p:nvPr/>
        </p:nvSpPr>
        <p:spPr>
          <a:xfrm>
            <a:off x="5998464" y="3218688"/>
            <a:ext cx="1600200" cy="237744"/>
          </a:xfrm>
          <a:prstGeom prst="rect">
            <a:avLst/>
          </a:prstGeom>
          <a:noFill/>
          <a:ln/>
        </p:spPr>
        <p:txBody>
          <a:bodyPr wrap="square" lIns="0" tIns="0" rIns="0" bIns="0" rtlCol="0" anchor="ctr"/>
          <a:lstStyle/>
          <a:p>
            <a:pPr marL="0" indent="0" algn="r">
              <a:buNone/>
            </a:pPr>
            <a:r>
              <a:rPr lang="en-US" sz="1050" b="1" dirty="0">
                <a:solidFill>
                  <a:srgbClr val="E63946"/>
                </a:solidFill>
                <a:latin typeface="Calibri" pitchFamily="34" charset="0"/>
                <a:ea typeface="Calibri" pitchFamily="34" charset="-122"/>
                <a:cs typeface="Calibri" pitchFamily="34" charset="-120"/>
              </a:rPr>
              <a:t>→ L3 (우리 주제)</a:t>
            </a:r>
            <a:endParaRPr lang="en-US" sz="1050" dirty="0"/>
          </a:p>
        </p:txBody>
      </p:sp>
      <p:sp>
        <p:nvSpPr>
          <p:cNvPr id="21" name="Text 19"/>
          <p:cNvSpPr txBox="1"/>
          <p:nvPr/>
        </p:nvSpPr>
        <p:spPr>
          <a:xfrm>
            <a:off x="4489704" y="3474720"/>
            <a:ext cx="3072384" cy="310896"/>
          </a:xfrm>
          <a:prstGeom prst="rect">
            <a:avLst/>
          </a:prstGeom>
          <a:noFill/>
          <a:ln/>
        </p:spPr>
        <p:txBody>
          <a:bodyPr wrap="square" lIns="0" tIns="0" rIns="0" bIns="0" rtlCol="0" anchor="ctr"/>
          <a:lstStyle/>
          <a:p>
            <a:pPr marL="0" indent="0">
              <a:buNone/>
            </a:pPr>
            <a:r>
              <a:rPr lang="en-US" sz="1700" b="1" dirty="0">
                <a:solidFill>
                  <a:srgbClr val="1D2433"/>
                </a:solidFill>
                <a:latin typeface="Cambria" pitchFamily="34" charset="0"/>
                <a:ea typeface="Cambria" pitchFamily="34" charset="-122"/>
                <a:cs typeface="Cambria" pitchFamily="34" charset="-120"/>
              </a:rPr>
              <a:t>② 표집</a:t>
            </a:r>
            <a:endParaRPr lang="en-US" sz="1700" dirty="0"/>
          </a:p>
        </p:txBody>
      </p:sp>
      <p:sp>
        <p:nvSpPr>
          <p:cNvPr id="22" name="Text 20"/>
          <p:cNvSpPr txBox="1"/>
          <p:nvPr/>
        </p:nvSpPr>
        <p:spPr>
          <a:xfrm>
            <a:off x="4489704" y="3822192"/>
            <a:ext cx="3072384" cy="420624"/>
          </a:xfrm>
          <a:prstGeom prst="rect">
            <a:avLst/>
          </a:prstGeom>
          <a:noFill/>
          <a:ln/>
        </p:spPr>
        <p:txBody>
          <a:bodyPr wrap="square" lIns="0" tIns="0" rIns="0" bIns="0" rtlCol="0" anchor="t"/>
          <a:lstStyle/>
          <a:p>
            <a:pPr marL="0" indent="0">
              <a:lnSpc>
                <a:spcPct val="108000"/>
              </a:lnSpc>
              <a:buNone/>
            </a:pPr>
            <a:r>
              <a:rPr lang="en-US" sz="1200" dirty="0">
                <a:solidFill>
                  <a:srgbClr val="1D2433"/>
                </a:solidFill>
                <a:latin typeface="Calibri" pitchFamily="34" charset="0"/>
                <a:ea typeface="Calibri" pitchFamily="34" charset="-122"/>
                <a:cs typeface="Calibri" pitchFamily="34" charset="-120"/>
              </a:rPr>
              <a:t>학습·평가에 쓸 표본을 잘못 나눈 경우</a:t>
            </a:r>
            <a:endParaRPr lang="en-US" sz="1200" dirty="0"/>
          </a:p>
        </p:txBody>
      </p:sp>
      <p:sp>
        <p:nvSpPr>
          <p:cNvPr id="23" name="Shape 21"/>
          <p:cNvSpPr/>
          <p:nvPr/>
        </p:nvSpPr>
        <p:spPr>
          <a:xfrm>
            <a:off x="4425696" y="4279392"/>
            <a:ext cx="3200400" cy="1371600"/>
          </a:xfrm>
          <a:prstGeom prst="roundRect">
            <a:avLst>
              <a:gd name="adj" fmla="val 2667"/>
            </a:avLst>
          </a:prstGeom>
          <a:solidFill>
            <a:srgbClr val="FFFFFF"/>
          </a:solidFill>
          <a:ln/>
        </p:spPr>
        <p:txBody>
          <a:bodyPr/>
          <a:lstStyle/>
          <a:p>
            <a:endParaRPr lang="ko-KR" altLang="en-US"/>
          </a:p>
        </p:txBody>
      </p:sp>
      <p:sp>
        <p:nvSpPr>
          <p:cNvPr id="24" name="Text 22"/>
          <p:cNvSpPr txBox="1"/>
          <p:nvPr/>
        </p:nvSpPr>
        <p:spPr>
          <a:xfrm>
            <a:off x="4553712" y="4352544"/>
            <a:ext cx="2962656" cy="658368"/>
          </a:xfrm>
          <a:prstGeom prst="rect">
            <a:avLst/>
          </a:prstGeom>
          <a:noFill/>
          <a:ln/>
        </p:spPr>
        <p:txBody>
          <a:bodyPr wrap="square" lIns="0" tIns="0" rIns="0" bIns="0" rtlCol="0" anchor="t"/>
          <a:lstStyle/>
          <a:p>
            <a:pPr marL="0" indent="0">
              <a:lnSpc>
                <a:spcPct val="106000"/>
              </a:lnSpc>
              <a:buNone/>
            </a:pPr>
            <a:r>
              <a:rPr lang="en-US" sz="1000" b="1" dirty="0">
                <a:solidFill>
                  <a:srgbClr val="E63946"/>
                </a:solidFill>
                <a:latin typeface="Calibri" pitchFamily="34" charset="0"/>
                <a:ea typeface="Calibri" pitchFamily="34" charset="-122"/>
                <a:cs typeface="Calibri" pitchFamily="34" charset="-120"/>
              </a:rPr>
              <a:t>논문 속 예
</a:t>
            </a:r>
            <a:r>
              <a:rPr lang="en-US" sz="1050" dirty="0">
                <a:solidFill>
                  <a:srgbClr val="1D2433"/>
                </a:solidFill>
                <a:latin typeface="Calibri" pitchFamily="34" charset="0"/>
                <a:ea typeface="Calibri" pitchFamily="34" charset="-122"/>
                <a:cs typeface="Calibri" pitchFamily="34" charset="-120"/>
              </a:rPr>
              <a:t>Wang — 시계열 데이터에 k-겹 교차검증 적용 → 미래가 과거 예측에 섞임</a:t>
            </a:r>
            <a:endParaRPr lang="en-US" sz="1000" dirty="0"/>
          </a:p>
        </p:txBody>
      </p:sp>
      <p:sp>
        <p:nvSpPr>
          <p:cNvPr id="25" name="Text 23"/>
          <p:cNvSpPr txBox="1"/>
          <p:nvPr/>
        </p:nvSpPr>
        <p:spPr>
          <a:xfrm>
            <a:off x="4553712" y="4992624"/>
            <a:ext cx="2962656" cy="603504"/>
          </a:xfrm>
          <a:prstGeom prst="rect">
            <a:avLst/>
          </a:prstGeom>
          <a:noFill/>
          <a:ln/>
        </p:spPr>
        <p:txBody>
          <a:bodyPr wrap="square" lIns="0" tIns="0" rIns="0" bIns="0" rtlCol="0" anchor="t"/>
          <a:lstStyle/>
          <a:p>
            <a:pPr marL="0" indent="0">
              <a:lnSpc>
                <a:spcPct val="106000"/>
              </a:lnSpc>
              <a:buNone/>
            </a:pPr>
            <a:r>
              <a:rPr lang="en-US" sz="1000" b="1" dirty="0">
                <a:solidFill>
                  <a:srgbClr val="6B7280"/>
                </a:solidFill>
                <a:latin typeface="Calibri" pitchFamily="34" charset="0"/>
                <a:ea typeface="Calibri" pitchFamily="34" charset="-122"/>
                <a:cs typeface="Calibri" pitchFamily="34" charset="-120"/>
              </a:rPr>
              <a:t>기업부실이라면
</a:t>
            </a:r>
            <a:r>
              <a:rPr lang="en-US" sz="1050" dirty="0">
                <a:solidFill>
                  <a:srgbClr val="6B7280"/>
                </a:solidFill>
                <a:latin typeface="Calibri" pitchFamily="34" charset="0"/>
                <a:ea typeface="Calibri" pitchFamily="34" charset="-122"/>
                <a:cs typeface="Calibri" pitchFamily="34" charset="-120"/>
              </a:rPr>
              <a:t>2015~2022년 데이터를 시간 순서 무시하고 무작위로 분할</a:t>
            </a:r>
            <a:endParaRPr lang="en-US" sz="1000" dirty="0"/>
          </a:p>
        </p:txBody>
      </p:sp>
      <p:sp>
        <p:nvSpPr>
          <p:cNvPr id="26" name="Shape 24"/>
          <p:cNvSpPr/>
          <p:nvPr/>
        </p:nvSpPr>
        <p:spPr>
          <a:xfrm>
            <a:off x="7973568" y="3108960"/>
            <a:ext cx="3529584" cy="2670048"/>
          </a:xfrm>
          <a:prstGeom prst="roundRect">
            <a:avLst>
              <a:gd name="adj" fmla="val 1712"/>
            </a:avLst>
          </a:prstGeom>
          <a:solidFill>
            <a:srgbClr val="F1F4F8"/>
          </a:solidFill>
          <a:ln/>
        </p:spPr>
        <p:txBody>
          <a:bodyPr/>
          <a:lstStyle/>
          <a:p>
            <a:endParaRPr lang="ko-KR" altLang="en-US"/>
          </a:p>
        </p:txBody>
      </p:sp>
      <p:sp>
        <p:nvSpPr>
          <p:cNvPr id="27" name="Text 25"/>
          <p:cNvSpPr txBox="1"/>
          <p:nvPr/>
        </p:nvSpPr>
        <p:spPr>
          <a:xfrm>
            <a:off x="8202168" y="3218688"/>
            <a:ext cx="2011680" cy="237744"/>
          </a:xfrm>
          <a:prstGeom prst="rect">
            <a:avLst/>
          </a:prstGeom>
          <a:noFill/>
          <a:ln/>
        </p:spPr>
        <p:txBody>
          <a:bodyPr wrap="square" lIns="0" tIns="0" rIns="0" bIns="0" rtlCol="0" anchor="ctr"/>
          <a:lstStyle/>
          <a:p>
            <a:pPr marL="0" indent="0">
              <a:buNone/>
            </a:pPr>
            <a:r>
              <a:rPr lang="en-US" sz="1050" i="1" dirty="0">
                <a:solidFill>
                  <a:srgbClr val="3D5A80"/>
                </a:solidFill>
                <a:latin typeface="Calibri" pitchFamily="34" charset="0"/>
                <a:ea typeface="Calibri" pitchFamily="34" charset="-122"/>
                <a:cs typeface="Calibri" pitchFamily="34" charset="-120"/>
              </a:rPr>
              <a:t>pre-processing</a:t>
            </a:r>
            <a:endParaRPr lang="en-US" sz="1050" dirty="0"/>
          </a:p>
        </p:txBody>
      </p:sp>
      <p:sp>
        <p:nvSpPr>
          <p:cNvPr id="28" name="Text 26"/>
          <p:cNvSpPr txBox="1"/>
          <p:nvPr/>
        </p:nvSpPr>
        <p:spPr>
          <a:xfrm>
            <a:off x="9710928" y="3218688"/>
            <a:ext cx="1600200" cy="237744"/>
          </a:xfrm>
          <a:prstGeom prst="rect">
            <a:avLst/>
          </a:prstGeom>
          <a:noFill/>
          <a:ln/>
        </p:spPr>
        <p:txBody>
          <a:bodyPr wrap="square" lIns="0" tIns="0" rIns="0" bIns="0" rtlCol="0" anchor="ctr"/>
          <a:lstStyle/>
          <a:p>
            <a:pPr marL="0" indent="0" algn="r">
              <a:buNone/>
            </a:pPr>
            <a:r>
              <a:rPr lang="en-US" sz="1050" b="1" dirty="0">
                <a:solidFill>
                  <a:srgbClr val="3D5A80"/>
                </a:solidFill>
                <a:latin typeface="Calibri" pitchFamily="34" charset="0"/>
                <a:ea typeface="Calibri" pitchFamily="34" charset="-122"/>
                <a:cs typeface="Calibri" pitchFamily="34" charset="-120"/>
              </a:rPr>
              <a:t>→ L1</a:t>
            </a:r>
            <a:endParaRPr lang="en-US" sz="1050" dirty="0"/>
          </a:p>
        </p:txBody>
      </p:sp>
      <p:sp>
        <p:nvSpPr>
          <p:cNvPr id="29" name="Text 27"/>
          <p:cNvSpPr txBox="1"/>
          <p:nvPr/>
        </p:nvSpPr>
        <p:spPr>
          <a:xfrm>
            <a:off x="8202168" y="3474720"/>
            <a:ext cx="3072384" cy="310896"/>
          </a:xfrm>
          <a:prstGeom prst="rect">
            <a:avLst/>
          </a:prstGeom>
          <a:noFill/>
          <a:ln/>
        </p:spPr>
        <p:txBody>
          <a:bodyPr wrap="square" lIns="0" tIns="0" rIns="0" bIns="0" rtlCol="0" anchor="ctr"/>
          <a:lstStyle/>
          <a:p>
            <a:pPr marL="0" indent="0">
              <a:buNone/>
            </a:pPr>
            <a:r>
              <a:rPr lang="en-US" sz="1700" b="1" dirty="0">
                <a:solidFill>
                  <a:srgbClr val="1D2433"/>
                </a:solidFill>
                <a:latin typeface="Cambria" pitchFamily="34" charset="0"/>
                <a:ea typeface="Cambria" pitchFamily="34" charset="-122"/>
                <a:cs typeface="Cambria" pitchFamily="34" charset="-120"/>
              </a:rPr>
              <a:t>③ 전처리</a:t>
            </a:r>
            <a:endParaRPr lang="en-US" sz="1700" dirty="0"/>
          </a:p>
        </p:txBody>
      </p:sp>
      <p:sp>
        <p:nvSpPr>
          <p:cNvPr id="30" name="Text 28"/>
          <p:cNvSpPr txBox="1"/>
          <p:nvPr/>
        </p:nvSpPr>
        <p:spPr>
          <a:xfrm>
            <a:off x="8202168" y="3822192"/>
            <a:ext cx="3072384" cy="420624"/>
          </a:xfrm>
          <a:prstGeom prst="rect">
            <a:avLst/>
          </a:prstGeom>
          <a:noFill/>
          <a:ln/>
        </p:spPr>
        <p:txBody>
          <a:bodyPr wrap="square" lIns="0" tIns="0" rIns="0" bIns="0" rtlCol="0" anchor="t"/>
          <a:lstStyle/>
          <a:p>
            <a:pPr marL="0" indent="0">
              <a:lnSpc>
                <a:spcPct val="108000"/>
              </a:lnSpc>
              <a:buNone/>
            </a:pPr>
            <a:r>
              <a:rPr lang="en-US" sz="1200" dirty="0">
                <a:solidFill>
                  <a:srgbClr val="1D2433"/>
                </a:solidFill>
                <a:latin typeface="Calibri" pitchFamily="34" charset="0"/>
                <a:ea typeface="Calibri" pitchFamily="34" charset="-122"/>
                <a:cs typeface="Calibri" pitchFamily="34" charset="-120"/>
              </a:rPr>
              <a:t>나누기 전에 전체 데이터를 미리 손댄 경우</a:t>
            </a:r>
            <a:endParaRPr lang="en-US" sz="1200" dirty="0"/>
          </a:p>
        </p:txBody>
      </p:sp>
      <p:sp>
        <p:nvSpPr>
          <p:cNvPr id="31" name="Shape 29"/>
          <p:cNvSpPr/>
          <p:nvPr/>
        </p:nvSpPr>
        <p:spPr>
          <a:xfrm>
            <a:off x="8138160" y="4279392"/>
            <a:ext cx="3200400" cy="1371600"/>
          </a:xfrm>
          <a:prstGeom prst="roundRect">
            <a:avLst>
              <a:gd name="adj" fmla="val 2667"/>
            </a:avLst>
          </a:prstGeom>
          <a:solidFill>
            <a:srgbClr val="FFFFFF"/>
          </a:solidFill>
          <a:ln/>
        </p:spPr>
        <p:txBody>
          <a:bodyPr/>
          <a:lstStyle/>
          <a:p>
            <a:endParaRPr lang="ko-KR" altLang="en-US"/>
          </a:p>
        </p:txBody>
      </p:sp>
      <p:sp>
        <p:nvSpPr>
          <p:cNvPr id="32" name="Text 30"/>
          <p:cNvSpPr txBox="1"/>
          <p:nvPr/>
        </p:nvSpPr>
        <p:spPr>
          <a:xfrm>
            <a:off x="8266176" y="4352544"/>
            <a:ext cx="2962656" cy="658368"/>
          </a:xfrm>
          <a:prstGeom prst="rect">
            <a:avLst/>
          </a:prstGeom>
          <a:noFill/>
          <a:ln/>
        </p:spPr>
        <p:txBody>
          <a:bodyPr wrap="square" lIns="0" tIns="0" rIns="0" bIns="0" rtlCol="0" anchor="t"/>
          <a:lstStyle/>
          <a:p>
            <a:pPr marL="0" indent="0">
              <a:lnSpc>
                <a:spcPct val="106000"/>
              </a:lnSpc>
              <a:buNone/>
            </a:pPr>
            <a:r>
              <a:rPr lang="en-US" sz="1000" b="1" dirty="0">
                <a:solidFill>
                  <a:srgbClr val="3D5A80"/>
                </a:solidFill>
                <a:latin typeface="Calibri" pitchFamily="34" charset="0"/>
                <a:ea typeface="Calibri" pitchFamily="34" charset="-122"/>
                <a:cs typeface="Calibri" pitchFamily="34" charset="-120"/>
              </a:rPr>
              <a:t>논문 속 예
</a:t>
            </a:r>
            <a:r>
              <a:rPr lang="en-US" sz="1050" dirty="0">
                <a:solidFill>
                  <a:srgbClr val="1D2433"/>
                </a:solidFill>
                <a:latin typeface="Calibri" pitchFamily="34" charset="0"/>
                <a:ea typeface="Calibri" pitchFamily="34" charset="-122"/>
                <a:cs typeface="Calibri" pitchFamily="34" charset="-120"/>
              </a:rPr>
              <a:t>Muchlinski — 훈련·테스트를 함께 결측 대치 → RF AUC 0.95가 0.64로</a:t>
            </a:r>
            <a:endParaRPr lang="en-US" sz="1000" dirty="0"/>
          </a:p>
        </p:txBody>
      </p:sp>
      <p:sp>
        <p:nvSpPr>
          <p:cNvPr id="33" name="Text 31"/>
          <p:cNvSpPr txBox="1"/>
          <p:nvPr/>
        </p:nvSpPr>
        <p:spPr>
          <a:xfrm>
            <a:off x="8266176" y="4992624"/>
            <a:ext cx="2962656" cy="603504"/>
          </a:xfrm>
          <a:prstGeom prst="rect">
            <a:avLst/>
          </a:prstGeom>
          <a:noFill/>
          <a:ln/>
        </p:spPr>
        <p:txBody>
          <a:bodyPr wrap="square" lIns="0" tIns="0" rIns="0" bIns="0" rtlCol="0" anchor="t"/>
          <a:lstStyle/>
          <a:p>
            <a:pPr marL="0" indent="0">
              <a:lnSpc>
                <a:spcPct val="106000"/>
              </a:lnSpc>
              <a:buNone/>
            </a:pPr>
            <a:r>
              <a:rPr lang="en-US" sz="1000" b="1" dirty="0">
                <a:solidFill>
                  <a:srgbClr val="6B7280"/>
                </a:solidFill>
                <a:latin typeface="Calibri" pitchFamily="34" charset="0"/>
                <a:ea typeface="Calibri" pitchFamily="34" charset="-122"/>
                <a:cs typeface="Calibri" pitchFamily="34" charset="-120"/>
              </a:rPr>
              <a:t>기업부실이라면
</a:t>
            </a:r>
            <a:r>
              <a:rPr lang="en-US" sz="1050" dirty="0">
                <a:solidFill>
                  <a:srgbClr val="6B7280"/>
                </a:solidFill>
                <a:latin typeface="Calibri" pitchFamily="34" charset="0"/>
                <a:ea typeface="Calibri" pitchFamily="34" charset="-122"/>
                <a:cs typeface="Calibri" pitchFamily="34" charset="-120"/>
              </a:rPr>
              <a:t>재무비율 표준화·결측 대치를 전체 데이터로 먼저 수행</a:t>
            </a:r>
            <a:endParaRPr lang="en-US" sz="1000" dirty="0"/>
          </a:p>
        </p:txBody>
      </p:sp>
      <p:sp>
        <p:nvSpPr>
          <p:cNvPr id="34" name="Shape 32"/>
          <p:cNvSpPr/>
          <p:nvPr/>
        </p:nvSpPr>
        <p:spPr>
          <a:xfrm>
            <a:off x="548640" y="5907024"/>
            <a:ext cx="11064240" cy="658368"/>
          </a:xfrm>
          <a:prstGeom prst="roundRect">
            <a:avLst>
              <a:gd name="adj" fmla="val 6944"/>
            </a:avLst>
          </a:prstGeom>
          <a:solidFill>
            <a:srgbClr val="14213D"/>
          </a:solidFill>
          <a:ln/>
        </p:spPr>
        <p:txBody>
          <a:bodyPr/>
          <a:lstStyle/>
          <a:p>
            <a:endParaRPr lang="ko-KR" altLang="en-US"/>
          </a:p>
        </p:txBody>
      </p:sp>
      <p:sp>
        <p:nvSpPr>
          <p:cNvPr id="35" name="Text 33"/>
          <p:cNvSpPr txBox="1"/>
          <p:nvPr/>
        </p:nvSpPr>
        <p:spPr>
          <a:xfrm>
            <a:off x="822960" y="5907024"/>
            <a:ext cx="10515600" cy="658368"/>
          </a:xfrm>
          <a:prstGeom prst="rect">
            <a:avLst/>
          </a:prstGeom>
          <a:noFill/>
          <a:ln/>
        </p:spPr>
        <p:txBody>
          <a:bodyPr wrap="square" lIns="0" tIns="0" rIns="0" bIns="0" rtlCol="0" anchor="ctr"/>
          <a:lstStyle/>
          <a:p>
            <a:pPr marL="0" indent="0">
              <a:buNone/>
            </a:pPr>
            <a:r>
              <a:rPr lang="en-US" sz="1300" b="1" dirty="0">
                <a:solidFill>
                  <a:srgbClr val="98C1D9"/>
                </a:solidFill>
                <a:latin typeface="Calibri" pitchFamily="34" charset="0"/>
                <a:ea typeface="Calibri" pitchFamily="34" charset="-122"/>
                <a:cs typeface="Calibri" pitchFamily="34" charset="-120"/>
              </a:rPr>
              <a:t>세 경우의 </a:t>
            </a:r>
            <a:r>
              <a:rPr lang="en-US" sz="1300" b="1" dirty="0" err="1">
                <a:solidFill>
                  <a:srgbClr val="98C1D9"/>
                </a:solidFill>
                <a:latin typeface="Calibri" pitchFamily="34" charset="0"/>
                <a:ea typeface="Calibri" pitchFamily="34" charset="-122"/>
                <a:cs typeface="Calibri" pitchFamily="34" charset="-120"/>
              </a:rPr>
              <a:t>결과는</a:t>
            </a:r>
            <a:r>
              <a:rPr lang="en-US" sz="1300" b="1" dirty="0">
                <a:solidFill>
                  <a:srgbClr val="98C1D9"/>
                </a:solidFill>
                <a:latin typeface="Calibri" pitchFamily="34" charset="0"/>
                <a:ea typeface="Calibri" pitchFamily="34" charset="-122"/>
                <a:cs typeface="Calibri" pitchFamily="34" charset="-120"/>
              </a:rPr>
              <a:t> </a:t>
            </a:r>
            <a:r>
              <a:rPr lang="ko-KR" altLang="en-US" sz="1300" b="1" dirty="0">
                <a:solidFill>
                  <a:srgbClr val="98C1D9"/>
                </a:solidFill>
                <a:latin typeface="Calibri" pitchFamily="34" charset="0"/>
                <a:ea typeface="Calibri" pitchFamily="34" charset="-122"/>
                <a:cs typeface="Calibri" pitchFamily="34" charset="-120"/>
              </a:rPr>
              <a:t>같다</a:t>
            </a:r>
            <a:r>
              <a:rPr lang="en-US" sz="1300" b="1" dirty="0">
                <a:solidFill>
                  <a:srgbClr val="98C1D9"/>
                </a:solidFill>
                <a:latin typeface="Calibri" pitchFamily="34" charset="0"/>
                <a:ea typeface="Calibri" pitchFamily="34" charset="-122"/>
                <a:cs typeface="Calibri" pitchFamily="34" charset="-120"/>
              </a:rPr>
              <a:t>  </a:t>
            </a:r>
            <a:r>
              <a:rPr lang="en-US" sz="1300" dirty="0">
                <a:solidFill>
                  <a:srgbClr val="FFFFFF"/>
                </a:solidFill>
                <a:latin typeface="Calibri" pitchFamily="34" charset="0"/>
                <a:ea typeface="Calibri" pitchFamily="34" charset="-122"/>
                <a:cs typeface="Calibri" pitchFamily="34" charset="-120"/>
              </a:rPr>
              <a:t>— 실제로는 쓸 수 없어야 할 정보가 새어 들어가 성능이 부풀려진다. 다음 장의 8유형은 바로 이 세 지점을 더 잘게 </a:t>
            </a:r>
            <a:r>
              <a:rPr lang="en-US" sz="1300" dirty="0" err="1">
                <a:solidFill>
                  <a:srgbClr val="FFFFFF"/>
                </a:solidFill>
                <a:latin typeface="Calibri" pitchFamily="34" charset="0"/>
                <a:ea typeface="Calibri" pitchFamily="34" charset="-122"/>
                <a:cs typeface="Calibri" pitchFamily="34" charset="-120"/>
              </a:rPr>
              <a:t>나눈</a:t>
            </a:r>
            <a:r>
              <a:rPr lang="en-US" sz="1300" dirty="0">
                <a:solidFill>
                  <a:srgbClr val="FFFFFF"/>
                </a:solidFill>
                <a:latin typeface="Calibri" pitchFamily="34" charset="0"/>
                <a:ea typeface="Calibri" pitchFamily="34" charset="-122"/>
                <a:cs typeface="Calibri" pitchFamily="34" charset="-120"/>
              </a:rPr>
              <a:t> </a:t>
            </a:r>
            <a:r>
              <a:rPr lang="en-US" sz="1300" dirty="0" err="1">
                <a:solidFill>
                  <a:srgbClr val="FFFFFF"/>
                </a:solidFill>
                <a:latin typeface="Calibri" pitchFamily="34" charset="0"/>
                <a:ea typeface="Calibri" pitchFamily="34" charset="-122"/>
                <a:cs typeface="Calibri" pitchFamily="34" charset="-120"/>
              </a:rPr>
              <a:t>지도</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rtlCol="0" anchor="ctr"/>
          <a:lstStyle/>
          <a:p>
            <a:pPr marL="0" indent="0">
              <a:buNone/>
            </a:pPr>
            <a:r>
              <a:rPr lang="en-US" sz="1250" b="1" kern="0" spc="200" dirty="0">
                <a:solidFill>
                  <a:srgbClr val="E63946"/>
                </a:solidFill>
                <a:latin typeface="Calibri" pitchFamily="34" charset="0"/>
                <a:ea typeface="Calibri" pitchFamily="34" charset="-122"/>
                <a:cs typeface="Calibri" pitchFamily="34" charset="-120"/>
              </a:rPr>
              <a:t>② 핵심 아이디어 (2/2) · 이 논문을 논문이게 하는 한 가지</a:t>
            </a:r>
            <a:endParaRPr lang="en-US" sz="1250" dirty="0"/>
          </a:p>
        </p:txBody>
      </p:sp>
      <p:sp>
        <p:nvSpPr>
          <p:cNvPr id="3" name="Text 1"/>
          <p:cNvSpPr txBox="1"/>
          <p:nvPr/>
        </p:nvSpPr>
        <p:spPr>
          <a:xfrm>
            <a:off x="548640" y="621792"/>
            <a:ext cx="11064240" cy="658368"/>
          </a:xfrm>
          <a:prstGeom prst="rect">
            <a:avLst/>
          </a:prstGeom>
          <a:noFill/>
          <a:ln/>
        </p:spPr>
        <p:txBody>
          <a:bodyPr wrap="square" rtlCol="0" anchor="ctr"/>
          <a:lstStyle/>
          <a:p>
            <a:pPr marL="0" indent="0">
              <a:buNone/>
            </a:pPr>
            <a:r>
              <a:rPr lang="en-US" sz="2800" b="1" dirty="0">
                <a:solidFill>
                  <a:srgbClr val="1D2433"/>
                </a:solidFill>
                <a:latin typeface="Cambria" pitchFamily="34" charset="0"/>
                <a:ea typeface="Cambria" pitchFamily="34" charset="-122"/>
                <a:cs typeface="Cambria" pitchFamily="34" charset="-120"/>
              </a:rPr>
              <a:t>누출을 3범주 · 8유형으로 지도화 (taxonomy)</a:t>
            </a:r>
            <a:endParaRPr lang="en-US" sz="2800" dirty="0"/>
          </a:p>
        </p:txBody>
      </p:sp>
      <p:sp>
        <p:nvSpPr>
          <p:cNvPr id="4" name="Shape 2"/>
          <p:cNvSpPr/>
          <p:nvPr/>
        </p:nvSpPr>
        <p:spPr>
          <a:xfrm>
            <a:off x="548640" y="1481328"/>
            <a:ext cx="3611880" cy="4114800"/>
          </a:xfrm>
          <a:prstGeom prst="roundRect">
            <a:avLst>
              <a:gd name="adj" fmla="val 1519"/>
            </a:avLst>
          </a:prstGeom>
          <a:solidFill>
            <a:srgbClr val="F1F4F8"/>
          </a:solidFill>
          <a:ln/>
        </p:spPr>
        <p:txBody>
          <a:bodyPr/>
          <a:lstStyle/>
          <a:p>
            <a:endParaRPr lang="ko-KR" altLang="en-US"/>
          </a:p>
        </p:txBody>
      </p:sp>
      <p:sp>
        <p:nvSpPr>
          <p:cNvPr id="5" name="Shape 3"/>
          <p:cNvSpPr/>
          <p:nvPr/>
        </p:nvSpPr>
        <p:spPr>
          <a:xfrm>
            <a:off x="548640" y="1481328"/>
            <a:ext cx="3611880" cy="1097280"/>
          </a:xfrm>
          <a:prstGeom prst="roundRect">
            <a:avLst>
              <a:gd name="adj" fmla="val 5000"/>
            </a:avLst>
          </a:prstGeom>
          <a:solidFill>
            <a:srgbClr val="3D5A80"/>
          </a:solidFill>
          <a:ln/>
        </p:spPr>
        <p:txBody>
          <a:bodyPr/>
          <a:lstStyle/>
          <a:p>
            <a:endParaRPr lang="ko-KR" altLang="en-US"/>
          </a:p>
        </p:txBody>
      </p:sp>
      <p:sp>
        <p:nvSpPr>
          <p:cNvPr id="6" name="Shape 4"/>
          <p:cNvSpPr/>
          <p:nvPr/>
        </p:nvSpPr>
        <p:spPr>
          <a:xfrm>
            <a:off x="548640" y="2029968"/>
            <a:ext cx="3611880" cy="548640"/>
          </a:xfrm>
          <a:prstGeom prst="rect">
            <a:avLst/>
          </a:prstGeom>
          <a:solidFill>
            <a:srgbClr val="3D5A80"/>
          </a:solidFill>
          <a:ln/>
        </p:spPr>
        <p:txBody>
          <a:bodyPr/>
          <a:lstStyle/>
          <a:p>
            <a:endParaRPr lang="ko-KR" altLang="en-US"/>
          </a:p>
        </p:txBody>
      </p:sp>
      <p:sp>
        <p:nvSpPr>
          <p:cNvPr id="7" name="Text 5"/>
          <p:cNvSpPr txBox="1"/>
          <p:nvPr/>
        </p:nvSpPr>
        <p:spPr>
          <a:xfrm>
            <a:off x="777240" y="1600200"/>
            <a:ext cx="1097280" cy="41148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L1</a:t>
            </a:r>
            <a:endParaRPr lang="en-US" sz="1900" dirty="0"/>
          </a:p>
        </p:txBody>
      </p:sp>
      <p:sp>
        <p:nvSpPr>
          <p:cNvPr id="8" name="Text 6"/>
          <p:cNvSpPr txBox="1"/>
          <p:nvPr/>
        </p:nvSpPr>
        <p:spPr>
          <a:xfrm>
            <a:off x="2971800" y="1664208"/>
            <a:ext cx="960120" cy="320040"/>
          </a:xfrm>
          <a:prstGeom prst="rect">
            <a:avLst/>
          </a:prstGeom>
          <a:noFill/>
          <a:ln/>
        </p:spPr>
        <p:txBody>
          <a:bodyPr wrap="square" lIns="0" tIns="0" rIns="0" bIns="0" rtlCol="0" anchor="ctr"/>
          <a:lstStyle/>
          <a:p>
            <a:pPr marL="0" indent="0" algn="r">
              <a:buNone/>
            </a:pPr>
            <a:r>
              <a:rPr lang="en-US" sz="1200" b="1" dirty="0">
                <a:solidFill>
                  <a:srgbClr val="DCE6F0"/>
                </a:solidFill>
                <a:latin typeface="Calibri" pitchFamily="34" charset="0"/>
                <a:ea typeface="Calibri" pitchFamily="34" charset="-122"/>
                <a:cs typeface="Calibri" pitchFamily="34" charset="-120"/>
              </a:rPr>
              <a:t>4유형</a:t>
            </a:r>
            <a:endParaRPr lang="en-US" sz="1200" dirty="0"/>
          </a:p>
        </p:txBody>
      </p:sp>
      <p:sp>
        <p:nvSpPr>
          <p:cNvPr id="9" name="Text 7"/>
          <p:cNvSpPr txBox="1"/>
          <p:nvPr/>
        </p:nvSpPr>
        <p:spPr>
          <a:xfrm>
            <a:off x="777240" y="1984248"/>
            <a:ext cx="3154680" cy="347472"/>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훈련·테스트 분리 실패</a:t>
            </a:r>
            <a:endParaRPr lang="en-US" sz="1450" dirty="0"/>
          </a:p>
        </p:txBody>
      </p:sp>
      <p:sp>
        <p:nvSpPr>
          <p:cNvPr id="10" name="Text 8"/>
          <p:cNvSpPr txBox="1"/>
          <p:nvPr/>
        </p:nvSpPr>
        <p:spPr>
          <a:xfrm>
            <a:off x="777240" y="2304288"/>
            <a:ext cx="3154680" cy="256032"/>
          </a:xfrm>
          <a:prstGeom prst="rect">
            <a:avLst/>
          </a:prstGeom>
          <a:noFill/>
          <a:ln/>
        </p:spPr>
        <p:txBody>
          <a:bodyPr wrap="square" lIns="0" tIns="0" rIns="0" bIns="0" rtlCol="0" anchor="ctr"/>
          <a:lstStyle/>
          <a:p>
            <a:pPr marL="0" indent="0">
              <a:buNone/>
            </a:pPr>
            <a:r>
              <a:rPr lang="en-US" sz="1050" i="1" dirty="0">
                <a:solidFill>
                  <a:srgbClr val="E3ECF5"/>
                </a:solidFill>
                <a:latin typeface="Calibri" pitchFamily="34" charset="0"/>
                <a:ea typeface="Calibri" pitchFamily="34" charset="-122"/>
                <a:cs typeface="Calibri" pitchFamily="34" charset="-120"/>
              </a:rPr>
              <a:t>시험지에 답안이 섞인 경우</a:t>
            </a:r>
            <a:endParaRPr lang="en-US" sz="1050" dirty="0"/>
          </a:p>
        </p:txBody>
      </p:sp>
      <p:sp>
        <p:nvSpPr>
          <p:cNvPr id="11" name="Text 9"/>
          <p:cNvSpPr txBox="1"/>
          <p:nvPr/>
        </p:nvSpPr>
        <p:spPr>
          <a:xfrm>
            <a:off x="804672" y="2779776"/>
            <a:ext cx="3154680" cy="411480"/>
          </a:xfrm>
          <a:prstGeom prst="rect">
            <a:avLst/>
          </a:prstGeom>
          <a:noFill/>
          <a:ln/>
        </p:spPr>
        <p:txBody>
          <a:bodyPr wrap="square" lIns="0" tIns="0" rIns="0" bIns="0" rtlCol="0" anchor="ctr"/>
          <a:lstStyle/>
          <a:p>
            <a:pPr marL="0" indent="0">
              <a:buNone/>
            </a:pPr>
            <a:r>
              <a:rPr lang="en-US" sz="1200" dirty="0">
                <a:solidFill>
                  <a:srgbClr val="1D2433"/>
                </a:solidFill>
                <a:latin typeface="Calibri" pitchFamily="34" charset="0"/>
                <a:ea typeface="Calibri" pitchFamily="34" charset="-122"/>
                <a:cs typeface="Calibri" pitchFamily="34" charset="-120"/>
              </a:rPr>
              <a:t>L1.1  테스트셋 없음</a:t>
            </a:r>
            <a:endParaRPr lang="en-US" sz="1200" dirty="0"/>
          </a:p>
        </p:txBody>
      </p:sp>
      <p:sp>
        <p:nvSpPr>
          <p:cNvPr id="12" name="Text 10"/>
          <p:cNvSpPr txBox="1"/>
          <p:nvPr/>
        </p:nvSpPr>
        <p:spPr>
          <a:xfrm>
            <a:off x="804672" y="3291840"/>
            <a:ext cx="3154680" cy="411480"/>
          </a:xfrm>
          <a:prstGeom prst="rect">
            <a:avLst/>
          </a:prstGeom>
          <a:noFill/>
          <a:ln/>
        </p:spPr>
        <p:txBody>
          <a:bodyPr wrap="square" lIns="0" tIns="0" rIns="0" bIns="0" rtlCol="0" anchor="ctr"/>
          <a:lstStyle/>
          <a:p>
            <a:pPr marL="0" indent="0">
              <a:buNone/>
            </a:pPr>
            <a:r>
              <a:rPr lang="en-US" sz="1200" dirty="0">
                <a:solidFill>
                  <a:srgbClr val="1D2433"/>
                </a:solidFill>
                <a:latin typeface="Calibri" pitchFamily="34" charset="0"/>
                <a:ea typeface="Calibri" pitchFamily="34" charset="-122"/>
                <a:cs typeface="Calibri" pitchFamily="34" charset="-120"/>
              </a:rPr>
              <a:t>L1.2  분할 前 전처리(대치·표집)</a:t>
            </a:r>
            <a:endParaRPr lang="en-US" sz="1200" dirty="0"/>
          </a:p>
        </p:txBody>
      </p:sp>
      <p:sp>
        <p:nvSpPr>
          <p:cNvPr id="13" name="Text 11"/>
          <p:cNvSpPr txBox="1"/>
          <p:nvPr/>
        </p:nvSpPr>
        <p:spPr>
          <a:xfrm>
            <a:off x="804672" y="3803904"/>
            <a:ext cx="3154680" cy="411480"/>
          </a:xfrm>
          <a:prstGeom prst="rect">
            <a:avLst/>
          </a:prstGeom>
          <a:noFill/>
          <a:ln/>
        </p:spPr>
        <p:txBody>
          <a:bodyPr wrap="square" lIns="0" tIns="0" rIns="0" bIns="0" rtlCol="0" anchor="ctr"/>
          <a:lstStyle/>
          <a:p>
            <a:pPr marL="0" indent="0">
              <a:buNone/>
            </a:pPr>
            <a:r>
              <a:rPr lang="en-US" sz="1200" dirty="0">
                <a:solidFill>
                  <a:srgbClr val="1D2433"/>
                </a:solidFill>
                <a:latin typeface="Calibri" pitchFamily="34" charset="0"/>
                <a:ea typeface="Calibri" pitchFamily="34" charset="-122"/>
                <a:cs typeface="Calibri" pitchFamily="34" charset="-120"/>
              </a:rPr>
              <a:t>L1.3  분할 前 피처 선택</a:t>
            </a:r>
            <a:endParaRPr lang="en-US" sz="1200" dirty="0"/>
          </a:p>
        </p:txBody>
      </p:sp>
      <p:sp>
        <p:nvSpPr>
          <p:cNvPr id="14" name="Text 12"/>
          <p:cNvSpPr txBox="1"/>
          <p:nvPr/>
        </p:nvSpPr>
        <p:spPr>
          <a:xfrm>
            <a:off x="804672" y="4315968"/>
            <a:ext cx="3154680" cy="411480"/>
          </a:xfrm>
          <a:prstGeom prst="rect">
            <a:avLst/>
          </a:prstGeom>
          <a:noFill/>
          <a:ln/>
        </p:spPr>
        <p:txBody>
          <a:bodyPr wrap="square" lIns="0" tIns="0" rIns="0" bIns="0" rtlCol="0" anchor="ctr"/>
          <a:lstStyle/>
          <a:p>
            <a:pPr marL="0" indent="0">
              <a:buNone/>
            </a:pPr>
            <a:r>
              <a:rPr lang="en-US" sz="1200" dirty="0">
                <a:solidFill>
                  <a:srgbClr val="1D2433"/>
                </a:solidFill>
                <a:latin typeface="Calibri" pitchFamily="34" charset="0"/>
                <a:ea typeface="Calibri" pitchFamily="34" charset="-122"/>
                <a:cs typeface="Calibri" pitchFamily="34" charset="-120"/>
              </a:rPr>
              <a:t>L1.4  훈련·테스트 중복 샘플</a:t>
            </a:r>
            <a:endParaRPr lang="en-US" sz="1200" dirty="0"/>
          </a:p>
        </p:txBody>
      </p:sp>
      <p:sp>
        <p:nvSpPr>
          <p:cNvPr id="15" name="Shape 13"/>
          <p:cNvSpPr/>
          <p:nvPr/>
        </p:nvSpPr>
        <p:spPr>
          <a:xfrm>
            <a:off x="4279392" y="1481328"/>
            <a:ext cx="3611880" cy="4114800"/>
          </a:xfrm>
          <a:prstGeom prst="roundRect">
            <a:avLst>
              <a:gd name="adj" fmla="val 1519"/>
            </a:avLst>
          </a:prstGeom>
          <a:solidFill>
            <a:srgbClr val="F1F4F8"/>
          </a:solidFill>
          <a:ln/>
        </p:spPr>
        <p:txBody>
          <a:bodyPr/>
          <a:lstStyle/>
          <a:p>
            <a:endParaRPr lang="ko-KR" altLang="en-US"/>
          </a:p>
        </p:txBody>
      </p:sp>
      <p:sp>
        <p:nvSpPr>
          <p:cNvPr id="16" name="Shape 14"/>
          <p:cNvSpPr/>
          <p:nvPr/>
        </p:nvSpPr>
        <p:spPr>
          <a:xfrm>
            <a:off x="4279392" y="1481328"/>
            <a:ext cx="3611880" cy="1097280"/>
          </a:xfrm>
          <a:prstGeom prst="roundRect">
            <a:avLst>
              <a:gd name="adj" fmla="val 5000"/>
            </a:avLst>
          </a:prstGeom>
          <a:solidFill>
            <a:srgbClr val="3D5A80"/>
          </a:solidFill>
          <a:ln/>
        </p:spPr>
        <p:txBody>
          <a:bodyPr/>
          <a:lstStyle/>
          <a:p>
            <a:endParaRPr lang="ko-KR" altLang="en-US"/>
          </a:p>
        </p:txBody>
      </p:sp>
      <p:sp>
        <p:nvSpPr>
          <p:cNvPr id="17" name="Shape 15"/>
          <p:cNvSpPr/>
          <p:nvPr/>
        </p:nvSpPr>
        <p:spPr>
          <a:xfrm>
            <a:off x="4279392" y="2029968"/>
            <a:ext cx="3611880" cy="548640"/>
          </a:xfrm>
          <a:prstGeom prst="rect">
            <a:avLst/>
          </a:prstGeom>
          <a:solidFill>
            <a:srgbClr val="3D5A80"/>
          </a:solidFill>
          <a:ln/>
        </p:spPr>
        <p:txBody>
          <a:bodyPr/>
          <a:lstStyle/>
          <a:p>
            <a:endParaRPr lang="ko-KR" altLang="en-US"/>
          </a:p>
        </p:txBody>
      </p:sp>
      <p:sp>
        <p:nvSpPr>
          <p:cNvPr id="18" name="Text 16"/>
          <p:cNvSpPr txBox="1"/>
          <p:nvPr/>
        </p:nvSpPr>
        <p:spPr>
          <a:xfrm>
            <a:off x="4507992" y="1600200"/>
            <a:ext cx="1097280" cy="41148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L2</a:t>
            </a:r>
            <a:endParaRPr lang="en-US" sz="1900" dirty="0"/>
          </a:p>
        </p:txBody>
      </p:sp>
      <p:sp>
        <p:nvSpPr>
          <p:cNvPr id="19" name="Text 17"/>
          <p:cNvSpPr txBox="1"/>
          <p:nvPr/>
        </p:nvSpPr>
        <p:spPr>
          <a:xfrm>
            <a:off x="6702552" y="1664208"/>
            <a:ext cx="960120" cy="320040"/>
          </a:xfrm>
          <a:prstGeom prst="rect">
            <a:avLst/>
          </a:prstGeom>
          <a:noFill/>
          <a:ln/>
        </p:spPr>
        <p:txBody>
          <a:bodyPr wrap="square" lIns="0" tIns="0" rIns="0" bIns="0" rtlCol="0" anchor="ctr"/>
          <a:lstStyle/>
          <a:p>
            <a:pPr marL="0" indent="0" algn="r">
              <a:buNone/>
            </a:pPr>
            <a:r>
              <a:rPr lang="en-US" sz="1200" b="1" dirty="0">
                <a:solidFill>
                  <a:srgbClr val="DCE6F0"/>
                </a:solidFill>
                <a:latin typeface="Calibri" pitchFamily="34" charset="0"/>
                <a:ea typeface="Calibri" pitchFamily="34" charset="-122"/>
                <a:cs typeface="Calibri" pitchFamily="34" charset="-120"/>
              </a:rPr>
              <a:t>1유형</a:t>
            </a:r>
            <a:endParaRPr lang="en-US" sz="1200" dirty="0"/>
          </a:p>
        </p:txBody>
      </p:sp>
      <p:sp>
        <p:nvSpPr>
          <p:cNvPr id="20" name="Text 18"/>
          <p:cNvSpPr txBox="1"/>
          <p:nvPr/>
        </p:nvSpPr>
        <p:spPr>
          <a:xfrm>
            <a:off x="4507992" y="1984248"/>
            <a:ext cx="3154680" cy="347472"/>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부적절한 피처 사용</a:t>
            </a:r>
            <a:endParaRPr lang="en-US" sz="1450" dirty="0"/>
          </a:p>
        </p:txBody>
      </p:sp>
      <p:sp>
        <p:nvSpPr>
          <p:cNvPr id="21" name="Text 19"/>
          <p:cNvSpPr txBox="1"/>
          <p:nvPr/>
        </p:nvSpPr>
        <p:spPr>
          <a:xfrm>
            <a:off x="4507992" y="2304288"/>
            <a:ext cx="3154680" cy="256032"/>
          </a:xfrm>
          <a:prstGeom prst="rect">
            <a:avLst/>
          </a:prstGeom>
          <a:noFill/>
          <a:ln/>
        </p:spPr>
        <p:txBody>
          <a:bodyPr wrap="square" lIns="0" tIns="0" rIns="0" bIns="0" rtlCol="0" anchor="ctr"/>
          <a:lstStyle/>
          <a:p>
            <a:pPr marL="0" indent="0">
              <a:buNone/>
            </a:pPr>
            <a:r>
              <a:rPr lang="en-US" sz="1050" i="1" dirty="0">
                <a:solidFill>
                  <a:srgbClr val="E3ECF5"/>
                </a:solidFill>
                <a:latin typeface="Calibri" pitchFamily="34" charset="0"/>
                <a:ea typeface="Calibri" pitchFamily="34" charset="-122"/>
                <a:cs typeface="Calibri" pitchFamily="34" charset="-120"/>
              </a:rPr>
              <a:t>정답을 대신 알려주는 변수</a:t>
            </a:r>
            <a:endParaRPr lang="en-US" sz="1050" dirty="0"/>
          </a:p>
        </p:txBody>
      </p:sp>
      <p:sp>
        <p:nvSpPr>
          <p:cNvPr id="22" name="Text 20"/>
          <p:cNvSpPr txBox="1"/>
          <p:nvPr/>
        </p:nvSpPr>
        <p:spPr>
          <a:xfrm>
            <a:off x="4535424" y="2779776"/>
            <a:ext cx="3154680" cy="411480"/>
          </a:xfrm>
          <a:prstGeom prst="rect">
            <a:avLst/>
          </a:prstGeom>
          <a:noFill/>
          <a:ln/>
        </p:spPr>
        <p:txBody>
          <a:bodyPr wrap="square" lIns="0" tIns="0" rIns="0" bIns="0" rtlCol="0" anchor="ctr"/>
          <a:lstStyle/>
          <a:p>
            <a:pPr marL="0" indent="0">
              <a:buNone/>
            </a:pPr>
            <a:r>
              <a:rPr lang="en-US" sz="1200" dirty="0">
                <a:solidFill>
                  <a:srgbClr val="1D2433"/>
                </a:solidFill>
                <a:latin typeface="Calibri" pitchFamily="34" charset="0"/>
                <a:ea typeface="Calibri" pitchFamily="34" charset="-122"/>
                <a:cs typeface="Calibri" pitchFamily="34" charset="-120"/>
              </a:rPr>
              <a:t>예측 시점에 알 수 없는 정보</a:t>
            </a:r>
            <a:endParaRPr lang="en-US" sz="1200" dirty="0"/>
          </a:p>
        </p:txBody>
      </p:sp>
      <p:sp>
        <p:nvSpPr>
          <p:cNvPr id="23" name="Text 21"/>
          <p:cNvSpPr txBox="1"/>
          <p:nvPr/>
        </p:nvSpPr>
        <p:spPr>
          <a:xfrm>
            <a:off x="4535424" y="3291840"/>
            <a:ext cx="3154680" cy="411480"/>
          </a:xfrm>
          <a:prstGeom prst="rect">
            <a:avLst/>
          </a:prstGeom>
          <a:noFill/>
          <a:ln/>
        </p:spPr>
        <p:txBody>
          <a:bodyPr wrap="square" lIns="0" tIns="0" rIns="0" bIns="0" rtlCol="0" anchor="ctr"/>
          <a:lstStyle/>
          <a:p>
            <a:pPr marL="0" indent="0">
              <a:buNone/>
            </a:pPr>
            <a:r>
              <a:rPr lang="en-US" sz="1200" dirty="0">
                <a:solidFill>
                  <a:srgbClr val="1D2433"/>
                </a:solidFill>
                <a:latin typeface="Calibri" pitchFamily="34" charset="0"/>
                <a:ea typeface="Calibri" pitchFamily="34" charset="-122"/>
                <a:cs typeface="Calibri" pitchFamily="34" charset="-120"/>
              </a:rPr>
              <a:t>또는 결과의 ‘대리변수’를 투입</a:t>
            </a:r>
            <a:endParaRPr lang="en-US" sz="1200" dirty="0"/>
          </a:p>
        </p:txBody>
      </p:sp>
      <p:sp>
        <p:nvSpPr>
          <p:cNvPr id="24" name="Text 22"/>
          <p:cNvSpPr txBox="1"/>
          <p:nvPr/>
        </p:nvSpPr>
        <p:spPr>
          <a:xfrm>
            <a:off x="4535424" y="4005072"/>
            <a:ext cx="3154680" cy="411480"/>
          </a:xfrm>
          <a:prstGeom prst="rect">
            <a:avLst/>
          </a:prstGeom>
          <a:noFill/>
          <a:ln/>
        </p:spPr>
        <p:txBody>
          <a:bodyPr wrap="square" lIns="0" tIns="0" rIns="0" bIns="0" rtlCol="0" anchor="ctr"/>
          <a:lstStyle/>
          <a:p>
            <a:pPr marL="0" indent="0">
              <a:buNone/>
            </a:pPr>
            <a:r>
              <a:rPr lang="en-US" sz="1200" dirty="0">
                <a:solidFill>
                  <a:srgbClr val="1D2433"/>
                </a:solidFill>
                <a:latin typeface="Calibri" pitchFamily="34" charset="0"/>
                <a:ea typeface="Calibri" pitchFamily="34" charset="-122"/>
                <a:cs typeface="Calibri" pitchFamily="34" charset="-120"/>
              </a:rPr>
              <a:t>예) 고혈압 예측에 ‘항고혈압제’</a:t>
            </a:r>
            <a:endParaRPr lang="en-US" sz="1200" dirty="0"/>
          </a:p>
        </p:txBody>
      </p:sp>
      <p:sp>
        <p:nvSpPr>
          <p:cNvPr id="25" name="Text 23"/>
          <p:cNvSpPr txBox="1"/>
          <p:nvPr/>
        </p:nvSpPr>
        <p:spPr>
          <a:xfrm>
            <a:off x="4535424" y="4517136"/>
            <a:ext cx="3154680" cy="411480"/>
          </a:xfrm>
          <a:prstGeom prst="rect">
            <a:avLst/>
          </a:prstGeom>
          <a:noFill/>
          <a:ln/>
        </p:spPr>
        <p:txBody>
          <a:bodyPr wrap="square" lIns="0" tIns="0" rIns="0" bIns="0" rtlCol="0" anchor="ctr"/>
          <a:lstStyle/>
          <a:p>
            <a:pPr marL="0" indent="0">
              <a:buNone/>
            </a:pPr>
            <a:r>
              <a:rPr lang="en-US" sz="1200" dirty="0">
                <a:solidFill>
                  <a:srgbClr val="1D2433"/>
                </a:solidFill>
                <a:latin typeface="Calibri" pitchFamily="34" charset="0"/>
                <a:ea typeface="Calibri" pitchFamily="34" charset="-122"/>
                <a:cs typeface="Calibri" pitchFamily="34" charset="-120"/>
              </a:rPr>
              <a:t>→ 사실상 정답을 알려주는 변수</a:t>
            </a:r>
            <a:endParaRPr lang="en-US" sz="1200" dirty="0"/>
          </a:p>
        </p:txBody>
      </p:sp>
      <p:sp>
        <p:nvSpPr>
          <p:cNvPr id="26" name="Shape 24"/>
          <p:cNvSpPr/>
          <p:nvPr/>
        </p:nvSpPr>
        <p:spPr>
          <a:xfrm>
            <a:off x="8010144" y="1481328"/>
            <a:ext cx="3611880" cy="4114800"/>
          </a:xfrm>
          <a:prstGeom prst="roundRect">
            <a:avLst>
              <a:gd name="adj" fmla="val 1519"/>
            </a:avLst>
          </a:prstGeom>
          <a:solidFill>
            <a:srgbClr val="F1F4F8"/>
          </a:solidFill>
          <a:ln/>
        </p:spPr>
        <p:txBody>
          <a:bodyPr/>
          <a:lstStyle/>
          <a:p>
            <a:endParaRPr lang="ko-KR" altLang="en-US"/>
          </a:p>
        </p:txBody>
      </p:sp>
      <p:sp>
        <p:nvSpPr>
          <p:cNvPr id="27" name="Shape 25"/>
          <p:cNvSpPr/>
          <p:nvPr/>
        </p:nvSpPr>
        <p:spPr>
          <a:xfrm>
            <a:off x="8010144" y="1481328"/>
            <a:ext cx="3611880" cy="1097280"/>
          </a:xfrm>
          <a:prstGeom prst="roundRect">
            <a:avLst>
              <a:gd name="adj" fmla="val 5000"/>
            </a:avLst>
          </a:prstGeom>
          <a:solidFill>
            <a:srgbClr val="E63946"/>
          </a:solidFill>
          <a:ln/>
        </p:spPr>
        <p:txBody>
          <a:bodyPr/>
          <a:lstStyle/>
          <a:p>
            <a:endParaRPr lang="ko-KR" altLang="en-US"/>
          </a:p>
        </p:txBody>
      </p:sp>
      <p:sp>
        <p:nvSpPr>
          <p:cNvPr id="28" name="Shape 26"/>
          <p:cNvSpPr/>
          <p:nvPr/>
        </p:nvSpPr>
        <p:spPr>
          <a:xfrm>
            <a:off x="8010144" y="2029968"/>
            <a:ext cx="3611880" cy="548640"/>
          </a:xfrm>
          <a:prstGeom prst="rect">
            <a:avLst/>
          </a:prstGeom>
          <a:solidFill>
            <a:srgbClr val="E63946"/>
          </a:solidFill>
          <a:ln/>
        </p:spPr>
        <p:txBody>
          <a:bodyPr/>
          <a:lstStyle/>
          <a:p>
            <a:endParaRPr lang="ko-KR" altLang="en-US"/>
          </a:p>
        </p:txBody>
      </p:sp>
      <p:sp>
        <p:nvSpPr>
          <p:cNvPr id="29" name="Text 27"/>
          <p:cNvSpPr txBox="1"/>
          <p:nvPr/>
        </p:nvSpPr>
        <p:spPr>
          <a:xfrm>
            <a:off x="8238744" y="1600200"/>
            <a:ext cx="1097280" cy="41148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L3</a:t>
            </a:r>
            <a:endParaRPr lang="en-US" sz="1900" dirty="0"/>
          </a:p>
        </p:txBody>
      </p:sp>
      <p:sp>
        <p:nvSpPr>
          <p:cNvPr id="30" name="Text 28"/>
          <p:cNvSpPr txBox="1"/>
          <p:nvPr/>
        </p:nvSpPr>
        <p:spPr>
          <a:xfrm>
            <a:off x="10433304" y="1664208"/>
            <a:ext cx="960120" cy="320040"/>
          </a:xfrm>
          <a:prstGeom prst="rect">
            <a:avLst/>
          </a:prstGeom>
          <a:noFill/>
          <a:ln/>
        </p:spPr>
        <p:txBody>
          <a:bodyPr wrap="square" lIns="0" tIns="0" rIns="0" bIns="0" rtlCol="0" anchor="ctr"/>
          <a:lstStyle/>
          <a:p>
            <a:pPr marL="0" indent="0" algn="r">
              <a:buNone/>
            </a:pPr>
            <a:r>
              <a:rPr lang="en-US" sz="1200" b="1" dirty="0">
                <a:solidFill>
                  <a:srgbClr val="DCE6F0"/>
                </a:solidFill>
                <a:latin typeface="Calibri" pitchFamily="34" charset="0"/>
                <a:ea typeface="Calibri" pitchFamily="34" charset="-122"/>
                <a:cs typeface="Calibri" pitchFamily="34" charset="-120"/>
              </a:rPr>
              <a:t>3유형</a:t>
            </a:r>
            <a:endParaRPr lang="en-US" sz="1200" dirty="0"/>
          </a:p>
        </p:txBody>
      </p:sp>
      <p:sp>
        <p:nvSpPr>
          <p:cNvPr id="31" name="Text 29"/>
          <p:cNvSpPr txBox="1"/>
          <p:nvPr/>
        </p:nvSpPr>
        <p:spPr>
          <a:xfrm>
            <a:off x="8238744" y="1984248"/>
            <a:ext cx="3154680" cy="347472"/>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테스트셋 ≠ 관심 분포</a:t>
            </a:r>
            <a:endParaRPr lang="en-US" sz="1450" dirty="0"/>
          </a:p>
        </p:txBody>
      </p:sp>
      <p:sp>
        <p:nvSpPr>
          <p:cNvPr id="32" name="Text 30"/>
          <p:cNvSpPr txBox="1"/>
          <p:nvPr/>
        </p:nvSpPr>
        <p:spPr>
          <a:xfrm>
            <a:off x="8238744" y="2304288"/>
            <a:ext cx="3154680" cy="256032"/>
          </a:xfrm>
          <a:prstGeom prst="rect">
            <a:avLst/>
          </a:prstGeom>
          <a:noFill/>
          <a:ln/>
        </p:spPr>
        <p:txBody>
          <a:bodyPr wrap="square" lIns="0" tIns="0" rIns="0" bIns="0" rtlCol="0" anchor="ctr"/>
          <a:lstStyle/>
          <a:p>
            <a:pPr marL="0" indent="0">
              <a:buNone/>
            </a:pPr>
            <a:r>
              <a:rPr lang="en-US" sz="1050" i="1" dirty="0">
                <a:solidFill>
                  <a:srgbClr val="E3ECF5"/>
                </a:solidFill>
                <a:latin typeface="Calibri" pitchFamily="34" charset="0"/>
                <a:ea typeface="Calibri" pitchFamily="34" charset="-122"/>
                <a:cs typeface="Calibri" pitchFamily="34" charset="-120"/>
              </a:rPr>
              <a:t>엉뚱한 대상으로 시험</a:t>
            </a:r>
            <a:endParaRPr lang="en-US" sz="1050" dirty="0"/>
          </a:p>
        </p:txBody>
      </p:sp>
      <p:sp>
        <p:nvSpPr>
          <p:cNvPr id="33" name="Shape 31"/>
          <p:cNvSpPr/>
          <p:nvPr/>
        </p:nvSpPr>
        <p:spPr>
          <a:xfrm>
            <a:off x="8156448" y="2724912"/>
            <a:ext cx="3319272" cy="512064"/>
          </a:xfrm>
          <a:prstGeom prst="roundRect">
            <a:avLst>
              <a:gd name="adj" fmla="val 7143"/>
            </a:avLst>
          </a:prstGeom>
          <a:solidFill>
            <a:srgbClr val="E63946"/>
          </a:solidFill>
          <a:ln/>
        </p:spPr>
        <p:txBody>
          <a:bodyPr/>
          <a:lstStyle/>
          <a:p>
            <a:endParaRPr lang="ko-KR" altLang="en-US"/>
          </a:p>
        </p:txBody>
      </p:sp>
      <p:sp>
        <p:nvSpPr>
          <p:cNvPr id="34" name="Text 32"/>
          <p:cNvSpPr txBox="1"/>
          <p:nvPr/>
        </p:nvSpPr>
        <p:spPr>
          <a:xfrm>
            <a:off x="8266176" y="2779776"/>
            <a:ext cx="315468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L3.1  시점 </a:t>
            </a:r>
            <a:r>
              <a:rPr lang="en-US" sz="1200" b="1" dirty="0" err="1">
                <a:solidFill>
                  <a:srgbClr val="FFFFFF"/>
                </a:solidFill>
                <a:latin typeface="Calibri" pitchFamily="34" charset="0"/>
                <a:ea typeface="Calibri" pitchFamily="34" charset="-122"/>
                <a:cs typeface="Calibri" pitchFamily="34" charset="-120"/>
              </a:rPr>
              <a:t>누출</a:t>
            </a:r>
            <a:r>
              <a:rPr lang="en-US" sz="1200" b="1" dirty="0">
                <a:solidFill>
                  <a:srgbClr val="FFFFFF"/>
                </a:solidFill>
                <a:latin typeface="Calibri" pitchFamily="34" charset="0"/>
                <a:ea typeface="Calibri" pitchFamily="34" charset="-122"/>
                <a:cs typeface="Calibri" pitchFamily="34" charset="-120"/>
              </a:rPr>
              <a:t>  ←</a:t>
            </a:r>
            <a:r>
              <a:rPr lang="en-US" altLang="ko-KR" sz="1200" b="1" dirty="0">
                <a:solidFill>
                  <a:srgbClr val="FFFFFF"/>
                </a:solidFill>
                <a:latin typeface="Calibri" pitchFamily="34" charset="0"/>
                <a:ea typeface="Calibri" pitchFamily="34" charset="-122"/>
                <a:cs typeface="Calibri" pitchFamily="34" charset="-120"/>
              </a:rPr>
              <a:t>0:07</a:t>
            </a:r>
            <a:r>
              <a:rPr lang="ko-KR" altLang="en-US" sz="1200" b="1" dirty="0">
                <a:solidFill>
                  <a:srgbClr val="FFFFFF"/>
                </a:solidFill>
                <a:latin typeface="Calibri" pitchFamily="34" charset="0"/>
                <a:ea typeface="Calibri" pitchFamily="34" charset="-122"/>
                <a:cs typeface="Calibri" pitchFamily="34" charset="-120"/>
              </a:rPr>
              <a:t> 팀</a:t>
            </a:r>
            <a:r>
              <a:rPr lang="en-US" sz="1200" b="1" dirty="0">
                <a:solidFill>
                  <a:srgbClr val="FFFFFF"/>
                </a:solidFill>
                <a:latin typeface="Calibri" pitchFamily="34" charset="0"/>
                <a:ea typeface="Calibri" pitchFamily="34" charset="-122"/>
                <a:cs typeface="Calibri" pitchFamily="34" charset="-120"/>
              </a:rPr>
              <a:t> 주제</a:t>
            </a:r>
            <a:endParaRPr lang="en-US" sz="1200" dirty="0"/>
          </a:p>
        </p:txBody>
      </p:sp>
      <p:sp>
        <p:nvSpPr>
          <p:cNvPr id="35" name="Text 33"/>
          <p:cNvSpPr txBox="1"/>
          <p:nvPr/>
        </p:nvSpPr>
        <p:spPr>
          <a:xfrm>
            <a:off x="8266176" y="3346704"/>
            <a:ext cx="3154680" cy="411480"/>
          </a:xfrm>
          <a:prstGeom prst="rect">
            <a:avLst/>
          </a:prstGeom>
          <a:noFill/>
          <a:ln/>
        </p:spPr>
        <p:txBody>
          <a:bodyPr wrap="square" lIns="0" tIns="0" rIns="0" bIns="0" rtlCol="0" anchor="ctr"/>
          <a:lstStyle/>
          <a:p>
            <a:pPr marL="0" indent="0">
              <a:buNone/>
            </a:pPr>
            <a:r>
              <a:rPr lang="en-US" sz="1200" dirty="0">
                <a:solidFill>
                  <a:srgbClr val="1D2433"/>
                </a:solidFill>
                <a:latin typeface="Calibri" pitchFamily="34" charset="0"/>
                <a:ea typeface="Calibri" pitchFamily="34" charset="-122"/>
                <a:cs typeface="Calibri" pitchFamily="34" charset="-120"/>
              </a:rPr>
              <a:t>L3.2  훈련·테스트 비독립</a:t>
            </a:r>
            <a:endParaRPr lang="en-US" sz="1200" dirty="0"/>
          </a:p>
        </p:txBody>
      </p:sp>
      <p:sp>
        <p:nvSpPr>
          <p:cNvPr id="36" name="Text 34"/>
          <p:cNvSpPr txBox="1"/>
          <p:nvPr/>
        </p:nvSpPr>
        <p:spPr>
          <a:xfrm>
            <a:off x="8266176" y="3858768"/>
            <a:ext cx="3154680" cy="411480"/>
          </a:xfrm>
          <a:prstGeom prst="rect">
            <a:avLst/>
          </a:prstGeom>
          <a:noFill/>
          <a:ln/>
        </p:spPr>
        <p:txBody>
          <a:bodyPr wrap="square" lIns="0" tIns="0" rIns="0" bIns="0" rtlCol="0" anchor="ctr"/>
          <a:lstStyle/>
          <a:p>
            <a:pPr marL="0" indent="0">
              <a:buNone/>
            </a:pPr>
            <a:r>
              <a:rPr lang="en-US" sz="1200" dirty="0">
                <a:solidFill>
                  <a:srgbClr val="1D2433"/>
                </a:solidFill>
                <a:latin typeface="Calibri" pitchFamily="34" charset="0"/>
                <a:ea typeface="Calibri" pitchFamily="34" charset="-122"/>
                <a:cs typeface="Calibri" pitchFamily="34" charset="-120"/>
              </a:rPr>
              <a:t>L3.3  테스트 표본 편향</a:t>
            </a:r>
            <a:endParaRPr lang="en-US" sz="1200" dirty="0"/>
          </a:p>
        </p:txBody>
      </p:sp>
      <p:sp>
        <p:nvSpPr>
          <p:cNvPr id="37" name="Shape 35"/>
          <p:cNvSpPr/>
          <p:nvPr/>
        </p:nvSpPr>
        <p:spPr>
          <a:xfrm>
            <a:off x="548640" y="5742432"/>
            <a:ext cx="11064240" cy="777240"/>
          </a:xfrm>
          <a:prstGeom prst="roundRect">
            <a:avLst>
              <a:gd name="adj" fmla="val 5882"/>
            </a:avLst>
          </a:prstGeom>
          <a:solidFill>
            <a:srgbClr val="EAEFF5"/>
          </a:solidFill>
          <a:ln/>
        </p:spPr>
        <p:txBody>
          <a:bodyPr/>
          <a:lstStyle/>
          <a:p>
            <a:endParaRPr lang="ko-KR" altLang="en-US"/>
          </a:p>
        </p:txBody>
      </p:sp>
      <p:sp>
        <p:nvSpPr>
          <p:cNvPr id="38" name="Text 36"/>
          <p:cNvSpPr txBox="1"/>
          <p:nvPr/>
        </p:nvSpPr>
        <p:spPr>
          <a:xfrm>
            <a:off x="822960" y="5742432"/>
            <a:ext cx="10515600" cy="777240"/>
          </a:xfrm>
          <a:prstGeom prst="rect">
            <a:avLst/>
          </a:prstGeom>
          <a:noFill/>
          <a:ln/>
        </p:spPr>
        <p:txBody>
          <a:bodyPr wrap="square" lIns="0" tIns="0" rIns="0" bIns="0" rtlCol="0" anchor="ctr"/>
          <a:lstStyle/>
          <a:p>
            <a:pPr marL="0" indent="0">
              <a:lnSpc>
                <a:spcPct val="110000"/>
              </a:lnSpc>
              <a:buNone/>
            </a:pPr>
            <a:r>
              <a:rPr lang="en-US" sz="1300" b="1" dirty="0">
                <a:solidFill>
                  <a:srgbClr val="3D5A80"/>
                </a:solidFill>
                <a:latin typeface="Calibri" pitchFamily="34" charset="0"/>
                <a:ea typeface="Calibri" pitchFamily="34" charset="-122"/>
                <a:cs typeface="Calibri" pitchFamily="34" charset="-120"/>
              </a:rPr>
              <a:t>왜 중요한가  </a:t>
            </a:r>
            <a:r>
              <a:rPr lang="en-US" sz="1300" dirty="0">
                <a:solidFill>
                  <a:srgbClr val="1D2433"/>
                </a:solidFill>
                <a:latin typeface="Calibri" pitchFamily="34" charset="0"/>
                <a:ea typeface="Calibri" pitchFamily="34" charset="-122"/>
                <a:cs typeface="Calibri" pitchFamily="34" charset="-120"/>
              </a:rPr>
              <a:t>이 8칸이 조사에서 나온 </a:t>
            </a:r>
            <a:r>
              <a:rPr lang="en-US" sz="1300" b="1" dirty="0">
                <a:solidFill>
                  <a:srgbClr val="E63946"/>
                </a:solidFill>
                <a:latin typeface="Calibri" pitchFamily="34" charset="0"/>
                <a:ea typeface="Calibri" pitchFamily="34" charset="-122"/>
                <a:cs typeface="Calibri" pitchFamily="34" charset="-120"/>
              </a:rPr>
              <a:t>모든</a:t>
            </a:r>
            <a:r>
              <a:rPr lang="en-US" sz="1300" dirty="0">
                <a:solidFill>
                  <a:srgbClr val="1D2433"/>
                </a:solidFill>
                <a:latin typeface="Calibri" pitchFamily="34" charset="0"/>
                <a:ea typeface="Calibri" pitchFamily="34" charset="-122"/>
                <a:cs typeface="Calibri" pitchFamily="34" charset="-120"/>
              </a:rPr>
              <a:t> 누출 사례를 포괄합니다. 기존 분류가 누출로 보지 않던 ‘표집 편향(L3.3)’까지, 원인(허위 상관)과 결과(성능 과대추정)가 같아 </a:t>
            </a:r>
            <a:r>
              <a:rPr lang="en-US" sz="1300" dirty="0" err="1">
                <a:solidFill>
                  <a:srgbClr val="1D2433"/>
                </a:solidFill>
                <a:latin typeface="Calibri" pitchFamily="34" charset="0"/>
                <a:ea typeface="Calibri" pitchFamily="34" charset="-122"/>
                <a:cs typeface="Calibri" pitchFamily="34" charset="-120"/>
              </a:rPr>
              <a:t>함께</a:t>
            </a:r>
            <a:r>
              <a:rPr lang="en-US" sz="1300" dirty="0">
                <a:solidFill>
                  <a:srgbClr val="1D2433"/>
                </a:solidFill>
                <a:latin typeface="Calibri" pitchFamily="34" charset="0"/>
                <a:ea typeface="Calibri" pitchFamily="34" charset="-122"/>
                <a:cs typeface="Calibri" pitchFamily="34" charset="-120"/>
              </a:rPr>
              <a:t> </a:t>
            </a:r>
            <a:r>
              <a:rPr lang="ko-KR" altLang="en-US" sz="1300" dirty="0">
                <a:solidFill>
                  <a:srgbClr val="1D2433"/>
                </a:solidFill>
                <a:latin typeface="Calibri" pitchFamily="34" charset="0"/>
                <a:ea typeface="Calibri" pitchFamily="34" charset="-122"/>
                <a:cs typeface="Calibri" pitchFamily="34" charset="-120"/>
              </a:rPr>
              <a:t>고려</a:t>
            </a:r>
            <a:r>
              <a:rPr lang="en-US" altLang="ko-KR" sz="1300" dirty="0">
                <a:solidFill>
                  <a:srgbClr val="1D2433"/>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rtlCol="0" anchor="ctr"/>
          <a:lstStyle/>
          <a:p>
            <a:pPr marL="0" indent="0">
              <a:buNone/>
            </a:pPr>
            <a:r>
              <a:rPr lang="en-US" sz="1250" b="1" kern="0" spc="200" dirty="0">
                <a:solidFill>
                  <a:srgbClr val="E63946"/>
                </a:solidFill>
                <a:latin typeface="Calibri" pitchFamily="34" charset="0"/>
                <a:ea typeface="Calibri" pitchFamily="34" charset="-122"/>
                <a:cs typeface="Calibri" pitchFamily="34" charset="-120"/>
              </a:rPr>
              <a:t>작동 장치 (1/2) · L3.1 시점 누출 — 00:7 주제</a:t>
            </a:r>
            <a:endParaRPr lang="en-US" sz="1250" dirty="0"/>
          </a:p>
        </p:txBody>
      </p:sp>
      <p:sp>
        <p:nvSpPr>
          <p:cNvPr id="3" name="Text 1"/>
          <p:cNvSpPr txBox="1"/>
          <p:nvPr/>
        </p:nvSpPr>
        <p:spPr>
          <a:xfrm>
            <a:off x="548640" y="621792"/>
            <a:ext cx="11064240" cy="658368"/>
          </a:xfrm>
          <a:prstGeom prst="rect">
            <a:avLst/>
          </a:prstGeom>
          <a:noFill/>
          <a:ln/>
        </p:spPr>
        <p:txBody>
          <a:bodyPr wrap="square" rtlCol="0" anchor="ctr"/>
          <a:lstStyle/>
          <a:p>
            <a:pPr marL="0" indent="0">
              <a:buNone/>
            </a:pPr>
            <a:r>
              <a:rPr lang="en-US" sz="2800" b="1" dirty="0">
                <a:solidFill>
                  <a:srgbClr val="1D2433"/>
                </a:solidFill>
                <a:latin typeface="Cambria" pitchFamily="34" charset="0"/>
                <a:ea typeface="Cambria" pitchFamily="34" charset="-122"/>
                <a:cs typeface="Cambria" pitchFamily="34" charset="-120"/>
              </a:rPr>
              <a:t>미래를 예측한다면서, 미래를 훔쳐본 것</a:t>
            </a:r>
            <a:endParaRPr lang="en-US" sz="2800" dirty="0"/>
          </a:p>
        </p:txBody>
      </p:sp>
      <p:sp>
        <p:nvSpPr>
          <p:cNvPr id="4" name="Shape 2"/>
          <p:cNvSpPr/>
          <p:nvPr/>
        </p:nvSpPr>
        <p:spPr>
          <a:xfrm>
            <a:off x="548640" y="1371600"/>
            <a:ext cx="6903720" cy="1417320"/>
          </a:xfrm>
          <a:prstGeom prst="roundRect">
            <a:avLst>
              <a:gd name="adj" fmla="val 3226"/>
            </a:avLst>
          </a:prstGeom>
          <a:solidFill>
            <a:srgbClr val="EAEFF5"/>
          </a:solidFill>
          <a:ln/>
        </p:spPr>
        <p:txBody>
          <a:bodyPr/>
          <a:lstStyle/>
          <a:p>
            <a:endParaRPr lang="ko-KR" altLang="en-US"/>
          </a:p>
        </p:txBody>
      </p:sp>
      <p:sp>
        <p:nvSpPr>
          <p:cNvPr id="5" name="Text 3"/>
          <p:cNvSpPr txBox="1"/>
          <p:nvPr/>
        </p:nvSpPr>
        <p:spPr>
          <a:xfrm>
            <a:off x="658368" y="1389888"/>
            <a:ext cx="548640" cy="548640"/>
          </a:xfrm>
          <a:prstGeom prst="rect">
            <a:avLst/>
          </a:prstGeom>
          <a:noFill/>
          <a:ln/>
        </p:spPr>
        <p:txBody>
          <a:bodyPr wrap="square" lIns="0" tIns="0" rIns="0" bIns="0" rtlCol="0" anchor="ctr"/>
          <a:lstStyle/>
          <a:p>
            <a:pPr marL="0" indent="0">
              <a:buNone/>
            </a:pPr>
            <a:r>
              <a:rPr lang="en-US" sz="4000" b="1" dirty="0">
                <a:solidFill>
                  <a:srgbClr val="98C1D9"/>
                </a:solidFill>
                <a:latin typeface="Cambria" pitchFamily="34" charset="0"/>
                <a:ea typeface="Cambria" pitchFamily="34" charset="-122"/>
                <a:cs typeface="Cambria" pitchFamily="34" charset="-120"/>
              </a:rPr>
              <a:t>“</a:t>
            </a:r>
            <a:endParaRPr lang="en-US" sz="4000" dirty="0"/>
          </a:p>
        </p:txBody>
      </p:sp>
      <p:sp>
        <p:nvSpPr>
          <p:cNvPr id="6" name="Text 4"/>
          <p:cNvSpPr txBox="1"/>
          <p:nvPr/>
        </p:nvSpPr>
        <p:spPr>
          <a:xfrm>
            <a:off x="1207008" y="1499616"/>
            <a:ext cx="5989320" cy="566928"/>
          </a:xfrm>
          <a:prstGeom prst="rect">
            <a:avLst/>
          </a:prstGeom>
          <a:noFill/>
          <a:ln/>
        </p:spPr>
        <p:txBody>
          <a:bodyPr wrap="square" lIns="0" tIns="0" rIns="0" bIns="0" rtlCol="0" anchor="ctr"/>
          <a:lstStyle/>
          <a:p>
            <a:pPr marL="0" indent="0">
              <a:lnSpc>
                <a:spcPct val="105000"/>
              </a:lnSpc>
              <a:buNone/>
            </a:pPr>
            <a:r>
              <a:rPr lang="en-US" sz="1150" i="1" dirty="0">
                <a:solidFill>
                  <a:srgbClr val="3D5A80"/>
                </a:solidFill>
                <a:latin typeface="Calibri" pitchFamily="34" charset="0"/>
                <a:ea typeface="Calibri" pitchFamily="34" charset="-122"/>
                <a:cs typeface="Calibri" pitchFamily="34" charset="-120"/>
              </a:rPr>
              <a:t>“When an ML model is used to make predictions about a future outcome of interest, the test set should not contain any data from a date before the training set.”</a:t>
            </a:r>
            <a:endParaRPr lang="en-US" sz="1150" dirty="0"/>
          </a:p>
        </p:txBody>
      </p:sp>
      <p:sp>
        <p:nvSpPr>
          <p:cNvPr id="7" name="Text 5"/>
          <p:cNvSpPr txBox="1"/>
          <p:nvPr/>
        </p:nvSpPr>
        <p:spPr>
          <a:xfrm>
            <a:off x="1207008" y="2048256"/>
            <a:ext cx="5989320" cy="457200"/>
          </a:xfrm>
          <a:prstGeom prst="rect">
            <a:avLst/>
          </a:prstGeom>
          <a:noFill/>
          <a:ln/>
        </p:spPr>
        <p:txBody>
          <a:bodyPr wrap="square" lIns="0" tIns="0" rIns="0" bIns="0" rtlCol="0" anchor="ctr"/>
          <a:lstStyle/>
          <a:p>
            <a:pPr marL="0" indent="0">
              <a:lnSpc>
                <a:spcPct val="110000"/>
              </a:lnSpc>
              <a:buNone/>
            </a:pPr>
            <a:r>
              <a:rPr lang="en-US" sz="1400" b="1" dirty="0">
                <a:solidFill>
                  <a:srgbClr val="1D2433"/>
                </a:solidFill>
                <a:latin typeface="Calibri" pitchFamily="34" charset="0"/>
                <a:ea typeface="Calibri" pitchFamily="34" charset="-122"/>
                <a:cs typeface="Calibri" pitchFamily="34" charset="-120"/>
              </a:rPr>
              <a:t>“미래의 결과를 예측하는 데 ML 모델을 쓴다면, 테스트셋에는 학습셋보다 이전 날짜의 데이터가 전혀 들어 있어서는 안 된다.”</a:t>
            </a:r>
            <a:endParaRPr lang="en-US" sz="1400" dirty="0"/>
          </a:p>
        </p:txBody>
      </p:sp>
      <p:sp>
        <p:nvSpPr>
          <p:cNvPr id="8" name="Text 6"/>
          <p:cNvSpPr txBox="1"/>
          <p:nvPr/>
        </p:nvSpPr>
        <p:spPr>
          <a:xfrm>
            <a:off x="4434840" y="2478024"/>
            <a:ext cx="2834640" cy="256032"/>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 L3.1 시점 누출 정의</a:t>
            </a:r>
            <a:endParaRPr lang="en-US" sz="950" dirty="0"/>
          </a:p>
        </p:txBody>
      </p:sp>
      <p:sp>
        <p:nvSpPr>
          <p:cNvPr id="9" name="Shape 7"/>
          <p:cNvSpPr/>
          <p:nvPr/>
        </p:nvSpPr>
        <p:spPr>
          <a:xfrm>
            <a:off x="7680960" y="1371600"/>
            <a:ext cx="3931920" cy="1417320"/>
          </a:xfrm>
          <a:prstGeom prst="roundRect">
            <a:avLst>
              <a:gd name="adj" fmla="val 3226"/>
            </a:avLst>
          </a:prstGeom>
          <a:solidFill>
            <a:srgbClr val="FCEBEC"/>
          </a:solidFill>
          <a:ln/>
        </p:spPr>
        <p:txBody>
          <a:bodyPr/>
          <a:lstStyle/>
          <a:p>
            <a:endParaRPr lang="ko-KR" altLang="en-US"/>
          </a:p>
        </p:txBody>
      </p:sp>
      <p:sp>
        <p:nvSpPr>
          <p:cNvPr id="10" name="Text 8"/>
          <p:cNvSpPr txBox="1"/>
          <p:nvPr/>
        </p:nvSpPr>
        <p:spPr>
          <a:xfrm>
            <a:off x="7909560" y="1481328"/>
            <a:ext cx="3520440" cy="292608"/>
          </a:xfrm>
          <a:prstGeom prst="rect">
            <a:avLst/>
          </a:prstGeom>
          <a:noFill/>
          <a:ln/>
        </p:spPr>
        <p:txBody>
          <a:bodyPr wrap="square" lIns="0" tIns="0" rIns="0" bIns="0" rtlCol="0" anchor="ctr"/>
          <a:lstStyle/>
          <a:p>
            <a:pPr marL="0" indent="0">
              <a:buNone/>
            </a:pPr>
            <a:r>
              <a:rPr lang="en-US" sz="1350" b="1" dirty="0">
                <a:solidFill>
                  <a:srgbClr val="E63946"/>
                </a:solidFill>
                <a:latin typeface="Cambria" pitchFamily="34" charset="0"/>
                <a:ea typeface="Cambria" pitchFamily="34" charset="-122"/>
                <a:cs typeface="Cambria" pitchFamily="34" charset="-120"/>
              </a:rPr>
              <a:t>논문 속 실제 사례 — Wang</a:t>
            </a:r>
            <a:endParaRPr lang="en-US" sz="1350" dirty="0"/>
          </a:p>
        </p:txBody>
      </p:sp>
      <p:sp>
        <p:nvSpPr>
          <p:cNvPr id="11" name="Text 9"/>
          <p:cNvSpPr txBox="1"/>
          <p:nvPr/>
        </p:nvSpPr>
        <p:spPr>
          <a:xfrm>
            <a:off x="7909560" y="1810512"/>
            <a:ext cx="3520440" cy="914400"/>
          </a:xfrm>
          <a:prstGeom prst="rect">
            <a:avLst/>
          </a:prstGeom>
          <a:noFill/>
          <a:ln/>
        </p:spPr>
        <p:txBody>
          <a:bodyPr wrap="square" lIns="0" tIns="0" rIns="0" bIns="0" rtlCol="0" anchor="t"/>
          <a:lstStyle/>
          <a:p>
            <a:pPr marL="0" indent="0">
              <a:lnSpc>
                <a:spcPct val="110000"/>
              </a:lnSpc>
              <a:buNone/>
            </a:pPr>
            <a:r>
              <a:rPr lang="en-US" sz="1200" dirty="0">
                <a:solidFill>
                  <a:srgbClr val="1D2433"/>
                </a:solidFill>
                <a:latin typeface="Calibri" pitchFamily="34" charset="0"/>
                <a:ea typeface="Calibri" pitchFamily="34" charset="-122"/>
                <a:cs typeface="Calibri" pitchFamily="34" charset="-120"/>
              </a:rPr>
              <a:t>시계열 데이터에 훈련·테스트 분할 대신 </a:t>
            </a:r>
            <a:r>
              <a:rPr lang="en-US" sz="1200" b="1" dirty="0">
                <a:solidFill>
                  <a:srgbClr val="E63946"/>
                </a:solidFill>
                <a:latin typeface="Calibri" pitchFamily="34" charset="0"/>
                <a:ea typeface="Calibri" pitchFamily="34" charset="-122"/>
                <a:cs typeface="Calibri" pitchFamily="34" charset="-120"/>
              </a:rPr>
              <a:t>k-겹 교차검증</a:t>
            </a:r>
            <a:r>
              <a:rPr lang="en-US" sz="1200" dirty="0">
                <a:solidFill>
                  <a:srgbClr val="1D2433"/>
                </a:solidFill>
                <a:latin typeface="Calibri" pitchFamily="34" charset="0"/>
                <a:ea typeface="Calibri" pitchFamily="34" charset="-122"/>
                <a:cs typeface="Calibri" pitchFamily="34" charset="-120"/>
              </a:rPr>
              <a:t>을 적용 → 미래가 과거 예측에 섞임.</a:t>
            </a:r>
            <a:endParaRPr lang="en-US" sz="1200" dirty="0"/>
          </a:p>
          <a:p>
            <a:pPr marL="0" indent="0">
              <a:lnSpc>
                <a:spcPct val="110000"/>
              </a:lnSpc>
              <a:buNone/>
            </a:pPr>
            <a:r>
              <a:rPr lang="en-US" sz="1200" dirty="0">
                <a:solidFill>
                  <a:srgbClr val="1D2433"/>
                </a:solidFill>
                <a:latin typeface="Calibri" pitchFamily="34" charset="0"/>
                <a:ea typeface="Calibri" pitchFamily="34" charset="-122"/>
                <a:cs typeface="Calibri" pitchFamily="34" charset="-120"/>
              </a:rPr>
              <a:t>결측률 17.4%, 변수 agexp는 49.8% 결측.</a:t>
            </a:r>
            <a:endParaRPr lang="en-US" sz="1200" dirty="0"/>
          </a:p>
        </p:txBody>
      </p:sp>
      <p:sp>
        <p:nvSpPr>
          <p:cNvPr id="12" name="Text 10"/>
          <p:cNvSpPr txBox="1"/>
          <p:nvPr/>
        </p:nvSpPr>
        <p:spPr>
          <a:xfrm>
            <a:off x="2926080" y="2999232"/>
            <a:ext cx="8321040" cy="256032"/>
          </a:xfrm>
          <a:prstGeom prst="rect">
            <a:avLst/>
          </a:prstGeom>
          <a:noFill/>
          <a:ln/>
        </p:spPr>
        <p:txBody>
          <a:bodyPr wrap="square" lIns="0" tIns="0" rIns="0" bIns="0" rtlCol="0" anchor="ctr"/>
          <a:lstStyle/>
          <a:p>
            <a:pPr marL="0" indent="0">
              <a:buNone/>
            </a:pPr>
            <a:r>
              <a:rPr lang="en-US" sz="1200" b="1" dirty="0">
                <a:solidFill>
                  <a:srgbClr val="E63946"/>
                </a:solidFill>
                <a:latin typeface="Calibri" pitchFamily="34" charset="0"/>
                <a:ea typeface="Calibri" pitchFamily="34" charset="-122"/>
                <a:cs typeface="Calibri" pitchFamily="34" charset="-120"/>
              </a:rPr>
              <a:t>✗  잘못된 분할 — 시간 순서를 무시한 무작위 분할 / k-겹 교차검증</a:t>
            </a:r>
            <a:endParaRPr lang="en-US" sz="1200" dirty="0"/>
          </a:p>
        </p:txBody>
      </p:sp>
      <p:sp>
        <p:nvSpPr>
          <p:cNvPr id="13" name="Text 11"/>
          <p:cNvSpPr txBox="1"/>
          <p:nvPr/>
        </p:nvSpPr>
        <p:spPr>
          <a:xfrm>
            <a:off x="548640" y="3273552"/>
            <a:ext cx="2286000" cy="685800"/>
          </a:xfrm>
          <a:prstGeom prst="rect">
            <a:avLst/>
          </a:prstGeom>
          <a:noFill/>
          <a:ln/>
        </p:spPr>
        <p:txBody>
          <a:bodyPr wrap="square" lIns="0" tIns="0" rIns="0" bIns="0" rtlCol="0" anchor="ctr"/>
          <a:lstStyle/>
          <a:p>
            <a:pPr marL="0" indent="0">
              <a:buNone/>
            </a:pPr>
            <a:r>
              <a:rPr lang="en-US" sz="1450" b="1" dirty="0">
                <a:solidFill>
                  <a:srgbClr val="E63946"/>
                </a:solidFill>
                <a:latin typeface="Cambria" pitchFamily="34" charset="0"/>
                <a:ea typeface="Cambria" pitchFamily="34" charset="-122"/>
                <a:cs typeface="Cambria" pitchFamily="34" charset="-120"/>
              </a:rPr>
              <a:t>무작위 분할</a:t>
            </a:r>
            <a:endParaRPr lang="en-US" sz="1450" dirty="0"/>
          </a:p>
        </p:txBody>
      </p:sp>
      <p:sp>
        <p:nvSpPr>
          <p:cNvPr id="14" name="Shape 12"/>
          <p:cNvSpPr/>
          <p:nvPr/>
        </p:nvSpPr>
        <p:spPr>
          <a:xfrm>
            <a:off x="2926080" y="3291840"/>
            <a:ext cx="1359408" cy="658368"/>
          </a:xfrm>
          <a:prstGeom prst="rect">
            <a:avLst/>
          </a:prstGeom>
          <a:solidFill>
            <a:srgbClr val="3D5A80"/>
          </a:solidFill>
          <a:ln/>
        </p:spPr>
        <p:txBody>
          <a:bodyPr/>
          <a:lstStyle/>
          <a:p>
            <a:endParaRPr lang="ko-KR" altLang="en-US"/>
          </a:p>
        </p:txBody>
      </p:sp>
      <p:sp>
        <p:nvSpPr>
          <p:cNvPr id="15" name="Text 13"/>
          <p:cNvSpPr txBox="1"/>
          <p:nvPr/>
        </p:nvSpPr>
        <p:spPr>
          <a:xfrm>
            <a:off x="2926080" y="3291840"/>
            <a:ext cx="1359408" cy="65836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학습</a:t>
            </a:r>
            <a:endParaRPr lang="en-US" sz="1100" dirty="0"/>
          </a:p>
        </p:txBody>
      </p:sp>
      <p:sp>
        <p:nvSpPr>
          <p:cNvPr id="16" name="Shape 14"/>
          <p:cNvSpPr/>
          <p:nvPr/>
        </p:nvSpPr>
        <p:spPr>
          <a:xfrm>
            <a:off x="4312920" y="3291840"/>
            <a:ext cx="1359408" cy="658368"/>
          </a:xfrm>
          <a:prstGeom prst="rect">
            <a:avLst/>
          </a:prstGeom>
          <a:solidFill>
            <a:srgbClr val="E63946"/>
          </a:solidFill>
          <a:ln/>
        </p:spPr>
        <p:txBody>
          <a:bodyPr/>
          <a:lstStyle/>
          <a:p>
            <a:endParaRPr lang="ko-KR" altLang="en-US"/>
          </a:p>
        </p:txBody>
      </p:sp>
      <p:sp>
        <p:nvSpPr>
          <p:cNvPr id="17" name="Text 15"/>
          <p:cNvSpPr txBox="1"/>
          <p:nvPr/>
        </p:nvSpPr>
        <p:spPr>
          <a:xfrm>
            <a:off x="4312920" y="3291840"/>
            <a:ext cx="1359408" cy="65836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테스트</a:t>
            </a:r>
            <a:endParaRPr lang="en-US" sz="1100" dirty="0"/>
          </a:p>
        </p:txBody>
      </p:sp>
      <p:sp>
        <p:nvSpPr>
          <p:cNvPr id="18" name="Shape 16"/>
          <p:cNvSpPr/>
          <p:nvPr/>
        </p:nvSpPr>
        <p:spPr>
          <a:xfrm>
            <a:off x="5699760" y="3291840"/>
            <a:ext cx="1359408" cy="658368"/>
          </a:xfrm>
          <a:prstGeom prst="rect">
            <a:avLst/>
          </a:prstGeom>
          <a:solidFill>
            <a:srgbClr val="3D5A80"/>
          </a:solidFill>
          <a:ln/>
        </p:spPr>
        <p:txBody>
          <a:bodyPr/>
          <a:lstStyle/>
          <a:p>
            <a:endParaRPr lang="ko-KR" altLang="en-US"/>
          </a:p>
        </p:txBody>
      </p:sp>
      <p:sp>
        <p:nvSpPr>
          <p:cNvPr id="19" name="Text 17"/>
          <p:cNvSpPr txBox="1"/>
          <p:nvPr/>
        </p:nvSpPr>
        <p:spPr>
          <a:xfrm>
            <a:off x="5699760" y="3291840"/>
            <a:ext cx="1359408" cy="65836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학습</a:t>
            </a:r>
            <a:endParaRPr lang="en-US" sz="1100" dirty="0"/>
          </a:p>
        </p:txBody>
      </p:sp>
      <p:sp>
        <p:nvSpPr>
          <p:cNvPr id="20" name="Shape 18"/>
          <p:cNvSpPr/>
          <p:nvPr/>
        </p:nvSpPr>
        <p:spPr>
          <a:xfrm>
            <a:off x="7086600" y="3291840"/>
            <a:ext cx="1359408" cy="658368"/>
          </a:xfrm>
          <a:prstGeom prst="rect">
            <a:avLst/>
          </a:prstGeom>
          <a:solidFill>
            <a:srgbClr val="E63946"/>
          </a:solidFill>
          <a:ln/>
        </p:spPr>
        <p:txBody>
          <a:bodyPr/>
          <a:lstStyle/>
          <a:p>
            <a:endParaRPr lang="ko-KR" altLang="en-US"/>
          </a:p>
        </p:txBody>
      </p:sp>
      <p:sp>
        <p:nvSpPr>
          <p:cNvPr id="21" name="Text 19"/>
          <p:cNvSpPr txBox="1"/>
          <p:nvPr/>
        </p:nvSpPr>
        <p:spPr>
          <a:xfrm>
            <a:off x="7086600" y="3291840"/>
            <a:ext cx="1359408" cy="65836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테스트</a:t>
            </a:r>
            <a:endParaRPr lang="en-US" sz="1100" dirty="0"/>
          </a:p>
        </p:txBody>
      </p:sp>
      <p:sp>
        <p:nvSpPr>
          <p:cNvPr id="22" name="Shape 20"/>
          <p:cNvSpPr/>
          <p:nvPr/>
        </p:nvSpPr>
        <p:spPr>
          <a:xfrm>
            <a:off x="8473440" y="3291840"/>
            <a:ext cx="1359408" cy="658368"/>
          </a:xfrm>
          <a:prstGeom prst="rect">
            <a:avLst/>
          </a:prstGeom>
          <a:solidFill>
            <a:srgbClr val="3D5A80"/>
          </a:solidFill>
          <a:ln/>
        </p:spPr>
        <p:txBody>
          <a:bodyPr/>
          <a:lstStyle/>
          <a:p>
            <a:endParaRPr lang="ko-KR" altLang="en-US"/>
          </a:p>
        </p:txBody>
      </p:sp>
      <p:sp>
        <p:nvSpPr>
          <p:cNvPr id="23" name="Text 21"/>
          <p:cNvSpPr txBox="1"/>
          <p:nvPr/>
        </p:nvSpPr>
        <p:spPr>
          <a:xfrm>
            <a:off x="8473440" y="3291840"/>
            <a:ext cx="1359408" cy="65836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학습</a:t>
            </a:r>
            <a:endParaRPr lang="en-US" sz="1100" dirty="0"/>
          </a:p>
        </p:txBody>
      </p:sp>
      <p:sp>
        <p:nvSpPr>
          <p:cNvPr id="24" name="Shape 22"/>
          <p:cNvSpPr/>
          <p:nvPr/>
        </p:nvSpPr>
        <p:spPr>
          <a:xfrm>
            <a:off x="9860280" y="3291840"/>
            <a:ext cx="1359408" cy="658368"/>
          </a:xfrm>
          <a:prstGeom prst="rect">
            <a:avLst/>
          </a:prstGeom>
          <a:solidFill>
            <a:srgbClr val="E63946"/>
          </a:solidFill>
          <a:ln/>
        </p:spPr>
        <p:txBody>
          <a:bodyPr/>
          <a:lstStyle/>
          <a:p>
            <a:endParaRPr lang="ko-KR" altLang="en-US"/>
          </a:p>
        </p:txBody>
      </p:sp>
      <p:sp>
        <p:nvSpPr>
          <p:cNvPr id="25" name="Text 23"/>
          <p:cNvSpPr txBox="1"/>
          <p:nvPr/>
        </p:nvSpPr>
        <p:spPr>
          <a:xfrm>
            <a:off x="9860280" y="3291840"/>
            <a:ext cx="1359408" cy="65836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테스트</a:t>
            </a:r>
            <a:endParaRPr lang="en-US" sz="1100" dirty="0"/>
          </a:p>
        </p:txBody>
      </p:sp>
      <p:sp>
        <p:nvSpPr>
          <p:cNvPr id="26" name="Text 24"/>
          <p:cNvSpPr txBox="1"/>
          <p:nvPr/>
        </p:nvSpPr>
        <p:spPr>
          <a:xfrm>
            <a:off x="2926080" y="3968496"/>
            <a:ext cx="8321040" cy="237744"/>
          </a:xfrm>
          <a:prstGeom prst="rect">
            <a:avLst/>
          </a:prstGeom>
          <a:noFill/>
          <a:ln/>
        </p:spPr>
        <p:txBody>
          <a:bodyPr wrap="square" lIns="0" tIns="0" rIns="0" bIns="0" rtlCol="0" anchor="ctr"/>
          <a:lstStyle/>
          <a:p>
            <a:pPr marL="0" indent="0" algn="r">
              <a:buNone/>
            </a:pPr>
            <a:r>
              <a:rPr lang="en-US" sz="1000" i="1" dirty="0">
                <a:solidFill>
                  <a:srgbClr val="6B7280"/>
                </a:solidFill>
                <a:latin typeface="Calibri" pitchFamily="34" charset="0"/>
                <a:ea typeface="Calibri" pitchFamily="34" charset="-122"/>
                <a:cs typeface="Calibri" pitchFamily="34" charset="-120"/>
              </a:rPr>
              <a:t>시간 →</a:t>
            </a:r>
            <a:endParaRPr lang="en-US" sz="1000" dirty="0"/>
          </a:p>
        </p:txBody>
      </p:sp>
      <p:sp>
        <p:nvSpPr>
          <p:cNvPr id="27" name="Text 25"/>
          <p:cNvSpPr txBox="1"/>
          <p:nvPr/>
        </p:nvSpPr>
        <p:spPr>
          <a:xfrm>
            <a:off x="2926080" y="4315968"/>
            <a:ext cx="8321040" cy="256032"/>
          </a:xfrm>
          <a:prstGeom prst="rect">
            <a:avLst/>
          </a:prstGeom>
          <a:noFill/>
          <a:ln/>
        </p:spPr>
        <p:txBody>
          <a:bodyPr wrap="square" lIns="0" tIns="0" rIns="0" bIns="0" rtlCol="0" anchor="ctr"/>
          <a:lstStyle/>
          <a:p>
            <a:pPr marL="0" indent="0">
              <a:buNone/>
            </a:pPr>
            <a:r>
              <a:rPr lang="en-US" sz="1200" b="1" dirty="0">
                <a:solidFill>
                  <a:srgbClr val="2A9D8F"/>
                </a:solidFill>
                <a:latin typeface="Calibri" pitchFamily="34" charset="0"/>
                <a:ea typeface="Calibri" pitchFamily="34" charset="-122"/>
                <a:cs typeface="Calibri" pitchFamily="34" charset="-120"/>
              </a:rPr>
              <a:t>✓  올바른 분할 — 과거로 학습하고 미래로 평가</a:t>
            </a:r>
            <a:endParaRPr lang="en-US" sz="1200" dirty="0"/>
          </a:p>
        </p:txBody>
      </p:sp>
      <p:sp>
        <p:nvSpPr>
          <p:cNvPr id="28" name="Text 26"/>
          <p:cNvSpPr txBox="1"/>
          <p:nvPr/>
        </p:nvSpPr>
        <p:spPr>
          <a:xfrm>
            <a:off x="548640" y="4590288"/>
            <a:ext cx="2286000" cy="685800"/>
          </a:xfrm>
          <a:prstGeom prst="rect">
            <a:avLst/>
          </a:prstGeom>
          <a:noFill/>
          <a:ln/>
        </p:spPr>
        <p:txBody>
          <a:bodyPr wrap="square" lIns="0" tIns="0" rIns="0" bIns="0" rtlCol="0" anchor="ctr"/>
          <a:lstStyle/>
          <a:p>
            <a:pPr marL="0" indent="0">
              <a:buNone/>
            </a:pPr>
            <a:r>
              <a:rPr lang="en-US" sz="1450" b="1" dirty="0">
                <a:solidFill>
                  <a:srgbClr val="2A9D8F"/>
                </a:solidFill>
                <a:latin typeface="Cambria" pitchFamily="34" charset="0"/>
                <a:ea typeface="Cambria" pitchFamily="34" charset="-122"/>
                <a:cs typeface="Cambria" pitchFamily="34" charset="-120"/>
              </a:rPr>
              <a:t>시간 순 분할</a:t>
            </a:r>
            <a:endParaRPr lang="en-US" sz="1450" dirty="0"/>
          </a:p>
        </p:txBody>
      </p:sp>
      <p:sp>
        <p:nvSpPr>
          <p:cNvPr id="29" name="Shape 27"/>
          <p:cNvSpPr/>
          <p:nvPr/>
        </p:nvSpPr>
        <p:spPr>
          <a:xfrm>
            <a:off x="2926080" y="4608576"/>
            <a:ext cx="1359408" cy="658368"/>
          </a:xfrm>
          <a:prstGeom prst="rect">
            <a:avLst/>
          </a:prstGeom>
          <a:solidFill>
            <a:srgbClr val="3D5A80"/>
          </a:solidFill>
          <a:ln/>
        </p:spPr>
        <p:txBody>
          <a:bodyPr/>
          <a:lstStyle/>
          <a:p>
            <a:endParaRPr lang="ko-KR" altLang="en-US"/>
          </a:p>
        </p:txBody>
      </p:sp>
      <p:sp>
        <p:nvSpPr>
          <p:cNvPr id="30" name="Text 28"/>
          <p:cNvSpPr txBox="1"/>
          <p:nvPr/>
        </p:nvSpPr>
        <p:spPr>
          <a:xfrm>
            <a:off x="2926080" y="4608576"/>
            <a:ext cx="1359408" cy="65836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학습</a:t>
            </a:r>
            <a:endParaRPr lang="en-US" sz="1100" dirty="0"/>
          </a:p>
        </p:txBody>
      </p:sp>
      <p:sp>
        <p:nvSpPr>
          <p:cNvPr id="31" name="Shape 29"/>
          <p:cNvSpPr/>
          <p:nvPr/>
        </p:nvSpPr>
        <p:spPr>
          <a:xfrm>
            <a:off x="4312920" y="4608576"/>
            <a:ext cx="1359408" cy="658368"/>
          </a:xfrm>
          <a:prstGeom prst="rect">
            <a:avLst/>
          </a:prstGeom>
          <a:solidFill>
            <a:srgbClr val="3D5A80"/>
          </a:solidFill>
          <a:ln/>
        </p:spPr>
        <p:txBody>
          <a:bodyPr/>
          <a:lstStyle/>
          <a:p>
            <a:endParaRPr lang="ko-KR" altLang="en-US"/>
          </a:p>
        </p:txBody>
      </p:sp>
      <p:sp>
        <p:nvSpPr>
          <p:cNvPr id="32" name="Text 30"/>
          <p:cNvSpPr txBox="1"/>
          <p:nvPr/>
        </p:nvSpPr>
        <p:spPr>
          <a:xfrm>
            <a:off x="4312920" y="4608576"/>
            <a:ext cx="1359408" cy="65836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학습</a:t>
            </a:r>
            <a:endParaRPr lang="en-US" sz="1100" dirty="0"/>
          </a:p>
        </p:txBody>
      </p:sp>
      <p:sp>
        <p:nvSpPr>
          <p:cNvPr id="33" name="Shape 31"/>
          <p:cNvSpPr/>
          <p:nvPr/>
        </p:nvSpPr>
        <p:spPr>
          <a:xfrm>
            <a:off x="5699760" y="4608576"/>
            <a:ext cx="1359408" cy="658368"/>
          </a:xfrm>
          <a:prstGeom prst="rect">
            <a:avLst/>
          </a:prstGeom>
          <a:solidFill>
            <a:srgbClr val="3D5A80"/>
          </a:solidFill>
          <a:ln/>
        </p:spPr>
        <p:txBody>
          <a:bodyPr/>
          <a:lstStyle/>
          <a:p>
            <a:endParaRPr lang="ko-KR" altLang="en-US"/>
          </a:p>
        </p:txBody>
      </p:sp>
      <p:sp>
        <p:nvSpPr>
          <p:cNvPr id="34" name="Text 32"/>
          <p:cNvSpPr txBox="1"/>
          <p:nvPr/>
        </p:nvSpPr>
        <p:spPr>
          <a:xfrm>
            <a:off x="5699760" y="4608576"/>
            <a:ext cx="1359408" cy="65836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학습</a:t>
            </a:r>
            <a:endParaRPr lang="en-US" sz="1100" dirty="0"/>
          </a:p>
        </p:txBody>
      </p:sp>
      <p:sp>
        <p:nvSpPr>
          <p:cNvPr id="35" name="Shape 33"/>
          <p:cNvSpPr/>
          <p:nvPr/>
        </p:nvSpPr>
        <p:spPr>
          <a:xfrm>
            <a:off x="7086600" y="4608576"/>
            <a:ext cx="1359408" cy="658368"/>
          </a:xfrm>
          <a:prstGeom prst="rect">
            <a:avLst/>
          </a:prstGeom>
          <a:solidFill>
            <a:srgbClr val="3D5A80"/>
          </a:solidFill>
          <a:ln/>
        </p:spPr>
        <p:txBody>
          <a:bodyPr/>
          <a:lstStyle/>
          <a:p>
            <a:endParaRPr lang="ko-KR" altLang="en-US"/>
          </a:p>
        </p:txBody>
      </p:sp>
      <p:sp>
        <p:nvSpPr>
          <p:cNvPr id="36" name="Text 34"/>
          <p:cNvSpPr txBox="1"/>
          <p:nvPr/>
        </p:nvSpPr>
        <p:spPr>
          <a:xfrm>
            <a:off x="7086600" y="4608576"/>
            <a:ext cx="1359408" cy="65836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학습</a:t>
            </a:r>
            <a:endParaRPr lang="en-US" sz="1100" dirty="0"/>
          </a:p>
        </p:txBody>
      </p:sp>
      <p:sp>
        <p:nvSpPr>
          <p:cNvPr id="37" name="Shape 35"/>
          <p:cNvSpPr/>
          <p:nvPr/>
        </p:nvSpPr>
        <p:spPr>
          <a:xfrm>
            <a:off x="8473440" y="4608576"/>
            <a:ext cx="1359408" cy="658368"/>
          </a:xfrm>
          <a:prstGeom prst="rect">
            <a:avLst/>
          </a:prstGeom>
          <a:solidFill>
            <a:srgbClr val="E63946"/>
          </a:solidFill>
          <a:ln/>
        </p:spPr>
        <p:txBody>
          <a:bodyPr/>
          <a:lstStyle/>
          <a:p>
            <a:endParaRPr lang="ko-KR" altLang="en-US"/>
          </a:p>
        </p:txBody>
      </p:sp>
      <p:sp>
        <p:nvSpPr>
          <p:cNvPr id="38" name="Text 36"/>
          <p:cNvSpPr txBox="1"/>
          <p:nvPr/>
        </p:nvSpPr>
        <p:spPr>
          <a:xfrm>
            <a:off x="8473440" y="4608576"/>
            <a:ext cx="1359408" cy="65836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테스트</a:t>
            </a:r>
            <a:endParaRPr lang="en-US" sz="1100" dirty="0"/>
          </a:p>
        </p:txBody>
      </p:sp>
      <p:sp>
        <p:nvSpPr>
          <p:cNvPr id="39" name="Shape 37"/>
          <p:cNvSpPr/>
          <p:nvPr/>
        </p:nvSpPr>
        <p:spPr>
          <a:xfrm>
            <a:off x="9860280" y="4608576"/>
            <a:ext cx="1359408" cy="658368"/>
          </a:xfrm>
          <a:prstGeom prst="rect">
            <a:avLst/>
          </a:prstGeom>
          <a:solidFill>
            <a:srgbClr val="E63946"/>
          </a:solidFill>
          <a:ln/>
        </p:spPr>
        <p:txBody>
          <a:bodyPr/>
          <a:lstStyle/>
          <a:p>
            <a:endParaRPr lang="ko-KR" altLang="en-US"/>
          </a:p>
        </p:txBody>
      </p:sp>
      <p:sp>
        <p:nvSpPr>
          <p:cNvPr id="40" name="Text 38"/>
          <p:cNvSpPr txBox="1"/>
          <p:nvPr/>
        </p:nvSpPr>
        <p:spPr>
          <a:xfrm>
            <a:off x="9860280" y="4608576"/>
            <a:ext cx="1359408" cy="65836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테스트</a:t>
            </a:r>
            <a:endParaRPr lang="en-US" sz="1100" dirty="0"/>
          </a:p>
        </p:txBody>
      </p:sp>
      <p:sp>
        <p:nvSpPr>
          <p:cNvPr id="41" name="Text 39"/>
          <p:cNvSpPr txBox="1"/>
          <p:nvPr/>
        </p:nvSpPr>
        <p:spPr>
          <a:xfrm>
            <a:off x="2926080" y="5285232"/>
            <a:ext cx="8321040" cy="237744"/>
          </a:xfrm>
          <a:prstGeom prst="rect">
            <a:avLst/>
          </a:prstGeom>
          <a:noFill/>
          <a:ln/>
        </p:spPr>
        <p:txBody>
          <a:bodyPr wrap="square" lIns="0" tIns="0" rIns="0" bIns="0" rtlCol="0" anchor="ctr"/>
          <a:lstStyle/>
          <a:p>
            <a:pPr marL="0" indent="0" algn="r">
              <a:buNone/>
            </a:pPr>
            <a:r>
              <a:rPr lang="en-US" sz="1000" i="1" dirty="0">
                <a:solidFill>
                  <a:srgbClr val="6B7280"/>
                </a:solidFill>
                <a:latin typeface="Calibri" pitchFamily="34" charset="0"/>
                <a:ea typeface="Calibri" pitchFamily="34" charset="-122"/>
                <a:cs typeface="Calibri" pitchFamily="34" charset="-120"/>
              </a:rPr>
              <a:t>시간 →</a:t>
            </a:r>
            <a:endParaRPr lang="en-US" sz="1000" dirty="0"/>
          </a:p>
        </p:txBody>
      </p:sp>
      <p:sp>
        <p:nvSpPr>
          <p:cNvPr id="42" name="Shape 40"/>
          <p:cNvSpPr/>
          <p:nvPr/>
        </p:nvSpPr>
        <p:spPr>
          <a:xfrm>
            <a:off x="548640" y="5623560"/>
            <a:ext cx="11064240" cy="914400"/>
          </a:xfrm>
          <a:prstGeom prst="roundRect">
            <a:avLst>
              <a:gd name="adj" fmla="val 6000"/>
            </a:avLst>
          </a:prstGeom>
          <a:solidFill>
            <a:srgbClr val="14213D"/>
          </a:solidFill>
          <a:ln/>
        </p:spPr>
        <p:txBody>
          <a:bodyPr/>
          <a:lstStyle/>
          <a:p>
            <a:endParaRPr lang="ko-KR" altLang="en-US"/>
          </a:p>
        </p:txBody>
      </p:sp>
      <p:sp>
        <p:nvSpPr>
          <p:cNvPr id="43" name="Text 41"/>
          <p:cNvSpPr txBox="1"/>
          <p:nvPr/>
        </p:nvSpPr>
        <p:spPr>
          <a:xfrm>
            <a:off x="822960" y="5623560"/>
            <a:ext cx="10515600" cy="914400"/>
          </a:xfrm>
          <a:prstGeom prst="rect">
            <a:avLst/>
          </a:prstGeom>
          <a:noFill/>
          <a:ln/>
        </p:spPr>
        <p:txBody>
          <a:bodyPr wrap="square" lIns="0" tIns="0" rIns="0" bIns="0" rtlCol="0" anchor="ctr"/>
          <a:lstStyle/>
          <a:p>
            <a:pPr marL="0" indent="0">
              <a:lnSpc>
                <a:spcPct val="110000"/>
              </a:lnSpc>
              <a:buNone/>
            </a:pPr>
            <a:r>
              <a:rPr lang="en-US" sz="1300" b="1" dirty="0">
                <a:solidFill>
                  <a:srgbClr val="98C1D9"/>
                </a:solidFill>
                <a:latin typeface="Calibri" pitchFamily="34" charset="0"/>
                <a:ea typeface="Calibri" pitchFamily="34" charset="-122"/>
                <a:cs typeface="Calibri" pitchFamily="34" charset="-120"/>
              </a:rPr>
              <a:t>기업부실 예측에 옮기면  </a:t>
            </a:r>
            <a:r>
              <a:rPr lang="en-US" sz="1300" dirty="0">
                <a:solidFill>
                  <a:srgbClr val="FFFFFF"/>
                </a:solidFill>
                <a:latin typeface="Calibri" pitchFamily="34" charset="0"/>
                <a:ea typeface="Calibri" pitchFamily="34" charset="-122"/>
                <a:cs typeface="Calibri" pitchFamily="34" charset="-120"/>
              </a:rPr>
              <a:t>2020년의 부실을 예측한다면서 학습에 2021~2022년 재무 정보가 섞이거나 시간 순서를 무시하고 </a:t>
            </a:r>
            <a:r>
              <a:rPr lang="en-US" sz="1300" dirty="0" err="1">
                <a:solidFill>
                  <a:srgbClr val="FFFFFF"/>
                </a:solidFill>
                <a:latin typeface="Calibri" pitchFamily="34" charset="0"/>
                <a:ea typeface="Calibri" pitchFamily="34" charset="-122"/>
                <a:cs typeface="Calibri" pitchFamily="34" charset="-120"/>
              </a:rPr>
              <a:t>무작위로</a:t>
            </a:r>
            <a:r>
              <a:rPr lang="en-US" sz="1300" dirty="0">
                <a:solidFill>
                  <a:srgbClr val="FFFFFF"/>
                </a:solidFill>
                <a:latin typeface="Calibri" pitchFamily="34" charset="0"/>
                <a:ea typeface="Calibri" pitchFamily="34" charset="-122"/>
                <a:cs typeface="Calibri" pitchFamily="34" charset="-120"/>
              </a:rPr>
              <a:t> </a:t>
            </a:r>
            <a:r>
              <a:rPr lang="en-US" sz="1300" dirty="0" err="1">
                <a:solidFill>
                  <a:srgbClr val="FFFFFF"/>
                </a:solidFill>
                <a:latin typeface="Calibri" pitchFamily="34" charset="0"/>
                <a:ea typeface="Calibri" pitchFamily="34" charset="-122"/>
                <a:cs typeface="Calibri" pitchFamily="34" charset="-120"/>
              </a:rPr>
              <a:t>나누</a:t>
            </a:r>
            <a:r>
              <a:rPr lang="ko-KR" altLang="en-US" sz="1300" dirty="0">
                <a:solidFill>
                  <a:srgbClr val="FFFFFF"/>
                </a:solidFill>
                <a:latin typeface="Calibri" pitchFamily="34" charset="0"/>
                <a:ea typeface="Calibri" pitchFamily="34" charset="-122"/>
                <a:cs typeface="Calibri" pitchFamily="34" charset="-120"/>
              </a:rPr>
              <a:t>어</a:t>
            </a:r>
            <a:r>
              <a:rPr lang="en-US" sz="1300" dirty="0">
                <a:solidFill>
                  <a:srgbClr val="FFFFFF"/>
                </a:solidFill>
                <a:latin typeface="Calibri" pitchFamily="34" charset="0"/>
                <a:ea typeface="Calibri" pitchFamily="34" charset="-122"/>
                <a:cs typeface="Calibri" pitchFamily="34" charset="-120"/>
              </a:rPr>
              <a:t> </a:t>
            </a:r>
          </a:p>
          <a:p>
            <a:pPr marL="0" indent="0">
              <a:lnSpc>
                <a:spcPct val="110000"/>
              </a:lnSpc>
              <a:buNone/>
            </a:pPr>
            <a:r>
              <a:rPr lang="en-US" sz="1300" dirty="0">
                <a:solidFill>
                  <a:srgbClr val="FFFFFF"/>
                </a:solidFill>
                <a:latin typeface="Calibri" pitchFamily="34" charset="0"/>
                <a:ea typeface="Calibri" pitchFamily="34" charset="-122"/>
                <a:cs typeface="Calibri" pitchFamily="34" charset="-120"/>
              </a:rPr>
              <a:t>→ </a:t>
            </a:r>
            <a:r>
              <a:rPr lang="en-US" sz="1300" b="1" dirty="0">
                <a:solidFill>
                  <a:srgbClr val="E63946"/>
                </a:solidFill>
                <a:latin typeface="Calibri" pitchFamily="34" charset="0"/>
                <a:ea typeface="Calibri" pitchFamily="34" charset="-122"/>
                <a:cs typeface="Calibri" pitchFamily="34" charset="-120"/>
              </a:rPr>
              <a:t>‘아직 오지 않은 미래’를 보고 맞힌 것</a:t>
            </a:r>
            <a:r>
              <a:rPr lang="en-US" sz="1300" dirty="0">
                <a:solidFill>
                  <a:srgbClr val="FFFFFF"/>
                </a:solidFill>
                <a:latin typeface="Calibri" pitchFamily="34" charset="0"/>
                <a:ea typeface="Calibri" pitchFamily="34" charset="-122"/>
                <a:cs typeface="Calibri" pitchFamily="34" charset="-120"/>
              </a:rPr>
              <a:t>. 논문 성능은 화려해도 실제 예측엔 무용지물.</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rtlCol="0" anchor="ctr"/>
          <a:lstStyle/>
          <a:p>
            <a:pPr marL="0" indent="0">
              <a:buNone/>
            </a:pPr>
            <a:r>
              <a:rPr lang="en-US" sz="1250" b="1" kern="0" spc="200" dirty="0">
                <a:solidFill>
                  <a:srgbClr val="E63946"/>
                </a:solidFill>
                <a:latin typeface="Calibri" pitchFamily="34" charset="0"/>
                <a:ea typeface="Calibri" pitchFamily="34" charset="-122"/>
                <a:cs typeface="Calibri" pitchFamily="34" charset="-120"/>
              </a:rPr>
              <a:t>작동 장치 (2/2) · 예방 도구</a:t>
            </a:r>
            <a:endParaRPr lang="en-US" sz="1250" dirty="0"/>
          </a:p>
        </p:txBody>
      </p:sp>
      <p:sp>
        <p:nvSpPr>
          <p:cNvPr id="3" name="Text 1"/>
          <p:cNvSpPr txBox="1"/>
          <p:nvPr/>
        </p:nvSpPr>
        <p:spPr>
          <a:xfrm>
            <a:off x="548640" y="621792"/>
            <a:ext cx="11064240" cy="658368"/>
          </a:xfrm>
          <a:prstGeom prst="rect">
            <a:avLst/>
          </a:prstGeom>
          <a:noFill/>
          <a:ln/>
        </p:spPr>
        <p:txBody>
          <a:bodyPr wrap="square" rtlCol="0" anchor="ctr"/>
          <a:lstStyle/>
          <a:p>
            <a:pPr marL="0" indent="0">
              <a:buNone/>
            </a:pPr>
            <a:r>
              <a:rPr lang="en-US" sz="2800" b="1" dirty="0">
                <a:solidFill>
                  <a:srgbClr val="1D2433"/>
                </a:solidFill>
                <a:latin typeface="Cambria" pitchFamily="34" charset="0"/>
                <a:ea typeface="Cambria" pitchFamily="34" charset="-122"/>
                <a:cs typeface="Cambria" pitchFamily="34" charset="-120"/>
              </a:rPr>
              <a:t>‘모델 정보 시트’ — 누출을 출판 전에 잡는 21개 질문</a:t>
            </a:r>
            <a:endParaRPr lang="en-US" sz="2800" dirty="0"/>
          </a:p>
        </p:txBody>
      </p:sp>
      <p:sp>
        <p:nvSpPr>
          <p:cNvPr id="4" name="Shape 2"/>
          <p:cNvSpPr/>
          <p:nvPr/>
        </p:nvSpPr>
        <p:spPr>
          <a:xfrm>
            <a:off x="548640" y="1371600"/>
            <a:ext cx="7635240" cy="1298448"/>
          </a:xfrm>
          <a:prstGeom prst="roundRect">
            <a:avLst>
              <a:gd name="adj" fmla="val 3521"/>
            </a:avLst>
          </a:prstGeom>
          <a:solidFill>
            <a:srgbClr val="EAEFF5"/>
          </a:solidFill>
          <a:ln/>
        </p:spPr>
        <p:txBody>
          <a:bodyPr/>
          <a:lstStyle/>
          <a:p>
            <a:endParaRPr lang="ko-KR" altLang="en-US"/>
          </a:p>
        </p:txBody>
      </p:sp>
      <p:sp>
        <p:nvSpPr>
          <p:cNvPr id="5" name="Text 3"/>
          <p:cNvSpPr txBox="1"/>
          <p:nvPr/>
        </p:nvSpPr>
        <p:spPr>
          <a:xfrm>
            <a:off x="658368" y="1389888"/>
            <a:ext cx="548640" cy="548640"/>
          </a:xfrm>
          <a:prstGeom prst="rect">
            <a:avLst/>
          </a:prstGeom>
          <a:noFill/>
          <a:ln/>
        </p:spPr>
        <p:txBody>
          <a:bodyPr wrap="square" lIns="0" tIns="0" rIns="0" bIns="0" rtlCol="0" anchor="ctr"/>
          <a:lstStyle/>
          <a:p>
            <a:pPr marL="0" indent="0">
              <a:buNone/>
            </a:pPr>
            <a:r>
              <a:rPr lang="en-US" sz="4000" b="1" dirty="0">
                <a:solidFill>
                  <a:srgbClr val="98C1D9"/>
                </a:solidFill>
                <a:latin typeface="Cambria" pitchFamily="34" charset="0"/>
                <a:ea typeface="Cambria" pitchFamily="34" charset="-122"/>
                <a:cs typeface="Cambria" pitchFamily="34" charset="-120"/>
              </a:rPr>
              <a:t>“</a:t>
            </a:r>
            <a:endParaRPr lang="en-US" sz="4000" dirty="0"/>
          </a:p>
        </p:txBody>
      </p:sp>
      <p:sp>
        <p:nvSpPr>
          <p:cNvPr id="6" name="Text 4"/>
          <p:cNvSpPr txBox="1"/>
          <p:nvPr/>
        </p:nvSpPr>
        <p:spPr>
          <a:xfrm>
            <a:off x="1207008" y="1499616"/>
            <a:ext cx="6720840" cy="566928"/>
          </a:xfrm>
          <a:prstGeom prst="rect">
            <a:avLst/>
          </a:prstGeom>
          <a:noFill/>
          <a:ln/>
        </p:spPr>
        <p:txBody>
          <a:bodyPr wrap="square" lIns="0" tIns="0" rIns="0" bIns="0" rtlCol="0" anchor="ctr"/>
          <a:lstStyle/>
          <a:p>
            <a:pPr marL="0" indent="0">
              <a:lnSpc>
                <a:spcPct val="105000"/>
              </a:lnSpc>
              <a:buNone/>
            </a:pPr>
            <a:r>
              <a:rPr lang="en-US" sz="1150" i="1" dirty="0">
                <a:solidFill>
                  <a:srgbClr val="3D5A80"/>
                </a:solidFill>
                <a:latin typeface="Calibri" pitchFamily="34" charset="0"/>
                <a:ea typeface="Calibri" pitchFamily="34" charset="-122"/>
                <a:cs typeface="Calibri" pitchFamily="34" charset="-120"/>
              </a:rPr>
              <a:t>“…it is not enough to simply separate the training and test sets and report performance metrics on the test set.”</a:t>
            </a:r>
            <a:endParaRPr lang="en-US" sz="1150" dirty="0"/>
          </a:p>
        </p:txBody>
      </p:sp>
      <p:sp>
        <p:nvSpPr>
          <p:cNvPr id="7" name="Text 5"/>
          <p:cNvSpPr txBox="1"/>
          <p:nvPr/>
        </p:nvSpPr>
        <p:spPr>
          <a:xfrm>
            <a:off x="1207008" y="2048256"/>
            <a:ext cx="6720840" cy="338328"/>
          </a:xfrm>
          <a:prstGeom prst="rect">
            <a:avLst/>
          </a:prstGeom>
          <a:noFill/>
          <a:ln/>
        </p:spPr>
        <p:txBody>
          <a:bodyPr wrap="square" lIns="0" tIns="0" rIns="0" bIns="0" rtlCol="0" anchor="ctr"/>
          <a:lstStyle/>
          <a:p>
            <a:pPr marL="0" indent="0">
              <a:lnSpc>
                <a:spcPct val="110000"/>
              </a:lnSpc>
              <a:buNone/>
            </a:pPr>
            <a:r>
              <a:rPr lang="en-US" sz="1400" b="1" dirty="0">
                <a:solidFill>
                  <a:srgbClr val="1D2433"/>
                </a:solidFill>
                <a:latin typeface="Calibri" pitchFamily="34" charset="0"/>
                <a:ea typeface="Calibri" pitchFamily="34" charset="-122"/>
                <a:cs typeface="Calibri" pitchFamily="34" charset="-120"/>
              </a:rPr>
              <a:t>“훈련·테스트를 나누고 성능 지표를 보고하는 것만으로는 충분하지 않다.”</a:t>
            </a:r>
            <a:endParaRPr lang="en-US" sz="1400" dirty="0"/>
          </a:p>
        </p:txBody>
      </p:sp>
      <p:sp>
        <p:nvSpPr>
          <p:cNvPr id="8" name="Text 6"/>
          <p:cNvSpPr txBox="1"/>
          <p:nvPr/>
        </p:nvSpPr>
        <p:spPr>
          <a:xfrm>
            <a:off x="5166360" y="2359152"/>
            <a:ext cx="2834640" cy="256032"/>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 모델 정보 시트 절 (입증 책임은 연구자에게)</a:t>
            </a:r>
            <a:endParaRPr lang="en-US" sz="950" dirty="0"/>
          </a:p>
        </p:txBody>
      </p:sp>
      <p:sp>
        <p:nvSpPr>
          <p:cNvPr id="9" name="Shape 7"/>
          <p:cNvSpPr/>
          <p:nvPr/>
        </p:nvSpPr>
        <p:spPr>
          <a:xfrm>
            <a:off x="8412480" y="1371600"/>
            <a:ext cx="3200400" cy="1298448"/>
          </a:xfrm>
          <a:prstGeom prst="roundRect">
            <a:avLst>
              <a:gd name="adj" fmla="val 3521"/>
            </a:avLst>
          </a:prstGeom>
          <a:solidFill>
            <a:srgbClr val="E8F4F1"/>
          </a:solidFill>
          <a:ln/>
        </p:spPr>
        <p:txBody>
          <a:bodyPr/>
          <a:lstStyle/>
          <a:p>
            <a:endParaRPr lang="ko-KR" altLang="en-US"/>
          </a:p>
        </p:txBody>
      </p:sp>
      <p:sp>
        <p:nvSpPr>
          <p:cNvPr id="10" name="Text 8"/>
          <p:cNvSpPr txBox="1"/>
          <p:nvPr/>
        </p:nvSpPr>
        <p:spPr>
          <a:xfrm>
            <a:off x="8412480" y="1481328"/>
            <a:ext cx="3200400" cy="566928"/>
          </a:xfrm>
          <a:prstGeom prst="rect">
            <a:avLst/>
          </a:prstGeom>
          <a:noFill/>
          <a:ln/>
        </p:spPr>
        <p:txBody>
          <a:bodyPr wrap="square" lIns="0" tIns="0" rIns="0" bIns="0" rtlCol="0" anchor="ctr"/>
          <a:lstStyle/>
          <a:p>
            <a:pPr marL="0" indent="0" algn="ctr">
              <a:buNone/>
            </a:pPr>
            <a:r>
              <a:rPr lang="en-US" sz="3400" b="1" dirty="0">
                <a:solidFill>
                  <a:srgbClr val="2A9D8F"/>
                </a:solidFill>
                <a:latin typeface="Cambria" pitchFamily="34" charset="0"/>
                <a:ea typeface="Cambria" pitchFamily="34" charset="-122"/>
                <a:cs typeface="Cambria" pitchFamily="34" charset="-120"/>
              </a:rPr>
              <a:t>21</a:t>
            </a:r>
            <a:r>
              <a:rPr lang="en-US" sz="1400" b="1" dirty="0">
                <a:solidFill>
                  <a:srgbClr val="1D2433"/>
                </a:solidFill>
                <a:latin typeface="Calibri" pitchFamily="34" charset="0"/>
                <a:ea typeface="Calibri" pitchFamily="34" charset="-122"/>
                <a:cs typeface="Calibri" pitchFamily="34" charset="-120"/>
              </a:rPr>
              <a:t>개 질문</a:t>
            </a:r>
            <a:endParaRPr lang="en-US" sz="3400" dirty="0"/>
          </a:p>
        </p:txBody>
      </p:sp>
      <p:sp>
        <p:nvSpPr>
          <p:cNvPr id="11" name="Text 9"/>
          <p:cNvSpPr txBox="1"/>
          <p:nvPr/>
        </p:nvSpPr>
        <p:spPr>
          <a:xfrm>
            <a:off x="8549640" y="2121408"/>
            <a:ext cx="2926080" cy="457200"/>
          </a:xfrm>
          <a:prstGeom prst="rect">
            <a:avLst/>
          </a:prstGeom>
          <a:noFill/>
          <a:ln/>
        </p:spPr>
        <p:txBody>
          <a:bodyPr wrap="square" lIns="0" tIns="0" rIns="0" bIns="0"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답하면 아래 3가지 논증이 완성됨</a:t>
            </a:r>
            <a:endParaRPr lang="en-US" sz="1150" dirty="0"/>
          </a:p>
        </p:txBody>
      </p:sp>
      <p:sp>
        <p:nvSpPr>
          <p:cNvPr id="12" name="Shape 10"/>
          <p:cNvSpPr/>
          <p:nvPr/>
        </p:nvSpPr>
        <p:spPr>
          <a:xfrm>
            <a:off x="548640" y="2834640"/>
            <a:ext cx="11064240" cy="1024128"/>
          </a:xfrm>
          <a:prstGeom prst="roundRect">
            <a:avLst>
              <a:gd name="adj" fmla="val 5357"/>
            </a:avLst>
          </a:prstGeom>
          <a:solidFill>
            <a:srgbClr val="F1F4F8"/>
          </a:solidFill>
          <a:ln/>
        </p:spPr>
        <p:txBody>
          <a:bodyPr/>
          <a:lstStyle/>
          <a:p>
            <a:endParaRPr lang="ko-KR" altLang="en-US"/>
          </a:p>
        </p:txBody>
      </p:sp>
      <p:sp>
        <p:nvSpPr>
          <p:cNvPr id="13" name="Shape 11"/>
          <p:cNvSpPr/>
          <p:nvPr/>
        </p:nvSpPr>
        <p:spPr>
          <a:xfrm>
            <a:off x="777240" y="3072384"/>
            <a:ext cx="548640" cy="548640"/>
          </a:xfrm>
          <a:prstGeom prst="ellipse">
            <a:avLst/>
          </a:prstGeom>
          <a:solidFill>
            <a:srgbClr val="3D5A80"/>
          </a:solidFill>
          <a:ln/>
        </p:spPr>
        <p:txBody>
          <a:bodyPr/>
          <a:lstStyle/>
          <a:p>
            <a:endParaRPr lang="ko-KR" altLang="en-US"/>
          </a:p>
        </p:txBody>
      </p:sp>
      <p:sp>
        <p:nvSpPr>
          <p:cNvPr id="14" name="Text 12"/>
          <p:cNvSpPr txBox="1"/>
          <p:nvPr/>
        </p:nvSpPr>
        <p:spPr>
          <a:xfrm>
            <a:off x="777240" y="3072384"/>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a:t>
            </a:r>
            <a:endParaRPr lang="en-US" sz="1600" dirty="0"/>
          </a:p>
        </p:txBody>
      </p:sp>
      <p:sp>
        <p:nvSpPr>
          <p:cNvPr id="15" name="Text 13"/>
          <p:cNvSpPr txBox="1"/>
          <p:nvPr/>
        </p:nvSpPr>
        <p:spPr>
          <a:xfrm>
            <a:off x="1536192" y="2944368"/>
            <a:ext cx="7498080" cy="411480"/>
          </a:xfrm>
          <a:prstGeom prst="rect">
            <a:avLst/>
          </a:prstGeom>
          <a:noFill/>
          <a:ln/>
        </p:spPr>
        <p:txBody>
          <a:bodyPr wrap="square" lIns="0" tIns="0" rIns="0" bIns="0" rtlCol="0" anchor="ctr"/>
          <a:lstStyle/>
          <a:p>
            <a:pPr marL="0" indent="0">
              <a:buNone/>
            </a:pPr>
            <a:r>
              <a:rPr lang="en-US" sz="1550" b="1" dirty="0">
                <a:solidFill>
                  <a:srgbClr val="1D2433"/>
                </a:solidFill>
                <a:latin typeface="Cambria" pitchFamily="34" charset="0"/>
                <a:ea typeface="Cambria" pitchFamily="34" charset="-122"/>
                <a:cs typeface="Cambria" pitchFamily="34" charset="-120"/>
              </a:rPr>
              <a:t>훈련·테스트를 깨끗이 분리했는가?</a:t>
            </a:r>
            <a:endParaRPr lang="en-US" sz="1550" dirty="0"/>
          </a:p>
        </p:txBody>
      </p:sp>
      <p:sp>
        <p:nvSpPr>
          <p:cNvPr id="16" name="Text 14"/>
          <p:cNvSpPr txBox="1"/>
          <p:nvPr/>
        </p:nvSpPr>
        <p:spPr>
          <a:xfrm>
            <a:off x="1536192" y="3364992"/>
            <a:ext cx="7498080" cy="41148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전처리·피처선택·중복까지 모두 분할 이후에 했는지</a:t>
            </a:r>
            <a:endParaRPr lang="en-US" sz="1250" dirty="0"/>
          </a:p>
        </p:txBody>
      </p:sp>
      <p:sp>
        <p:nvSpPr>
          <p:cNvPr id="17" name="Text 15"/>
          <p:cNvSpPr txBox="1"/>
          <p:nvPr/>
        </p:nvSpPr>
        <p:spPr>
          <a:xfrm>
            <a:off x="9144000" y="3108960"/>
            <a:ext cx="2286000" cy="457200"/>
          </a:xfrm>
          <a:prstGeom prst="rect">
            <a:avLst/>
          </a:prstGeom>
          <a:noFill/>
          <a:ln/>
        </p:spPr>
        <p:txBody>
          <a:bodyPr wrap="square" lIns="0" tIns="0" rIns="0" bIns="0" rtlCol="0" anchor="ctr"/>
          <a:lstStyle/>
          <a:p>
            <a:pPr marL="0" indent="0" algn="r">
              <a:buNone/>
            </a:pPr>
            <a:r>
              <a:rPr lang="en-US" sz="1300" b="1" dirty="0">
                <a:solidFill>
                  <a:srgbClr val="3D5A80"/>
                </a:solidFill>
                <a:latin typeface="Calibri" pitchFamily="34" charset="0"/>
                <a:ea typeface="Calibri" pitchFamily="34" charset="-122"/>
                <a:cs typeface="Calibri" pitchFamily="34" charset="-120"/>
              </a:rPr>
              <a:t>L1 방지</a:t>
            </a:r>
            <a:endParaRPr lang="en-US" sz="1300" dirty="0"/>
          </a:p>
        </p:txBody>
      </p:sp>
      <p:sp>
        <p:nvSpPr>
          <p:cNvPr id="18" name="Shape 16"/>
          <p:cNvSpPr/>
          <p:nvPr/>
        </p:nvSpPr>
        <p:spPr>
          <a:xfrm>
            <a:off x="548640" y="3968496"/>
            <a:ext cx="11064240" cy="1024128"/>
          </a:xfrm>
          <a:prstGeom prst="roundRect">
            <a:avLst>
              <a:gd name="adj" fmla="val 5357"/>
            </a:avLst>
          </a:prstGeom>
          <a:solidFill>
            <a:srgbClr val="F1F4F8"/>
          </a:solidFill>
          <a:ln/>
        </p:spPr>
        <p:txBody>
          <a:bodyPr/>
          <a:lstStyle/>
          <a:p>
            <a:endParaRPr lang="ko-KR" altLang="en-US"/>
          </a:p>
        </p:txBody>
      </p:sp>
      <p:sp>
        <p:nvSpPr>
          <p:cNvPr id="19" name="Shape 17"/>
          <p:cNvSpPr/>
          <p:nvPr/>
        </p:nvSpPr>
        <p:spPr>
          <a:xfrm>
            <a:off x="777240" y="4206240"/>
            <a:ext cx="548640" cy="548640"/>
          </a:xfrm>
          <a:prstGeom prst="ellipse">
            <a:avLst/>
          </a:prstGeom>
          <a:solidFill>
            <a:srgbClr val="3D5A80"/>
          </a:solidFill>
          <a:ln/>
        </p:spPr>
        <p:txBody>
          <a:bodyPr/>
          <a:lstStyle/>
          <a:p>
            <a:endParaRPr lang="ko-KR" altLang="en-US"/>
          </a:p>
        </p:txBody>
      </p:sp>
      <p:sp>
        <p:nvSpPr>
          <p:cNvPr id="20" name="Text 18"/>
          <p:cNvSpPr txBox="1"/>
          <p:nvPr/>
        </p:nvSpPr>
        <p:spPr>
          <a:xfrm>
            <a:off x="777240" y="420624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B</a:t>
            </a:r>
            <a:endParaRPr lang="en-US" sz="1600" dirty="0"/>
          </a:p>
        </p:txBody>
      </p:sp>
      <p:sp>
        <p:nvSpPr>
          <p:cNvPr id="21" name="Text 19"/>
          <p:cNvSpPr txBox="1"/>
          <p:nvPr/>
        </p:nvSpPr>
        <p:spPr>
          <a:xfrm>
            <a:off x="1536192" y="4078224"/>
            <a:ext cx="7498080" cy="411480"/>
          </a:xfrm>
          <a:prstGeom prst="rect">
            <a:avLst/>
          </a:prstGeom>
          <a:noFill/>
          <a:ln/>
        </p:spPr>
        <p:txBody>
          <a:bodyPr wrap="square" lIns="0" tIns="0" rIns="0" bIns="0" rtlCol="0" anchor="ctr"/>
          <a:lstStyle/>
          <a:p>
            <a:pPr marL="0" indent="0">
              <a:buNone/>
            </a:pPr>
            <a:r>
              <a:rPr lang="en-US" sz="1550" b="1" dirty="0">
                <a:solidFill>
                  <a:srgbClr val="1D2433"/>
                </a:solidFill>
                <a:latin typeface="Cambria" pitchFamily="34" charset="0"/>
                <a:ea typeface="Cambria" pitchFamily="34" charset="-122"/>
                <a:cs typeface="Cambria" pitchFamily="34" charset="-120"/>
              </a:rPr>
              <a:t>각 피처가 정당한가?</a:t>
            </a:r>
            <a:endParaRPr lang="en-US" sz="1550" dirty="0"/>
          </a:p>
        </p:txBody>
      </p:sp>
      <p:sp>
        <p:nvSpPr>
          <p:cNvPr id="22" name="Text 20"/>
          <p:cNvSpPr txBox="1"/>
          <p:nvPr/>
        </p:nvSpPr>
        <p:spPr>
          <a:xfrm>
            <a:off x="1536192" y="4498848"/>
            <a:ext cx="7498080" cy="41148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예측 시점에 실제로 쓸 수 있고, 정답의 대리변수가 아닌지 — 하나만 잘못돼도 누출</a:t>
            </a:r>
            <a:endParaRPr lang="en-US" sz="1250" dirty="0"/>
          </a:p>
        </p:txBody>
      </p:sp>
      <p:sp>
        <p:nvSpPr>
          <p:cNvPr id="23" name="Text 21"/>
          <p:cNvSpPr txBox="1"/>
          <p:nvPr/>
        </p:nvSpPr>
        <p:spPr>
          <a:xfrm>
            <a:off x="9144000" y="4242816"/>
            <a:ext cx="2286000" cy="457200"/>
          </a:xfrm>
          <a:prstGeom prst="rect">
            <a:avLst/>
          </a:prstGeom>
          <a:noFill/>
          <a:ln/>
        </p:spPr>
        <p:txBody>
          <a:bodyPr wrap="square" lIns="0" tIns="0" rIns="0" bIns="0" rtlCol="0" anchor="ctr"/>
          <a:lstStyle/>
          <a:p>
            <a:pPr marL="0" indent="0" algn="r">
              <a:buNone/>
            </a:pPr>
            <a:r>
              <a:rPr lang="en-US" sz="1300" b="1" dirty="0">
                <a:solidFill>
                  <a:srgbClr val="3D5A80"/>
                </a:solidFill>
                <a:latin typeface="Calibri" pitchFamily="34" charset="0"/>
                <a:ea typeface="Calibri" pitchFamily="34" charset="-122"/>
                <a:cs typeface="Calibri" pitchFamily="34" charset="-120"/>
              </a:rPr>
              <a:t>L2 방지</a:t>
            </a:r>
            <a:endParaRPr lang="en-US" sz="1300" dirty="0"/>
          </a:p>
        </p:txBody>
      </p:sp>
      <p:sp>
        <p:nvSpPr>
          <p:cNvPr id="24" name="Shape 22"/>
          <p:cNvSpPr/>
          <p:nvPr/>
        </p:nvSpPr>
        <p:spPr>
          <a:xfrm>
            <a:off x="548640" y="5102352"/>
            <a:ext cx="11064240" cy="1024128"/>
          </a:xfrm>
          <a:prstGeom prst="roundRect">
            <a:avLst>
              <a:gd name="adj" fmla="val 5357"/>
            </a:avLst>
          </a:prstGeom>
          <a:solidFill>
            <a:srgbClr val="FCEBEC"/>
          </a:solidFill>
          <a:ln/>
        </p:spPr>
        <p:txBody>
          <a:bodyPr/>
          <a:lstStyle/>
          <a:p>
            <a:endParaRPr lang="ko-KR" altLang="en-US"/>
          </a:p>
        </p:txBody>
      </p:sp>
      <p:sp>
        <p:nvSpPr>
          <p:cNvPr id="25" name="Shape 23"/>
          <p:cNvSpPr/>
          <p:nvPr/>
        </p:nvSpPr>
        <p:spPr>
          <a:xfrm>
            <a:off x="777240" y="5340096"/>
            <a:ext cx="548640" cy="548640"/>
          </a:xfrm>
          <a:prstGeom prst="ellipse">
            <a:avLst/>
          </a:prstGeom>
          <a:solidFill>
            <a:srgbClr val="E63946"/>
          </a:solidFill>
          <a:ln/>
        </p:spPr>
        <p:txBody>
          <a:bodyPr/>
          <a:lstStyle/>
          <a:p>
            <a:endParaRPr lang="ko-KR" altLang="en-US"/>
          </a:p>
        </p:txBody>
      </p:sp>
      <p:sp>
        <p:nvSpPr>
          <p:cNvPr id="26" name="Text 24"/>
          <p:cNvSpPr txBox="1"/>
          <p:nvPr/>
        </p:nvSpPr>
        <p:spPr>
          <a:xfrm>
            <a:off x="777240" y="5340096"/>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C</a:t>
            </a:r>
            <a:endParaRPr lang="en-US" sz="1600" dirty="0"/>
          </a:p>
        </p:txBody>
      </p:sp>
      <p:sp>
        <p:nvSpPr>
          <p:cNvPr id="27" name="Text 25"/>
          <p:cNvSpPr txBox="1"/>
          <p:nvPr/>
        </p:nvSpPr>
        <p:spPr>
          <a:xfrm>
            <a:off x="1536192" y="5212080"/>
            <a:ext cx="7498080" cy="411480"/>
          </a:xfrm>
          <a:prstGeom prst="rect">
            <a:avLst/>
          </a:prstGeom>
          <a:noFill/>
          <a:ln/>
        </p:spPr>
        <p:txBody>
          <a:bodyPr wrap="square" lIns="0" tIns="0" rIns="0" bIns="0" rtlCol="0" anchor="ctr"/>
          <a:lstStyle/>
          <a:p>
            <a:pPr marL="0" indent="0">
              <a:buNone/>
            </a:pPr>
            <a:r>
              <a:rPr lang="en-US" sz="1550" b="1" dirty="0">
                <a:solidFill>
                  <a:srgbClr val="1D2433"/>
                </a:solidFill>
                <a:latin typeface="Cambria" pitchFamily="34" charset="0"/>
                <a:ea typeface="Cambria" pitchFamily="34" charset="-122"/>
                <a:cs typeface="Cambria" pitchFamily="34" charset="-120"/>
              </a:rPr>
              <a:t>테스트셋이 주장하려는 분포와 맞는가?</a:t>
            </a:r>
            <a:endParaRPr lang="en-US" sz="1550" dirty="0"/>
          </a:p>
        </p:txBody>
      </p:sp>
      <p:sp>
        <p:nvSpPr>
          <p:cNvPr id="28" name="Text 26"/>
          <p:cNvSpPr txBox="1"/>
          <p:nvPr/>
        </p:nvSpPr>
        <p:spPr>
          <a:xfrm>
            <a:off x="1536192" y="5632704"/>
            <a:ext cx="7498080" cy="41148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시간 순서·독립성·표집 편향을 지켰는지</a:t>
            </a:r>
            <a:endParaRPr lang="en-US" sz="1250" dirty="0"/>
          </a:p>
        </p:txBody>
      </p:sp>
      <p:sp>
        <p:nvSpPr>
          <p:cNvPr id="29" name="Text 27"/>
          <p:cNvSpPr txBox="1"/>
          <p:nvPr/>
        </p:nvSpPr>
        <p:spPr>
          <a:xfrm>
            <a:off x="9144000" y="5376672"/>
            <a:ext cx="2286000" cy="457200"/>
          </a:xfrm>
          <a:prstGeom prst="rect">
            <a:avLst/>
          </a:prstGeom>
          <a:noFill/>
          <a:ln/>
        </p:spPr>
        <p:txBody>
          <a:bodyPr wrap="square" lIns="0" tIns="0" rIns="0" bIns="0" rtlCol="0" anchor="ctr"/>
          <a:lstStyle/>
          <a:p>
            <a:pPr marL="0" indent="0" algn="r">
              <a:buNone/>
            </a:pPr>
            <a:r>
              <a:rPr lang="en-US" sz="1300" b="1" dirty="0">
                <a:solidFill>
                  <a:srgbClr val="E63946"/>
                </a:solidFill>
                <a:latin typeface="Calibri" pitchFamily="34" charset="0"/>
                <a:ea typeface="Calibri" pitchFamily="34" charset="-122"/>
                <a:cs typeface="Calibri" pitchFamily="34" charset="-120"/>
              </a:rPr>
              <a:t>L3 · 시점 누출 방지</a:t>
            </a:r>
            <a:endParaRPr lang="en-US" sz="1300" dirty="0"/>
          </a:p>
        </p:txBody>
      </p:sp>
      <p:sp>
        <p:nvSpPr>
          <p:cNvPr id="30" name="Shape 28"/>
          <p:cNvSpPr/>
          <p:nvPr/>
        </p:nvSpPr>
        <p:spPr>
          <a:xfrm>
            <a:off x="548640" y="6263640"/>
            <a:ext cx="11064240" cy="457200"/>
          </a:xfrm>
          <a:prstGeom prst="roundRect">
            <a:avLst>
              <a:gd name="adj" fmla="val 8000"/>
            </a:avLst>
          </a:prstGeom>
          <a:solidFill>
            <a:srgbClr val="E8F4F1"/>
          </a:solidFill>
          <a:ln/>
        </p:spPr>
        <p:txBody>
          <a:bodyPr/>
          <a:lstStyle/>
          <a:p>
            <a:endParaRPr lang="ko-KR" altLang="en-US"/>
          </a:p>
        </p:txBody>
      </p:sp>
      <p:sp>
        <p:nvSpPr>
          <p:cNvPr id="31" name="Text 29"/>
          <p:cNvSpPr txBox="1"/>
          <p:nvPr/>
        </p:nvSpPr>
        <p:spPr>
          <a:xfrm>
            <a:off x="822960" y="6263640"/>
            <a:ext cx="10515600" cy="457200"/>
          </a:xfrm>
          <a:prstGeom prst="rect">
            <a:avLst/>
          </a:prstGeom>
          <a:noFill/>
          <a:ln/>
        </p:spPr>
        <p:txBody>
          <a:bodyPr wrap="square" lIns="0" tIns="0" rIns="0" bIns="0" rtlCol="0" anchor="ctr"/>
          <a:lstStyle/>
          <a:p>
            <a:pPr marL="0" indent="0">
              <a:buNone/>
            </a:pPr>
            <a:r>
              <a:rPr lang="en-US" sz="1250" b="1" dirty="0">
                <a:solidFill>
                  <a:srgbClr val="2A9D8F"/>
                </a:solidFill>
                <a:latin typeface="Calibri" pitchFamily="34" charset="0"/>
                <a:ea typeface="Calibri" pitchFamily="34" charset="-122"/>
                <a:cs typeface="Calibri" pitchFamily="34" charset="-120"/>
              </a:rPr>
              <a:t>검증됨  </a:t>
            </a:r>
            <a:r>
              <a:rPr lang="en-US" sz="1250" dirty="0">
                <a:solidFill>
                  <a:srgbClr val="1D2433"/>
                </a:solidFill>
                <a:latin typeface="Calibri" pitchFamily="34" charset="0"/>
                <a:ea typeface="Calibri" pitchFamily="34" charset="-122"/>
                <a:cs typeface="Calibri" pitchFamily="34" charset="-120"/>
              </a:rPr>
              <a:t>오류가 확인된 내전 예측 논문 </a:t>
            </a:r>
            <a:r>
              <a:rPr lang="en-US" sz="1250" b="1" dirty="0">
                <a:solidFill>
                  <a:srgbClr val="1D2433"/>
                </a:solidFill>
                <a:latin typeface="Calibri" pitchFamily="34" charset="0"/>
                <a:ea typeface="Calibri" pitchFamily="34" charset="-122"/>
                <a:cs typeface="Calibri" pitchFamily="34" charset="-120"/>
              </a:rPr>
              <a:t>4편에 이 시트를 적용해 보니, 각 논문의 누출 유형을 모두 탐지</a:t>
            </a:r>
            <a:r>
              <a:rPr lang="en-US" sz="1250" dirty="0">
                <a:solidFill>
                  <a:srgbClr val="1D2433"/>
                </a:solidFill>
                <a:latin typeface="Calibri" pitchFamily="34" charset="0"/>
                <a:ea typeface="Calibri" pitchFamily="34" charset="-122"/>
                <a:cs typeface="Calibri" pitchFamily="34" charset="-120"/>
              </a:rPr>
              <a:t>해냈습니다.</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rtlCol="0" anchor="ctr"/>
          <a:lstStyle/>
          <a:p>
            <a:pPr marL="0" indent="0">
              <a:buNone/>
            </a:pPr>
            <a:r>
              <a:rPr lang="en-US" sz="1250" b="1" kern="0" spc="200" dirty="0">
                <a:solidFill>
                  <a:srgbClr val="E63946"/>
                </a:solidFill>
                <a:latin typeface="Calibri" pitchFamily="34" charset="0"/>
                <a:ea typeface="Calibri" pitchFamily="34" charset="-122"/>
                <a:cs typeface="Calibri" pitchFamily="34" charset="-120"/>
              </a:rPr>
              <a:t>③ 결과 (1/2) — 얼마나 넓은 문제인가</a:t>
            </a:r>
            <a:endParaRPr lang="en-US" sz="1250" dirty="0"/>
          </a:p>
        </p:txBody>
      </p:sp>
      <p:sp>
        <p:nvSpPr>
          <p:cNvPr id="3" name="Text 1"/>
          <p:cNvSpPr txBox="1"/>
          <p:nvPr/>
        </p:nvSpPr>
        <p:spPr>
          <a:xfrm>
            <a:off x="548640" y="621792"/>
            <a:ext cx="11064240" cy="658368"/>
          </a:xfrm>
          <a:prstGeom prst="rect">
            <a:avLst/>
          </a:prstGeom>
          <a:noFill/>
          <a:ln/>
        </p:spPr>
        <p:txBody>
          <a:bodyPr wrap="square" rtlCol="0" anchor="ctr"/>
          <a:lstStyle/>
          <a:p>
            <a:pPr marL="0" indent="0">
              <a:buNone/>
            </a:pPr>
            <a:r>
              <a:rPr lang="en-US" sz="2800" b="1" dirty="0">
                <a:solidFill>
                  <a:srgbClr val="1D2433"/>
                </a:solidFill>
                <a:latin typeface="Cambria" pitchFamily="34" charset="0"/>
                <a:ea typeface="Cambria" pitchFamily="34" charset="-122"/>
                <a:cs typeface="Cambria" pitchFamily="34" charset="-120"/>
              </a:rPr>
              <a:t>17개 분야를 가로지른 조사 결과</a:t>
            </a:r>
            <a:endParaRPr lang="en-US" sz="2800" dirty="0"/>
          </a:p>
        </p:txBody>
      </p:sp>
      <p:sp>
        <p:nvSpPr>
          <p:cNvPr id="4" name="Shape 2"/>
          <p:cNvSpPr/>
          <p:nvPr/>
        </p:nvSpPr>
        <p:spPr>
          <a:xfrm>
            <a:off x="548640" y="1371600"/>
            <a:ext cx="11064240" cy="1207008"/>
          </a:xfrm>
          <a:prstGeom prst="roundRect">
            <a:avLst>
              <a:gd name="adj" fmla="val 3788"/>
            </a:avLst>
          </a:prstGeom>
          <a:solidFill>
            <a:srgbClr val="EAEFF5"/>
          </a:solidFill>
          <a:ln/>
        </p:spPr>
        <p:txBody>
          <a:bodyPr/>
          <a:lstStyle/>
          <a:p>
            <a:endParaRPr lang="ko-KR" altLang="en-US"/>
          </a:p>
        </p:txBody>
      </p:sp>
      <p:sp>
        <p:nvSpPr>
          <p:cNvPr id="5" name="Text 3"/>
          <p:cNvSpPr txBox="1"/>
          <p:nvPr/>
        </p:nvSpPr>
        <p:spPr>
          <a:xfrm>
            <a:off x="658368" y="1389888"/>
            <a:ext cx="548640" cy="548640"/>
          </a:xfrm>
          <a:prstGeom prst="rect">
            <a:avLst/>
          </a:prstGeom>
          <a:noFill/>
          <a:ln/>
        </p:spPr>
        <p:txBody>
          <a:bodyPr wrap="square" lIns="0" tIns="0" rIns="0" bIns="0" rtlCol="0" anchor="ctr"/>
          <a:lstStyle/>
          <a:p>
            <a:pPr marL="0" indent="0">
              <a:buNone/>
            </a:pPr>
            <a:r>
              <a:rPr lang="en-US" sz="4000" b="1" dirty="0">
                <a:solidFill>
                  <a:srgbClr val="98C1D9"/>
                </a:solidFill>
                <a:latin typeface="Cambria" pitchFamily="34" charset="0"/>
                <a:ea typeface="Cambria" pitchFamily="34" charset="-122"/>
                <a:cs typeface="Cambria" pitchFamily="34" charset="-120"/>
              </a:rPr>
              <a:t>“</a:t>
            </a:r>
            <a:endParaRPr lang="en-US" sz="4000" dirty="0"/>
          </a:p>
        </p:txBody>
      </p:sp>
      <p:sp>
        <p:nvSpPr>
          <p:cNvPr id="6" name="Text 4"/>
          <p:cNvSpPr txBox="1"/>
          <p:nvPr/>
        </p:nvSpPr>
        <p:spPr>
          <a:xfrm>
            <a:off x="1207008" y="1499616"/>
            <a:ext cx="10149840" cy="566928"/>
          </a:xfrm>
          <a:prstGeom prst="rect">
            <a:avLst/>
          </a:prstGeom>
          <a:noFill/>
          <a:ln/>
        </p:spPr>
        <p:txBody>
          <a:bodyPr wrap="square" lIns="0" tIns="0" rIns="0" bIns="0" rtlCol="0" anchor="ctr"/>
          <a:lstStyle/>
          <a:p>
            <a:pPr marL="0" indent="0">
              <a:lnSpc>
                <a:spcPct val="105000"/>
              </a:lnSpc>
              <a:buNone/>
            </a:pPr>
            <a:r>
              <a:rPr lang="en-US" sz="1150" i="1" dirty="0">
                <a:solidFill>
                  <a:srgbClr val="3D5A80"/>
                </a:solidFill>
                <a:latin typeface="Calibri" pitchFamily="34" charset="0"/>
                <a:ea typeface="Calibri" pitchFamily="34" charset="-122"/>
                <a:cs typeface="Calibri" pitchFamily="34" charset="-120"/>
              </a:rPr>
              <a:t>“We find 22 papers from 17 fields that outline errors in ML-based science in their field, collectively affecting 294 papers.”</a:t>
            </a:r>
            <a:endParaRPr lang="en-US" sz="1150" dirty="0"/>
          </a:p>
        </p:txBody>
      </p:sp>
      <p:sp>
        <p:nvSpPr>
          <p:cNvPr id="7" name="Text 5"/>
          <p:cNvSpPr txBox="1"/>
          <p:nvPr/>
        </p:nvSpPr>
        <p:spPr>
          <a:xfrm>
            <a:off x="1207008" y="2048256"/>
            <a:ext cx="10149840" cy="246888"/>
          </a:xfrm>
          <a:prstGeom prst="rect">
            <a:avLst/>
          </a:prstGeom>
          <a:noFill/>
          <a:ln/>
        </p:spPr>
        <p:txBody>
          <a:bodyPr wrap="square" lIns="0" tIns="0" rIns="0" bIns="0" rtlCol="0" anchor="ctr"/>
          <a:lstStyle/>
          <a:p>
            <a:pPr marL="0" indent="0">
              <a:lnSpc>
                <a:spcPct val="110000"/>
              </a:lnSpc>
              <a:buNone/>
            </a:pPr>
            <a:r>
              <a:rPr lang="en-US" sz="1400" b="1" dirty="0">
                <a:solidFill>
                  <a:srgbClr val="1D2433"/>
                </a:solidFill>
                <a:latin typeface="Calibri" pitchFamily="34" charset="0"/>
                <a:ea typeface="Calibri" pitchFamily="34" charset="-122"/>
                <a:cs typeface="Calibri" pitchFamily="34" charset="-120"/>
              </a:rPr>
              <a:t>“우리는 17개 분야에서 자기 분야의 ML 기반 과학 오류를 정리한 22편의 논문을 찾았고, 이들이 다룬 논문은 총 294편에 이른다.”</a:t>
            </a:r>
            <a:endParaRPr lang="en-US" sz="1400" dirty="0"/>
          </a:p>
        </p:txBody>
      </p:sp>
      <p:sp>
        <p:nvSpPr>
          <p:cNvPr id="8" name="Text 6"/>
          <p:cNvSpPr txBox="1"/>
          <p:nvPr/>
        </p:nvSpPr>
        <p:spPr>
          <a:xfrm>
            <a:off x="8595360" y="2267712"/>
            <a:ext cx="2834640" cy="256032"/>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 결과 ‘재현성 위기의 증거’ 4문단 (주제문장)</a:t>
            </a:r>
            <a:endParaRPr lang="en-US" sz="950" dirty="0"/>
          </a:p>
        </p:txBody>
      </p:sp>
      <p:sp>
        <p:nvSpPr>
          <p:cNvPr id="9" name="Shape 7"/>
          <p:cNvSpPr/>
          <p:nvPr/>
        </p:nvSpPr>
        <p:spPr>
          <a:xfrm>
            <a:off x="548640" y="2761488"/>
            <a:ext cx="1691640" cy="1600200"/>
          </a:xfrm>
          <a:prstGeom prst="roundRect">
            <a:avLst>
              <a:gd name="adj" fmla="val 2857"/>
            </a:avLst>
          </a:prstGeom>
          <a:solidFill>
            <a:srgbClr val="14213D"/>
          </a:solidFill>
          <a:ln/>
        </p:spPr>
        <p:txBody>
          <a:bodyPr/>
          <a:lstStyle/>
          <a:p>
            <a:endParaRPr lang="ko-KR" altLang="en-US"/>
          </a:p>
        </p:txBody>
      </p:sp>
      <p:sp>
        <p:nvSpPr>
          <p:cNvPr id="10" name="Text 8"/>
          <p:cNvSpPr txBox="1"/>
          <p:nvPr/>
        </p:nvSpPr>
        <p:spPr>
          <a:xfrm>
            <a:off x="548640" y="2926080"/>
            <a:ext cx="1691640" cy="731520"/>
          </a:xfrm>
          <a:prstGeom prst="rect">
            <a:avLst/>
          </a:prstGeom>
          <a:noFill/>
          <a:ln/>
        </p:spPr>
        <p:txBody>
          <a:bodyPr wrap="square" lIns="0" tIns="0" rIns="0" bIns="0" rtlCol="0" anchor="ctr"/>
          <a:lstStyle/>
          <a:p>
            <a:pPr marL="0" indent="0" algn="ctr">
              <a:buNone/>
            </a:pPr>
            <a:r>
              <a:rPr lang="en-US" sz="4000" b="1" dirty="0">
                <a:solidFill>
                  <a:srgbClr val="98C1D9"/>
                </a:solidFill>
                <a:latin typeface="Cambria" pitchFamily="34" charset="0"/>
                <a:ea typeface="Cambria" pitchFamily="34" charset="-122"/>
                <a:cs typeface="Cambria" pitchFamily="34" charset="-120"/>
              </a:rPr>
              <a:t>22</a:t>
            </a:r>
            <a:r>
              <a:rPr lang="en-US" sz="1500" b="1" dirty="0">
                <a:solidFill>
                  <a:srgbClr val="FFFFFF"/>
                </a:solidFill>
                <a:latin typeface="Calibri" pitchFamily="34" charset="0"/>
                <a:ea typeface="Calibri" pitchFamily="34" charset="-122"/>
                <a:cs typeface="Calibri" pitchFamily="34" charset="-120"/>
              </a:rPr>
              <a:t>편</a:t>
            </a:r>
            <a:endParaRPr lang="en-US" sz="4000" dirty="0"/>
          </a:p>
        </p:txBody>
      </p:sp>
      <p:sp>
        <p:nvSpPr>
          <p:cNvPr id="11" name="Text 9"/>
          <p:cNvSpPr txBox="1"/>
          <p:nvPr/>
        </p:nvSpPr>
        <p:spPr>
          <a:xfrm>
            <a:off x="658368" y="3675888"/>
            <a:ext cx="1472184" cy="594360"/>
          </a:xfrm>
          <a:prstGeom prst="rect">
            <a:avLst/>
          </a:prstGeom>
          <a:noFill/>
          <a:ln/>
        </p:spPr>
        <p:txBody>
          <a:bodyPr wrap="square" lIns="0" tIns="0" rIns="0" bIns="0" rtlCol="0" anchor="ctr"/>
          <a:lstStyle/>
          <a:p>
            <a:pPr marL="0" indent="0" algn="ctr">
              <a:lnSpc>
                <a:spcPct val="105000"/>
              </a:lnSpc>
              <a:buNone/>
            </a:pPr>
            <a:r>
              <a:rPr lang="en-US" sz="1150" dirty="0">
                <a:solidFill>
                  <a:srgbClr val="98C1D9"/>
                </a:solidFill>
                <a:latin typeface="Calibri" pitchFamily="34" charset="0"/>
                <a:ea typeface="Calibri" pitchFamily="34" charset="-122"/>
                <a:cs typeface="Calibri" pitchFamily="34" charset="-120"/>
              </a:rPr>
              <a:t>조사한</a:t>
            </a:r>
            <a:endParaRPr lang="en-US" sz="1150" dirty="0"/>
          </a:p>
          <a:p>
            <a:pPr marL="0" indent="0" algn="ctr">
              <a:lnSpc>
                <a:spcPct val="105000"/>
              </a:lnSpc>
              <a:buNone/>
            </a:pPr>
            <a:r>
              <a:rPr lang="en-US" sz="1150" dirty="0">
                <a:solidFill>
                  <a:srgbClr val="98C1D9"/>
                </a:solidFill>
                <a:latin typeface="Calibri" pitchFamily="34" charset="0"/>
                <a:ea typeface="Calibri" pitchFamily="34" charset="-122"/>
                <a:cs typeface="Calibri" pitchFamily="34" charset="-120"/>
              </a:rPr>
              <a:t>리뷰 논문</a:t>
            </a:r>
            <a:endParaRPr lang="en-US" sz="1150" dirty="0"/>
          </a:p>
        </p:txBody>
      </p:sp>
      <p:sp>
        <p:nvSpPr>
          <p:cNvPr id="12" name="Shape 10"/>
          <p:cNvSpPr/>
          <p:nvPr/>
        </p:nvSpPr>
        <p:spPr>
          <a:xfrm>
            <a:off x="2359152" y="2761488"/>
            <a:ext cx="1691640" cy="1600200"/>
          </a:xfrm>
          <a:prstGeom prst="roundRect">
            <a:avLst>
              <a:gd name="adj" fmla="val 2857"/>
            </a:avLst>
          </a:prstGeom>
          <a:solidFill>
            <a:srgbClr val="14213D"/>
          </a:solidFill>
          <a:ln/>
        </p:spPr>
        <p:txBody>
          <a:bodyPr/>
          <a:lstStyle/>
          <a:p>
            <a:endParaRPr lang="ko-KR" altLang="en-US"/>
          </a:p>
        </p:txBody>
      </p:sp>
      <p:sp>
        <p:nvSpPr>
          <p:cNvPr id="13" name="Text 11"/>
          <p:cNvSpPr txBox="1"/>
          <p:nvPr/>
        </p:nvSpPr>
        <p:spPr>
          <a:xfrm>
            <a:off x="2359152" y="2926080"/>
            <a:ext cx="1691640" cy="731520"/>
          </a:xfrm>
          <a:prstGeom prst="rect">
            <a:avLst/>
          </a:prstGeom>
          <a:noFill/>
          <a:ln/>
        </p:spPr>
        <p:txBody>
          <a:bodyPr wrap="square" lIns="0" tIns="0" rIns="0" bIns="0" rtlCol="0" anchor="ctr"/>
          <a:lstStyle/>
          <a:p>
            <a:pPr marL="0" indent="0" algn="ctr">
              <a:buNone/>
            </a:pPr>
            <a:r>
              <a:rPr lang="en-US" sz="4000" b="1" dirty="0">
                <a:solidFill>
                  <a:srgbClr val="98C1D9"/>
                </a:solidFill>
                <a:latin typeface="Cambria" pitchFamily="34" charset="0"/>
                <a:ea typeface="Cambria" pitchFamily="34" charset="-122"/>
                <a:cs typeface="Cambria" pitchFamily="34" charset="-120"/>
              </a:rPr>
              <a:t>17</a:t>
            </a:r>
            <a:r>
              <a:rPr lang="en-US" sz="1500" b="1" dirty="0">
                <a:solidFill>
                  <a:srgbClr val="FFFFFF"/>
                </a:solidFill>
                <a:latin typeface="Calibri" pitchFamily="34" charset="0"/>
                <a:ea typeface="Calibri" pitchFamily="34" charset="-122"/>
                <a:cs typeface="Calibri" pitchFamily="34" charset="-120"/>
              </a:rPr>
              <a:t>개</a:t>
            </a:r>
            <a:endParaRPr lang="en-US" sz="4000" dirty="0"/>
          </a:p>
        </p:txBody>
      </p:sp>
      <p:sp>
        <p:nvSpPr>
          <p:cNvPr id="14" name="Text 12"/>
          <p:cNvSpPr txBox="1"/>
          <p:nvPr/>
        </p:nvSpPr>
        <p:spPr>
          <a:xfrm>
            <a:off x="2468880" y="3675888"/>
            <a:ext cx="1472184" cy="594360"/>
          </a:xfrm>
          <a:prstGeom prst="rect">
            <a:avLst/>
          </a:prstGeom>
          <a:noFill/>
          <a:ln/>
        </p:spPr>
        <p:txBody>
          <a:bodyPr wrap="square" lIns="0" tIns="0" rIns="0" bIns="0" rtlCol="0" anchor="ctr"/>
          <a:lstStyle/>
          <a:p>
            <a:pPr marL="0" indent="0" algn="ctr">
              <a:lnSpc>
                <a:spcPct val="105000"/>
              </a:lnSpc>
              <a:buNone/>
            </a:pPr>
            <a:r>
              <a:rPr lang="en-US" sz="1150" dirty="0">
                <a:solidFill>
                  <a:srgbClr val="98C1D9"/>
                </a:solidFill>
                <a:latin typeface="Calibri" pitchFamily="34" charset="0"/>
                <a:ea typeface="Calibri" pitchFamily="34" charset="-122"/>
                <a:cs typeface="Calibri" pitchFamily="34" charset="-120"/>
              </a:rPr>
              <a:t>영향받은</a:t>
            </a:r>
            <a:endParaRPr lang="en-US" sz="1150" dirty="0"/>
          </a:p>
          <a:p>
            <a:pPr marL="0" indent="0" algn="ctr">
              <a:lnSpc>
                <a:spcPct val="105000"/>
              </a:lnSpc>
              <a:buNone/>
            </a:pPr>
            <a:r>
              <a:rPr lang="en-US" sz="1150" dirty="0">
                <a:solidFill>
                  <a:srgbClr val="98C1D9"/>
                </a:solidFill>
                <a:latin typeface="Calibri" pitchFamily="34" charset="0"/>
                <a:ea typeface="Calibri" pitchFamily="34" charset="-122"/>
                <a:cs typeface="Calibri" pitchFamily="34" charset="-120"/>
              </a:rPr>
              <a:t>과학 분야</a:t>
            </a:r>
            <a:endParaRPr lang="en-US" sz="1150" dirty="0"/>
          </a:p>
        </p:txBody>
      </p:sp>
      <p:sp>
        <p:nvSpPr>
          <p:cNvPr id="15" name="Shape 13"/>
          <p:cNvSpPr/>
          <p:nvPr/>
        </p:nvSpPr>
        <p:spPr>
          <a:xfrm>
            <a:off x="4169664" y="2761488"/>
            <a:ext cx="1783080" cy="1600200"/>
          </a:xfrm>
          <a:prstGeom prst="roundRect">
            <a:avLst>
              <a:gd name="adj" fmla="val 2857"/>
            </a:avLst>
          </a:prstGeom>
          <a:solidFill>
            <a:srgbClr val="14213D"/>
          </a:solidFill>
          <a:ln/>
        </p:spPr>
        <p:txBody>
          <a:bodyPr/>
          <a:lstStyle/>
          <a:p>
            <a:endParaRPr lang="ko-KR" altLang="en-US"/>
          </a:p>
        </p:txBody>
      </p:sp>
      <p:sp>
        <p:nvSpPr>
          <p:cNvPr id="16" name="Text 14"/>
          <p:cNvSpPr txBox="1"/>
          <p:nvPr/>
        </p:nvSpPr>
        <p:spPr>
          <a:xfrm>
            <a:off x="4169664" y="2926080"/>
            <a:ext cx="1783080" cy="731520"/>
          </a:xfrm>
          <a:prstGeom prst="rect">
            <a:avLst/>
          </a:prstGeom>
          <a:noFill/>
          <a:ln/>
        </p:spPr>
        <p:txBody>
          <a:bodyPr wrap="square" lIns="0" tIns="0" rIns="0" bIns="0" rtlCol="0" anchor="ctr"/>
          <a:lstStyle/>
          <a:p>
            <a:pPr marL="0" indent="0" algn="ctr">
              <a:buNone/>
            </a:pPr>
            <a:r>
              <a:rPr lang="en-US" sz="4000" b="1" dirty="0">
                <a:solidFill>
                  <a:srgbClr val="98C1D9"/>
                </a:solidFill>
                <a:latin typeface="Cambria" pitchFamily="34" charset="0"/>
                <a:ea typeface="Cambria" pitchFamily="34" charset="-122"/>
                <a:cs typeface="Cambria" pitchFamily="34" charset="-120"/>
              </a:rPr>
              <a:t>294</a:t>
            </a:r>
            <a:r>
              <a:rPr lang="en-US" sz="1500" b="1" dirty="0">
                <a:solidFill>
                  <a:srgbClr val="FFFFFF"/>
                </a:solidFill>
                <a:latin typeface="Calibri" pitchFamily="34" charset="0"/>
                <a:ea typeface="Calibri" pitchFamily="34" charset="-122"/>
                <a:cs typeface="Calibri" pitchFamily="34" charset="-120"/>
              </a:rPr>
              <a:t>편</a:t>
            </a:r>
            <a:endParaRPr lang="en-US" sz="4000" dirty="0"/>
          </a:p>
        </p:txBody>
      </p:sp>
      <p:sp>
        <p:nvSpPr>
          <p:cNvPr id="17" name="Text 15"/>
          <p:cNvSpPr txBox="1"/>
          <p:nvPr/>
        </p:nvSpPr>
        <p:spPr>
          <a:xfrm>
            <a:off x="4279392" y="3675888"/>
            <a:ext cx="1563624" cy="594360"/>
          </a:xfrm>
          <a:prstGeom prst="rect">
            <a:avLst/>
          </a:prstGeom>
          <a:noFill/>
          <a:ln/>
        </p:spPr>
        <p:txBody>
          <a:bodyPr wrap="square" lIns="0" tIns="0" rIns="0" bIns="0" rtlCol="0" anchor="ctr"/>
          <a:lstStyle/>
          <a:p>
            <a:pPr marL="0" indent="0" algn="ctr">
              <a:lnSpc>
                <a:spcPct val="105000"/>
              </a:lnSpc>
              <a:buNone/>
            </a:pPr>
            <a:r>
              <a:rPr lang="en-US" sz="1150" dirty="0">
                <a:solidFill>
                  <a:srgbClr val="98C1D9"/>
                </a:solidFill>
                <a:latin typeface="Calibri" pitchFamily="34" charset="0"/>
                <a:ea typeface="Calibri" pitchFamily="34" charset="-122"/>
                <a:cs typeface="Calibri" pitchFamily="34" charset="-120"/>
              </a:rPr>
              <a:t>누출 영향</a:t>
            </a:r>
            <a:endParaRPr lang="en-US" sz="1150" dirty="0"/>
          </a:p>
          <a:p>
            <a:pPr marL="0" indent="0" algn="ctr">
              <a:lnSpc>
                <a:spcPct val="105000"/>
              </a:lnSpc>
              <a:buNone/>
            </a:pPr>
            <a:r>
              <a:rPr lang="en-US" sz="1150" dirty="0">
                <a:solidFill>
                  <a:srgbClr val="98C1D9"/>
                </a:solidFill>
                <a:latin typeface="Calibri" pitchFamily="34" charset="0"/>
                <a:ea typeface="Calibri" pitchFamily="34" charset="-122"/>
                <a:cs typeface="Calibri" pitchFamily="34" charset="-120"/>
              </a:rPr>
              <a:t>논문 총계</a:t>
            </a:r>
            <a:endParaRPr lang="en-US" sz="1150" dirty="0"/>
          </a:p>
        </p:txBody>
      </p:sp>
      <p:sp>
        <p:nvSpPr>
          <p:cNvPr id="18" name="Shape 16"/>
          <p:cNvSpPr/>
          <p:nvPr/>
        </p:nvSpPr>
        <p:spPr>
          <a:xfrm>
            <a:off x="548640" y="4526280"/>
            <a:ext cx="5404104" cy="960120"/>
          </a:xfrm>
          <a:prstGeom prst="roundRect">
            <a:avLst>
              <a:gd name="adj" fmla="val 4762"/>
            </a:avLst>
          </a:prstGeom>
          <a:solidFill>
            <a:srgbClr val="FCEBEC"/>
          </a:solidFill>
          <a:ln/>
        </p:spPr>
        <p:txBody>
          <a:bodyPr/>
          <a:lstStyle/>
          <a:p>
            <a:endParaRPr lang="ko-KR" altLang="en-US"/>
          </a:p>
        </p:txBody>
      </p:sp>
      <p:sp>
        <p:nvSpPr>
          <p:cNvPr id="19" name="Text 17"/>
          <p:cNvSpPr txBox="1"/>
          <p:nvPr/>
        </p:nvSpPr>
        <p:spPr>
          <a:xfrm>
            <a:off x="777240" y="4526280"/>
            <a:ext cx="4937760" cy="960120"/>
          </a:xfrm>
          <a:prstGeom prst="rect">
            <a:avLst/>
          </a:prstGeom>
          <a:noFill/>
          <a:ln/>
        </p:spPr>
        <p:txBody>
          <a:bodyPr wrap="square" lIns="0" tIns="0" rIns="0" bIns="0" rtlCol="0" anchor="ctr"/>
          <a:lstStyle/>
          <a:p>
            <a:pPr marL="0" indent="0">
              <a:lnSpc>
                <a:spcPct val="110000"/>
              </a:lnSpc>
              <a:buNone/>
            </a:pPr>
            <a:r>
              <a:rPr lang="en-US" sz="1300" dirty="0">
                <a:solidFill>
                  <a:srgbClr val="1D2433"/>
                </a:solidFill>
                <a:latin typeface="Calibri" pitchFamily="34" charset="0"/>
                <a:ea typeface="Calibri" pitchFamily="34" charset="-122"/>
                <a:cs typeface="Calibri" pitchFamily="34" charset="-120"/>
              </a:rPr>
              <a:t>조사한 리뷰 </a:t>
            </a:r>
            <a:r>
              <a:rPr lang="en-US" sz="1300" b="1" dirty="0">
                <a:solidFill>
                  <a:srgbClr val="E63946"/>
                </a:solidFill>
                <a:latin typeface="Calibri" pitchFamily="34" charset="0"/>
                <a:ea typeface="Calibri" pitchFamily="34" charset="-122"/>
                <a:cs typeface="Calibri" pitchFamily="34" charset="-120"/>
              </a:rPr>
              <a:t>전부</a:t>
            </a:r>
            <a:r>
              <a:rPr lang="en-US" sz="1300" dirty="0">
                <a:solidFill>
                  <a:srgbClr val="1D2433"/>
                </a:solidFill>
                <a:latin typeface="Calibri" pitchFamily="34" charset="0"/>
                <a:ea typeface="Calibri" pitchFamily="34" charset="-122"/>
                <a:cs typeface="Calibri" pitchFamily="34" charset="-120"/>
              </a:rPr>
              <a:t>에서 예외 없이 데이터 누출이 </a:t>
            </a:r>
            <a:r>
              <a:rPr lang="en-US" sz="1300" dirty="0" err="1">
                <a:solidFill>
                  <a:srgbClr val="1D2433"/>
                </a:solidFill>
                <a:latin typeface="Calibri" pitchFamily="34" charset="0"/>
                <a:ea typeface="Calibri" pitchFamily="34" charset="-122"/>
                <a:cs typeface="Calibri" pitchFamily="34" charset="-120"/>
              </a:rPr>
              <a:t>함정으로</a:t>
            </a:r>
            <a:r>
              <a:rPr lang="en-US" sz="1300" dirty="0">
                <a:solidFill>
                  <a:srgbClr val="1D2433"/>
                </a:solidFill>
                <a:latin typeface="Calibri" pitchFamily="34" charset="0"/>
                <a:ea typeface="Calibri" pitchFamily="34" charset="-122"/>
                <a:cs typeface="Calibri" pitchFamily="34" charset="-120"/>
              </a:rPr>
              <a:t> </a:t>
            </a:r>
            <a:r>
              <a:rPr lang="en-US" sz="1300" dirty="0" err="1">
                <a:solidFill>
                  <a:srgbClr val="1D2433"/>
                </a:solidFill>
                <a:latin typeface="Calibri" pitchFamily="34" charset="0"/>
                <a:ea typeface="Calibri" pitchFamily="34" charset="-122"/>
                <a:cs typeface="Calibri" pitchFamily="34" charset="-120"/>
              </a:rPr>
              <a:t>등장</a:t>
            </a:r>
            <a:endParaRPr lang="en-US" sz="1300" dirty="0"/>
          </a:p>
        </p:txBody>
      </p:sp>
      <p:sp>
        <p:nvSpPr>
          <p:cNvPr id="21" name="Text 19"/>
          <p:cNvSpPr txBox="1"/>
          <p:nvPr/>
        </p:nvSpPr>
        <p:spPr>
          <a:xfrm>
            <a:off x="6263640" y="2761488"/>
            <a:ext cx="5349240" cy="320040"/>
          </a:xfrm>
          <a:prstGeom prst="rect">
            <a:avLst/>
          </a:prstGeom>
          <a:noFill/>
          <a:ln/>
        </p:spPr>
        <p:txBody>
          <a:bodyPr wrap="square" lIns="0" tIns="0" rIns="0" bIns="0" rtlCol="0" anchor="ctr"/>
          <a:lstStyle/>
          <a:p>
            <a:pPr marL="0" indent="0">
              <a:buNone/>
            </a:pPr>
            <a:r>
              <a:rPr lang="en-US" sz="1450" b="1" dirty="0">
                <a:solidFill>
                  <a:srgbClr val="1D2433"/>
                </a:solidFill>
                <a:latin typeface="Cambria" pitchFamily="34" charset="0"/>
                <a:ea typeface="Cambria" pitchFamily="34" charset="-122"/>
                <a:cs typeface="Cambria" pitchFamily="34" charset="-120"/>
              </a:rPr>
              <a:t>누출 말고도 반복된 문제 (지적한 리뷰 편수)</a:t>
            </a:r>
            <a:endParaRPr lang="en-US" sz="1450" dirty="0"/>
          </a:p>
        </p:txBody>
      </p:sp>
      <p:sp>
        <p:nvSpPr>
          <p:cNvPr id="22" name="Text 20"/>
          <p:cNvSpPr txBox="1"/>
          <p:nvPr/>
        </p:nvSpPr>
        <p:spPr>
          <a:xfrm>
            <a:off x="6263640" y="3227832"/>
            <a:ext cx="2194560" cy="457200"/>
          </a:xfrm>
          <a:prstGeom prst="rect">
            <a:avLst/>
          </a:prstGeom>
          <a:noFill/>
          <a:ln/>
        </p:spPr>
        <p:txBody>
          <a:bodyPr wrap="square" lIns="0" tIns="0" rIns="0" bIns="0" rtlCol="0" anchor="ctr"/>
          <a:lstStyle/>
          <a:p>
            <a:pPr marL="0" indent="0" algn="r">
              <a:buNone/>
            </a:pPr>
            <a:r>
              <a:rPr lang="en-US" sz="1200" dirty="0">
                <a:solidFill>
                  <a:srgbClr val="1D2433"/>
                </a:solidFill>
                <a:latin typeface="Calibri" pitchFamily="34" charset="0"/>
                <a:ea typeface="Calibri" pitchFamily="34" charset="-122"/>
                <a:cs typeface="Calibri" pitchFamily="34" charset="-120"/>
              </a:rPr>
              <a:t>데이터 품질</a:t>
            </a:r>
            <a:endParaRPr lang="en-US" sz="1200" dirty="0"/>
          </a:p>
        </p:txBody>
      </p:sp>
      <p:sp>
        <p:nvSpPr>
          <p:cNvPr id="23" name="Shape 21"/>
          <p:cNvSpPr/>
          <p:nvPr/>
        </p:nvSpPr>
        <p:spPr>
          <a:xfrm>
            <a:off x="8549640" y="3319272"/>
            <a:ext cx="2331720" cy="310896"/>
          </a:xfrm>
          <a:prstGeom prst="roundRect">
            <a:avLst>
              <a:gd name="adj" fmla="val 7353"/>
            </a:avLst>
          </a:prstGeom>
          <a:solidFill>
            <a:srgbClr val="3D5A80"/>
          </a:solidFill>
          <a:ln/>
        </p:spPr>
        <p:txBody>
          <a:bodyPr/>
          <a:lstStyle/>
          <a:p>
            <a:endParaRPr lang="ko-KR" altLang="en-US"/>
          </a:p>
        </p:txBody>
      </p:sp>
      <p:sp>
        <p:nvSpPr>
          <p:cNvPr id="24" name="Text 22"/>
          <p:cNvSpPr txBox="1"/>
          <p:nvPr/>
        </p:nvSpPr>
        <p:spPr>
          <a:xfrm>
            <a:off x="10991088" y="3227832"/>
            <a:ext cx="777240" cy="457200"/>
          </a:xfrm>
          <a:prstGeom prst="rect">
            <a:avLst/>
          </a:prstGeom>
          <a:noFill/>
          <a:ln/>
        </p:spPr>
        <p:txBody>
          <a:bodyPr wrap="square" lIns="0" tIns="0" rIns="0" bIns="0" rtlCol="0" anchor="ctr"/>
          <a:lstStyle/>
          <a:p>
            <a:pPr marL="0" indent="0">
              <a:buNone/>
            </a:pPr>
            <a:r>
              <a:rPr lang="en-US" sz="1250" b="1" dirty="0">
                <a:solidFill>
                  <a:srgbClr val="1D2433"/>
                </a:solidFill>
                <a:latin typeface="Calibri" pitchFamily="34" charset="0"/>
                <a:ea typeface="Calibri" pitchFamily="34" charset="-122"/>
                <a:cs typeface="Calibri" pitchFamily="34" charset="-120"/>
              </a:rPr>
              <a:t>10편</a:t>
            </a:r>
            <a:endParaRPr lang="en-US" sz="1250" dirty="0"/>
          </a:p>
        </p:txBody>
      </p:sp>
      <p:sp>
        <p:nvSpPr>
          <p:cNvPr id="25" name="Text 23"/>
          <p:cNvSpPr txBox="1"/>
          <p:nvPr/>
        </p:nvSpPr>
        <p:spPr>
          <a:xfrm>
            <a:off x="6263640" y="3794760"/>
            <a:ext cx="2194560" cy="457200"/>
          </a:xfrm>
          <a:prstGeom prst="rect">
            <a:avLst/>
          </a:prstGeom>
          <a:noFill/>
          <a:ln/>
        </p:spPr>
        <p:txBody>
          <a:bodyPr wrap="square" lIns="0" tIns="0" rIns="0" bIns="0" rtlCol="0" anchor="ctr"/>
          <a:lstStyle/>
          <a:p>
            <a:pPr marL="0" indent="0" algn="r">
              <a:buNone/>
            </a:pPr>
            <a:r>
              <a:rPr lang="en-US" sz="1200" dirty="0">
                <a:solidFill>
                  <a:srgbClr val="1D2433"/>
                </a:solidFill>
                <a:latin typeface="Calibri" pitchFamily="34" charset="0"/>
                <a:ea typeface="Calibri" pitchFamily="34" charset="-122"/>
                <a:cs typeface="Calibri" pitchFamily="34" charset="-120"/>
              </a:rPr>
              <a:t>표준 데이터셋인데도 문제</a:t>
            </a:r>
            <a:endParaRPr lang="en-US" sz="1200" dirty="0"/>
          </a:p>
        </p:txBody>
      </p:sp>
      <p:sp>
        <p:nvSpPr>
          <p:cNvPr id="26" name="Shape 24"/>
          <p:cNvSpPr/>
          <p:nvPr/>
        </p:nvSpPr>
        <p:spPr>
          <a:xfrm>
            <a:off x="8549640" y="3886200"/>
            <a:ext cx="1632204" cy="310896"/>
          </a:xfrm>
          <a:prstGeom prst="roundRect">
            <a:avLst>
              <a:gd name="adj" fmla="val 7353"/>
            </a:avLst>
          </a:prstGeom>
          <a:solidFill>
            <a:srgbClr val="3D5A80"/>
          </a:solidFill>
          <a:ln/>
        </p:spPr>
        <p:txBody>
          <a:bodyPr/>
          <a:lstStyle/>
          <a:p>
            <a:endParaRPr lang="ko-KR" altLang="en-US"/>
          </a:p>
        </p:txBody>
      </p:sp>
      <p:sp>
        <p:nvSpPr>
          <p:cNvPr id="27" name="Text 25"/>
          <p:cNvSpPr txBox="1"/>
          <p:nvPr/>
        </p:nvSpPr>
        <p:spPr>
          <a:xfrm>
            <a:off x="10291572" y="3794760"/>
            <a:ext cx="777240" cy="457200"/>
          </a:xfrm>
          <a:prstGeom prst="rect">
            <a:avLst/>
          </a:prstGeom>
          <a:noFill/>
          <a:ln/>
        </p:spPr>
        <p:txBody>
          <a:bodyPr wrap="square" lIns="0" tIns="0" rIns="0" bIns="0" rtlCol="0" anchor="ctr"/>
          <a:lstStyle/>
          <a:p>
            <a:pPr marL="0" indent="0">
              <a:buNone/>
            </a:pPr>
            <a:r>
              <a:rPr lang="en-US" sz="1250" b="1" dirty="0">
                <a:solidFill>
                  <a:srgbClr val="1D2433"/>
                </a:solidFill>
                <a:latin typeface="Calibri" pitchFamily="34" charset="0"/>
                <a:ea typeface="Calibri" pitchFamily="34" charset="-122"/>
                <a:cs typeface="Calibri" pitchFamily="34" charset="-120"/>
              </a:rPr>
              <a:t>7편</a:t>
            </a:r>
            <a:endParaRPr lang="en-US" sz="1250" dirty="0"/>
          </a:p>
        </p:txBody>
      </p:sp>
      <p:sp>
        <p:nvSpPr>
          <p:cNvPr id="28" name="Text 26"/>
          <p:cNvSpPr txBox="1"/>
          <p:nvPr/>
        </p:nvSpPr>
        <p:spPr>
          <a:xfrm>
            <a:off x="6263640" y="4361688"/>
            <a:ext cx="2194560" cy="457200"/>
          </a:xfrm>
          <a:prstGeom prst="rect">
            <a:avLst/>
          </a:prstGeom>
          <a:noFill/>
          <a:ln/>
        </p:spPr>
        <p:txBody>
          <a:bodyPr wrap="square" lIns="0" tIns="0" rIns="0" bIns="0" rtlCol="0" anchor="ctr"/>
          <a:lstStyle/>
          <a:p>
            <a:pPr marL="0" indent="0" algn="r">
              <a:buNone/>
            </a:pPr>
            <a:r>
              <a:rPr lang="en-US" sz="1200" dirty="0">
                <a:solidFill>
                  <a:srgbClr val="1D2433"/>
                </a:solidFill>
                <a:latin typeface="Calibri" pitchFamily="34" charset="0"/>
                <a:ea typeface="Calibri" pitchFamily="34" charset="-122"/>
                <a:cs typeface="Calibri" pitchFamily="34" charset="-120"/>
              </a:rPr>
              <a:t>계산적 재현성</a:t>
            </a:r>
            <a:endParaRPr lang="en-US" sz="1200" dirty="0"/>
          </a:p>
        </p:txBody>
      </p:sp>
      <p:sp>
        <p:nvSpPr>
          <p:cNvPr id="29" name="Shape 27"/>
          <p:cNvSpPr/>
          <p:nvPr/>
        </p:nvSpPr>
        <p:spPr>
          <a:xfrm>
            <a:off x="8549640" y="4453128"/>
            <a:ext cx="1165860" cy="310896"/>
          </a:xfrm>
          <a:prstGeom prst="roundRect">
            <a:avLst>
              <a:gd name="adj" fmla="val 7353"/>
            </a:avLst>
          </a:prstGeom>
          <a:solidFill>
            <a:srgbClr val="3D5A80"/>
          </a:solidFill>
          <a:ln/>
        </p:spPr>
        <p:txBody>
          <a:bodyPr/>
          <a:lstStyle/>
          <a:p>
            <a:endParaRPr lang="ko-KR" altLang="en-US"/>
          </a:p>
        </p:txBody>
      </p:sp>
      <p:sp>
        <p:nvSpPr>
          <p:cNvPr id="30" name="Text 28"/>
          <p:cNvSpPr txBox="1"/>
          <p:nvPr/>
        </p:nvSpPr>
        <p:spPr>
          <a:xfrm>
            <a:off x="9825228" y="4361688"/>
            <a:ext cx="777240" cy="457200"/>
          </a:xfrm>
          <a:prstGeom prst="rect">
            <a:avLst/>
          </a:prstGeom>
          <a:noFill/>
          <a:ln/>
        </p:spPr>
        <p:txBody>
          <a:bodyPr wrap="square" lIns="0" tIns="0" rIns="0" bIns="0" rtlCol="0" anchor="ctr"/>
          <a:lstStyle/>
          <a:p>
            <a:pPr marL="0" indent="0">
              <a:buNone/>
            </a:pPr>
            <a:r>
              <a:rPr lang="en-US" sz="1250" b="1" dirty="0">
                <a:solidFill>
                  <a:srgbClr val="1D2433"/>
                </a:solidFill>
                <a:latin typeface="Calibri" pitchFamily="34" charset="0"/>
                <a:ea typeface="Calibri" pitchFamily="34" charset="-122"/>
                <a:cs typeface="Calibri" pitchFamily="34" charset="-120"/>
              </a:rPr>
              <a:t>5편</a:t>
            </a:r>
            <a:endParaRPr lang="en-US" sz="1250" dirty="0"/>
          </a:p>
        </p:txBody>
      </p:sp>
      <p:sp>
        <p:nvSpPr>
          <p:cNvPr id="31" name="Text 29"/>
          <p:cNvSpPr txBox="1"/>
          <p:nvPr/>
        </p:nvSpPr>
        <p:spPr>
          <a:xfrm>
            <a:off x="6263640" y="4928616"/>
            <a:ext cx="2194560" cy="457200"/>
          </a:xfrm>
          <a:prstGeom prst="rect">
            <a:avLst/>
          </a:prstGeom>
          <a:noFill/>
          <a:ln/>
        </p:spPr>
        <p:txBody>
          <a:bodyPr wrap="square" lIns="0" tIns="0" rIns="0" bIns="0" rtlCol="0" anchor="ctr"/>
          <a:lstStyle/>
          <a:p>
            <a:pPr marL="0" indent="0" algn="r">
              <a:buNone/>
            </a:pPr>
            <a:r>
              <a:rPr lang="en-US" sz="1200" dirty="0">
                <a:solidFill>
                  <a:srgbClr val="1D2433"/>
                </a:solidFill>
                <a:latin typeface="Calibri" pitchFamily="34" charset="0"/>
                <a:ea typeface="Calibri" pitchFamily="34" charset="-122"/>
                <a:cs typeface="Calibri" pitchFamily="34" charset="-120"/>
              </a:rPr>
              <a:t>지표 선택</a:t>
            </a:r>
            <a:endParaRPr lang="en-US" sz="1200" dirty="0"/>
          </a:p>
        </p:txBody>
      </p:sp>
      <p:sp>
        <p:nvSpPr>
          <p:cNvPr id="32" name="Shape 30"/>
          <p:cNvSpPr/>
          <p:nvPr/>
        </p:nvSpPr>
        <p:spPr>
          <a:xfrm>
            <a:off x="8549640" y="5020056"/>
            <a:ext cx="932688" cy="310896"/>
          </a:xfrm>
          <a:prstGeom prst="roundRect">
            <a:avLst>
              <a:gd name="adj" fmla="val 7353"/>
            </a:avLst>
          </a:prstGeom>
          <a:solidFill>
            <a:srgbClr val="3D5A80"/>
          </a:solidFill>
          <a:ln/>
        </p:spPr>
        <p:txBody>
          <a:bodyPr/>
          <a:lstStyle/>
          <a:p>
            <a:endParaRPr lang="ko-KR" altLang="en-US"/>
          </a:p>
        </p:txBody>
      </p:sp>
      <p:sp>
        <p:nvSpPr>
          <p:cNvPr id="33" name="Text 31"/>
          <p:cNvSpPr txBox="1"/>
          <p:nvPr/>
        </p:nvSpPr>
        <p:spPr>
          <a:xfrm>
            <a:off x="9592056" y="4928616"/>
            <a:ext cx="777240" cy="457200"/>
          </a:xfrm>
          <a:prstGeom prst="rect">
            <a:avLst/>
          </a:prstGeom>
          <a:noFill/>
          <a:ln/>
        </p:spPr>
        <p:txBody>
          <a:bodyPr wrap="square" lIns="0" tIns="0" rIns="0" bIns="0" rtlCol="0" anchor="ctr"/>
          <a:lstStyle/>
          <a:p>
            <a:pPr marL="0" indent="0">
              <a:buNone/>
            </a:pPr>
            <a:r>
              <a:rPr lang="en-US" sz="1250" b="1" dirty="0">
                <a:solidFill>
                  <a:srgbClr val="1D2433"/>
                </a:solidFill>
                <a:latin typeface="Calibri" pitchFamily="34" charset="0"/>
                <a:ea typeface="Calibri" pitchFamily="34" charset="-122"/>
                <a:cs typeface="Calibri" pitchFamily="34" charset="-120"/>
              </a:rPr>
              <a:t>4편</a:t>
            </a:r>
            <a:endParaRPr lang="en-US" sz="1250" dirty="0"/>
          </a:p>
        </p:txBody>
      </p:sp>
      <p:sp>
        <p:nvSpPr>
          <p:cNvPr id="34" name="Text 32"/>
          <p:cNvSpPr txBox="1"/>
          <p:nvPr/>
        </p:nvSpPr>
        <p:spPr>
          <a:xfrm>
            <a:off x="6263640" y="5623560"/>
            <a:ext cx="5349240" cy="36576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 그림 1 — 리뷰 6편은 복수의 누출 유형을 동시에 지적</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rtlCol="0" anchor="ctr"/>
          <a:lstStyle/>
          <a:p>
            <a:pPr marL="0" indent="0">
              <a:buNone/>
            </a:pPr>
            <a:r>
              <a:rPr lang="en-US" sz="1250" b="1" kern="0" spc="200" dirty="0">
                <a:solidFill>
                  <a:srgbClr val="E63946"/>
                </a:solidFill>
                <a:latin typeface="Calibri" pitchFamily="34" charset="0"/>
                <a:ea typeface="Calibri" pitchFamily="34" charset="-122"/>
                <a:cs typeface="Calibri" pitchFamily="34" charset="-120"/>
              </a:rPr>
              <a:t>③ 결과 (2/2) — 바로잡으면 어떻게 되나</a:t>
            </a:r>
            <a:endParaRPr lang="en-US" sz="1250" dirty="0"/>
          </a:p>
        </p:txBody>
      </p:sp>
      <p:sp>
        <p:nvSpPr>
          <p:cNvPr id="3" name="Text 1"/>
          <p:cNvSpPr txBox="1"/>
          <p:nvPr/>
        </p:nvSpPr>
        <p:spPr>
          <a:xfrm>
            <a:off x="548640" y="621792"/>
            <a:ext cx="11064240" cy="658368"/>
          </a:xfrm>
          <a:prstGeom prst="rect">
            <a:avLst/>
          </a:prstGeom>
          <a:noFill/>
          <a:ln/>
        </p:spPr>
        <p:txBody>
          <a:bodyPr wrap="square" rtlCol="0" anchor="ctr"/>
          <a:lstStyle/>
          <a:p>
            <a:pPr marL="0" indent="0">
              <a:buNone/>
            </a:pPr>
            <a:r>
              <a:rPr lang="en-US" sz="2800" b="1" dirty="0">
                <a:solidFill>
                  <a:srgbClr val="1D2433"/>
                </a:solidFill>
                <a:latin typeface="Cambria" pitchFamily="34" charset="0"/>
                <a:ea typeface="Cambria" pitchFamily="34" charset="-122"/>
                <a:cs typeface="Cambria" pitchFamily="34" charset="-120"/>
              </a:rPr>
              <a:t>내전 예측 재현 사례연구: 오류를 </a:t>
            </a:r>
            <a:r>
              <a:rPr lang="en-US" sz="2800" b="1" dirty="0" err="1">
                <a:solidFill>
                  <a:srgbClr val="1D2433"/>
                </a:solidFill>
                <a:latin typeface="Cambria" pitchFamily="34" charset="0"/>
                <a:ea typeface="Cambria" pitchFamily="34" charset="-122"/>
                <a:cs typeface="Cambria" pitchFamily="34" charset="-120"/>
              </a:rPr>
              <a:t>고치자</a:t>
            </a:r>
            <a:r>
              <a:rPr lang="en-US" sz="2800" b="1" dirty="0">
                <a:solidFill>
                  <a:srgbClr val="1D2433"/>
                </a:solidFill>
                <a:latin typeface="Cambria" pitchFamily="34" charset="0"/>
                <a:ea typeface="Cambria" pitchFamily="34" charset="-122"/>
                <a:cs typeface="Cambria" pitchFamily="34" charset="-120"/>
              </a:rPr>
              <a:t> </a:t>
            </a:r>
            <a:r>
              <a:rPr lang="ko-KR" altLang="en-US" sz="2800" b="1" dirty="0">
                <a:solidFill>
                  <a:srgbClr val="1D2433"/>
                </a:solidFill>
                <a:latin typeface="Cambria" pitchFamily="34" charset="0"/>
                <a:ea typeface="Cambria" pitchFamily="34" charset="-122"/>
                <a:cs typeface="Cambria" pitchFamily="34" charset="-120"/>
              </a:rPr>
              <a:t>사라진 우위</a:t>
            </a:r>
            <a:endParaRPr lang="en-US" sz="2800" dirty="0"/>
          </a:p>
        </p:txBody>
      </p:sp>
      <p:sp>
        <p:nvSpPr>
          <p:cNvPr id="4" name="Text 2"/>
          <p:cNvSpPr txBox="1"/>
          <p:nvPr/>
        </p:nvSpPr>
        <p:spPr>
          <a:xfrm>
            <a:off x="548640" y="1371600"/>
            <a:ext cx="11064240" cy="292608"/>
          </a:xfrm>
          <a:prstGeom prst="rect">
            <a:avLst/>
          </a:prstGeom>
          <a:noFill/>
          <a:ln/>
        </p:spPr>
        <p:txBody>
          <a:bodyPr wrap="square" lIns="0" tIns="0" rIns="0" bIns="0" rtlCol="0" anchor="ctr"/>
          <a:lstStyle/>
          <a:p>
            <a:pPr marL="0" indent="0">
              <a:buNone/>
            </a:pPr>
            <a:r>
              <a:rPr lang="ko-KR" altLang="en-US" sz="1400" b="1" dirty="0">
                <a:solidFill>
                  <a:srgbClr val="1D2433"/>
                </a:solidFill>
                <a:latin typeface="Cambria" pitchFamily="34" charset="0"/>
                <a:ea typeface="Cambria" pitchFamily="34" charset="-122"/>
                <a:cs typeface="Cambria" pitchFamily="34" charset="-120"/>
              </a:rPr>
              <a:t>검색 방법</a:t>
            </a:r>
            <a:r>
              <a:rPr lang="en-US" sz="1400" b="1" dirty="0">
                <a:solidFill>
                  <a:srgbClr val="1D2433"/>
                </a:solidFill>
                <a:latin typeface="Cambria" pitchFamily="34" charset="0"/>
                <a:ea typeface="Cambria" pitchFamily="34" charset="-122"/>
                <a:cs typeface="Cambria" pitchFamily="34" charset="-120"/>
              </a:rPr>
              <a:t> — 체계적 검색 (2016–2021)</a:t>
            </a:r>
            <a:endParaRPr lang="en-US" sz="1400" dirty="0"/>
          </a:p>
        </p:txBody>
      </p:sp>
      <p:sp>
        <p:nvSpPr>
          <p:cNvPr id="5" name="Shape 3"/>
          <p:cNvSpPr/>
          <p:nvPr/>
        </p:nvSpPr>
        <p:spPr>
          <a:xfrm>
            <a:off x="548640" y="1737360"/>
            <a:ext cx="2542032" cy="960120"/>
          </a:xfrm>
          <a:prstGeom prst="roundRect">
            <a:avLst>
              <a:gd name="adj" fmla="val 4762"/>
            </a:avLst>
          </a:prstGeom>
          <a:solidFill>
            <a:srgbClr val="F1F4F8"/>
          </a:solidFill>
          <a:ln/>
        </p:spPr>
        <p:txBody>
          <a:bodyPr/>
          <a:lstStyle/>
          <a:p>
            <a:endParaRPr lang="ko-KR" altLang="en-US"/>
          </a:p>
        </p:txBody>
      </p:sp>
      <p:sp>
        <p:nvSpPr>
          <p:cNvPr id="6" name="Text 4"/>
          <p:cNvSpPr txBox="1"/>
          <p:nvPr/>
        </p:nvSpPr>
        <p:spPr>
          <a:xfrm>
            <a:off x="713232" y="1810512"/>
            <a:ext cx="2194560" cy="457200"/>
          </a:xfrm>
          <a:prstGeom prst="rect">
            <a:avLst/>
          </a:prstGeom>
          <a:noFill/>
          <a:ln/>
        </p:spPr>
        <p:txBody>
          <a:bodyPr wrap="square" lIns="0" tIns="0" rIns="0" bIns="0" rtlCol="0" anchor="ctr"/>
          <a:lstStyle/>
          <a:p>
            <a:pPr marL="0" indent="0">
              <a:buNone/>
            </a:pPr>
            <a:r>
              <a:rPr lang="en-US" sz="2600" b="1" dirty="0">
                <a:solidFill>
                  <a:srgbClr val="3D5A80"/>
                </a:solidFill>
                <a:latin typeface="Cambria" pitchFamily="34" charset="0"/>
                <a:ea typeface="Cambria" pitchFamily="34" charset="-122"/>
                <a:cs typeface="Cambria" pitchFamily="34" charset="-120"/>
              </a:rPr>
              <a:t>124</a:t>
            </a:r>
            <a:r>
              <a:rPr lang="en-US" sz="1300" b="1" dirty="0">
                <a:solidFill>
                  <a:srgbClr val="1D2433"/>
                </a:solidFill>
                <a:latin typeface="Calibri" pitchFamily="34" charset="0"/>
                <a:ea typeface="Calibri" pitchFamily="34" charset="-122"/>
                <a:cs typeface="Calibri" pitchFamily="34" charset="-120"/>
              </a:rPr>
              <a:t>편</a:t>
            </a:r>
            <a:endParaRPr lang="en-US" sz="2600" dirty="0"/>
          </a:p>
        </p:txBody>
      </p:sp>
      <p:sp>
        <p:nvSpPr>
          <p:cNvPr id="7" name="Text 5"/>
          <p:cNvSpPr txBox="1"/>
          <p:nvPr/>
        </p:nvSpPr>
        <p:spPr>
          <a:xfrm>
            <a:off x="713232" y="2267712"/>
            <a:ext cx="2240280" cy="32004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검색으로 확보</a:t>
            </a:r>
            <a:endParaRPr lang="en-US" sz="1150" dirty="0"/>
          </a:p>
        </p:txBody>
      </p:sp>
      <p:sp>
        <p:nvSpPr>
          <p:cNvPr id="8" name="Text 6"/>
          <p:cNvSpPr txBox="1"/>
          <p:nvPr/>
        </p:nvSpPr>
        <p:spPr>
          <a:xfrm>
            <a:off x="3108960" y="1965960"/>
            <a:ext cx="301752" cy="457200"/>
          </a:xfrm>
          <a:prstGeom prst="rect">
            <a:avLst/>
          </a:prstGeom>
          <a:noFill/>
          <a:ln/>
        </p:spPr>
        <p:txBody>
          <a:bodyPr wrap="square" lIns="0" tIns="0" rIns="0" bIns="0" rtlCol="0" anchor="ctr"/>
          <a:lstStyle/>
          <a:p>
            <a:pPr marL="0" indent="0" algn="ctr">
              <a:buNone/>
            </a:pPr>
            <a:r>
              <a:rPr lang="en-US" sz="1800" b="1" dirty="0">
                <a:solidFill>
                  <a:srgbClr val="9AA3AF"/>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3410712" y="1737360"/>
            <a:ext cx="2542032" cy="960120"/>
          </a:xfrm>
          <a:prstGeom prst="roundRect">
            <a:avLst>
              <a:gd name="adj" fmla="val 4762"/>
            </a:avLst>
          </a:prstGeom>
          <a:solidFill>
            <a:srgbClr val="F1F4F8"/>
          </a:solidFill>
          <a:ln/>
        </p:spPr>
        <p:txBody>
          <a:bodyPr/>
          <a:lstStyle/>
          <a:p>
            <a:endParaRPr lang="ko-KR" altLang="en-US"/>
          </a:p>
        </p:txBody>
      </p:sp>
      <p:sp>
        <p:nvSpPr>
          <p:cNvPr id="10" name="Text 8"/>
          <p:cNvSpPr txBox="1"/>
          <p:nvPr/>
        </p:nvSpPr>
        <p:spPr>
          <a:xfrm>
            <a:off x="3575304" y="1810512"/>
            <a:ext cx="2194560" cy="457200"/>
          </a:xfrm>
          <a:prstGeom prst="rect">
            <a:avLst/>
          </a:prstGeom>
          <a:noFill/>
          <a:ln/>
        </p:spPr>
        <p:txBody>
          <a:bodyPr wrap="square" lIns="0" tIns="0" rIns="0" bIns="0" rtlCol="0" anchor="ctr"/>
          <a:lstStyle/>
          <a:p>
            <a:pPr marL="0" indent="0">
              <a:buNone/>
            </a:pPr>
            <a:r>
              <a:rPr lang="en-US" sz="2600" b="1" dirty="0">
                <a:solidFill>
                  <a:srgbClr val="3D5A80"/>
                </a:solidFill>
                <a:latin typeface="Cambria" pitchFamily="34" charset="0"/>
                <a:ea typeface="Cambria" pitchFamily="34" charset="-122"/>
                <a:cs typeface="Cambria" pitchFamily="34" charset="-120"/>
              </a:rPr>
              <a:t>15</a:t>
            </a:r>
            <a:r>
              <a:rPr lang="en-US" sz="1300" b="1" dirty="0">
                <a:solidFill>
                  <a:srgbClr val="1D2433"/>
                </a:solidFill>
                <a:latin typeface="Calibri" pitchFamily="34" charset="0"/>
                <a:ea typeface="Calibri" pitchFamily="34" charset="-122"/>
                <a:cs typeface="Calibri" pitchFamily="34" charset="-120"/>
              </a:rPr>
              <a:t>편</a:t>
            </a:r>
            <a:endParaRPr lang="en-US" sz="2600" dirty="0"/>
          </a:p>
        </p:txBody>
      </p:sp>
      <p:sp>
        <p:nvSpPr>
          <p:cNvPr id="11" name="Text 9"/>
          <p:cNvSpPr txBox="1"/>
          <p:nvPr/>
        </p:nvSpPr>
        <p:spPr>
          <a:xfrm>
            <a:off x="3575304" y="2267712"/>
            <a:ext cx="2240280" cy="32004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훈련·테스트 분할 평가</a:t>
            </a:r>
            <a:endParaRPr lang="en-US" sz="1150" dirty="0"/>
          </a:p>
        </p:txBody>
      </p:sp>
      <p:sp>
        <p:nvSpPr>
          <p:cNvPr id="12" name="Text 10"/>
          <p:cNvSpPr txBox="1"/>
          <p:nvPr/>
        </p:nvSpPr>
        <p:spPr>
          <a:xfrm>
            <a:off x="5971032" y="1965960"/>
            <a:ext cx="301752" cy="457200"/>
          </a:xfrm>
          <a:prstGeom prst="rect">
            <a:avLst/>
          </a:prstGeom>
          <a:noFill/>
          <a:ln/>
        </p:spPr>
        <p:txBody>
          <a:bodyPr wrap="square" lIns="0" tIns="0" rIns="0" bIns="0" rtlCol="0" anchor="ctr"/>
          <a:lstStyle/>
          <a:p>
            <a:pPr marL="0" indent="0" algn="ctr">
              <a:buNone/>
            </a:pPr>
            <a:r>
              <a:rPr lang="en-US" sz="1800" b="1" dirty="0">
                <a:solidFill>
                  <a:srgbClr val="9AA3AF"/>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6272784" y="1737360"/>
            <a:ext cx="2542032" cy="960120"/>
          </a:xfrm>
          <a:prstGeom prst="roundRect">
            <a:avLst>
              <a:gd name="adj" fmla="val 4762"/>
            </a:avLst>
          </a:prstGeom>
          <a:solidFill>
            <a:srgbClr val="F1F4F8"/>
          </a:solidFill>
          <a:ln/>
        </p:spPr>
        <p:txBody>
          <a:bodyPr/>
          <a:lstStyle/>
          <a:p>
            <a:endParaRPr lang="ko-KR" altLang="en-US"/>
          </a:p>
        </p:txBody>
      </p:sp>
      <p:sp>
        <p:nvSpPr>
          <p:cNvPr id="14" name="Text 12"/>
          <p:cNvSpPr txBox="1"/>
          <p:nvPr/>
        </p:nvSpPr>
        <p:spPr>
          <a:xfrm>
            <a:off x="6437376" y="1810512"/>
            <a:ext cx="2194560" cy="457200"/>
          </a:xfrm>
          <a:prstGeom prst="rect">
            <a:avLst/>
          </a:prstGeom>
          <a:noFill/>
          <a:ln/>
        </p:spPr>
        <p:txBody>
          <a:bodyPr wrap="square" lIns="0" tIns="0" rIns="0" bIns="0" rtlCol="0" anchor="ctr"/>
          <a:lstStyle/>
          <a:p>
            <a:pPr marL="0" indent="0">
              <a:buNone/>
            </a:pPr>
            <a:r>
              <a:rPr lang="en-US" sz="2600" b="1" dirty="0">
                <a:solidFill>
                  <a:srgbClr val="3D5A80"/>
                </a:solidFill>
                <a:latin typeface="Cambria" pitchFamily="34" charset="0"/>
                <a:ea typeface="Cambria" pitchFamily="34" charset="-122"/>
                <a:cs typeface="Cambria" pitchFamily="34" charset="-120"/>
              </a:rPr>
              <a:t>12</a:t>
            </a:r>
            <a:r>
              <a:rPr lang="en-US" sz="1300" b="1" dirty="0">
                <a:solidFill>
                  <a:srgbClr val="1D2433"/>
                </a:solidFill>
                <a:latin typeface="Calibri" pitchFamily="34" charset="0"/>
                <a:ea typeface="Calibri" pitchFamily="34" charset="-122"/>
                <a:cs typeface="Calibri" pitchFamily="34" charset="-120"/>
              </a:rPr>
              <a:t>편</a:t>
            </a:r>
            <a:endParaRPr lang="en-US" sz="2600" dirty="0"/>
          </a:p>
        </p:txBody>
      </p:sp>
      <p:sp>
        <p:nvSpPr>
          <p:cNvPr id="15" name="Text 13"/>
          <p:cNvSpPr txBox="1"/>
          <p:nvPr/>
        </p:nvSpPr>
        <p:spPr>
          <a:xfrm>
            <a:off x="6437376" y="2267712"/>
            <a:ext cx="2240280" cy="32004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코드·데이터 완전 공개</a:t>
            </a:r>
            <a:endParaRPr lang="en-US" sz="1150" dirty="0"/>
          </a:p>
        </p:txBody>
      </p:sp>
      <p:sp>
        <p:nvSpPr>
          <p:cNvPr id="16" name="Text 14"/>
          <p:cNvSpPr txBox="1"/>
          <p:nvPr/>
        </p:nvSpPr>
        <p:spPr>
          <a:xfrm>
            <a:off x="8833104" y="1965960"/>
            <a:ext cx="301752" cy="457200"/>
          </a:xfrm>
          <a:prstGeom prst="rect">
            <a:avLst/>
          </a:prstGeom>
          <a:noFill/>
          <a:ln/>
        </p:spPr>
        <p:txBody>
          <a:bodyPr wrap="square" lIns="0" tIns="0" rIns="0" bIns="0" rtlCol="0" anchor="ctr"/>
          <a:lstStyle/>
          <a:p>
            <a:pPr marL="0" indent="0" algn="ctr">
              <a:buNone/>
            </a:pPr>
            <a:r>
              <a:rPr lang="en-US" sz="1800" b="1" dirty="0">
                <a:solidFill>
                  <a:srgbClr val="9AA3AF"/>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9134856" y="1737360"/>
            <a:ext cx="2542032" cy="960120"/>
          </a:xfrm>
          <a:prstGeom prst="roundRect">
            <a:avLst>
              <a:gd name="adj" fmla="val 4762"/>
            </a:avLst>
          </a:prstGeom>
          <a:solidFill>
            <a:srgbClr val="E63946"/>
          </a:solidFill>
          <a:ln/>
        </p:spPr>
        <p:txBody>
          <a:bodyPr/>
          <a:lstStyle/>
          <a:p>
            <a:endParaRPr lang="ko-KR" altLang="en-US"/>
          </a:p>
        </p:txBody>
      </p:sp>
      <p:sp>
        <p:nvSpPr>
          <p:cNvPr id="18" name="Text 16"/>
          <p:cNvSpPr txBox="1"/>
          <p:nvPr/>
        </p:nvSpPr>
        <p:spPr>
          <a:xfrm>
            <a:off x="9299448" y="1810512"/>
            <a:ext cx="2194560" cy="45720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4</a:t>
            </a:r>
            <a:r>
              <a:rPr lang="en-US" sz="1300" b="1" dirty="0">
                <a:solidFill>
                  <a:srgbClr val="FFFFFF"/>
                </a:solidFill>
                <a:latin typeface="Calibri" pitchFamily="34" charset="0"/>
                <a:ea typeface="Calibri" pitchFamily="34" charset="-122"/>
                <a:cs typeface="Calibri" pitchFamily="34" charset="-120"/>
              </a:rPr>
              <a:t>편</a:t>
            </a:r>
            <a:endParaRPr lang="en-US" sz="2600" dirty="0"/>
          </a:p>
        </p:txBody>
      </p:sp>
      <p:sp>
        <p:nvSpPr>
          <p:cNvPr id="19" name="Text 17"/>
          <p:cNvSpPr txBox="1"/>
          <p:nvPr/>
        </p:nvSpPr>
        <p:spPr>
          <a:xfrm>
            <a:off x="9299448" y="2267712"/>
            <a:ext cx="2240280" cy="320040"/>
          </a:xfrm>
          <a:prstGeom prst="rect">
            <a:avLst/>
          </a:prstGeom>
          <a:noFill/>
          <a:ln/>
        </p:spPr>
        <p:txBody>
          <a:bodyPr wrap="square" lIns="0" tIns="0" rIns="0" bIns="0" rtlCol="0" anchor="ctr"/>
          <a:lstStyle/>
          <a:p>
            <a:pPr marL="0" indent="0">
              <a:buNone/>
            </a:pPr>
            <a:r>
              <a:rPr lang="en-US" sz="1150" dirty="0">
                <a:solidFill>
                  <a:srgbClr val="FFD8DC"/>
                </a:solidFill>
                <a:latin typeface="Calibri" pitchFamily="34" charset="0"/>
                <a:ea typeface="Calibri" pitchFamily="34" charset="-122"/>
                <a:cs typeface="Calibri" pitchFamily="34" charset="-120"/>
              </a:rPr>
              <a:t>누출 오류 확인</a:t>
            </a:r>
            <a:endParaRPr lang="en-US" sz="1150" dirty="0"/>
          </a:p>
        </p:txBody>
      </p:sp>
      <p:sp>
        <p:nvSpPr>
          <p:cNvPr id="20" name="Shape 18"/>
          <p:cNvSpPr/>
          <p:nvPr/>
        </p:nvSpPr>
        <p:spPr>
          <a:xfrm>
            <a:off x="548640" y="2880360"/>
            <a:ext cx="5760720" cy="1554480"/>
          </a:xfrm>
          <a:prstGeom prst="roundRect">
            <a:avLst>
              <a:gd name="adj" fmla="val 2941"/>
            </a:avLst>
          </a:prstGeom>
          <a:solidFill>
            <a:srgbClr val="EAEFF5"/>
          </a:solidFill>
          <a:ln/>
        </p:spPr>
        <p:txBody>
          <a:bodyPr/>
          <a:lstStyle/>
          <a:p>
            <a:endParaRPr lang="ko-KR" altLang="en-US"/>
          </a:p>
        </p:txBody>
      </p:sp>
      <p:sp>
        <p:nvSpPr>
          <p:cNvPr id="21" name="Text 19"/>
          <p:cNvSpPr txBox="1"/>
          <p:nvPr/>
        </p:nvSpPr>
        <p:spPr>
          <a:xfrm>
            <a:off x="658368" y="2898648"/>
            <a:ext cx="548640" cy="548640"/>
          </a:xfrm>
          <a:prstGeom prst="rect">
            <a:avLst/>
          </a:prstGeom>
          <a:noFill/>
          <a:ln/>
        </p:spPr>
        <p:txBody>
          <a:bodyPr wrap="square" lIns="0" tIns="0" rIns="0" bIns="0" rtlCol="0" anchor="ctr"/>
          <a:lstStyle/>
          <a:p>
            <a:pPr marL="0" indent="0">
              <a:buNone/>
            </a:pPr>
            <a:r>
              <a:rPr lang="en-US" sz="4000" b="1" dirty="0">
                <a:solidFill>
                  <a:srgbClr val="98C1D9"/>
                </a:solidFill>
                <a:latin typeface="Cambria" pitchFamily="34" charset="0"/>
                <a:ea typeface="Cambria" pitchFamily="34" charset="-122"/>
                <a:cs typeface="Cambria" pitchFamily="34" charset="-120"/>
              </a:rPr>
              <a:t>“</a:t>
            </a:r>
            <a:endParaRPr lang="en-US" sz="4000" dirty="0"/>
          </a:p>
        </p:txBody>
      </p:sp>
      <p:sp>
        <p:nvSpPr>
          <p:cNvPr id="22" name="Text 20"/>
          <p:cNvSpPr txBox="1"/>
          <p:nvPr/>
        </p:nvSpPr>
        <p:spPr>
          <a:xfrm>
            <a:off x="1207008" y="3008376"/>
            <a:ext cx="4846320" cy="566928"/>
          </a:xfrm>
          <a:prstGeom prst="rect">
            <a:avLst/>
          </a:prstGeom>
          <a:noFill/>
          <a:ln/>
        </p:spPr>
        <p:txBody>
          <a:bodyPr wrap="square" lIns="0" tIns="0" rIns="0" bIns="0" rtlCol="0" anchor="ctr"/>
          <a:lstStyle/>
          <a:p>
            <a:pPr marL="0" indent="0">
              <a:lnSpc>
                <a:spcPct val="105000"/>
              </a:lnSpc>
              <a:buNone/>
            </a:pPr>
            <a:r>
              <a:rPr lang="en-US" sz="1150" i="1" dirty="0">
                <a:solidFill>
                  <a:srgbClr val="3D5A80"/>
                </a:solidFill>
                <a:latin typeface="Calibri" pitchFamily="34" charset="0"/>
                <a:ea typeface="Calibri" pitchFamily="34" charset="-122"/>
                <a:cs typeface="Calibri" pitchFamily="34" charset="-120"/>
              </a:rPr>
              <a:t>“When the errors are corrected, complex ML models perform no better than baseline LR models…”</a:t>
            </a:r>
            <a:endParaRPr lang="en-US" sz="1150" dirty="0"/>
          </a:p>
        </p:txBody>
      </p:sp>
      <p:sp>
        <p:nvSpPr>
          <p:cNvPr id="23" name="Text 21"/>
          <p:cNvSpPr txBox="1"/>
          <p:nvPr/>
        </p:nvSpPr>
        <p:spPr>
          <a:xfrm>
            <a:off x="1207008" y="3557016"/>
            <a:ext cx="4846320" cy="594360"/>
          </a:xfrm>
          <a:prstGeom prst="rect">
            <a:avLst/>
          </a:prstGeom>
          <a:noFill/>
          <a:ln/>
        </p:spPr>
        <p:txBody>
          <a:bodyPr wrap="square" lIns="0" tIns="0" rIns="0" bIns="0" rtlCol="0" anchor="ctr"/>
          <a:lstStyle/>
          <a:p>
            <a:pPr marL="0" indent="0">
              <a:lnSpc>
                <a:spcPct val="110000"/>
              </a:lnSpc>
              <a:buNone/>
            </a:pPr>
            <a:r>
              <a:rPr lang="en-US" sz="1400" b="1" dirty="0">
                <a:solidFill>
                  <a:srgbClr val="1D2433"/>
                </a:solidFill>
                <a:latin typeface="Calibri" pitchFamily="34" charset="0"/>
                <a:ea typeface="Calibri" pitchFamily="34" charset="-122"/>
                <a:cs typeface="Calibri" pitchFamily="34" charset="-120"/>
              </a:rPr>
              <a:t>“오류를 바로잡으면, 복잡한 ML 모델은 기준 로지스틱 회귀(LR) 모델보다 조금도 낫지 않다.”</a:t>
            </a:r>
            <a:endParaRPr lang="en-US" sz="1400" dirty="0"/>
          </a:p>
        </p:txBody>
      </p:sp>
      <p:sp>
        <p:nvSpPr>
          <p:cNvPr id="24" name="Text 22"/>
          <p:cNvSpPr txBox="1"/>
          <p:nvPr/>
        </p:nvSpPr>
        <p:spPr>
          <a:xfrm>
            <a:off x="3291840" y="4123944"/>
            <a:ext cx="2834640" cy="256032"/>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 발견 1 (오류 4편은 모두 상위 10위권 저널 게재)</a:t>
            </a:r>
            <a:endParaRPr lang="en-US" sz="950" dirty="0"/>
          </a:p>
        </p:txBody>
      </p:sp>
      <p:sp>
        <p:nvSpPr>
          <p:cNvPr id="25" name="Shape 23"/>
          <p:cNvSpPr/>
          <p:nvPr/>
        </p:nvSpPr>
        <p:spPr>
          <a:xfrm>
            <a:off x="6492240" y="2880360"/>
            <a:ext cx="5120640" cy="1554480"/>
          </a:xfrm>
          <a:prstGeom prst="roundRect">
            <a:avLst>
              <a:gd name="adj" fmla="val 2941"/>
            </a:avLst>
          </a:prstGeom>
          <a:solidFill>
            <a:srgbClr val="F1F4F8"/>
          </a:solidFill>
          <a:ln/>
        </p:spPr>
        <p:txBody>
          <a:bodyPr/>
          <a:lstStyle/>
          <a:p>
            <a:endParaRPr lang="ko-KR" altLang="en-US"/>
          </a:p>
        </p:txBody>
      </p:sp>
      <p:sp>
        <p:nvSpPr>
          <p:cNvPr id="26" name="Text 24"/>
          <p:cNvSpPr txBox="1"/>
          <p:nvPr/>
        </p:nvSpPr>
        <p:spPr>
          <a:xfrm>
            <a:off x="6720840" y="2980944"/>
            <a:ext cx="4663440" cy="274320"/>
          </a:xfrm>
          <a:prstGeom prst="rect">
            <a:avLst/>
          </a:prstGeom>
          <a:noFill/>
          <a:ln/>
        </p:spPr>
        <p:txBody>
          <a:bodyPr wrap="square" lIns="0" tIns="0" rIns="0" bIns="0" rtlCol="0" anchor="ctr"/>
          <a:lstStyle/>
          <a:p>
            <a:pPr marL="0" indent="0">
              <a:buNone/>
            </a:pPr>
            <a:r>
              <a:rPr lang="en-US" sz="1150" b="1" dirty="0">
                <a:solidFill>
                  <a:srgbClr val="6B7280"/>
                </a:solidFill>
                <a:latin typeface="Calibri" pitchFamily="34" charset="0"/>
                <a:ea typeface="Calibri" pitchFamily="34" charset="-122"/>
                <a:cs typeface="Calibri" pitchFamily="34" charset="-120"/>
              </a:rPr>
              <a:t>Wang — 복잡 ML과 LR의 AUC 격차</a:t>
            </a:r>
            <a:endParaRPr lang="en-US" sz="1150" dirty="0"/>
          </a:p>
        </p:txBody>
      </p:sp>
      <p:sp>
        <p:nvSpPr>
          <p:cNvPr id="27" name="Text 25"/>
          <p:cNvSpPr txBox="1"/>
          <p:nvPr/>
        </p:nvSpPr>
        <p:spPr>
          <a:xfrm>
            <a:off x="6720840" y="3310128"/>
            <a:ext cx="1234440" cy="402336"/>
          </a:xfrm>
          <a:prstGeom prst="rect">
            <a:avLst/>
          </a:prstGeom>
          <a:noFill/>
          <a:ln/>
        </p:spPr>
        <p:txBody>
          <a:bodyPr wrap="square" lIns="0" tIns="0" rIns="0" bIns="0" rtlCol="0" anchor="ctr"/>
          <a:lstStyle/>
          <a:p>
            <a:pPr marL="0" indent="0">
              <a:buNone/>
            </a:pPr>
            <a:r>
              <a:rPr lang="en-US" sz="1200" dirty="0">
                <a:solidFill>
                  <a:srgbClr val="1D2433"/>
                </a:solidFill>
                <a:latin typeface="Calibri" pitchFamily="34" charset="0"/>
                <a:ea typeface="Calibri" pitchFamily="34" charset="-122"/>
                <a:cs typeface="Calibri" pitchFamily="34" charset="-120"/>
              </a:rPr>
              <a:t>누출 있음</a:t>
            </a:r>
            <a:endParaRPr lang="en-US" sz="1200" dirty="0"/>
          </a:p>
        </p:txBody>
      </p:sp>
      <p:sp>
        <p:nvSpPr>
          <p:cNvPr id="28" name="Shape 26"/>
          <p:cNvSpPr/>
          <p:nvPr/>
        </p:nvSpPr>
        <p:spPr>
          <a:xfrm>
            <a:off x="8001000" y="3364992"/>
            <a:ext cx="2377440" cy="292608"/>
          </a:xfrm>
          <a:prstGeom prst="roundRect">
            <a:avLst>
              <a:gd name="adj" fmla="val 7813"/>
            </a:avLst>
          </a:prstGeom>
          <a:solidFill>
            <a:srgbClr val="E63946"/>
          </a:solidFill>
          <a:ln/>
        </p:spPr>
        <p:txBody>
          <a:bodyPr/>
          <a:lstStyle/>
          <a:p>
            <a:endParaRPr lang="ko-KR" altLang="en-US"/>
          </a:p>
        </p:txBody>
      </p:sp>
      <p:sp>
        <p:nvSpPr>
          <p:cNvPr id="29" name="Text 27"/>
          <p:cNvSpPr txBox="1"/>
          <p:nvPr/>
        </p:nvSpPr>
        <p:spPr>
          <a:xfrm>
            <a:off x="10488168" y="3310128"/>
            <a:ext cx="822960" cy="402336"/>
          </a:xfrm>
          <a:prstGeom prst="rect">
            <a:avLst/>
          </a:prstGeom>
          <a:noFill/>
          <a:ln/>
        </p:spPr>
        <p:txBody>
          <a:bodyPr wrap="square" lIns="0" tIns="0" rIns="0" bIns="0" rtlCol="0" anchor="ctr"/>
          <a:lstStyle/>
          <a:p>
            <a:pPr marL="0" indent="0">
              <a:buNone/>
            </a:pPr>
            <a:r>
              <a:rPr lang="en-US" sz="1500" b="1" dirty="0">
                <a:solidFill>
                  <a:srgbClr val="1D2433"/>
                </a:solidFill>
                <a:latin typeface="Cambria" pitchFamily="34" charset="0"/>
                <a:ea typeface="Cambria" pitchFamily="34" charset="-122"/>
                <a:cs typeface="Cambria" pitchFamily="34" charset="-120"/>
              </a:rPr>
              <a:t>0.14</a:t>
            </a:r>
            <a:endParaRPr lang="en-US" sz="1500" dirty="0"/>
          </a:p>
        </p:txBody>
      </p:sp>
      <p:sp>
        <p:nvSpPr>
          <p:cNvPr id="30" name="Text 28"/>
          <p:cNvSpPr txBox="1"/>
          <p:nvPr/>
        </p:nvSpPr>
        <p:spPr>
          <a:xfrm>
            <a:off x="6720840" y="3785616"/>
            <a:ext cx="1234440" cy="402336"/>
          </a:xfrm>
          <a:prstGeom prst="rect">
            <a:avLst/>
          </a:prstGeom>
          <a:noFill/>
          <a:ln/>
        </p:spPr>
        <p:txBody>
          <a:bodyPr wrap="square" lIns="0" tIns="0" rIns="0" bIns="0" rtlCol="0" anchor="ctr"/>
          <a:lstStyle/>
          <a:p>
            <a:pPr marL="0" indent="0">
              <a:buNone/>
            </a:pPr>
            <a:r>
              <a:rPr lang="en-US" sz="1200" dirty="0">
                <a:solidFill>
                  <a:srgbClr val="1D2433"/>
                </a:solidFill>
                <a:latin typeface="Calibri" pitchFamily="34" charset="0"/>
                <a:ea typeface="Calibri" pitchFamily="34" charset="-122"/>
                <a:cs typeface="Calibri" pitchFamily="34" charset="-120"/>
              </a:rPr>
              <a:t>바로잡음</a:t>
            </a:r>
            <a:endParaRPr lang="en-US" sz="1200" dirty="0"/>
          </a:p>
        </p:txBody>
      </p:sp>
      <p:sp>
        <p:nvSpPr>
          <p:cNvPr id="31" name="Shape 29"/>
          <p:cNvSpPr/>
          <p:nvPr/>
        </p:nvSpPr>
        <p:spPr>
          <a:xfrm>
            <a:off x="8001000" y="3840480"/>
            <a:ext cx="169817" cy="292608"/>
          </a:xfrm>
          <a:prstGeom prst="roundRect">
            <a:avLst>
              <a:gd name="adj" fmla="val 13462"/>
            </a:avLst>
          </a:prstGeom>
          <a:solidFill>
            <a:srgbClr val="2A9D8F"/>
          </a:solidFill>
          <a:ln/>
        </p:spPr>
        <p:txBody>
          <a:bodyPr/>
          <a:lstStyle/>
          <a:p>
            <a:endParaRPr lang="ko-KR" altLang="en-US"/>
          </a:p>
        </p:txBody>
      </p:sp>
      <p:sp>
        <p:nvSpPr>
          <p:cNvPr id="32" name="Text 30"/>
          <p:cNvSpPr txBox="1"/>
          <p:nvPr/>
        </p:nvSpPr>
        <p:spPr>
          <a:xfrm>
            <a:off x="8280545" y="3785616"/>
            <a:ext cx="822960" cy="402336"/>
          </a:xfrm>
          <a:prstGeom prst="rect">
            <a:avLst/>
          </a:prstGeom>
          <a:noFill/>
          <a:ln/>
        </p:spPr>
        <p:txBody>
          <a:bodyPr wrap="square" lIns="0" tIns="0" rIns="0" bIns="0" rtlCol="0" anchor="ctr"/>
          <a:lstStyle/>
          <a:p>
            <a:pPr marL="0" indent="0">
              <a:buNone/>
            </a:pPr>
            <a:r>
              <a:rPr lang="en-US" sz="1500" b="1" dirty="0">
                <a:solidFill>
                  <a:srgbClr val="1D2433"/>
                </a:solidFill>
                <a:latin typeface="Cambria" pitchFamily="34" charset="0"/>
                <a:ea typeface="Cambria" pitchFamily="34" charset="-122"/>
                <a:cs typeface="Cambria" pitchFamily="34" charset="-120"/>
              </a:rPr>
              <a:t>0.01</a:t>
            </a:r>
            <a:endParaRPr lang="en-US" sz="1500" dirty="0"/>
          </a:p>
        </p:txBody>
      </p:sp>
      <p:sp>
        <p:nvSpPr>
          <p:cNvPr id="33" name="Text 31"/>
          <p:cNvSpPr txBox="1"/>
          <p:nvPr/>
        </p:nvSpPr>
        <p:spPr>
          <a:xfrm>
            <a:off x="6720840" y="4114800"/>
            <a:ext cx="4663440" cy="274320"/>
          </a:xfrm>
          <a:prstGeom prst="rect">
            <a:avLst/>
          </a:prstGeom>
          <a:noFill/>
          <a:ln/>
        </p:spPr>
        <p:txBody>
          <a:bodyPr wrap="square" lIns="0" tIns="0" rIns="0" bIns="0" rtlCol="0" anchor="ctr"/>
          <a:lstStyle/>
          <a:p>
            <a:pPr marL="0" indent="0">
              <a:buNone/>
            </a:pPr>
            <a:r>
              <a:rPr lang="en-US" sz="1150" b="1" i="1" dirty="0">
                <a:solidFill>
                  <a:srgbClr val="E63946"/>
                </a:solidFill>
                <a:latin typeface="Calibri" pitchFamily="34" charset="0"/>
                <a:ea typeface="Calibri" pitchFamily="34" charset="-122"/>
                <a:cs typeface="Calibri" pitchFamily="34" charset="-120"/>
              </a:rPr>
              <a:t>격차 0.14 → 0.01 : 수십 년 된 단순 모델과 사실상 차이 없음</a:t>
            </a:r>
            <a:endParaRPr lang="en-US" sz="1150" dirty="0"/>
          </a:p>
        </p:txBody>
      </p:sp>
      <p:sp>
        <p:nvSpPr>
          <p:cNvPr id="34" name="Text 32"/>
          <p:cNvSpPr txBox="1"/>
          <p:nvPr/>
        </p:nvSpPr>
        <p:spPr>
          <a:xfrm>
            <a:off x="548640" y="4517136"/>
            <a:ext cx="5486400" cy="274320"/>
          </a:xfrm>
          <a:prstGeom prst="rect">
            <a:avLst/>
          </a:prstGeom>
          <a:noFill/>
          <a:ln/>
        </p:spPr>
        <p:txBody>
          <a:bodyPr wrap="square" lIns="0" tIns="0" rIns="0" bIns="0" rtlCol="0" anchor="ctr"/>
          <a:lstStyle/>
          <a:p>
            <a:pPr marL="0" indent="0">
              <a:buNone/>
            </a:pPr>
            <a:r>
              <a:rPr lang="en-US" sz="1400" b="1" dirty="0">
                <a:solidFill>
                  <a:srgbClr val="1D2433"/>
                </a:solidFill>
                <a:latin typeface="Cambria" pitchFamily="34" charset="0"/>
                <a:ea typeface="Cambria" pitchFamily="34" charset="-122"/>
                <a:cs typeface="Cambria" pitchFamily="34" charset="-120"/>
              </a:rPr>
              <a:t>누출을 바로잡은 결과</a:t>
            </a:r>
            <a:endParaRPr lang="en-US" sz="1400" dirty="0"/>
          </a:p>
        </p:txBody>
      </p:sp>
      <p:sp>
        <p:nvSpPr>
          <p:cNvPr id="35" name="Shape 33"/>
          <p:cNvSpPr/>
          <p:nvPr/>
        </p:nvSpPr>
        <p:spPr>
          <a:xfrm>
            <a:off x="548640" y="4828032"/>
            <a:ext cx="11064240" cy="438912"/>
          </a:xfrm>
          <a:prstGeom prst="rect">
            <a:avLst/>
          </a:prstGeom>
          <a:solidFill>
            <a:srgbClr val="F1F4F8"/>
          </a:solidFill>
          <a:ln/>
        </p:spPr>
        <p:txBody>
          <a:bodyPr/>
          <a:lstStyle/>
          <a:p>
            <a:endParaRPr lang="ko-KR" altLang="en-US"/>
          </a:p>
        </p:txBody>
      </p:sp>
      <p:sp>
        <p:nvSpPr>
          <p:cNvPr id="36" name="Text 34"/>
          <p:cNvSpPr txBox="1"/>
          <p:nvPr/>
        </p:nvSpPr>
        <p:spPr>
          <a:xfrm>
            <a:off x="685800" y="4828032"/>
            <a:ext cx="2194560" cy="438912"/>
          </a:xfrm>
          <a:prstGeom prst="rect">
            <a:avLst/>
          </a:prstGeom>
          <a:noFill/>
          <a:ln/>
        </p:spPr>
        <p:txBody>
          <a:bodyPr wrap="square" lIns="0" tIns="0" rIns="0" bIns="0" rtlCol="0" anchor="ctr"/>
          <a:lstStyle/>
          <a:p>
            <a:pPr marL="0" indent="0">
              <a:buNone/>
            </a:pPr>
            <a:r>
              <a:rPr lang="en-US" sz="1200" b="1" dirty="0">
                <a:solidFill>
                  <a:srgbClr val="1D2433"/>
                </a:solidFill>
                <a:latin typeface="Calibri" pitchFamily="34" charset="0"/>
                <a:ea typeface="Calibri" pitchFamily="34" charset="-122"/>
                <a:cs typeface="Calibri" pitchFamily="34" charset="-120"/>
              </a:rPr>
              <a:t>Muchlinski et al.</a:t>
            </a:r>
            <a:endParaRPr lang="en-US" sz="1200" dirty="0"/>
          </a:p>
        </p:txBody>
      </p:sp>
      <p:sp>
        <p:nvSpPr>
          <p:cNvPr id="37" name="Text 35"/>
          <p:cNvSpPr txBox="1"/>
          <p:nvPr/>
        </p:nvSpPr>
        <p:spPr>
          <a:xfrm>
            <a:off x="2926080" y="4828032"/>
            <a:ext cx="2926080" cy="438912"/>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L1.2 분할 前 결측 대치</a:t>
            </a:r>
            <a:endParaRPr lang="en-US" sz="1150" dirty="0"/>
          </a:p>
        </p:txBody>
      </p:sp>
      <p:sp>
        <p:nvSpPr>
          <p:cNvPr id="38" name="Text 36"/>
          <p:cNvSpPr txBox="1"/>
          <p:nvPr/>
        </p:nvSpPr>
        <p:spPr>
          <a:xfrm>
            <a:off x="5943600" y="4828032"/>
            <a:ext cx="3291840" cy="438912"/>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테스트셋 결측률 95% (90개 변수 중 70개)</a:t>
            </a:r>
            <a:endParaRPr lang="en-US" sz="1150" dirty="0"/>
          </a:p>
        </p:txBody>
      </p:sp>
      <p:sp>
        <p:nvSpPr>
          <p:cNvPr id="39" name="Text 37"/>
          <p:cNvSpPr txBox="1"/>
          <p:nvPr/>
        </p:nvSpPr>
        <p:spPr>
          <a:xfrm>
            <a:off x="9326880" y="4828032"/>
            <a:ext cx="2194560" cy="438912"/>
          </a:xfrm>
          <a:prstGeom prst="rect">
            <a:avLst/>
          </a:prstGeom>
          <a:noFill/>
          <a:ln/>
        </p:spPr>
        <p:txBody>
          <a:bodyPr wrap="square" lIns="0" tIns="0" rIns="0" bIns="0" rtlCol="0" anchor="ctr"/>
          <a:lstStyle/>
          <a:p>
            <a:pPr marL="0" indent="0">
              <a:buNone/>
            </a:pPr>
            <a:r>
              <a:rPr lang="en-US" sz="1200" b="1" dirty="0">
                <a:solidFill>
                  <a:srgbClr val="E63946"/>
                </a:solidFill>
                <a:latin typeface="Calibri" pitchFamily="34" charset="0"/>
                <a:ea typeface="Calibri" pitchFamily="34" charset="-122"/>
                <a:cs typeface="Calibri" pitchFamily="34" charset="-120"/>
              </a:rPr>
              <a:t>RF AUC 0.95 → 0.64</a:t>
            </a:r>
            <a:endParaRPr lang="en-US" sz="1200" dirty="0"/>
          </a:p>
        </p:txBody>
      </p:sp>
      <p:sp>
        <p:nvSpPr>
          <p:cNvPr id="40" name="Shape 38"/>
          <p:cNvSpPr/>
          <p:nvPr/>
        </p:nvSpPr>
        <p:spPr>
          <a:xfrm>
            <a:off x="548640" y="5266944"/>
            <a:ext cx="11064240" cy="438912"/>
          </a:xfrm>
          <a:prstGeom prst="rect">
            <a:avLst/>
          </a:prstGeom>
          <a:solidFill>
            <a:srgbClr val="FFFFFF"/>
          </a:solidFill>
          <a:ln/>
        </p:spPr>
        <p:txBody>
          <a:bodyPr/>
          <a:lstStyle/>
          <a:p>
            <a:endParaRPr lang="ko-KR" altLang="en-US"/>
          </a:p>
        </p:txBody>
      </p:sp>
      <p:sp>
        <p:nvSpPr>
          <p:cNvPr id="41" name="Text 39"/>
          <p:cNvSpPr txBox="1"/>
          <p:nvPr/>
        </p:nvSpPr>
        <p:spPr>
          <a:xfrm>
            <a:off x="685800" y="5266944"/>
            <a:ext cx="2194560" cy="438912"/>
          </a:xfrm>
          <a:prstGeom prst="rect">
            <a:avLst/>
          </a:prstGeom>
          <a:noFill/>
          <a:ln/>
        </p:spPr>
        <p:txBody>
          <a:bodyPr wrap="square" lIns="0" tIns="0" rIns="0" bIns="0" rtlCol="0" anchor="ctr"/>
          <a:lstStyle/>
          <a:p>
            <a:pPr marL="0" indent="0">
              <a:buNone/>
            </a:pPr>
            <a:r>
              <a:rPr lang="en-US" sz="1200" b="1" dirty="0">
                <a:solidFill>
                  <a:srgbClr val="1D2433"/>
                </a:solidFill>
                <a:latin typeface="Calibri" pitchFamily="34" charset="0"/>
                <a:ea typeface="Calibri" pitchFamily="34" charset="-122"/>
                <a:cs typeface="Calibri" pitchFamily="34" charset="-120"/>
              </a:rPr>
              <a:t>Colaresi &amp; Mahmood</a:t>
            </a:r>
            <a:endParaRPr lang="en-US" sz="1200" dirty="0"/>
          </a:p>
        </p:txBody>
      </p:sp>
      <p:sp>
        <p:nvSpPr>
          <p:cNvPr id="42" name="Text 40"/>
          <p:cNvSpPr txBox="1"/>
          <p:nvPr/>
        </p:nvSpPr>
        <p:spPr>
          <a:xfrm>
            <a:off x="2926080" y="5266944"/>
            <a:ext cx="2926080" cy="438912"/>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오염된 대치 데이터 재사용</a:t>
            </a:r>
            <a:endParaRPr lang="en-US" sz="1150" dirty="0"/>
          </a:p>
        </p:txBody>
      </p:sp>
      <p:sp>
        <p:nvSpPr>
          <p:cNvPr id="43" name="Text 41"/>
          <p:cNvSpPr txBox="1"/>
          <p:nvPr/>
        </p:nvSpPr>
        <p:spPr>
          <a:xfrm>
            <a:off x="5943600" y="5266944"/>
            <a:ext cx="3291840" cy="438912"/>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결측률 17.4%, agexp 54.3% 결측</a:t>
            </a:r>
            <a:endParaRPr lang="en-US" sz="1150" dirty="0"/>
          </a:p>
        </p:txBody>
      </p:sp>
      <p:sp>
        <p:nvSpPr>
          <p:cNvPr id="44" name="Text 42"/>
          <p:cNvSpPr txBox="1"/>
          <p:nvPr/>
        </p:nvSpPr>
        <p:spPr>
          <a:xfrm>
            <a:off x="9326880" y="5266944"/>
            <a:ext cx="2194560" cy="438912"/>
          </a:xfrm>
          <a:prstGeom prst="rect">
            <a:avLst/>
          </a:prstGeom>
          <a:noFill/>
          <a:ln/>
        </p:spPr>
        <p:txBody>
          <a:bodyPr wrap="square" lIns="0" tIns="0" rIns="0" bIns="0" rtlCol="0" anchor="ctr"/>
          <a:lstStyle/>
          <a:p>
            <a:pPr marL="0" indent="0">
              <a:buNone/>
            </a:pPr>
            <a:r>
              <a:rPr lang="en-US" sz="1200" b="1" dirty="0">
                <a:solidFill>
                  <a:srgbClr val="E63946"/>
                </a:solidFill>
                <a:latin typeface="Calibri" pitchFamily="34" charset="0"/>
                <a:ea typeface="Calibri" pitchFamily="34" charset="-122"/>
                <a:cs typeface="Calibri" pitchFamily="34" charset="-120"/>
              </a:rPr>
              <a:t>RF AUC 0.91 → 0.75</a:t>
            </a:r>
            <a:endParaRPr lang="en-US" sz="1200" dirty="0"/>
          </a:p>
        </p:txBody>
      </p:sp>
      <p:sp>
        <p:nvSpPr>
          <p:cNvPr id="45" name="Shape 43"/>
          <p:cNvSpPr/>
          <p:nvPr/>
        </p:nvSpPr>
        <p:spPr>
          <a:xfrm>
            <a:off x="548640" y="5705856"/>
            <a:ext cx="11064240" cy="438912"/>
          </a:xfrm>
          <a:prstGeom prst="rect">
            <a:avLst/>
          </a:prstGeom>
          <a:solidFill>
            <a:srgbClr val="F1F4F8"/>
          </a:solidFill>
          <a:ln/>
        </p:spPr>
        <p:txBody>
          <a:bodyPr/>
          <a:lstStyle/>
          <a:p>
            <a:endParaRPr lang="ko-KR" altLang="en-US"/>
          </a:p>
        </p:txBody>
      </p:sp>
      <p:sp>
        <p:nvSpPr>
          <p:cNvPr id="46" name="Text 44"/>
          <p:cNvSpPr txBox="1"/>
          <p:nvPr/>
        </p:nvSpPr>
        <p:spPr>
          <a:xfrm>
            <a:off x="685800" y="5705856"/>
            <a:ext cx="2194560" cy="438912"/>
          </a:xfrm>
          <a:prstGeom prst="rect">
            <a:avLst/>
          </a:prstGeom>
          <a:noFill/>
          <a:ln/>
        </p:spPr>
        <p:txBody>
          <a:bodyPr wrap="square" lIns="0" tIns="0" rIns="0" bIns="0" rtlCol="0" anchor="ctr"/>
          <a:lstStyle/>
          <a:p>
            <a:pPr marL="0" indent="0">
              <a:buNone/>
            </a:pPr>
            <a:r>
              <a:rPr lang="en-US" sz="1200" b="1" dirty="0">
                <a:solidFill>
                  <a:srgbClr val="1D2433"/>
                </a:solidFill>
                <a:latin typeface="Calibri" pitchFamily="34" charset="0"/>
                <a:ea typeface="Calibri" pitchFamily="34" charset="-122"/>
                <a:cs typeface="Calibri" pitchFamily="34" charset="-120"/>
              </a:rPr>
              <a:t>Wang</a:t>
            </a:r>
            <a:endParaRPr lang="en-US" sz="1200" dirty="0"/>
          </a:p>
        </p:txBody>
      </p:sp>
      <p:sp>
        <p:nvSpPr>
          <p:cNvPr id="47" name="Text 45"/>
          <p:cNvSpPr txBox="1"/>
          <p:nvPr/>
        </p:nvSpPr>
        <p:spPr>
          <a:xfrm>
            <a:off x="2926080" y="5705856"/>
            <a:ext cx="2926080" cy="438912"/>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L3.1 시점 누출 (k-겹 교차검증)</a:t>
            </a:r>
            <a:endParaRPr lang="en-US" sz="1150" dirty="0"/>
          </a:p>
        </p:txBody>
      </p:sp>
      <p:sp>
        <p:nvSpPr>
          <p:cNvPr id="48" name="Text 46"/>
          <p:cNvSpPr txBox="1"/>
          <p:nvPr/>
        </p:nvSpPr>
        <p:spPr>
          <a:xfrm>
            <a:off x="5943600" y="5705856"/>
            <a:ext cx="3291840" cy="438912"/>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결측률 17.4%, agexp 49.8% 결측</a:t>
            </a:r>
            <a:endParaRPr lang="en-US" sz="1150" dirty="0"/>
          </a:p>
        </p:txBody>
      </p:sp>
      <p:sp>
        <p:nvSpPr>
          <p:cNvPr id="49" name="Text 47"/>
          <p:cNvSpPr txBox="1"/>
          <p:nvPr/>
        </p:nvSpPr>
        <p:spPr>
          <a:xfrm>
            <a:off x="9326880" y="5705856"/>
            <a:ext cx="2194560" cy="438912"/>
          </a:xfrm>
          <a:prstGeom prst="rect">
            <a:avLst/>
          </a:prstGeom>
          <a:noFill/>
          <a:ln/>
        </p:spPr>
        <p:txBody>
          <a:bodyPr wrap="square" lIns="0" tIns="0" rIns="0" bIns="0" rtlCol="0" anchor="ctr"/>
          <a:lstStyle/>
          <a:p>
            <a:pPr marL="0" indent="0">
              <a:buNone/>
            </a:pPr>
            <a:r>
              <a:rPr lang="en-US" sz="1200" b="1" dirty="0">
                <a:solidFill>
                  <a:srgbClr val="E63946"/>
                </a:solidFill>
                <a:latin typeface="Calibri" pitchFamily="34" charset="0"/>
                <a:ea typeface="Calibri" pitchFamily="34" charset="-122"/>
                <a:cs typeface="Calibri" pitchFamily="34" charset="-120"/>
              </a:rPr>
              <a:t>격차 0.14 → 0.01</a:t>
            </a:r>
            <a:endParaRPr lang="en-US" sz="1200" dirty="0"/>
          </a:p>
        </p:txBody>
      </p:sp>
      <p:sp>
        <p:nvSpPr>
          <p:cNvPr id="50" name="Text 48"/>
          <p:cNvSpPr txBox="1"/>
          <p:nvPr/>
        </p:nvSpPr>
        <p:spPr>
          <a:xfrm>
            <a:off x="548640" y="6236208"/>
            <a:ext cx="11064240" cy="292608"/>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발견 2 — 12편 중 9편은 유의성 검정이 아예 없었음 (Blair &amp; Sambanis: 내전 11건, AUC 0.85, 95% CI 0.66–0.95 → 유의하지 않음)</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E63946"/>
          </a:solidFill>
          <a:ln/>
        </p:spPr>
        <p:txBody>
          <a:bodyPr/>
          <a:lstStyle/>
          <a:p>
            <a:endParaRPr lang="ko-KR" altLang="en-US"/>
          </a:p>
        </p:txBody>
      </p:sp>
      <p:sp>
        <p:nvSpPr>
          <p:cNvPr id="3" name="Text 1"/>
          <p:cNvSpPr txBox="1"/>
          <p:nvPr/>
        </p:nvSpPr>
        <p:spPr>
          <a:xfrm>
            <a:off x="640080" y="438912"/>
            <a:ext cx="10972800" cy="329184"/>
          </a:xfrm>
          <a:prstGeom prst="rect">
            <a:avLst/>
          </a:prstGeom>
          <a:noFill/>
          <a:ln/>
        </p:spPr>
        <p:txBody>
          <a:bodyPr wrap="square" rtlCol="0" anchor="ctr"/>
          <a:lstStyle/>
          <a:p>
            <a:pPr marL="0" indent="0">
              <a:buNone/>
            </a:pPr>
            <a:r>
              <a:rPr lang="en-US" sz="1350" b="1" kern="0" spc="100" dirty="0">
                <a:solidFill>
                  <a:srgbClr val="E63946"/>
                </a:solidFill>
                <a:latin typeface="Calibri" pitchFamily="34" charset="0"/>
                <a:ea typeface="Calibri" pitchFamily="34" charset="-122"/>
                <a:cs typeface="Calibri" pitchFamily="34" charset="-120"/>
              </a:rPr>
              <a:t>핵심 정리 — 이 한 장만 봐도 논문을 안다</a:t>
            </a:r>
            <a:endParaRPr lang="en-US" sz="1350" dirty="0"/>
          </a:p>
        </p:txBody>
      </p:sp>
      <p:sp>
        <p:nvSpPr>
          <p:cNvPr id="4" name="Text 2"/>
          <p:cNvSpPr txBox="1"/>
          <p:nvPr/>
        </p:nvSpPr>
        <p:spPr>
          <a:xfrm>
            <a:off x="640080" y="749808"/>
            <a:ext cx="10972800" cy="566928"/>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Kapoor &amp; Narayanan (2023), Patterns 4, 100804 — 한 장 요약</a:t>
            </a:r>
            <a:endParaRPr lang="en-US" sz="2600" dirty="0"/>
          </a:p>
        </p:txBody>
      </p:sp>
      <p:sp>
        <p:nvSpPr>
          <p:cNvPr id="5" name="Shape 3"/>
          <p:cNvSpPr/>
          <p:nvPr/>
        </p:nvSpPr>
        <p:spPr>
          <a:xfrm>
            <a:off x="640080" y="1572768"/>
            <a:ext cx="10927080" cy="1481328"/>
          </a:xfrm>
          <a:prstGeom prst="roundRect">
            <a:avLst>
              <a:gd name="adj" fmla="val 3704"/>
            </a:avLst>
          </a:prstGeom>
          <a:solidFill>
            <a:srgbClr val="1F3155"/>
          </a:solidFill>
          <a:ln/>
        </p:spPr>
        <p:txBody>
          <a:bodyPr/>
          <a:lstStyle/>
          <a:p>
            <a:endParaRPr lang="ko-KR" altLang="en-US"/>
          </a:p>
        </p:txBody>
      </p:sp>
      <p:sp>
        <p:nvSpPr>
          <p:cNvPr id="6" name="Shape 4"/>
          <p:cNvSpPr/>
          <p:nvPr/>
        </p:nvSpPr>
        <p:spPr>
          <a:xfrm>
            <a:off x="868680" y="2011680"/>
            <a:ext cx="594360" cy="594360"/>
          </a:xfrm>
          <a:prstGeom prst="ellipse">
            <a:avLst/>
          </a:prstGeom>
          <a:solidFill>
            <a:srgbClr val="98C1D9"/>
          </a:solidFill>
          <a:ln/>
        </p:spPr>
        <p:txBody>
          <a:bodyPr/>
          <a:lstStyle/>
          <a:p>
            <a:endParaRPr lang="ko-KR" altLang="en-US"/>
          </a:p>
        </p:txBody>
      </p:sp>
      <p:sp>
        <p:nvSpPr>
          <p:cNvPr id="7" name="Text 5"/>
          <p:cNvSpPr txBox="1"/>
          <p:nvPr/>
        </p:nvSpPr>
        <p:spPr>
          <a:xfrm>
            <a:off x="868680" y="2011680"/>
            <a:ext cx="594360" cy="594360"/>
          </a:xfrm>
          <a:prstGeom prst="rect">
            <a:avLst/>
          </a:prstGeom>
          <a:noFill/>
          <a:ln/>
        </p:spPr>
        <p:txBody>
          <a:bodyPr wrap="square" lIns="0" tIns="0" rIns="0" bIns="0" rtlCol="0" anchor="ctr"/>
          <a:lstStyle/>
          <a:p>
            <a:pPr marL="0" indent="0" algn="ctr">
              <a:buNone/>
            </a:pPr>
            <a:r>
              <a:rPr lang="en-US" sz="1600" b="1" dirty="0">
                <a:solidFill>
                  <a:srgbClr val="14213D"/>
                </a:solidFill>
                <a:latin typeface="Cambria" pitchFamily="34" charset="0"/>
                <a:ea typeface="Cambria" pitchFamily="34" charset="-122"/>
                <a:cs typeface="Cambria" pitchFamily="34" charset="-120"/>
              </a:rPr>
              <a:t>①</a:t>
            </a:r>
            <a:endParaRPr lang="en-US" sz="1600" dirty="0"/>
          </a:p>
        </p:txBody>
      </p:sp>
      <p:sp>
        <p:nvSpPr>
          <p:cNvPr id="8" name="Text 6"/>
          <p:cNvSpPr txBox="1"/>
          <p:nvPr/>
        </p:nvSpPr>
        <p:spPr>
          <a:xfrm>
            <a:off x="1691640" y="1737360"/>
            <a:ext cx="9601200" cy="384048"/>
          </a:xfrm>
          <a:prstGeom prst="rect">
            <a:avLst/>
          </a:prstGeom>
          <a:noFill/>
          <a:ln/>
        </p:spPr>
        <p:txBody>
          <a:bodyPr wrap="square" lIns="0" tIns="0" rIns="0" bIns="0" rtlCol="0" anchor="ctr"/>
          <a:lstStyle/>
          <a:p>
            <a:pPr marL="0" indent="0">
              <a:buNone/>
            </a:pPr>
            <a:r>
              <a:rPr lang="en-US" sz="1650" b="1" dirty="0">
                <a:solidFill>
                  <a:srgbClr val="98C1D9"/>
                </a:solidFill>
                <a:latin typeface="Cambria" pitchFamily="34" charset="0"/>
                <a:ea typeface="Cambria" pitchFamily="34" charset="-122"/>
                <a:cs typeface="Cambria" pitchFamily="34" charset="-120"/>
              </a:rPr>
              <a:t>이 논문이 푸는 문제</a:t>
            </a:r>
            <a:endParaRPr lang="en-US" sz="1650" dirty="0"/>
          </a:p>
        </p:txBody>
      </p:sp>
      <p:sp>
        <p:nvSpPr>
          <p:cNvPr id="9" name="Text 7"/>
          <p:cNvSpPr txBox="1"/>
          <p:nvPr/>
        </p:nvSpPr>
        <p:spPr>
          <a:xfrm>
            <a:off x="1691640" y="2139696"/>
            <a:ext cx="9601200" cy="822960"/>
          </a:xfrm>
          <a:prstGeom prst="rect">
            <a:avLst/>
          </a:prstGeom>
          <a:noFill/>
          <a:ln/>
        </p:spPr>
        <p:txBody>
          <a:bodyPr wrap="square" lIns="0" tIns="0" rIns="0" bIns="0" rtlCol="0" anchor="t"/>
          <a:lstStyle/>
          <a:p>
            <a:pPr marL="0" indent="0">
              <a:lnSpc>
                <a:spcPct val="110000"/>
              </a:lnSpc>
              <a:buNone/>
            </a:pPr>
            <a:r>
              <a:rPr lang="en-US" sz="1350" dirty="0">
                <a:solidFill>
                  <a:srgbClr val="FFFFFF"/>
                </a:solidFill>
                <a:latin typeface="Calibri" pitchFamily="34" charset="0"/>
                <a:ea typeface="Calibri" pitchFamily="34" charset="-122"/>
                <a:cs typeface="Calibri" pitchFamily="34" charset="-120"/>
              </a:rPr>
              <a:t>여러 분야에서 “복잡한 ML이 더 낫다”는 결과가 재현되지 않는데, 그 원인에 대한 통합된 설명이 없었다. 각 분야가 “우리 분야만의 문제”로 여겼다.</a:t>
            </a:r>
            <a:endParaRPr lang="en-US" sz="1350" dirty="0"/>
          </a:p>
        </p:txBody>
      </p:sp>
      <p:sp>
        <p:nvSpPr>
          <p:cNvPr id="10" name="Shape 8"/>
          <p:cNvSpPr/>
          <p:nvPr/>
        </p:nvSpPr>
        <p:spPr>
          <a:xfrm>
            <a:off x="640080" y="3182112"/>
            <a:ext cx="10927080" cy="1481328"/>
          </a:xfrm>
          <a:prstGeom prst="roundRect">
            <a:avLst>
              <a:gd name="adj" fmla="val 3704"/>
            </a:avLst>
          </a:prstGeom>
          <a:solidFill>
            <a:srgbClr val="1F3155"/>
          </a:solidFill>
          <a:ln/>
        </p:spPr>
        <p:txBody>
          <a:bodyPr/>
          <a:lstStyle/>
          <a:p>
            <a:endParaRPr lang="ko-KR" altLang="en-US"/>
          </a:p>
        </p:txBody>
      </p:sp>
      <p:sp>
        <p:nvSpPr>
          <p:cNvPr id="11" name="Shape 9"/>
          <p:cNvSpPr/>
          <p:nvPr/>
        </p:nvSpPr>
        <p:spPr>
          <a:xfrm>
            <a:off x="868680" y="3621024"/>
            <a:ext cx="594360" cy="594360"/>
          </a:xfrm>
          <a:prstGeom prst="ellipse">
            <a:avLst/>
          </a:prstGeom>
          <a:solidFill>
            <a:srgbClr val="98C1D9"/>
          </a:solidFill>
          <a:ln/>
        </p:spPr>
        <p:txBody>
          <a:bodyPr/>
          <a:lstStyle/>
          <a:p>
            <a:endParaRPr lang="ko-KR" altLang="en-US"/>
          </a:p>
        </p:txBody>
      </p:sp>
      <p:sp>
        <p:nvSpPr>
          <p:cNvPr id="12" name="Text 10"/>
          <p:cNvSpPr txBox="1"/>
          <p:nvPr/>
        </p:nvSpPr>
        <p:spPr>
          <a:xfrm>
            <a:off x="868680" y="3621024"/>
            <a:ext cx="594360" cy="594360"/>
          </a:xfrm>
          <a:prstGeom prst="rect">
            <a:avLst/>
          </a:prstGeom>
          <a:noFill/>
          <a:ln/>
        </p:spPr>
        <p:txBody>
          <a:bodyPr wrap="square" lIns="0" tIns="0" rIns="0" bIns="0" rtlCol="0" anchor="ctr"/>
          <a:lstStyle/>
          <a:p>
            <a:pPr marL="0" indent="0" algn="ctr">
              <a:buNone/>
            </a:pPr>
            <a:r>
              <a:rPr lang="en-US" sz="1600" b="1" dirty="0">
                <a:solidFill>
                  <a:srgbClr val="14213D"/>
                </a:solidFill>
                <a:latin typeface="Cambria" pitchFamily="34" charset="0"/>
                <a:ea typeface="Cambria" pitchFamily="34" charset="-122"/>
                <a:cs typeface="Cambria" pitchFamily="34" charset="-120"/>
              </a:rPr>
              <a:t>②</a:t>
            </a:r>
            <a:endParaRPr lang="en-US" sz="1600" dirty="0"/>
          </a:p>
        </p:txBody>
      </p:sp>
      <p:sp>
        <p:nvSpPr>
          <p:cNvPr id="13" name="Text 11"/>
          <p:cNvSpPr txBox="1"/>
          <p:nvPr/>
        </p:nvSpPr>
        <p:spPr>
          <a:xfrm>
            <a:off x="1691640" y="3346704"/>
            <a:ext cx="9601200" cy="384048"/>
          </a:xfrm>
          <a:prstGeom prst="rect">
            <a:avLst/>
          </a:prstGeom>
          <a:noFill/>
          <a:ln/>
        </p:spPr>
        <p:txBody>
          <a:bodyPr wrap="square" lIns="0" tIns="0" rIns="0" bIns="0" rtlCol="0" anchor="ctr"/>
          <a:lstStyle/>
          <a:p>
            <a:pPr marL="0" indent="0">
              <a:buNone/>
            </a:pPr>
            <a:r>
              <a:rPr lang="en-US" sz="1650" b="1" dirty="0">
                <a:solidFill>
                  <a:srgbClr val="98C1D9"/>
                </a:solidFill>
                <a:latin typeface="Cambria" pitchFamily="34" charset="0"/>
                <a:ea typeface="Cambria" pitchFamily="34" charset="-122"/>
                <a:cs typeface="Cambria" pitchFamily="34" charset="-120"/>
              </a:rPr>
              <a:t>핵심 아이디어 하나</a:t>
            </a:r>
            <a:endParaRPr lang="en-US" sz="1650" dirty="0"/>
          </a:p>
        </p:txBody>
      </p:sp>
      <p:sp>
        <p:nvSpPr>
          <p:cNvPr id="14" name="Text 12"/>
          <p:cNvSpPr txBox="1"/>
          <p:nvPr/>
        </p:nvSpPr>
        <p:spPr>
          <a:xfrm>
            <a:off x="1691640" y="3749040"/>
            <a:ext cx="9601200" cy="822960"/>
          </a:xfrm>
          <a:prstGeom prst="rect">
            <a:avLst/>
          </a:prstGeom>
          <a:noFill/>
          <a:ln/>
        </p:spPr>
        <p:txBody>
          <a:bodyPr wrap="square" lIns="0" tIns="0" rIns="0" bIns="0" rtlCol="0" anchor="t"/>
          <a:lstStyle/>
          <a:p>
            <a:pPr marL="0" indent="0">
              <a:lnSpc>
                <a:spcPct val="110000"/>
              </a:lnSpc>
              <a:buNone/>
            </a:pPr>
            <a:r>
              <a:rPr lang="en-US" sz="1350" dirty="0">
                <a:solidFill>
                  <a:srgbClr val="FFFFFF"/>
                </a:solidFill>
                <a:latin typeface="Calibri" pitchFamily="34" charset="0"/>
                <a:ea typeface="Calibri" pitchFamily="34" charset="-122"/>
                <a:cs typeface="Calibri" pitchFamily="34" charset="-120"/>
              </a:rPr>
              <a:t>원인은 ‘데이터 누출’ 하나로 수렴 → 3범주 · 8유형으로 지도화 (그중 L3.1이 우리 주제 ‘시점 누출’) + 21문항 모델 정보 시트로 예방.</a:t>
            </a:r>
            <a:endParaRPr lang="en-US" sz="1350" dirty="0"/>
          </a:p>
        </p:txBody>
      </p:sp>
      <p:sp>
        <p:nvSpPr>
          <p:cNvPr id="15" name="Shape 13"/>
          <p:cNvSpPr/>
          <p:nvPr/>
        </p:nvSpPr>
        <p:spPr>
          <a:xfrm>
            <a:off x="640080" y="4791456"/>
            <a:ext cx="10927080" cy="1481328"/>
          </a:xfrm>
          <a:prstGeom prst="roundRect">
            <a:avLst>
              <a:gd name="adj" fmla="val 3704"/>
            </a:avLst>
          </a:prstGeom>
          <a:solidFill>
            <a:srgbClr val="1F3155"/>
          </a:solidFill>
          <a:ln/>
        </p:spPr>
        <p:txBody>
          <a:bodyPr/>
          <a:lstStyle/>
          <a:p>
            <a:endParaRPr lang="ko-KR" altLang="en-US"/>
          </a:p>
        </p:txBody>
      </p:sp>
      <p:sp>
        <p:nvSpPr>
          <p:cNvPr id="16" name="Shape 14"/>
          <p:cNvSpPr/>
          <p:nvPr/>
        </p:nvSpPr>
        <p:spPr>
          <a:xfrm>
            <a:off x="868680" y="5230368"/>
            <a:ext cx="594360" cy="594360"/>
          </a:xfrm>
          <a:prstGeom prst="ellipse">
            <a:avLst/>
          </a:prstGeom>
          <a:solidFill>
            <a:srgbClr val="E63946"/>
          </a:solidFill>
          <a:ln/>
        </p:spPr>
        <p:txBody>
          <a:bodyPr/>
          <a:lstStyle/>
          <a:p>
            <a:endParaRPr lang="ko-KR" altLang="en-US"/>
          </a:p>
        </p:txBody>
      </p:sp>
      <p:sp>
        <p:nvSpPr>
          <p:cNvPr id="17" name="Text 15"/>
          <p:cNvSpPr txBox="1"/>
          <p:nvPr/>
        </p:nvSpPr>
        <p:spPr>
          <a:xfrm>
            <a:off x="868680" y="5230368"/>
            <a:ext cx="59436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③</a:t>
            </a:r>
            <a:endParaRPr lang="en-US" sz="1600" dirty="0"/>
          </a:p>
        </p:txBody>
      </p:sp>
      <p:sp>
        <p:nvSpPr>
          <p:cNvPr id="18" name="Text 16"/>
          <p:cNvSpPr txBox="1"/>
          <p:nvPr/>
        </p:nvSpPr>
        <p:spPr>
          <a:xfrm>
            <a:off x="1691640" y="4956048"/>
            <a:ext cx="9601200" cy="384048"/>
          </a:xfrm>
          <a:prstGeom prst="rect">
            <a:avLst/>
          </a:prstGeom>
          <a:noFill/>
          <a:ln/>
        </p:spPr>
        <p:txBody>
          <a:bodyPr wrap="square" lIns="0" tIns="0" rIns="0" bIns="0" rtlCol="0" anchor="ctr"/>
          <a:lstStyle/>
          <a:p>
            <a:pPr marL="0" indent="0">
              <a:buNone/>
            </a:pPr>
            <a:r>
              <a:rPr lang="en-US" sz="1650" b="1" dirty="0">
                <a:solidFill>
                  <a:srgbClr val="98C1D9"/>
                </a:solidFill>
                <a:latin typeface="Cambria" pitchFamily="34" charset="0"/>
                <a:ea typeface="Cambria" pitchFamily="34" charset="-122"/>
                <a:cs typeface="Cambria" pitchFamily="34" charset="-120"/>
              </a:rPr>
              <a:t>결과 숫자 하나</a:t>
            </a:r>
            <a:endParaRPr lang="en-US" sz="1650" dirty="0"/>
          </a:p>
        </p:txBody>
      </p:sp>
      <p:sp>
        <p:nvSpPr>
          <p:cNvPr id="19" name="Text 17"/>
          <p:cNvSpPr txBox="1"/>
          <p:nvPr/>
        </p:nvSpPr>
        <p:spPr>
          <a:xfrm>
            <a:off x="1691640" y="5358384"/>
            <a:ext cx="9601200" cy="822960"/>
          </a:xfrm>
          <a:prstGeom prst="rect">
            <a:avLst/>
          </a:prstGeom>
          <a:noFill/>
          <a:ln/>
        </p:spPr>
        <p:txBody>
          <a:bodyPr wrap="square" lIns="0" tIns="0" rIns="0" bIns="0" rtlCol="0" anchor="t"/>
          <a:lstStyle/>
          <a:p>
            <a:pPr marL="0" indent="0">
              <a:lnSpc>
                <a:spcPct val="110000"/>
              </a:lnSpc>
              <a:buNone/>
            </a:pPr>
            <a:r>
              <a:rPr lang="en-US" sz="1350" dirty="0">
                <a:solidFill>
                  <a:srgbClr val="FFFFFF"/>
                </a:solidFill>
                <a:latin typeface="Calibri" pitchFamily="34" charset="0"/>
                <a:ea typeface="Calibri" pitchFamily="34" charset="-122"/>
                <a:cs typeface="Calibri" pitchFamily="34" charset="-120"/>
              </a:rPr>
              <a:t>17개 분야 294편에서 누출 발견. 내전 예측에서 복잡 ML의 우위(AUC 격차)가 0.14 → 0.01로 소멸 = 수십 년 된 LR과 차이 없음.</a:t>
            </a:r>
            <a:endParaRPr lang="en-US" sz="1350" dirty="0"/>
          </a:p>
        </p:txBody>
      </p:sp>
      <p:sp>
        <p:nvSpPr>
          <p:cNvPr id="20" name="Text 18"/>
          <p:cNvSpPr txBox="1"/>
          <p:nvPr/>
        </p:nvSpPr>
        <p:spPr>
          <a:xfrm>
            <a:off x="640080" y="6345936"/>
            <a:ext cx="10927080" cy="292608"/>
          </a:xfrm>
          <a:prstGeom prst="rect">
            <a:avLst/>
          </a:prstGeom>
          <a:noFill/>
          <a:ln/>
        </p:spPr>
        <p:txBody>
          <a:bodyPr wrap="square" rtlCol="0" anchor="ctr"/>
          <a:lstStyle/>
          <a:p>
            <a:pPr marL="0" indent="0">
              <a:buNone/>
            </a:pPr>
            <a:r>
              <a:rPr lang="en-US" sz="1050" i="1" dirty="0">
                <a:solidFill>
                  <a:srgbClr val="9AA3AF"/>
                </a:solidFill>
                <a:latin typeface="Calibri" pitchFamily="34" charset="0"/>
                <a:ea typeface="Calibri" pitchFamily="34" charset="-122"/>
                <a:cs typeface="Calibri" pitchFamily="34" charset="-120"/>
              </a:rPr>
              <a:t>※ 판본 참고 — 영향 논문 수는 게재본 기준 294편 (일부 arXiv 판본에는 329편으로 표기)</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1064240" cy="292608"/>
          </a:xfrm>
          <a:prstGeom prst="rect">
            <a:avLst/>
          </a:prstGeom>
          <a:noFill/>
          <a:ln/>
        </p:spPr>
        <p:txBody>
          <a:bodyPr wrap="square" rtlCol="0" anchor="ctr"/>
          <a:lstStyle/>
          <a:p>
            <a:pPr marL="0" indent="0">
              <a:buNone/>
            </a:pPr>
            <a:r>
              <a:rPr lang="en-US" sz="1250" b="1" kern="0" spc="200" dirty="0">
                <a:solidFill>
                  <a:srgbClr val="E63946"/>
                </a:solidFill>
                <a:latin typeface="Calibri" pitchFamily="34" charset="0"/>
                <a:ea typeface="Calibri" pitchFamily="34" charset="-122"/>
                <a:cs typeface="Calibri" pitchFamily="34" charset="-120"/>
              </a:rPr>
              <a:t>마무리 · 00:7 주제와의 연결</a:t>
            </a:r>
            <a:endParaRPr lang="en-US" sz="1250" dirty="0"/>
          </a:p>
        </p:txBody>
      </p:sp>
      <p:sp>
        <p:nvSpPr>
          <p:cNvPr id="3" name="Text 1"/>
          <p:cNvSpPr txBox="1"/>
          <p:nvPr/>
        </p:nvSpPr>
        <p:spPr>
          <a:xfrm>
            <a:off x="548640" y="621792"/>
            <a:ext cx="11064240" cy="658368"/>
          </a:xfrm>
          <a:prstGeom prst="rect">
            <a:avLst/>
          </a:prstGeom>
          <a:noFill/>
          <a:ln/>
        </p:spPr>
        <p:txBody>
          <a:bodyPr wrap="square" rtlCol="0" anchor="ctr"/>
          <a:lstStyle/>
          <a:p>
            <a:pPr marL="0" indent="0">
              <a:buNone/>
            </a:pPr>
            <a:r>
              <a:rPr lang="en-US" sz="2800" b="1" dirty="0">
                <a:solidFill>
                  <a:srgbClr val="1D2433"/>
                </a:solidFill>
                <a:latin typeface="Cambria" pitchFamily="34" charset="0"/>
                <a:ea typeface="Cambria" pitchFamily="34" charset="-122"/>
                <a:cs typeface="Cambria" pitchFamily="34" charset="-120"/>
              </a:rPr>
              <a:t>왜 ‘기업부실 예측의 시점 누출’을 조심해야 하는가</a:t>
            </a:r>
            <a:endParaRPr lang="en-US" sz="2800" dirty="0"/>
          </a:p>
        </p:txBody>
      </p:sp>
      <p:sp>
        <p:nvSpPr>
          <p:cNvPr id="4" name="Shape 2"/>
          <p:cNvSpPr/>
          <p:nvPr/>
        </p:nvSpPr>
        <p:spPr>
          <a:xfrm>
            <a:off x="548640" y="1417320"/>
            <a:ext cx="11064240" cy="1298448"/>
          </a:xfrm>
          <a:prstGeom prst="roundRect">
            <a:avLst>
              <a:gd name="adj" fmla="val 4225"/>
            </a:avLst>
          </a:prstGeom>
          <a:solidFill>
            <a:srgbClr val="14213D"/>
          </a:solidFill>
          <a:ln/>
        </p:spPr>
        <p:txBody>
          <a:bodyPr/>
          <a:lstStyle/>
          <a:p>
            <a:endParaRPr lang="ko-KR" altLang="en-US"/>
          </a:p>
        </p:txBody>
      </p:sp>
      <p:sp>
        <p:nvSpPr>
          <p:cNvPr id="5" name="Text 3"/>
          <p:cNvSpPr txBox="1"/>
          <p:nvPr/>
        </p:nvSpPr>
        <p:spPr>
          <a:xfrm>
            <a:off x="822960" y="1417320"/>
            <a:ext cx="10515600" cy="1298448"/>
          </a:xfrm>
          <a:prstGeom prst="rect">
            <a:avLst/>
          </a:prstGeom>
          <a:noFill/>
          <a:ln/>
        </p:spPr>
        <p:txBody>
          <a:bodyPr wrap="square" lIns="0" tIns="0" rIns="0" bIns="0" rtlCol="0" anchor="ctr"/>
          <a:lstStyle/>
          <a:p>
            <a:pPr marL="0" indent="0">
              <a:lnSpc>
                <a:spcPct val="115000"/>
              </a:lnSpc>
              <a:buNone/>
            </a:pPr>
            <a:r>
              <a:rPr lang="en-US" sz="1500" dirty="0">
                <a:solidFill>
                  <a:srgbClr val="FFFFFF"/>
                </a:solidFill>
                <a:latin typeface="Calibri" pitchFamily="34" charset="0"/>
                <a:ea typeface="Calibri" pitchFamily="34" charset="-122"/>
                <a:cs typeface="Calibri" pitchFamily="34" charset="-120"/>
              </a:rPr>
              <a:t>이 논문은 00:7 주제의 </a:t>
            </a:r>
            <a:r>
              <a:rPr lang="en-US" sz="1500" b="1" dirty="0">
                <a:solidFill>
                  <a:srgbClr val="98C1D9"/>
                </a:solidFill>
                <a:latin typeface="Calibri" pitchFamily="34" charset="0"/>
                <a:ea typeface="Calibri" pitchFamily="34" charset="-122"/>
                <a:cs typeface="Calibri" pitchFamily="34" charset="-120"/>
              </a:rPr>
              <a:t>근본 근거</a:t>
            </a:r>
            <a:r>
              <a:rPr lang="en-US" sz="1500" dirty="0">
                <a:solidFill>
                  <a:srgbClr val="FFFFFF"/>
                </a:solidFill>
                <a:latin typeface="Calibri" pitchFamily="34" charset="0"/>
                <a:ea typeface="Calibri" pitchFamily="34" charset="-122"/>
                <a:cs typeface="Calibri" pitchFamily="34" charset="-120"/>
              </a:rPr>
              <a:t>입니다.  ‘기업부실 예측의 시점 누출’은 이 논문 분류의 </a:t>
            </a:r>
            <a:r>
              <a:rPr lang="en-US" sz="1500" b="1" dirty="0">
                <a:solidFill>
                  <a:srgbClr val="E63946"/>
                </a:solidFill>
                <a:latin typeface="Calibri" pitchFamily="34" charset="0"/>
                <a:ea typeface="Calibri" pitchFamily="34" charset="-122"/>
                <a:cs typeface="Calibri" pitchFamily="34" charset="-120"/>
              </a:rPr>
              <a:t>L3.1</a:t>
            </a:r>
            <a:r>
              <a:rPr lang="en-US" sz="1500" dirty="0">
                <a:solidFill>
                  <a:srgbClr val="FFFFFF"/>
                </a:solidFill>
                <a:latin typeface="Calibri" pitchFamily="34" charset="0"/>
                <a:ea typeface="Calibri" pitchFamily="34" charset="-122"/>
                <a:cs typeface="Calibri" pitchFamily="34" charset="-120"/>
              </a:rPr>
              <a:t> 그 자체 —</a:t>
            </a:r>
            <a:endParaRPr lang="en-US" sz="1500" dirty="0"/>
          </a:p>
          <a:p>
            <a:pPr marL="0" indent="0">
              <a:lnSpc>
                <a:spcPct val="115000"/>
              </a:lnSpc>
              <a:buNone/>
            </a:pPr>
            <a:r>
              <a:rPr lang="en-US" sz="1500" dirty="0">
                <a:solidFill>
                  <a:srgbClr val="FFFFFF"/>
                </a:solidFill>
                <a:latin typeface="Calibri" pitchFamily="34" charset="0"/>
                <a:ea typeface="Calibri" pitchFamily="34" charset="-122"/>
                <a:cs typeface="Calibri" pitchFamily="34" charset="-120"/>
              </a:rPr>
              <a:t>미래의 부실을 예측한다면서 미래 정보를 학습에 넣으면, 화려한 성능은 ‘실력’이 아니라 ‘</a:t>
            </a:r>
            <a:r>
              <a:rPr lang="en-US" sz="1500" dirty="0" err="1">
                <a:solidFill>
                  <a:srgbClr val="FFFFFF"/>
                </a:solidFill>
                <a:latin typeface="Calibri" pitchFamily="34" charset="0"/>
                <a:ea typeface="Calibri" pitchFamily="34" charset="-122"/>
                <a:cs typeface="Calibri" pitchFamily="34" charset="-120"/>
              </a:rPr>
              <a:t>누출</a:t>
            </a: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6" name="Shape 4"/>
          <p:cNvSpPr/>
          <p:nvPr/>
        </p:nvSpPr>
        <p:spPr>
          <a:xfrm>
            <a:off x="548640" y="2944368"/>
            <a:ext cx="3529584" cy="2148840"/>
          </a:xfrm>
          <a:prstGeom prst="roundRect">
            <a:avLst>
              <a:gd name="adj" fmla="val 2553"/>
            </a:avLst>
          </a:prstGeom>
          <a:solidFill>
            <a:srgbClr val="F1F4F8"/>
          </a:solidFill>
          <a:ln/>
        </p:spPr>
        <p:txBody>
          <a:bodyPr/>
          <a:lstStyle/>
          <a:p>
            <a:endParaRPr lang="ko-KR" altLang="en-US"/>
          </a:p>
        </p:txBody>
      </p:sp>
      <p:sp>
        <p:nvSpPr>
          <p:cNvPr id="7" name="Shape 5"/>
          <p:cNvSpPr/>
          <p:nvPr/>
        </p:nvSpPr>
        <p:spPr>
          <a:xfrm>
            <a:off x="804672" y="3182112"/>
            <a:ext cx="502920" cy="502920"/>
          </a:xfrm>
          <a:prstGeom prst="ellipse">
            <a:avLst/>
          </a:prstGeom>
          <a:solidFill>
            <a:srgbClr val="3D5A80"/>
          </a:solidFill>
          <a:ln/>
        </p:spPr>
        <p:txBody>
          <a:bodyPr/>
          <a:lstStyle/>
          <a:p>
            <a:endParaRPr lang="ko-KR" altLang="en-US"/>
          </a:p>
        </p:txBody>
      </p:sp>
      <p:sp>
        <p:nvSpPr>
          <p:cNvPr id="8" name="Text 6"/>
          <p:cNvSpPr txBox="1"/>
          <p:nvPr/>
        </p:nvSpPr>
        <p:spPr>
          <a:xfrm>
            <a:off x="804672" y="3182112"/>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444752" y="3200400"/>
            <a:ext cx="2468880" cy="475488"/>
          </a:xfrm>
          <a:prstGeom prst="rect">
            <a:avLst/>
          </a:prstGeom>
          <a:noFill/>
          <a:ln/>
        </p:spPr>
        <p:txBody>
          <a:bodyPr wrap="square" lIns="0" tIns="0" rIns="0" bIns="0" rtlCol="0" anchor="ctr"/>
          <a:lstStyle/>
          <a:p>
            <a:pPr marL="0" indent="0">
              <a:buNone/>
            </a:pPr>
            <a:r>
              <a:rPr lang="en-US" sz="1500" b="1" dirty="0">
                <a:solidFill>
                  <a:srgbClr val="1D2433"/>
                </a:solidFill>
                <a:latin typeface="Cambria" pitchFamily="34" charset="0"/>
                <a:ea typeface="Cambria" pitchFamily="34" charset="-122"/>
                <a:cs typeface="Cambria" pitchFamily="34" charset="-120"/>
              </a:rPr>
              <a:t>누출은 보편적</a:t>
            </a:r>
            <a:endParaRPr lang="en-US" sz="1500" dirty="0"/>
          </a:p>
        </p:txBody>
      </p:sp>
      <p:sp>
        <p:nvSpPr>
          <p:cNvPr id="10" name="Text 8"/>
          <p:cNvSpPr txBox="1"/>
          <p:nvPr/>
        </p:nvSpPr>
        <p:spPr>
          <a:xfrm>
            <a:off x="804672" y="3822192"/>
            <a:ext cx="3017520" cy="1143000"/>
          </a:xfrm>
          <a:prstGeom prst="rect">
            <a:avLst/>
          </a:prstGeom>
          <a:noFill/>
          <a:ln/>
        </p:spPr>
        <p:txBody>
          <a:bodyPr wrap="square" lIns="0" tIns="0" rIns="0" bIns="0" rtlCol="0" anchor="t"/>
          <a:lstStyle/>
          <a:p>
            <a:pPr marL="0" indent="0">
              <a:lnSpc>
                <a:spcPct val="112000"/>
              </a:lnSpc>
              <a:buNone/>
            </a:pPr>
            <a:r>
              <a:rPr lang="en-US" sz="1250" dirty="0">
                <a:solidFill>
                  <a:srgbClr val="6B7280"/>
                </a:solidFill>
                <a:latin typeface="Calibri" pitchFamily="34" charset="0"/>
                <a:ea typeface="Calibri" pitchFamily="34" charset="-122"/>
                <a:cs typeface="Calibri" pitchFamily="34" charset="-120"/>
              </a:rPr>
              <a:t>특정 분야가 아니라 17개 분야 294편의 공통 함정. 조사한 리뷰 전부에서 등장.</a:t>
            </a:r>
            <a:endParaRPr lang="en-US" sz="1250" dirty="0"/>
          </a:p>
        </p:txBody>
      </p:sp>
      <p:sp>
        <p:nvSpPr>
          <p:cNvPr id="11" name="Shape 9"/>
          <p:cNvSpPr/>
          <p:nvPr/>
        </p:nvSpPr>
        <p:spPr>
          <a:xfrm>
            <a:off x="4261104" y="2944368"/>
            <a:ext cx="3529584" cy="2148840"/>
          </a:xfrm>
          <a:prstGeom prst="roundRect">
            <a:avLst>
              <a:gd name="adj" fmla="val 2553"/>
            </a:avLst>
          </a:prstGeom>
          <a:solidFill>
            <a:srgbClr val="F1F4F8"/>
          </a:solidFill>
          <a:ln/>
        </p:spPr>
        <p:txBody>
          <a:bodyPr/>
          <a:lstStyle/>
          <a:p>
            <a:endParaRPr lang="ko-KR" altLang="en-US"/>
          </a:p>
        </p:txBody>
      </p:sp>
      <p:sp>
        <p:nvSpPr>
          <p:cNvPr id="12" name="Shape 10"/>
          <p:cNvSpPr/>
          <p:nvPr/>
        </p:nvSpPr>
        <p:spPr>
          <a:xfrm>
            <a:off x="4517136" y="3182112"/>
            <a:ext cx="502920" cy="502920"/>
          </a:xfrm>
          <a:prstGeom prst="ellipse">
            <a:avLst/>
          </a:prstGeom>
          <a:solidFill>
            <a:srgbClr val="3D5A80"/>
          </a:solidFill>
          <a:ln/>
        </p:spPr>
        <p:txBody>
          <a:bodyPr/>
          <a:lstStyle/>
          <a:p>
            <a:endParaRPr lang="ko-KR" altLang="en-US"/>
          </a:p>
        </p:txBody>
      </p:sp>
      <p:sp>
        <p:nvSpPr>
          <p:cNvPr id="13" name="Text 11"/>
          <p:cNvSpPr txBox="1"/>
          <p:nvPr/>
        </p:nvSpPr>
        <p:spPr>
          <a:xfrm>
            <a:off x="4517136" y="3182112"/>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txBox="1"/>
          <p:nvPr/>
        </p:nvSpPr>
        <p:spPr>
          <a:xfrm>
            <a:off x="5157216" y="3200400"/>
            <a:ext cx="2468880" cy="475488"/>
          </a:xfrm>
          <a:prstGeom prst="rect">
            <a:avLst/>
          </a:prstGeom>
          <a:noFill/>
          <a:ln/>
        </p:spPr>
        <p:txBody>
          <a:bodyPr wrap="square" lIns="0" tIns="0" rIns="0" bIns="0" rtlCol="0" anchor="ctr"/>
          <a:lstStyle/>
          <a:p>
            <a:pPr marL="0" indent="0">
              <a:buNone/>
            </a:pPr>
            <a:r>
              <a:rPr lang="en-US" sz="1500" b="1" dirty="0">
                <a:solidFill>
                  <a:srgbClr val="1D2433"/>
                </a:solidFill>
                <a:latin typeface="Cambria" pitchFamily="34" charset="0"/>
                <a:ea typeface="Cambria" pitchFamily="34" charset="-122"/>
                <a:cs typeface="Cambria" pitchFamily="34" charset="-120"/>
              </a:rPr>
              <a:t>시점이 핵심</a:t>
            </a:r>
            <a:endParaRPr lang="en-US" sz="1500" dirty="0"/>
          </a:p>
        </p:txBody>
      </p:sp>
      <p:sp>
        <p:nvSpPr>
          <p:cNvPr id="15" name="Text 13"/>
          <p:cNvSpPr txBox="1"/>
          <p:nvPr/>
        </p:nvSpPr>
        <p:spPr>
          <a:xfrm>
            <a:off x="4517136" y="3822192"/>
            <a:ext cx="3017520" cy="1143000"/>
          </a:xfrm>
          <a:prstGeom prst="rect">
            <a:avLst/>
          </a:prstGeom>
          <a:noFill/>
          <a:ln/>
        </p:spPr>
        <p:txBody>
          <a:bodyPr wrap="square" lIns="0" tIns="0" rIns="0" bIns="0" rtlCol="0" anchor="t"/>
          <a:lstStyle/>
          <a:p>
            <a:pPr marL="0" indent="0">
              <a:lnSpc>
                <a:spcPct val="112000"/>
              </a:lnSpc>
              <a:buNone/>
            </a:pPr>
            <a:r>
              <a:rPr lang="en-US" sz="1250" dirty="0">
                <a:solidFill>
                  <a:srgbClr val="6B7280"/>
                </a:solidFill>
                <a:latin typeface="Calibri" pitchFamily="34" charset="0"/>
                <a:ea typeface="Calibri" pitchFamily="34" charset="-122"/>
                <a:cs typeface="Calibri" pitchFamily="34" charset="-120"/>
              </a:rPr>
              <a:t>미래를 예측하는 모델은 시간 순서를 반드시 지켜야 한다 (L3.1). k-겹 교차검증도 시계열엔 위험.</a:t>
            </a:r>
            <a:endParaRPr lang="en-US" sz="1250" dirty="0"/>
          </a:p>
        </p:txBody>
      </p:sp>
      <p:sp>
        <p:nvSpPr>
          <p:cNvPr id="16" name="Shape 14"/>
          <p:cNvSpPr/>
          <p:nvPr/>
        </p:nvSpPr>
        <p:spPr>
          <a:xfrm>
            <a:off x="7973568" y="2944368"/>
            <a:ext cx="3529584" cy="2148840"/>
          </a:xfrm>
          <a:prstGeom prst="roundRect">
            <a:avLst>
              <a:gd name="adj" fmla="val 2553"/>
            </a:avLst>
          </a:prstGeom>
          <a:solidFill>
            <a:srgbClr val="F1F4F8"/>
          </a:solidFill>
          <a:ln/>
        </p:spPr>
        <p:txBody>
          <a:bodyPr/>
          <a:lstStyle/>
          <a:p>
            <a:endParaRPr lang="ko-KR" altLang="en-US"/>
          </a:p>
        </p:txBody>
      </p:sp>
      <p:sp>
        <p:nvSpPr>
          <p:cNvPr id="17" name="Shape 15"/>
          <p:cNvSpPr/>
          <p:nvPr/>
        </p:nvSpPr>
        <p:spPr>
          <a:xfrm>
            <a:off x="8229600" y="3182112"/>
            <a:ext cx="502920" cy="502920"/>
          </a:xfrm>
          <a:prstGeom prst="ellipse">
            <a:avLst/>
          </a:prstGeom>
          <a:solidFill>
            <a:srgbClr val="3D5A80"/>
          </a:solidFill>
          <a:ln/>
        </p:spPr>
        <p:txBody>
          <a:bodyPr/>
          <a:lstStyle/>
          <a:p>
            <a:endParaRPr lang="ko-KR" altLang="en-US"/>
          </a:p>
        </p:txBody>
      </p:sp>
      <p:sp>
        <p:nvSpPr>
          <p:cNvPr id="18" name="Text 16"/>
          <p:cNvSpPr txBox="1"/>
          <p:nvPr/>
        </p:nvSpPr>
        <p:spPr>
          <a:xfrm>
            <a:off x="8229600" y="3182112"/>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txBox="1"/>
          <p:nvPr/>
        </p:nvSpPr>
        <p:spPr>
          <a:xfrm>
            <a:off x="8869680" y="3200400"/>
            <a:ext cx="2468880" cy="475488"/>
          </a:xfrm>
          <a:prstGeom prst="rect">
            <a:avLst/>
          </a:prstGeom>
          <a:noFill/>
          <a:ln/>
        </p:spPr>
        <p:txBody>
          <a:bodyPr wrap="square" lIns="0" tIns="0" rIns="0" bIns="0" rtlCol="0" anchor="ctr"/>
          <a:lstStyle/>
          <a:p>
            <a:pPr marL="0" indent="0">
              <a:buNone/>
            </a:pPr>
            <a:r>
              <a:rPr lang="en-US" sz="1500" b="1" dirty="0">
                <a:solidFill>
                  <a:srgbClr val="1D2433"/>
                </a:solidFill>
                <a:latin typeface="Cambria" pitchFamily="34" charset="0"/>
                <a:ea typeface="Cambria" pitchFamily="34" charset="-122"/>
                <a:cs typeface="Cambria" pitchFamily="34" charset="-120"/>
              </a:rPr>
              <a:t>증명 가능하게</a:t>
            </a:r>
            <a:endParaRPr lang="en-US" sz="1500" dirty="0"/>
          </a:p>
        </p:txBody>
      </p:sp>
      <p:sp>
        <p:nvSpPr>
          <p:cNvPr id="20" name="Text 18"/>
          <p:cNvSpPr txBox="1"/>
          <p:nvPr/>
        </p:nvSpPr>
        <p:spPr>
          <a:xfrm>
            <a:off x="8229600" y="3822192"/>
            <a:ext cx="3017520" cy="1143000"/>
          </a:xfrm>
          <a:prstGeom prst="rect">
            <a:avLst/>
          </a:prstGeom>
          <a:noFill/>
          <a:ln/>
        </p:spPr>
        <p:txBody>
          <a:bodyPr wrap="square" lIns="0" tIns="0" rIns="0" bIns="0" rtlCol="0" anchor="t"/>
          <a:lstStyle/>
          <a:p>
            <a:pPr marL="0" indent="0">
              <a:lnSpc>
                <a:spcPct val="112000"/>
              </a:lnSpc>
              <a:buNone/>
            </a:pPr>
            <a:r>
              <a:rPr lang="en-US" sz="1250" dirty="0">
                <a:solidFill>
                  <a:srgbClr val="6B7280"/>
                </a:solidFill>
                <a:latin typeface="Calibri" pitchFamily="34" charset="0"/>
                <a:ea typeface="Calibri" pitchFamily="34" charset="-122"/>
                <a:cs typeface="Calibri" pitchFamily="34" charset="-120"/>
              </a:rPr>
              <a:t>21문항 모델 정보 시트로 ‘누출 없음’을 스스로 논증하자. 입증 책임은 연구자에게.</a:t>
            </a:r>
            <a:endParaRPr lang="en-US" sz="1250" dirty="0"/>
          </a:p>
        </p:txBody>
      </p:sp>
      <p:sp>
        <p:nvSpPr>
          <p:cNvPr id="21" name="Shape 19"/>
          <p:cNvSpPr/>
          <p:nvPr/>
        </p:nvSpPr>
        <p:spPr>
          <a:xfrm>
            <a:off x="548640" y="5303520"/>
            <a:ext cx="11064240" cy="566928"/>
          </a:xfrm>
          <a:prstGeom prst="roundRect">
            <a:avLst>
              <a:gd name="adj" fmla="val 6452"/>
            </a:avLst>
          </a:prstGeom>
          <a:solidFill>
            <a:srgbClr val="EAEFF5"/>
          </a:solidFill>
          <a:ln/>
        </p:spPr>
        <p:txBody>
          <a:bodyPr/>
          <a:lstStyle/>
          <a:p>
            <a:endParaRPr lang="ko-KR" altLang="en-US"/>
          </a:p>
        </p:txBody>
      </p:sp>
      <p:sp>
        <p:nvSpPr>
          <p:cNvPr id="22" name="Text 20"/>
          <p:cNvSpPr txBox="1"/>
          <p:nvPr/>
        </p:nvSpPr>
        <p:spPr>
          <a:xfrm>
            <a:off x="822960" y="5303520"/>
            <a:ext cx="10515600" cy="566928"/>
          </a:xfrm>
          <a:prstGeom prst="rect">
            <a:avLst/>
          </a:prstGeom>
          <a:noFill/>
          <a:ln/>
        </p:spPr>
        <p:txBody>
          <a:bodyPr wrap="square" lIns="0" tIns="0" rIns="0" bIns="0" rtlCol="0" anchor="ctr"/>
          <a:lstStyle/>
          <a:p>
            <a:pPr marL="0" indent="0">
              <a:buNone/>
            </a:pPr>
            <a:r>
              <a:rPr lang="en-US" sz="1300" b="1" dirty="0">
                <a:solidFill>
                  <a:srgbClr val="3D5A80"/>
                </a:solidFill>
                <a:latin typeface="Calibri" pitchFamily="34" charset="0"/>
                <a:ea typeface="Calibri" pitchFamily="34" charset="-122"/>
                <a:cs typeface="Calibri" pitchFamily="34" charset="-120"/>
              </a:rPr>
              <a:t>우리 팀이 가져갈 질문  </a:t>
            </a:r>
            <a:r>
              <a:rPr lang="en-US" sz="1300" dirty="0">
                <a:solidFill>
                  <a:srgbClr val="1D2433"/>
                </a:solidFill>
                <a:latin typeface="Calibri" pitchFamily="34" charset="0"/>
                <a:ea typeface="Calibri" pitchFamily="34" charset="-122"/>
                <a:cs typeface="Calibri" pitchFamily="34" charset="-120"/>
              </a:rPr>
              <a:t>우리 기업부실 모델의 훈련·테스트는 시간 순으로 나뉘어 있는가? 피처에 예측 시점 이후 정보가 없는가?</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3770</Words>
  <Application>Microsoft Macintosh PowerPoint</Application>
  <PresentationFormat>와이드스크린</PresentationFormat>
  <Paragraphs>277</Paragraphs>
  <Slides>11</Slides>
  <Notes>11</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11</vt:i4>
      </vt:variant>
    </vt:vector>
  </HeadingPairs>
  <TitlesOfParts>
    <vt:vector size="15" baseType="lpstr">
      <vt:lpstr>Arial</vt:lpstr>
      <vt:lpstr>Calibri</vt:lpstr>
      <vt:lpstr>Cambria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창민 정</cp:lastModifiedBy>
  <cp:revision>3</cp:revision>
  <dcterms:created xsi:type="dcterms:W3CDTF">2026-09-07T13:20:17Z</dcterms:created>
  <dcterms:modified xsi:type="dcterms:W3CDTF">2026-09-07T13:34:04Z</dcterms:modified>
</cp:coreProperties>
</file>