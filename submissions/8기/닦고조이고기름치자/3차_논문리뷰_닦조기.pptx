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">
            <a:extLst>
              <a:ext uri="{FF2B5EF4-FFF2-40B4-BE49-F238E27FC236}">
                <a16:creationId xmlns:a16="http://schemas.microsoft.com/office/drawing/2014/main" id="{CD76F95E-97DA-4F2B-A595-E2B08983C2D8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04FEB53-B780-4823-AC5A-A5EDA254573A}"/>
              </a:ext>
            </a:extLst>
          </p:cNvPr>
          <p:cNvSpPr>
            <a:spLocks noGrp="1"/>
          </p:cNvSpPr>
          <p:nvPr/>
        </p:nvSpPr>
        <p:spPr>
          <a:xfrm>
            <a:off x="571500" y="1000125"/>
            <a:ext cx="10953750" cy="2266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9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Performance of</a:t>
            </a:r>
          </a:p>
          <a:p>
            <a:pPr>
              <a:defRPr sz="39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9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Recommender Algorithms on</a:t>
            </a:r>
          </a:p>
          <a:p>
            <a:pPr>
              <a:defRPr sz="39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9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Top-N Recommendation Tasks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1C8E63C-2B6A-4E58-A7EF-2840D93877A1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Top-N 추천 과제에서의 추천 알고리즘 성능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36353C9-809C-4237-B47E-20B05037563A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2C9325EC-A02C-472D-B8A7-1417F46D3746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Paolo Cremonesi, Yehuda Koren, Roberto Turrin (2010)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F6D02D3-1A47-4C2D-AFC0-B80292D14E1E}"/>
              </a:ext>
            </a:extLst>
          </p:cNvPr>
          <p:cNvSpPr>
            <a:spLocks noGrp="1"/>
          </p:cNvSpPr>
          <p:nvPr/>
        </p:nvSpPr>
        <p:spPr>
          <a:xfrm>
            <a:off x="571500" y="51149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7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Proceedings of the Fourth ACM Conference on Recommender Systems</a:t>
            </a:r>
          </a:p>
          <a:p>
            <a:pPr>
              <a:defRPr sz="15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7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(RecSys 2010), pp. 39–46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FF8F9B44-9FE2-42A0-ABF8-72B5FCE0A19A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리뷰 팀: 닦고조이고기름치자    대상 팀: CREDIT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2EDC92B-8124-4948-B514-A2B27023DD83}"/>
              </a:ext>
            </a:extLst>
          </p:cNvPr>
          <p:cNvSpPr>
            <a:spLocks noGrp="1"/>
          </p:cNvSpPr>
          <p:nvPr/>
        </p:nvSpPr>
        <p:spPr>
          <a:xfrm>
            <a:off x="9810750" y="6048375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4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2026.9.23</a:t>
            </a:r>
          </a:p>
        </p:txBody>
      </p:sp>
    </p:spTree>
    <p:extLst>
      <p:ext uri="{BB962C8B-B14F-4D97-AF65-F5344CB8AC3E}">
        <p14:creationId xmlns:p14="http://schemas.microsoft.com/office/powerpoint/2010/main" val="47868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>
            <a:extLst>
              <a:ext uri="{FF2B5EF4-FFF2-40B4-BE49-F238E27FC236}">
                <a16:creationId xmlns:a16="http://schemas.microsoft.com/office/drawing/2014/main" id="{65BF42A6-9CA8-46FC-A846-D672AC455E02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5A857483-681D-4100-BD90-C1FC3C1B4E94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70912F2-BA8F-4F16-91B1-E6A796EDC452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" name="text-7">
            <a:extLst>
              <a:ext uri="{FF2B5EF4-FFF2-40B4-BE49-F238E27FC236}">
                <a16:creationId xmlns:a16="http://schemas.microsoft.com/office/drawing/2014/main" id="{C0679625-5CBB-4E50-816C-B55CFB7890EC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5381625" cy="3190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5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좋은 추천은</a:t>
            </a:r>
          </a:p>
          <a:p>
            <a:pPr>
              <a:defRPr sz="25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5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점수를 얼마나 정확히 맞히느냐보다,</a:t>
            </a:r>
          </a:p>
          <a:p>
            <a:pPr>
              <a:defRPr sz="25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5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사용자가 좋아할 것을</a:t>
            </a:r>
          </a:p>
          <a:p>
            <a:pPr>
              <a:defRPr sz="25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5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실제로 상위에 잘 보여주느냐로</a:t>
            </a:r>
          </a:p>
          <a:p>
            <a:pPr>
              <a:defRPr sz="25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5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평가해야 한다.</a:t>
            </a:r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77C5F7D8-E747-4662-A1A8-B1CC3385E268}"/>
              </a:ext>
            </a:extLst>
          </p:cNvPr>
          <p:cNvSpPr>
            <a:spLocks noGrp="1"/>
          </p:cNvSpPr>
          <p:nvPr/>
        </p:nvSpPr>
        <p:spPr>
          <a:xfrm>
            <a:off x="571500" y="5076825"/>
            <a:ext cx="4667250" cy="0"/>
          </a:xfrm>
          <a:prstGeom prst="line">
            <a:avLst/>
          </a:prstGeom>
          <a:noFill/>
          <a:ln w="28575">
            <a:solidFill>
              <a:srgbClr val="E9A23B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304D7E78-9F83-43CE-93CC-2FA2AEE5AF80}"/>
              </a:ext>
            </a:extLst>
          </p:cNvPr>
          <p:cNvSpPr>
            <a:spLocks noGrp="1"/>
          </p:cNvSpPr>
          <p:nvPr/>
        </p:nvSpPr>
        <p:spPr>
          <a:xfrm>
            <a:off x="6134100" y="1514475"/>
            <a:ext cx="0" cy="4638675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-8">
            <a:extLst>
              <a:ext uri="{FF2B5EF4-FFF2-40B4-BE49-F238E27FC236}">
                <a16:creationId xmlns:a16="http://schemas.microsoft.com/office/drawing/2014/main" id="{C7EEF9CE-5184-4060-B140-5E44FEC4A6C5}"/>
              </a:ext>
            </a:extLst>
          </p:cNvPr>
          <p:cNvSpPr>
            <a:spLocks noGrp="1"/>
          </p:cNvSpPr>
          <p:nvPr/>
        </p:nvSpPr>
        <p:spPr>
          <a:xfrm>
            <a:off x="6524625" y="143827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1. 문제제기 및 이 논문이 푸는 문제</a:t>
            </a:r>
          </a:p>
        </p:txBody>
      </p:sp>
      <p:sp>
        <p:nvSpPr>
          <p:cNvPr id="8" name="text-9">
            <a:extLst>
              <a:ext uri="{FF2B5EF4-FFF2-40B4-BE49-F238E27FC236}">
                <a16:creationId xmlns:a16="http://schemas.microsoft.com/office/drawing/2014/main" id="{E223C091-397D-48C5-BA3D-B7CEE653BBA2}"/>
              </a:ext>
            </a:extLst>
          </p:cNvPr>
          <p:cNvSpPr>
            <a:spLocks noGrp="1"/>
          </p:cNvSpPr>
          <p:nvPr/>
        </p:nvSpPr>
        <p:spPr>
          <a:xfrm>
            <a:off x="6524625" y="1762125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Rating Prediction 중심 평가에 대한 의문</a:t>
            </a:r>
          </a:p>
        </p:txBody>
      </p:sp>
      <p:sp>
        <p:nvSpPr>
          <p:cNvPr id="9" name="text-10">
            <a:extLst>
              <a:ext uri="{FF2B5EF4-FFF2-40B4-BE49-F238E27FC236}">
                <a16:creationId xmlns:a16="http://schemas.microsoft.com/office/drawing/2014/main" id="{021D7B1D-6532-441D-B01E-FF4470CE6591}"/>
              </a:ext>
            </a:extLst>
          </p:cNvPr>
          <p:cNvSpPr>
            <a:spLocks noGrp="1"/>
          </p:cNvSpPr>
          <p:nvPr/>
        </p:nvSpPr>
        <p:spPr>
          <a:xfrm>
            <a:off x="6524625" y="2133600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2. 핵심 아이디어</a:t>
            </a:r>
          </a:p>
        </p:txBody>
      </p:sp>
      <p:sp>
        <p:nvSpPr>
          <p:cNvPr id="10" name="text-11">
            <a:extLst>
              <a:ext uri="{FF2B5EF4-FFF2-40B4-BE49-F238E27FC236}">
                <a16:creationId xmlns:a16="http://schemas.microsoft.com/office/drawing/2014/main" id="{59B6D238-F7EE-4137-84CA-5A009334A206}"/>
              </a:ext>
            </a:extLst>
          </p:cNvPr>
          <p:cNvSpPr>
            <a:spLocks noGrp="1"/>
          </p:cNvSpPr>
          <p:nvPr/>
        </p:nvSpPr>
        <p:spPr>
          <a:xfrm>
            <a:off x="6524625" y="2457450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Top-N Recommendation을 직접 평가</a:t>
            </a:r>
          </a:p>
        </p:txBody>
      </p:sp>
      <p:sp>
        <p:nvSpPr>
          <p:cNvPr id="11" name="text-12">
            <a:extLst>
              <a:ext uri="{FF2B5EF4-FFF2-40B4-BE49-F238E27FC236}">
                <a16:creationId xmlns:a16="http://schemas.microsoft.com/office/drawing/2014/main" id="{AC727389-67AD-472C-B9C7-5934343D35C0}"/>
              </a:ext>
            </a:extLst>
          </p:cNvPr>
          <p:cNvSpPr>
            <a:spLocks noGrp="1"/>
          </p:cNvSpPr>
          <p:nvPr/>
        </p:nvSpPr>
        <p:spPr>
          <a:xfrm>
            <a:off x="6524625" y="282892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3. Top-N 성능을 어떻게 측정하는가?</a:t>
            </a:r>
          </a:p>
        </p:txBody>
      </p:sp>
      <p:sp>
        <p:nvSpPr>
          <p:cNvPr id="12" name="text-13">
            <a:extLst>
              <a:ext uri="{FF2B5EF4-FFF2-40B4-BE49-F238E27FC236}">
                <a16:creationId xmlns:a16="http://schemas.microsoft.com/office/drawing/2014/main" id="{100879EB-85A1-4D42-83D4-E99F8DC6B2F7}"/>
              </a:ext>
            </a:extLst>
          </p:cNvPr>
          <p:cNvSpPr>
            <a:spLocks noGrp="1"/>
          </p:cNvSpPr>
          <p:nvPr/>
        </p:nvSpPr>
        <p:spPr>
          <a:xfrm>
            <a:off x="6524625" y="3152775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Recall &amp; Precision</a:t>
            </a:r>
          </a:p>
        </p:txBody>
      </p:sp>
      <p:sp>
        <p:nvSpPr>
          <p:cNvPr id="13" name="text-14">
            <a:extLst>
              <a:ext uri="{FF2B5EF4-FFF2-40B4-BE49-F238E27FC236}">
                <a16:creationId xmlns:a16="http://schemas.microsoft.com/office/drawing/2014/main" id="{1603F3D8-8148-43ED-A84B-AF53CCF721A1}"/>
              </a:ext>
            </a:extLst>
          </p:cNvPr>
          <p:cNvSpPr>
            <a:spLocks noGrp="1"/>
          </p:cNvSpPr>
          <p:nvPr/>
        </p:nvSpPr>
        <p:spPr>
          <a:xfrm>
            <a:off x="6524625" y="3524250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4. 평가 편향을 줄이기 위한 장치</a:t>
            </a:r>
          </a:p>
        </p:txBody>
      </p:sp>
      <p:sp>
        <p:nvSpPr>
          <p:cNvPr id="14" name="text-15">
            <a:extLst>
              <a:ext uri="{FF2B5EF4-FFF2-40B4-BE49-F238E27FC236}">
                <a16:creationId xmlns:a16="http://schemas.microsoft.com/office/drawing/2014/main" id="{CAC0E29E-C80E-4866-9968-13663AAAEAE2}"/>
              </a:ext>
            </a:extLst>
          </p:cNvPr>
          <p:cNvSpPr>
            <a:spLocks noGrp="1"/>
          </p:cNvSpPr>
          <p:nvPr/>
        </p:nvSpPr>
        <p:spPr>
          <a:xfrm>
            <a:off x="6524625" y="3848100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Popular vs. Long-tail</a:t>
            </a:r>
          </a:p>
        </p:txBody>
      </p:sp>
      <p:sp>
        <p:nvSpPr>
          <p:cNvPr id="15" name="text-16">
            <a:extLst>
              <a:ext uri="{FF2B5EF4-FFF2-40B4-BE49-F238E27FC236}">
                <a16:creationId xmlns:a16="http://schemas.microsoft.com/office/drawing/2014/main" id="{85CC59EB-7C4E-42F8-9692-7033F9B43653}"/>
              </a:ext>
            </a:extLst>
          </p:cNvPr>
          <p:cNvSpPr>
            <a:spLocks noGrp="1"/>
          </p:cNvSpPr>
          <p:nvPr/>
        </p:nvSpPr>
        <p:spPr>
          <a:xfrm>
            <a:off x="6524625" y="421957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5. Top-N에 맞춘 Algorithm 변형</a:t>
            </a:r>
          </a:p>
        </p:txBody>
      </p:sp>
      <p:sp>
        <p:nvSpPr>
          <p:cNvPr id="16" name="text-17">
            <a:extLst>
              <a:ext uri="{FF2B5EF4-FFF2-40B4-BE49-F238E27FC236}">
                <a16:creationId xmlns:a16="http://schemas.microsoft.com/office/drawing/2014/main" id="{77B8C675-1A7D-4731-BE67-1D1BA1D4D015}"/>
              </a:ext>
            </a:extLst>
          </p:cNvPr>
          <p:cNvSpPr>
            <a:spLocks noGrp="1"/>
          </p:cNvSpPr>
          <p:nvPr/>
        </p:nvSpPr>
        <p:spPr>
          <a:xfrm>
            <a:off x="6524625" y="4543425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NNCosNgbr · PureSVD</a:t>
            </a:r>
          </a:p>
        </p:txBody>
      </p:sp>
      <p:sp>
        <p:nvSpPr>
          <p:cNvPr id="17" name="text-18">
            <a:extLst>
              <a:ext uri="{FF2B5EF4-FFF2-40B4-BE49-F238E27FC236}">
                <a16:creationId xmlns:a16="http://schemas.microsoft.com/office/drawing/2014/main" id="{597EDEB0-997F-4CE5-B834-A3E530ADEA77}"/>
              </a:ext>
            </a:extLst>
          </p:cNvPr>
          <p:cNvSpPr>
            <a:spLocks noGrp="1"/>
          </p:cNvSpPr>
          <p:nvPr/>
        </p:nvSpPr>
        <p:spPr>
          <a:xfrm>
            <a:off x="6524625" y="4914900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6. 결과</a:t>
            </a:r>
          </a:p>
        </p:txBody>
      </p:sp>
      <p:sp>
        <p:nvSpPr>
          <p:cNvPr id="18" name="text-19">
            <a:extLst>
              <a:ext uri="{FF2B5EF4-FFF2-40B4-BE49-F238E27FC236}">
                <a16:creationId xmlns:a16="http://schemas.microsoft.com/office/drawing/2014/main" id="{20E3F4AC-3CB8-479E-B875-B13398D1379F}"/>
              </a:ext>
            </a:extLst>
          </p:cNvPr>
          <p:cNvSpPr>
            <a:spLocks noGrp="1"/>
          </p:cNvSpPr>
          <p:nvPr/>
        </p:nvSpPr>
        <p:spPr>
          <a:xfrm>
            <a:off x="6524625" y="5238750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Top-N에서 나타난 Algorithm 성능 비교</a:t>
            </a:r>
          </a:p>
        </p:txBody>
      </p:sp>
      <p:sp>
        <p:nvSpPr>
          <p:cNvPr id="19" name="text-20">
            <a:extLst>
              <a:ext uri="{FF2B5EF4-FFF2-40B4-BE49-F238E27FC236}">
                <a16:creationId xmlns:a16="http://schemas.microsoft.com/office/drawing/2014/main" id="{3896530B-E780-4B68-9A3D-5F525714B5C5}"/>
              </a:ext>
            </a:extLst>
          </p:cNvPr>
          <p:cNvSpPr>
            <a:spLocks noGrp="1"/>
          </p:cNvSpPr>
          <p:nvPr/>
        </p:nvSpPr>
        <p:spPr>
          <a:xfrm>
            <a:off x="6524625" y="561022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7. 핵심 정리</a:t>
            </a:r>
          </a:p>
        </p:txBody>
      </p:sp>
      <p:sp>
        <p:nvSpPr>
          <p:cNvPr id="20" name="text-21">
            <a:extLst>
              <a:ext uri="{FF2B5EF4-FFF2-40B4-BE49-F238E27FC236}">
                <a16:creationId xmlns:a16="http://schemas.microsoft.com/office/drawing/2014/main" id="{C76FF1F9-9924-47A6-B3C8-4BF44D883A19}"/>
              </a:ext>
            </a:extLst>
          </p:cNvPr>
          <p:cNvSpPr>
            <a:spLocks noGrp="1"/>
          </p:cNvSpPr>
          <p:nvPr/>
        </p:nvSpPr>
        <p:spPr>
          <a:xfrm>
            <a:off x="6524625" y="5934075"/>
            <a:ext cx="509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· 핵심 아이디어 · 결과 · 시사점</a:t>
            </a:r>
          </a:p>
        </p:txBody>
      </p:sp>
    </p:spTree>
    <p:extLst>
      <p:ext uri="{BB962C8B-B14F-4D97-AF65-F5344CB8AC3E}">
        <p14:creationId xmlns:p14="http://schemas.microsoft.com/office/powerpoint/2010/main" val="186929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301302D6-DBE2-433C-B01A-675D238B4952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1. 문제제기 및 이 논문이 푸는 문제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285BEF8E-771F-407B-9635-1FB03E5D7A1C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6064D77-F89B-4141-A466-894887E02091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" name="text-22">
            <a:extLst>
              <a:ext uri="{FF2B5EF4-FFF2-40B4-BE49-F238E27FC236}">
                <a16:creationId xmlns:a16="http://schemas.microsoft.com/office/drawing/2014/main" id="{9353ED4A-DEF5-4B17-B7DF-9A13300C9DF3}"/>
              </a:ext>
            </a:extLst>
          </p:cNvPr>
          <p:cNvSpPr>
            <a:spLocks noGrp="1"/>
          </p:cNvSpPr>
          <p:nvPr/>
        </p:nvSpPr>
        <p:spPr>
          <a:xfrm>
            <a:off x="571500" y="1400175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5" name="text-23">
            <a:extLst>
              <a:ext uri="{FF2B5EF4-FFF2-40B4-BE49-F238E27FC236}">
                <a16:creationId xmlns:a16="http://schemas.microsoft.com/office/drawing/2014/main" id="{3857AB8F-EBCD-4F98-B784-DC85E90E102D}"/>
              </a:ext>
            </a:extLst>
          </p:cNvPr>
          <p:cNvSpPr>
            <a:spLocks noGrp="1"/>
          </p:cNvSpPr>
          <p:nvPr/>
        </p:nvSpPr>
        <p:spPr>
          <a:xfrm>
            <a:off x="571500" y="1895475"/>
            <a:ext cx="3333750" cy="1724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rating과 예측 rating 간의 오차를 최소화하는 방식으로 recommender system의 성능을 평가</a:t>
            </a:r>
          </a:p>
        </p:txBody>
      </p:sp>
      <p:sp>
        <p:nvSpPr>
          <p:cNvPr id="6" name="text-24">
            <a:extLst>
              <a:ext uri="{FF2B5EF4-FFF2-40B4-BE49-F238E27FC236}">
                <a16:creationId xmlns:a16="http://schemas.microsoft.com/office/drawing/2014/main" id="{AF08485B-A10C-4B22-8743-AF8D088FF1FC}"/>
              </a:ext>
            </a:extLst>
          </p:cNvPr>
          <p:cNvSpPr>
            <a:spLocks noGrp="1"/>
          </p:cNvSpPr>
          <p:nvPr/>
        </p:nvSpPr>
        <p:spPr>
          <a:xfrm>
            <a:off x="4162425" y="2428875"/>
            <a:ext cx="419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75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775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7" name="text-25">
            <a:extLst>
              <a:ext uri="{FF2B5EF4-FFF2-40B4-BE49-F238E27FC236}">
                <a16:creationId xmlns:a16="http://schemas.microsoft.com/office/drawing/2014/main" id="{ACC544A0-504D-4E23-BAD4-AA136D69526E}"/>
              </a:ext>
            </a:extLst>
          </p:cNvPr>
          <p:cNvSpPr>
            <a:spLocks noGrp="1"/>
          </p:cNvSpPr>
          <p:nvPr/>
        </p:nvSpPr>
        <p:spPr>
          <a:xfrm>
            <a:off x="4867275" y="1533525"/>
            <a:ext cx="66675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Rating을 정확하게 예측하는 모델이</a:t>
            </a:r>
          </a:p>
          <a:p>
            <a:pPr>
              <a:defRPr sz="21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실제로 사용자가 좋아할 item을</a:t>
            </a:r>
          </a:p>
          <a:p>
            <a:pPr>
              <a:defRPr sz="21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Top-N에 잘 올려놓는 모델이기도 한가?</a:t>
            </a:r>
          </a:p>
        </p:txBody>
      </p:sp>
      <p:sp>
        <p:nvSpPr>
          <p:cNvPr id="8" name="text-26">
            <a:extLst>
              <a:ext uri="{FF2B5EF4-FFF2-40B4-BE49-F238E27FC236}">
                <a16:creationId xmlns:a16="http://schemas.microsoft.com/office/drawing/2014/main" id="{74436CE8-A1CA-4341-8427-C2C191646305}"/>
              </a:ext>
            </a:extLst>
          </p:cNvPr>
          <p:cNvSpPr>
            <a:spLocks noGrp="1"/>
          </p:cNvSpPr>
          <p:nvPr/>
        </p:nvSpPr>
        <p:spPr>
          <a:xfrm>
            <a:off x="4867275" y="3200400"/>
            <a:ext cx="666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즉 RMSE의 개선이 Top-N recommendation</a:t>
            </a:r>
          </a:p>
          <a:p>
            <a:pPr>
              <a:defRPr sz="23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accuracy의 개선으로 이어지는가?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60676BED-204A-49DB-8A54-A70BFFD6254A}"/>
              </a:ext>
            </a:extLst>
          </p:cNvPr>
          <p:cNvSpPr>
            <a:spLocks noGrp="1"/>
          </p:cNvSpPr>
          <p:nvPr/>
        </p:nvSpPr>
        <p:spPr>
          <a:xfrm>
            <a:off x="571500" y="4676775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-27">
            <a:extLst>
              <a:ext uri="{FF2B5EF4-FFF2-40B4-BE49-F238E27FC236}">
                <a16:creationId xmlns:a16="http://schemas.microsoft.com/office/drawing/2014/main" id="{6197D2CB-0C38-48C8-A82D-D792EAFB7D8A}"/>
              </a:ext>
            </a:extLst>
          </p:cNvPr>
          <p:cNvSpPr>
            <a:spLocks noGrp="1"/>
          </p:cNvSpPr>
          <p:nvPr/>
        </p:nvSpPr>
        <p:spPr>
          <a:xfrm>
            <a:off x="571500" y="4962525"/>
            <a:ext cx="1809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본 연구</a:t>
            </a:r>
          </a:p>
        </p:txBody>
      </p:sp>
      <p:sp>
        <p:nvSpPr>
          <p:cNvPr id="11" name="text-28">
            <a:extLst>
              <a:ext uri="{FF2B5EF4-FFF2-40B4-BE49-F238E27FC236}">
                <a16:creationId xmlns:a16="http://schemas.microsoft.com/office/drawing/2014/main" id="{2E1CDB7D-0CF3-4FB2-999C-D642F3EF0F7A}"/>
              </a:ext>
            </a:extLst>
          </p:cNvPr>
          <p:cNvSpPr>
            <a:spLocks noGrp="1"/>
          </p:cNvSpPr>
          <p:nvPr/>
        </p:nvSpPr>
        <p:spPr>
          <a:xfrm>
            <a:off x="2419350" y="4933950"/>
            <a:ext cx="9001125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본 연구는 여러 collaborative filtering algorithm을 실제 Top-N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recommendation task에서 직접 평가하고, 그 결과를 동일 algorithm의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RMSE 성능과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92738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>
            <a:extLst>
              <a:ext uri="{FF2B5EF4-FFF2-40B4-BE49-F238E27FC236}">
                <a16:creationId xmlns:a16="http://schemas.microsoft.com/office/drawing/2014/main" id="{63C835E8-94B2-4E9A-9AC7-362168F7824A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2. 핵심 아이디어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29C71B5D-1B17-4D9F-91C0-B3A6E878DC24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3E1199A-1192-44A7-9610-7794BE64EDE2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" name="text-29">
            <a:extLst>
              <a:ext uri="{FF2B5EF4-FFF2-40B4-BE49-F238E27FC236}">
                <a16:creationId xmlns:a16="http://schemas.microsoft.com/office/drawing/2014/main" id="{15B8EAA5-32B1-4AA5-BD67-0442F1DD3BAD}"/>
              </a:ext>
            </a:extLst>
          </p:cNvPr>
          <p:cNvSpPr>
            <a:spLocks noGrp="1"/>
          </p:cNvSpPr>
          <p:nvPr/>
        </p:nvSpPr>
        <p:spPr>
          <a:xfrm>
            <a:off x="571500" y="1371600"/>
            <a:ext cx="50482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 평가</a:t>
            </a:r>
          </a:p>
        </p:txBody>
      </p:sp>
      <p:sp>
        <p:nvSpPr>
          <p:cNvPr id="5" name="text-30">
            <a:extLst>
              <a:ext uri="{FF2B5EF4-FFF2-40B4-BE49-F238E27FC236}">
                <a16:creationId xmlns:a16="http://schemas.microsoft.com/office/drawing/2014/main" id="{066729EA-73E8-46A8-9766-A380AA6E25E1}"/>
              </a:ext>
            </a:extLst>
          </p:cNvPr>
          <p:cNvSpPr>
            <a:spLocks noGrp="1"/>
          </p:cNvSpPr>
          <p:nvPr/>
        </p:nvSpPr>
        <p:spPr>
          <a:xfrm>
            <a:off x="6524625" y="1371600"/>
            <a:ext cx="50482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본 연구의 평가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8B43484D-1422-47ED-ADB2-8F071696D024}"/>
              </a:ext>
            </a:extLst>
          </p:cNvPr>
          <p:cNvSpPr>
            <a:spLocks noGrp="1"/>
          </p:cNvSpPr>
          <p:nvPr/>
        </p:nvSpPr>
        <p:spPr>
          <a:xfrm>
            <a:off x="6086475" y="1381125"/>
            <a:ext cx="0" cy="354330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-31">
            <a:extLst>
              <a:ext uri="{FF2B5EF4-FFF2-40B4-BE49-F238E27FC236}">
                <a16:creationId xmlns:a16="http://schemas.microsoft.com/office/drawing/2014/main" id="{C32EAE3B-9D1B-4C83-B85B-656AF4C69AE2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User + Item</a:t>
            </a:r>
          </a:p>
        </p:txBody>
      </p:sp>
      <p:sp>
        <p:nvSpPr>
          <p:cNvPr id="8" name="text-32">
            <a:extLst>
              <a:ext uri="{FF2B5EF4-FFF2-40B4-BE49-F238E27FC236}">
                <a16:creationId xmlns:a16="http://schemas.microsoft.com/office/drawing/2014/main" id="{A851FBA1-4573-4C02-B43A-398F16457915}"/>
              </a:ext>
            </a:extLst>
          </p:cNvPr>
          <p:cNvSpPr>
            <a:spLocks noGrp="1"/>
          </p:cNvSpPr>
          <p:nvPr/>
        </p:nvSpPr>
        <p:spPr>
          <a:xfrm>
            <a:off x="571500" y="2533650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9" name="text-33">
            <a:extLst>
              <a:ext uri="{FF2B5EF4-FFF2-40B4-BE49-F238E27FC236}">
                <a16:creationId xmlns:a16="http://schemas.microsoft.com/office/drawing/2014/main" id="{EA23C00B-E0D3-4C8A-AAE1-45521C73E99C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Predicted Rating = 4.7</a:t>
            </a:r>
          </a:p>
        </p:txBody>
      </p:sp>
      <p:sp>
        <p:nvSpPr>
          <p:cNvPr id="10" name="text-34">
            <a:extLst>
              <a:ext uri="{FF2B5EF4-FFF2-40B4-BE49-F238E27FC236}">
                <a16:creationId xmlns:a16="http://schemas.microsoft.com/office/drawing/2014/main" id="{9794DE74-5EA5-4233-BF54-81D127FE4AD3}"/>
              </a:ext>
            </a:extLst>
          </p:cNvPr>
          <p:cNvSpPr>
            <a:spLocks noGrp="1"/>
          </p:cNvSpPr>
          <p:nvPr/>
        </p:nvSpPr>
        <p:spPr>
          <a:xfrm>
            <a:off x="571500" y="3581400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1" name="text-35">
            <a:extLst>
              <a:ext uri="{FF2B5EF4-FFF2-40B4-BE49-F238E27FC236}">
                <a16:creationId xmlns:a16="http://schemas.microsoft.com/office/drawing/2014/main" id="{2A620146-2150-4654-8E01-AAAD5560E11D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Rating과 오차 계산</a:t>
            </a:r>
          </a:p>
        </p:txBody>
      </p:sp>
      <p:sp>
        <p:nvSpPr>
          <p:cNvPr id="12" name="text-36">
            <a:extLst>
              <a:ext uri="{FF2B5EF4-FFF2-40B4-BE49-F238E27FC236}">
                <a16:creationId xmlns:a16="http://schemas.microsoft.com/office/drawing/2014/main" id="{6ABBF3FE-5DB9-450E-B08E-DF37D07E5AFE}"/>
              </a:ext>
            </a:extLst>
          </p:cNvPr>
          <p:cNvSpPr>
            <a:spLocks noGrp="1"/>
          </p:cNvSpPr>
          <p:nvPr/>
        </p:nvSpPr>
        <p:spPr>
          <a:xfrm>
            <a:off x="6524625" y="188595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0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User</a:t>
            </a:r>
          </a:p>
        </p:txBody>
      </p:sp>
      <p:sp>
        <p:nvSpPr>
          <p:cNvPr id="13" name="text-37">
            <a:extLst>
              <a:ext uri="{FF2B5EF4-FFF2-40B4-BE49-F238E27FC236}">
                <a16:creationId xmlns:a16="http://schemas.microsoft.com/office/drawing/2014/main" id="{119A9BE6-6351-41F3-B06A-3FC98FBA6FD4}"/>
              </a:ext>
            </a:extLst>
          </p:cNvPr>
          <p:cNvSpPr>
            <a:spLocks noGrp="1"/>
          </p:cNvSpPr>
          <p:nvPr/>
        </p:nvSpPr>
        <p:spPr>
          <a:xfrm>
            <a:off x="6524625" y="22955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0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4" name="text-38">
            <a:extLst>
              <a:ext uri="{FF2B5EF4-FFF2-40B4-BE49-F238E27FC236}">
                <a16:creationId xmlns:a16="http://schemas.microsoft.com/office/drawing/2014/main" id="{85AA6380-2DB3-4A8B-A26B-8889A9F16E64}"/>
              </a:ext>
            </a:extLst>
          </p:cNvPr>
          <p:cNvSpPr>
            <a:spLocks noGrp="1"/>
          </p:cNvSpPr>
          <p:nvPr/>
        </p:nvSpPr>
        <p:spPr>
          <a:xfrm>
            <a:off x="6524625" y="270510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0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Recommendation Algorithm</a:t>
            </a:r>
          </a:p>
        </p:txBody>
      </p:sp>
      <p:sp>
        <p:nvSpPr>
          <p:cNvPr id="15" name="text-39">
            <a:extLst>
              <a:ext uri="{FF2B5EF4-FFF2-40B4-BE49-F238E27FC236}">
                <a16:creationId xmlns:a16="http://schemas.microsoft.com/office/drawing/2014/main" id="{998FEA5E-EF8F-427B-B8CF-C6792B55036C}"/>
              </a:ext>
            </a:extLst>
          </p:cNvPr>
          <p:cNvSpPr>
            <a:spLocks noGrp="1"/>
          </p:cNvSpPr>
          <p:nvPr/>
        </p:nvSpPr>
        <p:spPr>
          <a:xfrm>
            <a:off x="6524625" y="311467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0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6" name="text-40">
            <a:extLst>
              <a:ext uri="{FF2B5EF4-FFF2-40B4-BE49-F238E27FC236}">
                <a16:creationId xmlns:a16="http://schemas.microsoft.com/office/drawing/2014/main" id="{E4A5E6F1-F2B4-40B7-9622-C8C7073A8F33}"/>
              </a:ext>
            </a:extLst>
          </p:cNvPr>
          <p:cNvSpPr>
            <a:spLocks noGrp="1"/>
          </p:cNvSpPr>
          <p:nvPr/>
        </p:nvSpPr>
        <p:spPr>
          <a:xfrm>
            <a:off x="6524625" y="352425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0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TOP-N Items</a:t>
            </a:r>
          </a:p>
        </p:txBody>
      </p:sp>
      <p:sp>
        <p:nvSpPr>
          <p:cNvPr id="17" name="text-41">
            <a:extLst>
              <a:ext uri="{FF2B5EF4-FFF2-40B4-BE49-F238E27FC236}">
                <a16:creationId xmlns:a16="http://schemas.microsoft.com/office/drawing/2014/main" id="{B2F7624F-6F4E-4E71-B857-C455CBB1311B}"/>
              </a:ext>
            </a:extLst>
          </p:cNvPr>
          <p:cNvSpPr>
            <a:spLocks noGrp="1"/>
          </p:cNvSpPr>
          <p:nvPr/>
        </p:nvSpPr>
        <p:spPr>
          <a:xfrm>
            <a:off x="6524625" y="39338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0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8" name="text-42">
            <a:extLst>
              <a:ext uri="{FF2B5EF4-FFF2-40B4-BE49-F238E27FC236}">
                <a16:creationId xmlns:a16="http://schemas.microsoft.com/office/drawing/2014/main" id="{74C5DA55-7DE3-4CB8-A9D9-85E70D15540D}"/>
              </a:ext>
            </a:extLst>
          </p:cNvPr>
          <p:cNvSpPr>
            <a:spLocks noGrp="1"/>
          </p:cNvSpPr>
          <p:nvPr/>
        </p:nvSpPr>
        <p:spPr>
          <a:xfrm>
            <a:off x="6524625" y="434340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0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Relevant item이 얼마나 포함되었는가?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3C99FD0-006F-41BC-9697-AA3440434A43}"/>
              </a:ext>
            </a:extLst>
          </p:cNvPr>
          <p:cNvSpPr>
            <a:spLocks noGrp="1"/>
          </p:cNvSpPr>
          <p:nvPr/>
        </p:nvSpPr>
        <p:spPr>
          <a:xfrm>
            <a:off x="571500" y="5267325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-43">
            <a:extLst>
              <a:ext uri="{FF2B5EF4-FFF2-40B4-BE49-F238E27FC236}">
                <a16:creationId xmlns:a16="http://schemas.microsoft.com/office/drawing/2014/main" id="{167E8645-80BC-4882-8AC9-D5EC990BE1EB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Key Insight</a:t>
            </a:r>
          </a:p>
        </p:txBody>
      </p:sp>
      <p:sp>
        <p:nvSpPr>
          <p:cNvPr id="21" name="text-44">
            <a:extLst>
              <a:ext uri="{FF2B5EF4-FFF2-40B4-BE49-F238E27FC236}">
                <a16:creationId xmlns:a16="http://schemas.microsoft.com/office/drawing/2014/main" id="{CB30AE65-2BE4-4FE7-AE6A-53E737FF0DC0}"/>
              </a:ext>
            </a:extLst>
          </p:cNvPr>
          <p:cNvSpPr>
            <a:spLocks noGrp="1"/>
          </p:cNvSpPr>
          <p:nvPr/>
        </p:nvSpPr>
        <p:spPr>
          <a:xfrm>
            <a:off x="2476500" y="5467350"/>
            <a:ext cx="904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좋은 recommendation model의 기준은 “rating을 잘 맞히는가?”가 아니라</a:t>
            </a:r>
          </a:p>
          <a:p>
            <a:pPr>
              <a:defRPr sz="18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“실제로 필요한 item을 상위에 잘 배치하는가?”이다.</a:t>
            </a:r>
          </a:p>
        </p:txBody>
      </p:sp>
    </p:spTree>
    <p:extLst>
      <p:ext uri="{BB962C8B-B14F-4D97-AF65-F5344CB8AC3E}">
        <p14:creationId xmlns:p14="http://schemas.microsoft.com/office/powerpoint/2010/main" val="132862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21949940-1951-45E6-AC7A-DBFF3D0533D5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3. Top-N 성능을 어떻게 측정하는가?</a:t>
            </a:r>
          </a:p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Recall &amp; Precision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0065EDEF-AAD7-47F3-B660-84EE849214CD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D72D63B-6191-425B-8098-E736026D57B8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" name="text-45">
            <a:extLst>
              <a:ext uri="{FF2B5EF4-FFF2-40B4-BE49-F238E27FC236}">
                <a16:creationId xmlns:a16="http://schemas.microsoft.com/office/drawing/2014/main" id="{F8EC429C-D372-477A-987A-C257ADF5EF6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① Relevant item 1개</a:t>
            </a:r>
          </a:p>
        </p:txBody>
      </p:sp>
      <p:sp>
        <p:nvSpPr>
          <p:cNvPr id="5" name="text-46">
            <a:extLst>
              <a:ext uri="{FF2B5EF4-FFF2-40B4-BE49-F238E27FC236}">
                <a16:creationId xmlns:a16="http://schemas.microsoft.com/office/drawing/2014/main" id="{5AEB5D11-54BA-4D3F-A191-9D8937CA35E8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619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사용자 u가 실제로 5점을 준 item i</a:t>
            </a:r>
          </a:p>
        </p:txBody>
      </p:sp>
      <p:sp>
        <p:nvSpPr>
          <p:cNvPr id="6" name="text-47">
            <a:extLst>
              <a:ext uri="{FF2B5EF4-FFF2-40B4-BE49-F238E27FC236}">
                <a16:creationId xmlns:a16="http://schemas.microsoft.com/office/drawing/2014/main" id="{8E73F2B1-739E-44D8-8935-F7CD781CD2D8}"/>
              </a:ext>
            </a:extLst>
          </p:cNvPr>
          <p:cNvSpPr>
            <a:spLocks noGrp="1"/>
          </p:cNvSpPr>
          <p:nvPr/>
        </p:nvSpPr>
        <p:spPr>
          <a:xfrm>
            <a:off x="571500" y="2352675"/>
            <a:ext cx="38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7" name="text-48">
            <a:extLst>
              <a:ext uri="{FF2B5EF4-FFF2-40B4-BE49-F238E27FC236}">
                <a16:creationId xmlns:a16="http://schemas.microsoft.com/office/drawing/2014/main" id="{DB1C5EA0-9E08-422A-B743-750DC6D186C8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② Unrated item 1,000개를 random sampling</a:t>
            </a:r>
          </a:p>
        </p:txBody>
      </p:sp>
      <p:sp>
        <p:nvSpPr>
          <p:cNvPr id="8" name="text-49">
            <a:extLst>
              <a:ext uri="{FF2B5EF4-FFF2-40B4-BE49-F238E27FC236}">
                <a16:creationId xmlns:a16="http://schemas.microsoft.com/office/drawing/2014/main" id="{095132AE-EB00-4618-9135-9551BED40BBC}"/>
              </a:ext>
            </a:extLst>
          </p:cNvPr>
          <p:cNvSpPr>
            <a:spLocks noGrp="1"/>
          </p:cNvSpPr>
          <p:nvPr/>
        </p:nvSpPr>
        <p:spPr>
          <a:xfrm>
            <a:off x="857250" y="2981325"/>
            <a:ext cx="619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사용자 u가 평가하지 않은 item 1,000개 추가</a:t>
            </a:r>
          </a:p>
        </p:txBody>
      </p:sp>
      <p:sp>
        <p:nvSpPr>
          <p:cNvPr id="9" name="text-50">
            <a:extLst>
              <a:ext uri="{FF2B5EF4-FFF2-40B4-BE49-F238E27FC236}">
                <a16:creationId xmlns:a16="http://schemas.microsoft.com/office/drawing/2014/main" id="{61DFF42A-F1E2-4491-A7EB-1137821F3FCC}"/>
              </a:ext>
            </a:extLst>
          </p:cNvPr>
          <p:cNvSpPr>
            <a:spLocks noGrp="1"/>
          </p:cNvSpPr>
          <p:nvPr/>
        </p:nvSpPr>
        <p:spPr>
          <a:xfrm>
            <a:off x="571500" y="3352800"/>
            <a:ext cx="38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0" name="text-51">
            <a:extLst>
              <a:ext uri="{FF2B5EF4-FFF2-40B4-BE49-F238E27FC236}">
                <a16:creationId xmlns:a16="http://schemas.microsoft.com/office/drawing/2014/main" id="{549D2231-E7D4-471B-8B94-41E8616F5D32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③ 총 1,001개 item의 predicted score 계산</a:t>
            </a:r>
          </a:p>
        </p:txBody>
      </p:sp>
      <p:sp>
        <p:nvSpPr>
          <p:cNvPr id="11" name="text-52">
            <a:extLst>
              <a:ext uri="{FF2B5EF4-FFF2-40B4-BE49-F238E27FC236}">
                <a16:creationId xmlns:a16="http://schemas.microsoft.com/office/drawing/2014/main" id="{3442D787-2C02-445F-BCFE-B5C1730A07C1}"/>
              </a:ext>
            </a:extLst>
          </p:cNvPr>
          <p:cNvSpPr>
            <a:spLocks noGrp="1"/>
          </p:cNvSpPr>
          <p:nvPr/>
        </p:nvSpPr>
        <p:spPr>
          <a:xfrm>
            <a:off x="571500" y="4029075"/>
            <a:ext cx="38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2" name="text-53">
            <a:extLst>
              <a:ext uri="{FF2B5EF4-FFF2-40B4-BE49-F238E27FC236}">
                <a16:creationId xmlns:a16="http://schemas.microsoft.com/office/drawing/2014/main" id="{5FFE1949-54DF-4990-A157-151CBB2FAE6E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④ score가 높은 순서대로 ranking</a:t>
            </a:r>
          </a:p>
        </p:txBody>
      </p:sp>
      <p:sp>
        <p:nvSpPr>
          <p:cNvPr id="13" name="text-54">
            <a:extLst>
              <a:ext uri="{FF2B5EF4-FFF2-40B4-BE49-F238E27FC236}">
                <a16:creationId xmlns:a16="http://schemas.microsoft.com/office/drawing/2014/main" id="{FFB03D09-6A07-4C80-914D-3114069AE184}"/>
              </a:ext>
            </a:extLst>
          </p:cNvPr>
          <p:cNvSpPr>
            <a:spLocks noGrp="1"/>
          </p:cNvSpPr>
          <p:nvPr/>
        </p:nvSpPr>
        <p:spPr>
          <a:xfrm>
            <a:off x="571500" y="4829175"/>
            <a:ext cx="38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4" name="text-55">
            <a:extLst>
              <a:ext uri="{FF2B5EF4-FFF2-40B4-BE49-F238E27FC236}">
                <a16:creationId xmlns:a16="http://schemas.microsoft.com/office/drawing/2014/main" id="{5118C0A1-33A1-4830-B898-500AD2FA2BEF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676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⑤ relevant item이 Top-N 안에 있으면 Hit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0DD15AC8-54BE-43A3-B6E4-ACB4F280DB4F}"/>
              </a:ext>
            </a:extLst>
          </p:cNvPr>
          <p:cNvSpPr>
            <a:spLocks noGrp="1"/>
          </p:cNvSpPr>
          <p:nvPr/>
        </p:nvSpPr>
        <p:spPr>
          <a:xfrm>
            <a:off x="7610475" y="1724025"/>
            <a:ext cx="0" cy="400050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-56">
            <a:extLst>
              <a:ext uri="{FF2B5EF4-FFF2-40B4-BE49-F238E27FC236}">
                <a16:creationId xmlns:a16="http://schemas.microsoft.com/office/drawing/2014/main" id="{9A0C7783-6DF2-47DF-AC7C-88BB6A6EB97E}"/>
              </a:ext>
            </a:extLst>
          </p:cNvPr>
          <p:cNvSpPr>
            <a:spLocks noGrp="1"/>
          </p:cNvSpPr>
          <p:nvPr/>
        </p:nvSpPr>
        <p:spPr>
          <a:xfrm>
            <a:off x="8010525" y="2333625"/>
            <a:ext cx="35909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18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p = rank of the relevant item</a:t>
            </a:r>
          </a:p>
        </p:txBody>
      </p:sp>
      <p:sp>
        <p:nvSpPr>
          <p:cNvPr id="17" name="eqHit">
            <a:extLst>
              <a:ext uri="{FF2B5EF4-FFF2-40B4-BE49-F238E27FC236}">
                <a16:creationId xmlns:a16="http://schemas.microsoft.com/office/drawing/2014/main" id="{E4F40A00-4BAB-4D69-806B-B04028B45810}"/>
              </a:ext>
            </a:extLst>
          </p:cNvPr>
          <p:cNvSpPr>
            <a:spLocks noGrp="1"/>
          </p:cNvSpPr>
          <p:nvPr/>
        </p:nvSpPr>
        <p:spPr>
          <a:xfrm>
            <a:off x="8010525" y="3419475"/>
            <a:ext cx="357187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3225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p ≤ N ⇒ Hit</a:t>
            </a:r>
          </a:p>
        </p:txBody>
      </p:sp>
      <p:sp>
        <p:nvSpPr>
          <p:cNvPr id="18" name="eqMiss">
            <a:extLst>
              <a:ext uri="{FF2B5EF4-FFF2-40B4-BE49-F238E27FC236}">
                <a16:creationId xmlns:a16="http://schemas.microsoft.com/office/drawing/2014/main" id="{A07A51AB-F3B0-4079-A545-EEBB97493BD6}"/>
              </a:ext>
            </a:extLst>
          </p:cNvPr>
          <p:cNvSpPr>
            <a:spLocks noGrp="1"/>
          </p:cNvSpPr>
          <p:nvPr/>
        </p:nvSpPr>
        <p:spPr>
          <a:xfrm>
            <a:off x="8010525" y="4371975"/>
            <a:ext cx="357187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3225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p &gt; N ⇒ Miss</a:t>
            </a:r>
          </a:p>
        </p:txBody>
      </p:sp>
    </p:spTree>
    <p:extLst>
      <p:ext uri="{BB962C8B-B14F-4D97-AF65-F5344CB8AC3E}">
        <p14:creationId xmlns:p14="http://schemas.microsoft.com/office/powerpoint/2010/main" val="61012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>
            <a:extLst>
              <a:ext uri="{FF2B5EF4-FFF2-40B4-BE49-F238E27FC236}">
                <a16:creationId xmlns:a16="http://schemas.microsoft.com/office/drawing/2014/main" id="{73438FB4-2FEE-46DA-ACD4-2B1913299CC6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3. Top-N 성능을 어떻게 측정하는가?</a:t>
            </a:r>
          </a:p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Recall &amp; Precision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F3A7DB8B-2486-46DB-9346-8C391DA5846B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8BB15A9-D8F3-4C82-97BF-13E56FE4BF0E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4" name="text-57">
            <a:extLst>
              <a:ext uri="{FF2B5EF4-FFF2-40B4-BE49-F238E27FC236}">
                <a16:creationId xmlns:a16="http://schemas.microsoft.com/office/drawing/2014/main" id="{201D4231-6CD3-459F-9594-988E9F54832A}"/>
              </a:ext>
            </a:extLst>
          </p:cNvPr>
          <p:cNvSpPr>
            <a:spLocks noGrp="1"/>
          </p:cNvSpPr>
          <p:nvPr/>
        </p:nvSpPr>
        <p:spPr>
          <a:xfrm>
            <a:off x="571500" y="1704975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400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Recall</a:t>
            </a:r>
          </a:p>
        </p:txBody>
      </p:sp>
      <p:sp>
        <p:nvSpPr>
          <p:cNvPr id="5" name="text-58">
            <a:extLst>
              <a:ext uri="{FF2B5EF4-FFF2-40B4-BE49-F238E27FC236}">
                <a16:creationId xmlns:a16="http://schemas.microsoft.com/office/drawing/2014/main" id="{B0BE6E5D-C151-48A8-BDB0-13231A1D6492}"/>
              </a:ext>
            </a:extLst>
          </p:cNvPr>
          <p:cNvSpPr>
            <a:spLocks noGrp="1"/>
          </p:cNvSpPr>
          <p:nvPr/>
        </p:nvSpPr>
        <p:spPr>
          <a:xfrm>
            <a:off x="6486525" y="17049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400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Precision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53619EC4-48B3-459F-90E7-6636C81EE040}"/>
              </a:ext>
            </a:extLst>
          </p:cNvPr>
          <p:cNvSpPr>
            <a:spLocks noGrp="1"/>
          </p:cNvSpPr>
          <p:nvPr/>
        </p:nvSpPr>
        <p:spPr>
          <a:xfrm>
            <a:off x="6086475" y="1733550"/>
            <a:ext cx="0" cy="3171825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eqRecall">
            <a:extLst>
              <a:ext uri="{FF2B5EF4-FFF2-40B4-BE49-F238E27FC236}">
                <a16:creationId xmlns:a16="http://schemas.microsoft.com/office/drawing/2014/main" id="{F4E9D073-810B-4B3E-917D-EA63F5828AF8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27051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3225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Recall(N) =</a:t>
            </a:r>
          </a:p>
        </p:txBody>
      </p:sp>
      <p:sp>
        <p:nvSpPr>
          <p:cNvPr id="8" name="text-59">
            <a:extLst>
              <a:ext uri="{FF2B5EF4-FFF2-40B4-BE49-F238E27FC236}">
                <a16:creationId xmlns:a16="http://schemas.microsoft.com/office/drawing/2014/main" id="{FA55DB25-04AB-4A8C-B9F2-168AB9AAF757}"/>
              </a:ext>
            </a:extLst>
          </p:cNvPr>
          <p:cNvSpPr>
            <a:spLocks noGrp="1"/>
          </p:cNvSpPr>
          <p:nvPr/>
        </p:nvSpPr>
        <p:spPr>
          <a:xfrm>
            <a:off x="3448050" y="2390775"/>
            <a:ext cx="14573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3225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#Hits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0694C990-0FC6-4D3E-8E51-694655E45D3F}"/>
              </a:ext>
            </a:extLst>
          </p:cNvPr>
          <p:cNvSpPr>
            <a:spLocks noGrp="1"/>
          </p:cNvSpPr>
          <p:nvPr/>
        </p:nvSpPr>
        <p:spPr>
          <a:xfrm>
            <a:off x="3371850" y="2895600"/>
            <a:ext cx="1476375" cy="0"/>
          </a:xfrm>
          <a:prstGeom prst="line">
            <a:avLst/>
          </a:prstGeom>
          <a:noFill/>
          <a:ln w="14288">
            <a:solidFill>
              <a:srgbClr val="183B5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-60">
            <a:extLst>
              <a:ext uri="{FF2B5EF4-FFF2-40B4-BE49-F238E27FC236}">
                <a16:creationId xmlns:a16="http://schemas.microsoft.com/office/drawing/2014/main" id="{9855ABAC-CD3D-4DF9-91B3-7F753B51E8C7}"/>
              </a:ext>
            </a:extLst>
          </p:cNvPr>
          <p:cNvSpPr>
            <a:spLocks noGrp="1"/>
          </p:cNvSpPr>
          <p:nvPr/>
        </p:nvSpPr>
        <p:spPr>
          <a:xfrm>
            <a:off x="3600450" y="2971800"/>
            <a:ext cx="13335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322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3225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| T |</a:t>
            </a:r>
          </a:p>
        </p:txBody>
      </p:sp>
      <p:sp>
        <p:nvSpPr>
          <p:cNvPr id="11" name="eqPrecision">
            <a:extLst>
              <a:ext uri="{FF2B5EF4-FFF2-40B4-BE49-F238E27FC236}">
                <a16:creationId xmlns:a16="http://schemas.microsoft.com/office/drawing/2014/main" id="{07FAE3C3-95FB-4E40-821E-1707DB23C096}"/>
              </a:ext>
            </a:extLst>
          </p:cNvPr>
          <p:cNvSpPr>
            <a:spLocks noGrp="1"/>
          </p:cNvSpPr>
          <p:nvPr/>
        </p:nvSpPr>
        <p:spPr>
          <a:xfrm>
            <a:off x="6486525" y="2743200"/>
            <a:ext cx="23241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Precision(N) =</a:t>
            </a:r>
          </a:p>
        </p:txBody>
      </p:sp>
      <p:sp>
        <p:nvSpPr>
          <p:cNvPr id="12" name="text-61">
            <a:extLst>
              <a:ext uri="{FF2B5EF4-FFF2-40B4-BE49-F238E27FC236}">
                <a16:creationId xmlns:a16="http://schemas.microsoft.com/office/drawing/2014/main" id="{C6039D54-ABA2-4C39-8618-CB680CCD4EDD}"/>
              </a:ext>
            </a:extLst>
          </p:cNvPr>
          <p:cNvSpPr>
            <a:spLocks noGrp="1"/>
          </p:cNvSpPr>
          <p:nvPr/>
        </p:nvSpPr>
        <p:spPr>
          <a:xfrm>
            <a:off x="8572500" y="2438400"/>
            <a:ext cx="10763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#Hits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DBDFEBB-C577-44F6-91C8-551E24763F69}"/>
              </a:ext>
            </a:extLst>
          </p:cNvPr>
          <p:cNvSpPr>
            <a:spLocks noGrp="1"/>
          </p:cNvSpPr>
          <p:nvPr/>
        </p:nvSpPr>
        <p:spPr>
          <a:xfrm>
            <a:off x="8524875" y="2895600"/>
            <a:ext cx="990600" cy="0"/>
          </a:xfrm>
          <a:prstGeom prst="line">
            <a:avLst/>
          </a:prstGeom>
          <a:noFill/>
          <a:ln w="14288">
            <a:solidFill>
              <a:srgbClr val="183B5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-62">
            <a:extLst>
              <a:ext uri="{FF2B5EF4-FFF2-40B4-BE49-F238E27FC236}">
                <a16:creationId xmlns:a16="http://schemas.microsoft.com/office/drawing/2014/main" id="{BA34A5E1-C367-413C-B376-6C9C562206FD}"/>
              </a:ext>
            </a:extLst>
          </p:cNvPr>
          <p:cNvSpPr>
            <a:spLocks noGrp="1"/>
          </p:cNvSpPr>
          <p:nvPr/>
        </p:nvSpPr>
        <p:spPr>
          <a:xfrm>
            <a:off x="8534400" y="3019425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N | T |</a:t>
            </a:r>
          </a:p>
        </p:txBody>
      </p:sp>
      <p:sp>
        <p:nvSpPr>
          <p:cNvPr id="15" name="text-63">
            <a:extLst>
              <a:ext uri="{FF2B5EF4-FFF2-40B4-BE49-F238E27FC236}">
                <a16:creationId xmlns:a16="http://schemas.microsoft.com/office/drawing/2014/main" id="{C90E906E-DA22-4DB2-8396-1F083C97FA52}"/>
              </a:ext>
            </a:extLst>
          </p:cNvPr>
          <p:cNvSpPr>
            <a:spLocks noGrp="1"/>
          </p:cNvSpPr>
          <p:nvPr/>
        </p:nvSpPr>
        <p:spPr>
          <a:xfrm>
            <a:off x="9620250" y="274320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16" name="text-64">
            <a:extLst>
              <a:ext uri="{FF2B5EF4-FFF2-40B4-BE49-F238E27FC236}">
                <a16:creationId xmlns:a16="http://schemas.microsoft.com/office/drawing/2014/main" id="{C804CC11-567E-44B0-BA8F-6BA6F723EECB}"/>
              </a:ext>
            </a:extLst>
          </p:cNvPr>
          <p:cNvSpPr>
            <a:spLocks noGrp="1"/>
          </p:cNvSpPr>
          <p:nvPr/>
        </p:nvSpPr>
        <p:spPr>
          <a:xfrm>
            <a:off x="10010775" y="24384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Recall(N)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B07C0FB8-F805-4877-9B50-D155BAC65BA9}"/>
              </a:ext>
            </a:extLst>
          </p:cNvPr>
          <p:cNvSpPr>
            <a:spLocks noGrp="1"/>
          </p:cNvSpPr>
          <p:nvPr/>
        </p:nvSpPr>
        <p:spPr>
          <a:xfrm>
            <a:off x="9991725" y="2895600"/>
            <a:ext cx="1543050" cy="0"/>
          </a:xfrm>
          <a:prstGeom prst="line">
            <a:avLst/>
          </a:prstGeom>
          <a:noFill/>
          <a:ln w="14288">
            <a:solidFill>
              <a:srgbClr val="183B56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-65">
            <a:extLst>
              <a:ext uri="{FF2B5EF4-FFF2-40B4-BE49-F238E27FC236}">
                <a16:creationId xmlns:a16="http://schemas.microsoft.com/office/drawing/2014/main" id="{F547B6F4-2F15-4B2C-8B50-D2A8BCB9CE8E}"/>
              </a:ext>
            </a:extLst>
          </p:cNvPr>
          <p:cNvSpPr>
            <a:spLocks noGrp="1"/>
          </p:cNvSpPr>
          <p:nvPr/>
        </p:nvSpPr>
        <p:spPr>
          <a:xfrm>
            <a:off x="10582275" y="30194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40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N</a:t>
            </a:r>
          </a:p>
        </p:txBody>
      </p:sp>
      <p:sp>
        <p:nvSpPr>
          <p:cNvPr id="19" name="text-66">
            <a:extLst>
              <a:ext uri="{FF2B5EF4-FFF2-40B4-BE49-F238E27FC236}">
                <a16:creationId xmlns:a16="http://schemas.microsoft.com/office/drawing/2014/main" id="{350CFD7C-04E0-4CA0-8B0A-E6FBDB69D9AB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50482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전체 relevant item 중</a:t>
            </a:r>
          </a:p>
          <a:p>
            <a:pPr>
              <a:defRPr sz="217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Top-N에서 찾아낸 비율</a:t>
            </a:r>
          </a:p>
        </p:txBody>
      </p:sp>
      <p:sp>
        <p:nvSpPr>
          <p:cNvPr id="20" name="text-67">
            <a:extLst>
              <a:ext uri="{FF2B5EF4-FFF2-40B4-BE49-F238E27FC236}">
                <a16:creationId xmlns:a16="http://schemas.microsoft.com/office/drawing/2014/main" id="{63AEA3C1-1A8F-49D3-9BDF-A556506B641D}"/>
              </a:ext>
            </a:extLst>
          </p:cNvPr>
          <p:cNvSpPr>
            <a:spLocks noGrp="1"/>
          </p:cNvSpPr>
          <p:nvPr/>
        </p:nvSpPr>
        <p:spPr>
          <a:xfrm>
            <a:off x="6486525" y="3829050"/>
            <a:ext cx="513397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추천한 Top-N 목록 전체에서</a:t>
            </a:r>
          </a:p>
          <a:p>
            <a:pPr>
              <a:defRPr sz="2100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relevant item이 차지하는 비율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BA74D7FA-F3F8-41FF-B847-8596E1C72071}"/>
              </a:ext>
            </a:extLst>
          </p:cNvPr>
          <p:cNvSpPr>
            <a:spLocks noGrp="1"/>
          </p:cNvSpPr>
          <p:nvPr/>
        </p:nvSpPr>
        <p:spPr>
          <a:xfrm>
            <a:off x="571500" y="5448300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-68">
            <a:extLst>
              <a:ext uri="{FF2B5EF4-FFF2-40B4-BE49-F238E27FC236}">
                <a16:creationId xmlns:a16="http://schemas.microsoft.com/office/drawing/2014/main" id="{A3385DCE-465A-405D-9C5C-944780D48672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핵심: 예측 rating의 오차를 재는 대신, 실제 relevant item이</a:t>
            </a:r>
          </a:p>
          <a:p>
            <a:pPr>
              <a:defRPr sz="19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추천 목록의 상위 N개에 들어오는지를 직접 측정한다.</a:t>
            </a:r>
          </a:p>
        </p:txBody>
      </p:sp>
    </p:spTree>
    <p:extLst>
      <p:ext uri="{BB962C8B-B14F-4D97-AF65-F5344CB8AC3E}">
        <p14:creationId xmlns:p14="http://schemas.microsoft.com/office/powerpoint/2010/main" val="1799211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A78D78E-1770-4546-AEE0-2D2D421E1CE1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4. 평가 편향을 줄이기 위한 장치:</a:t>
            </a:r>
          </a:p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Popular vs. Long-tail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297707CC-796E-454C-98F9-F8CFC39396E9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6F3A2FD-42EF-43CE-A930-AF2A32D72EF7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3433" y="1714500"/>
            <a:ext cx="5854009" cy="4648200"/>
          </a:xfrm>
          <a:prstGeom prst="rect">
            <a:avLst/>
          </a:prstGeom>
        </p:spPr>
      </p:pic>
      <p:sp>
        <p:nvSpPr>
          <p:cNvPr id="5" name="text-69">
            <a:extLst>
              <a:ext uri="{FF2B5EF4-FFF2-40B4-BE49-F238E27FC236}">
                <a16:creationId xmlns:a16="http://schemas.microsoft.com/office/drawing/2014/main" id="{905F5954-0019-417C-9141-1C67E376FF88}"/>
              </a:ext>
            </a:extLst>
          </p:cNvPr>
          <p:cNvSpPr>
            <a:spLocks noGrp="1"/>
          </p:cNvSpPr>
          <p:nvPr/>
        </p:nvSpPr>
        <p:spPr>
          <a:xfrm>
            <a:off x="6924675" y="1952625"/>
            <a:ext cx="4676775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문제: 소수의 popular item이</a:t>
            </a:r>
          </a:p>
          <a:p>
            <a:pPr>
              <a:defRPr sz="21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전체 rating의 큰 비중을 차지한다.</a:t>
            </a: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2BB32C4-CEA2-43D0-97B7-4EB25C19D7A0}"/>
              </a:ext>
            </a:extLst>
          </p:cNvPr>
          <p:cNvSpPr>
            <a:spLocks noGrp="1"/>
          </p:cNvSpPr>
          <p:nvPr/>
        </p:nvSpPr>
        <p:spPr>
          <a:xfrm>
            <a:off x="6924675" y="3533775"/>
            <a:ext cx="4667250" cy="0"/>
          </a:xfrm>
          <a:prstGeom prst="line">
            <a:avLst/>
          </a:prstGeom>
          <a:noFill/>
          <a:ln w="28575">
            <a:solidFill>
              <a:srgbClr val="E9A23B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-70">
            <a:extLst>
              <a:ext uri="{FF2B5EF4-FFF2-40B4-BE49-F238E27FC236}">
                <a16:creationId xmlns:a16="http://schemas.microsoft.com/office/drawing/2014/main" id="{1F4F62E4-246D-4CDA-ABF7-0BB96A265B6A}"/>
              </a:ext>
            </a:extLst>
          </p:cNvPr>
          <p:cNvSpPr>
            <a:spLocks noGrp="1"/>
          </p:cNvSpPr>
          <p:nvPr/>
        </p:nvSpPr>
        <p:spPr>
          <a:xfrm>
            <a:off x="6924675" y="3914775"/>
            <a:ext cx="4695825" cy="1924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그렇다면 popular item만</a:t>
            </a:r>
          </a:p>
          <a:p>
            <a:pPr>
              <a:defRPr sz="21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잘 추천하는 알고리즘도</a:t>
            </a:r>
          </a:p>
          <a:p>
            <a:pPr>
              <a:defRPr sz="21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높은 Top-N accuracy를</a:t>
            </a:r>
          </a:p>
          <a:p>
            <a:pPr>
              <a:defRPr sz="21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얻을 수 있지 않을까?</a:t>
            </a:r>
          </a:p>
        </p:txBody>
      </p:sp>
    </p:spTree>
    <p:extLst>
      <p:ext uri="{BB962C8B-B14F-4D97-AF65-F5344CB8AC3E}">
        <p14:creationId xmlns:p14="http://schemas.microsoft.com/office/powerpoint/2010/main" val="72782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85E25428-61AB-45F0-8D47-3EB7B3DBCA93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4. 평가 편향을 줄이기 위한 장치:</a:t>
            </a:r>
          </a:p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Popular vs. Long-tail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7A18609E-EF03-46E9-BE92-AFB5699F3D88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AF287E51-D386-4462-9C1B-7FF7E5AF854E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" name="eqSet">
            <a:extLst>
              <a:ext uri="{FF2B5EF4-FFF2-40B4-BE49-F238E27FC236}">
                <a16:creationId xmlns:a16="http://schemas.microsoft.com/office/drawing/2014/main" id="{37CB1F58-18AD-4A45-B8E0-D865A1C341D9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2850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85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T = T</a:t>
            </a:r>
            <a:r>
              <a:rPr lang="ko-KR" sz="2052" b="0" baseline="-2500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head</a:t>
            </a:r>
            <a:r>
              <a:rPr lang="ko-KR" sz="285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 ∪ T</a:t>
            </a:r>
            <a:r>
              <a:rPr lang="ko-KR" sz="2052" b="0" baseline="-2500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long</a:t>
            </a:r>
          </a:p>
        </p:txBody>
      </p:sp>
      <p:sp>
        <p:nvSpPr>
          <p:cNvPr id="5" name="text-71">
            <a:extLst>
              <a:ext uri="{FF2B5EF4-FFF2-40B4-BE49-F238E27FC236}">
                <a16:creationId xmlns:a16="http://schemas.microsoft.com/office/drawing/2014/main" id="{6DDC2695-5F96-4D85-96A8-18F50C124C2B}"/>
              </a:ext>
            </a:extLst>
          </p:cNvPr>
          <p:cNvSpPr>
            <a:spLocks noGrp="1"/>
          </p:cNvSpPr>
          <p:nvPr/>
        </p:nvSpPr>
        <p:spPr>
          <a:xfrm>
            <a:off x="571500" y="254317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Popular item</a:t>
            </a:r>
          </a:p>
        </p:txBody>
      </p:sp>
      <p:sp>
        <p:nvSpPr>
          <p:cNvPr id="6" name="text-72">
            <a:extLst>
              <a:ext uri="{FF2B5EF4-FFF2-40B4-BE49-F238E27FC236}">
                <a16:creationId xmlns:a16="http://schemas.microsoft.com/office/drawing/2014/main" id="{4592F5F0-63E0-47EC-8FF2-3B50D00AE845}"/>
              </a:ext>
            </a:extLst>
          </p:cNvPr>
          <p:cNvSpPr>
            <a:spLocks noGrp="1"/>
          </p:cNvSpPr>
          <p:nvPr/>
        </p:nvSpPr>
        <p:spPr>
          <a:xfrm>
            <a:off x="6543675" y="254317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Long-tail item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2D9127C3-B587-4744-874F-404C88B91EEB}"/>
              </a:ext>
            </a:extLst>
          </p:cNvPr>
          <p:cNvSpPr>
            <a:spLocks noGrp="1"/>
          </p:cNvSpPr>
          <p:nvPr/>
        </p:nvSpPr>
        <p:spPr>
          <a:xfrm>
            <a:off x="6086475" y="2543175"/>
            <a:ext cx="0" cy="262890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eqHead">
            <a:extLst>
              <a:ext uri="{FF2B5EF4-FFF2-40B4-BE49-F238E27FC236}">
                <a16:creationId xmlns:a16="http://schemas.microsoft.com/office/drawing/2014/main" id="{BCEA63C5-9F29-4494-80F8-CF72F7F9F7E6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10096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lang="ko-KR" sz="2400" b="0" baseline="-2500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head</a:t>
            </a:r>
          </a:p>
        </p:txBody>
      </p:sp>
      <p:sp>
        <p:nvSpPr>
          <p:cNvPr id="9" name="text-73">
            <a:extLst>
              <a:ext uri="{FF2B5EF4-FFF2-40B4-BE49-F238E27FC236}">
                <a16:creationId xmlns:a16="http://schemas.microsoft.com/office/drawing/2014/main" id="{622DCE89-DBEF-455B-B3F9-096A5A2A66CD}"/>
              </a:ext>
            </a:extLst>
          </p:cNvPr>
          <p:cNvSpPr>
            <a:spLocks noGrp="1"/>
          </p:cNvSpPr>
          <p:nvPr/>
        </p:nvSpPr>
        <p:spPr>
          <a:xfrm>
            <a:off x="1676400" y="3114675"/>
            <a:ext cx="4000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: short-head의 popular items</a:t>
            </a:r>
          </a:p>
        </p:txBody>
      </p:sp>
      <p:sp>
        <p:nvSpPr>
          <p:cNvPr id="10" name="eqLong">
            <a:extLst>
              <a:ext uri="{FF2B5EF4-FFF2-40B4-BE49-F238E27FC236}">
                <a16:creationId xmlns:a16="http://schemas.microsoft.com/office/drawing/2014/main" id="{16B5ACF5-4666-4A16-A837-C9753530C10C}"/>
              </a:ext>
            </a:extLst>
          </p:cNvPr>
          <p:cNvSpPr>
            <a:spLocks noGrp="1"/>
          </p:cNvSpPr>
          <p:nvPr/>
        </p:nvSpPr>
        <p:spPr>
          <a:xfrm>
            <a:off x="6543675" y="3105150"/>
            <a:ext cx="10096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defRPr sz="1875" b="0">
                <a:solidFill>
                  <a:srgbClr val="183B56"/>
                </a:solidFill>
                <a:latin typeface="Cambria Math"/>
                <a:ea typeface="Cambria Math"/>
                <a:cs typeface="Cambria Math"/>
              </a:defRPr>
            </a:pPr>
            <a:r>
              <a:rPr lang="ko-KR" sz="2400" b="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lang="ko-KR" sz="2400" b="0" baseline="-25000" dirty="0">
                <a:solidFill>
                  <a:srgbClr val="183B56"/>
                </a:solidFill>
                <a:latin typeface="Cambria Math"/>
                <a:ea typeface="Cambria Math"/>
                <a:cs typeface="Cambria Math"/>
              </a:rPr>
              <a:t>long</a:t>
            </a:r>
          </a:p>
        </p:txBody>
      </p:sp>
      <p:sp>
        <p:nvSpPr>
          <p:cNvPr id="11" name="text-74">
            <a:extLst>
              <a:ext uri="{FF2B5EF4-FFF2-40B4-BE49-F238E27FC236}">
                <a16:creationId xmlns:a16="http://schemas.microsoft.com/office/drawing/2014/main" id="{83EB580E-75C6-435B-A8DF-4A5F8374C16A}"/>
              </a:ext>
            </a:extLst>
          </p:cNvPr>
          <p:cNvSpPr>
            <a:spLocks noGrp="1"/>
          </p:cNvSpPr>
          <p:nvPr/>
        </p:nvSpPr>
        <p:spPr>
          <a:xfrm>
            <a:off x="7648575" y="3114675"/>
            <a:ext cx="3971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: long-tail의 less popular items</a:t>
            </a:r>
          </a:p>
        </p:txBody>
      </p:sp>
      <p:sp>
        <p:nvSpPr>
          <p:cNvPr id="12" name="text-75">
            <a:extLst>
              <a:ext uri="{FF2B5EF4-FFF2-40B4-BE49-F238E27FC236}">
                <a16:creationId xmlns:a16="http://schemas.microsoft.com/office/drawing/2014/main" id="{E919E543-7425-4E9A-8D3E-058D7AC52AAF}"/>
              </a:ext>
            </a:extLst>
          </p:cNvPr>
          <p:cNvSpPr>
            <a:spLocks noGrp="1"/>
          </p:cNvSpPr>
          <p:nvPr/>
        </p:nvSpPr>
        <p:spPr>
          <a:xfrm>
            <a:off x="571500" y="3724275"/>
            <a:ext cx="51911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많은 사용자가 이미 평가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추천하기 상대적으로 쉬움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단순 popularity-based model도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높은 accuracy를 얻을 수 있음</a:t>
            </a:r>
          </a:p>
        </p:txBody>
      </p:sp>
      <p:sp>
        <p:nvSpPr>
          <p:cNvPr id="13" name="text-76">
            <a:extLst>
              <a:ext uri="{FF2B5EF4-FFF2-40B4-BE49-F238E27FC236}">
                <a16:creationId xmlns:a16="http://schemas.microsoft.com/office/drawing/2014/main" id="{796AD8AF-6DD7-47FB-ADC8-4966381B4E01}"/>
              </a:ext>
            </a:extLst>
          </p:cNvPr>
          <p:cNvSpPr>
            <a:spLocks noGrp="1"/>
          </p:cNvSpPr>
          <p:nvPr/>
        </p:nvSpPr>
        <p:spPr>
          <a:xfrm>
            <a:off x="6543675" y="3724275"/>
            <a:ext cx="50768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interaction이 적음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추천하기 더 어려움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algorithm의 실제 personalization 능력을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더 잘 드러낼 수 있음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A5F8292-FF1E-4172-B368-C64BFEAAFA9D}"/>
              </a:ext>
            </a:extLst>
          </p:cNvPr>
          <p:cNvSpPr>
            <a:spLocks noGrp="1"/>
          </p:cNvSpPr>
          <p:nvPr/>
        </p:nvSpPr>
        <p:spPr>
          <a:xfrm>
            <a:off x="571500" y="5514975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-77">
            <a:extLst>
              <a:ext uri="{FF2B5EF4-FFF2-40B4-BE49-F238E27FC236}">
                <a16:creationId xmlns:a16="http://schemas.microsoft.com/office/drawing/2014/main" id="{8DD0C500-AB9A-4078-BCE6-1C6C35B85B65}"/>
              </a:ext>
            </a:extLst>
          </p:cNvPr>
          <p:cNvSpPr>
            <a:spLocks noGrp="1"/>
          </p:cNvSpPr>
          <p:nvPr/>
        </p:nvSpPr>
        <p:spPr>
          <a:xfrm>
            <a:off x="571500" y="5686425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Full-set accuracy만 보면 popularity bias 때문에</a:t>
            </a:r>
          </a:p>
          <a:p>
            <a:pPr>
              <a:defRPr sz="19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알고리즘의 추천 능력이 과대평가될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45390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76157DBE-332B-43CF-8B5A-B6E9A7876A29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5. 정확한 Rating 값이 필요 없다면,</a:t>
            </a:r>
          </a:p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Algorithm도 달라질 수 있다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7923399C-9CB0-47C1-9376-BEECBD57FB08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F27EAE8-32B9-4CA5-98A5-75DCFF7D34FD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571500" y="1562100"/>
          <a:ext cx="11049000" cy="13716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계열</a:t>
                      </a:r>
                      <a:endParaRPr sz="165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/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모델</a:t>
                      </a:r>
                      <a:endParaRPr sz="165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183B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Top-N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지향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모델</a:t>
                      </a:r>
                      <a:endParaRPr sz="165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183B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Non-personalized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MovieAvg</a:t>
                      </a:r>
                      <a:r>
                        <a:rPr sz="1650" b="0" dirty="0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 </a:t>
                      </a:r>
                      <a:r>
                        <a:rPr sz="1650" b="0" dirty="0" err="1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TopPop</a:t>
                      </a:r>
                      <a:endParaRPr sz="1650" b="0" dirty="0">
                        <a:solidFill>
                          <a:srgbClr val="667085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183B5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Neighborhood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CorNgbr</a:t>
                      </a:r>
                      <a:endParaRPr sz="1650" b="0" dirty="0">
                        <a:solidFill>
                          <a:srgbClr val="667085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 err="1">
                          <a:solidFill>
                            <a:srgbClr val="183B5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NNCosNgbr</a:t>
                      </a:r>
                      <a:endParaRPr sz="1650" b="1" dirty="0">
                        <a:solidFill>
                          <a:srgbClr val="183B56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Latent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AsySVD</a:t>
                      </a:r>
                      <a:r>
                        <a:rPr sz="1650" b="0" dirty="0">
                          <a:solidFill>
                            <a:srgbClr val="66708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, SVD++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 err="1">
                          <a:solidFill>
                            <a:srgbClr val="183B5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PureSVD</a:t>
                      </a:r>
                      <a:endParaRPr sz="1650" b="1" dirty="0">
                        <a:solidFill>
                          <a:srgbClr val="183B56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78">
            <a:extLst>
              <a:ext uri="{FF2B5EF4-FFF2-40B4-BE49-F238E27FC236}">
                <a16:creationId xmlns:a16="http://schemas.microsoft.com/office/drawing/2014/main" id="{021AC3E2-E788-4025-B054-F4104FB49800}"/>
              </a:ext>
            </a:extLst>
          </p:cNvPr>
          <p:cNvSpPr>
            <a:spLocks noGrp="1"/>
          </p:cNvSpPr>
          <p:nvPr/>
        </p:nvSpPr>
        <p:spPr>
          <a:xfrm>
            <a:off x="571500" y="3124200"/>
            <a:ext cx="52101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① Neighborhood model 변형</a:t>
            </a:r>
          </a:p>
        </p:txBody>
      </p:sp>
      <p:sp>
        <p:nvSpPr>
          <p:cNvPr id="6" name="text-79">
            <a:extLst>
              <a:ext uri="{FF2B5EF4-FFF2-40B4-BE49-F238E27FC236}">
                <a16:creationId xmlns:a16="http://schemas.microsoft.com/office/drawing/2014/main" id="{C2552A5C-995C-4FBC-8D57-6417FA27222A}"/>
              </a:ext>
            </a:extLst>
          </p:cNvPr>
          <p:cNvSpPr>
            <a:spLocks noGrp="1"/>
          </p:cNvSpPr>
          <p:nvPr/>
        </p:nvSpPr>
        <p:spPr>
          <a:xfrm>
            <a:off x="6543675" y="3124200"/>
            <a:ext cx="50673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② Latent Factor model 변형</a:t>
            </a:r>
          </a:p>
        </p:txBody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F98E116A-7D2C-43F9-9AA8-9EBE97221407}"/>
              </a:ext>
            </a:extLst>
          </p:cNvPr>
          <p:cNvSpPr>
            <a:spLocks noGrp="1"/>
          </p:cNvSpPr>
          <p:nvPr/>
        </p:nvSpPr>
        <p:spPr>
          <a:xfrm>
            <a:off x="6086475" y="3152775"/>
            <a:ext cx="0" cy="2447925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-80">
            <a:extLst>
              <a:ext uri="{FF2B5EF4-FFF2-40B4-BE49-F238E27FC236}">
                <a16:creationId xmlns:a16="http://schemas.microsoft.com/office/drawing/2014/main" id="{64544FA0-D747-40A6-8794-544025F6F239}"/>
              </a:ext>
            </a:extLst>
          </p:cNvPr>
          <p:cNvSpPr>
            <a:spLocks noGrp="1"/>
          </p:cNvSpPr>
          <p:nvPr/>
        </p:nvSpPr>
        <p:spPr>
          <a:xfrm>
            <a:off x="571500" y="365760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1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CorNgbr</a:t>
            </a:r>
          </a:p>
        </p:txBody>
      </p:sp>
      <p:sp>
        <p:nvSpPr>
          <p:cNvPr id="9" name="text-81">
            <a:extLst>
              <a:ext uri="{FF2B5EF4-FFF2-40B4-BE49-F238E27FC236}">
                <a16:creationId xmlns:a16="http://schemas.microsoft.com/office/drawing/2014/main" id="{677A6F06-91BD-41C6-90F3-F949F3890977}"/>
              </a:ext>
            </a:extLst>
          </p:cNvPr>
          <p:cNvSpPr>
            <a:spLocks noGrp="1"/>
          </p:cNvSpPr>
          <p:nvPr/>
        </p:nvSpPr>
        <p:spPr>
          <a:xfrm>
            <a:off x="571500" y="3990975"/>
            <a:ext cx="5286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정확한 rating prediction</a:t>
            </a:r>
          </a:p>
        </p:txBody>
      </p:sp>
      <p:sp>
        <p:nvSpPr>
          <p:cNvPr id="10" name="text-82">
            <a:extLst>
              <a:ext uri="{FF2B5EF4-FFF2-40B4-BE49-F238E27FC236}">
                <a16:creationId xmlns:a16="http://schemas.microsoft.com/office/drawing/2014/main" id="{5691C953-DECA-412E-8492-80225F5D2FE4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1" name="text-83">
            <a:extLst>
              <a:ext uri="{FF2B5EF4-FFF2-40B4-BE49-F238E27FC236}">
                <a16:creationId xmlns:a16="http://schemas.microsoft.com/office/drawing/2014/main" id="{35F727FA-5152-44F8-8F69-F7DB3E1F007C}"/>
              </a:ext>
            </a:extLst>
          </p:cNvPr>
          <p:cNvSpPr>
            <a:spLocks noGrp="1"/>
          </p:cNvSpPr>
          <p:nvPr/>
        </p:nvSpPr>
        <p:spPr>
          <a:xfrm>
            <a:off x="571500" y="4581525"/>
            <a:ext cx="5334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Normalization 제거 + Cosine similarity</a:t>
            </a:r>
          </a:p>
        </p:txBody>
      </p:sp>
      <p:sp>
        <p:nvSpPr>
          <p:cNvPr id="12" name="text-84">
            <a:extLst>
              <a:ext uri="{FF2B5EF4-FFF2-40B4-BE49-F238E27FC236}">
                <a16:creationId xmlns:a16="http://schemas.microsoft.com/office/drawing/2014/main" id="{3A92F54D-8B21-4E85-A8B0-509111ACB824}"/>
              </a:ext>
            </a:extLst>
          </p:cNvPr>
          <p:cNvSpPr>
            <a:spLocks noGrp="1"/>
          </p:cNvSpPr>
          <p:nvPr/>
        </p:nvSpPr>
        <p:spPr>
          <a:xfrm>
            <a:off x="571500" y="4886325"/>
            <a:ext cx="38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3" name="text-85">
            <a:extLst>
              <a:ext uri="{FF2B5EF4-FFF2-40B4-BE49-F238E27FC236}">
                <a16:creationId xmlns:a16="http://schemas.microsoft.com/office/drawing/2014/main" id="{BF85F7EB-4FFD-462D-A474-6E64DE8EF139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95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NNCosNgbr</a:t>
            </a:r>
          </a:p>
        </p:txBody>
      </p:sp>
      <p:sp>
        <p:nvSpPr>
          <p:cNvPr id="14" name="text-86">
            <a:extLst>
              <a:ext uri="{FF2B5EF4-FFF2-40B4-BE49-F238E27FC236}">
                <a16:creationId xmlns:a16="http://schemas.microsoft.com/office/drawing/2014/main" id="{130752DC-AC7A-48CE-A6A2-64881BB3EBFE}"/>
              </a:ext>
            </a:extLst>
          </p:cNvPr>
          <p:cNvSpPr>
            <a:spLocks noGrp="1"/>
          </p:cNvSpPr>
          <p:nvPr/>
        </p:nvSpPr>
        <p:spPr>
          <a:xfrm>
            <a:off x="571500" y="5553075"/>
            <a:ext cx="5334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Top-N ranking에 필요한 association score</a:t>
            </a:r>
          </a:p>
        </p:txBody>
      </p:sp>
      <p:sp>
        <p:nvSpPr>
          <p:cNvPr id="15" name="text-87">
            <a:extLst>
              <a:ext uri="{FF2B5EF4-FFF2-40B4-BE49-F238E27FC236}">
                <a16:creationId xmlns:a16="http://schemas.microsoft.com/office/drawing/2014/main" id="{23405697-1E2D-473D-8772-D8C9B84CFB9D}"/>
              </a:ext>
            </a:extLst>
          </p:cNvPr>
          <p:cNvSpPr>
            <a:spLocks noGrp="1"/>
          </p:cNvSpPr>
          <p:nvPr/>
        </p:nvSpPr>
        <p:spPr>
          <a:xfrm>
            <a:off x="6543675" y="3581400"/>
            <a:ext cx="50768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기존 SVD 계열 → PureSVD</a:t>
            </a: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43675" y="3933994"/>
            <a:ext cx="2266950" cy="590212"/>
          </a:xfrm>
          <a:prstGeom prst="rect">
            <a:avLst/>
          </a:prstGeom>
        </p:spPr>
      </p:pic>
      <p:sp>
        <p:nvSpPr>
          <p:cNvPr id="17" name="text-88">
            <a:extLst>
              <a:ext uri="{FF2B5EF4-FFF2-40B4-BE49-F238E27FC236}">
                <a16:creationId xmlns:a16="http://schemas.microsoft.com/office/drawing/2014/main" id="{A89D95A1-04AC-4127-99C9-A8078327F422}"/>
              </a:ext>
            </a:extLst>
          </p:cNvPr>
          <p:cNvSpPr>
            <a:spLocks noGrp="1"/>
          </p:cNvSpPr>
          <p:nvPr/>
        </p:nvSpPr>
        <p:spPr>
          <a:xfrm>
            <a:off x="6543675" y="4543425"/>
            <a:ext cx="5076825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Missing rating → 0으로 처리</a:t>
            </a:r>
          </a:p>
          <a:p>
            <a:pPr>
              <a:defRPr sz="165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Sparse rating matrix에 conventional SVD</a:t>
            </a:r>
          </a:p>
          <a:p>
            <a:pPr>
              <a:defRPr sz="165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정확한 rating보다 item ranking에 집중</a:t>
            </a:r>
          </a:p>
          <a:p>
            <a:pPr>
              <a:defRPr sz="165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별도의 learning constant tuning이 필요하지 않음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69FEC08-223E-4C02-85C0-B1CB02B33788}"/>
              </a:ext>
            </a:extLst>
          </p:cNvPr>
          <p:cNvSpPr>
            <a:spLocks noGrp="1"/>
          </p:cNvSpPr>
          <p:nvPr/>
        </p:nvSpPr>
        <p:spPr>
          <a:xfrm>
            <a:off x="571500" y="6029325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text-89">
            <a:extLst>
              <a:ext uri="{FF2B5EF4-FFF2-40B4-BE49-F238E27FC236}">
                <a16:creationId xmlns:a16="http://schemas.microsoft.com/office/drawing/2014/main" id="{0C913D49-DD94-4822-A28C-CBEA338B88BF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0668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Top-N에서는 “몇 점인가?”보다 “어떤 item이 더 위인가?”가 중요하다.</a:t>
            </a:r>
          </a:p>
        </p:txBody>
      </p:sp>
    </p:spTree>
    <p:extLst>
      <p:ext uri="{BB962C8B-B14F-4D97-AF65-F5344CB8AC3E}">
        <p14:creationId xmlns:p14="http://schemas.microsoft.com/office/powerpoint/2010/main" val="42684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65950694-2024-4A0B-965D-2583646633AC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6. 결과: Top-N에서는 PureSVD가</a:t>
            </a:r>
          </a:p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가장 높은 성능을 보였다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541C682-CA90-4F54-AE73-DB091DB9E4C4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E32DA56-B431-4975-89C2-885459E81C89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602" y="1666875"/>
            <a:ext cx="4524171" cy="4533900"/>
          </a:xfrm>
          <a:prstGeom prst="rect">
            <a:avLst/>
          </a:prstGeom>
        </p:spPr>
      </p:pic>
      <p:sp>
        <p:nvSpPr>
          <p:cNvPr id="5" name="Recall10-highlight">
            <a:extLst>
              <a:ext uri="{FF2B5EF4-FFF2-40B4-BE49-F238E27FC236}">
                <a16:creationId xmlns:a16="http://schemas.microsoft.com/office/drawing/2014/main" id="{55D21E14-29F4-413F-9579-46AB338E0DEB}"/>
              </a:ext>
            </a:extLst>
          </p:cNvPr>
          <p:cNvSpPr>
            <a:spLocks noGrp="1"/>
          </p:cNvSpPr>
          <p:nvPr/>
        </p:nvSpPr>
        <p:spPr>
          <a:xfrm>
            <a:off x="2943225" y="2724150"/>
            <a:ext cx="171450" cy="171450"/>
          </a:xfrm>
          <a:prstGeom prst="ellipse">
            <a:avLst/>
          </a:prstGeom>
          <a:noFill/>
          <a:ln w="23813">
            <a:solidFill>
              <a:srgbClr val="E9A23B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-90">
            <a:extLst>
              <a:ext uri="{FF2B5EF4-FFF2-40B4-BE49-F238E27FC236}">
                <a16:creationId xmlns:a16="http://schemas.microsoft.com/office/drawing/2014/main" id="{3141560C-A67A-44F1-90A3-B7EE35EC66E4}"/>
              </a:ext>
            </a:extLst>
          </p:cNvPr>
          <p:cNvSpPr>
            <a:spLocks noGrp="1"/>
          </p:cNvSpPr>
          <p:nvPr/>
        </p:nvSpPr>
        <p:spPr>
          <a:xfrm>
            <a:off x="5524500" y="150495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7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Key findings</a:t>
            </a:r>
          </a:p>
        </p:txBody>
      </p:sp>
      <p:sp>
        <p:nvSpPr>
          <p:cNvPr id="7" name="text-91">
            <a:extLst>
              <a:ext uri="{FF2B5EF4-FFF2-40B4-BE49-F238E27FC236}">
                <a16:creationId xmlns:a16="http://schemas.microsoft.com/office/drawing/2014/main" id="{D0641FE0-A81E-49AB-93B8-0FF563E864FA}"/>
              </a:ext>
            </a:extLst>
          </p:cNvPr>
          <p:cNvSpPr>
            <a:spLocks noGrp="1"/>
          </p:cNvSpPr>
          <p:nvPr/>
        </p:nvSpPr>
        <p:spPr>
          <a:xfrm>
            <a:off x="5524500" y="1838325"/>
            <a:ext cx="6096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① PureSVD가 가장 높은 Top-N accuracy</a:t>
            </a:r>
          </a:p>
        </p:txBody>
      </p:sp>
      <p:sp>
        <p:nvSpPr>
          <p:cNvPr id="8" name="text-92">
            <a:extLst>
              <a:ext uri="{FF2B5EF4-FFF2-40B4-BE49-F238E27FC236}">
                <a16:creationId xmlns:a16="http://schemas.microsoft.com/office/drawing/2014/main" id="{9C666BEA-2492-4D62-AED9-3784E41ABB26}"/>
              </a:ext>
            </a:extLst>
          </p:cNvPr>
          <p:cNvSpPr>
            <a:spLocks noGrp="1"/>
          </p:cNvSpPr>
          <p:nvPr/>
        </p:nvSpPr>
        <p:spPr>
          <a:xfrm>
            <a:off x="5524500" y="2238375"/>
            <a:ext cx="609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E9A23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300" b="1" dirty="0">
                <a:solidFill>
                  <a:srgbClr val="E9A23B"/>
                </a:solidFill>
                <a:latin typeface="Noto Sans KR"/>
                <a:ea typeface="Noto Sans KR"/>
                <a:cs typeface="Noto Sans KR"/>
              </a:rPr>
              <a:t>Recall@10 ≈ 0.52</a:t>
            </a:r>
          </a:p>
        </p:txBody>
      </p:sp>
      <p:sp>
        <p:nvSpPr>
          <p:cNvPr id="9" name="text-93">
            <a:extLst>
              <a:ext uri="{FF2B5EF4-FFF2-40B4-BE49-F238E27FC236}">
                <a16:creationId xmlns:a16="http://schemas.microsoft.com/office/drawing/2014/main" id="{7688393C-BFDA-4078-8A7A-910EB510CB68}"/>
              </a:ext>
            </a:extLst>
          </p:cNvPr>
          <p:cNvSpPr>
            <a:spLocks noGrp="1"/>
          </p:cNvSpPr>
          <p:nvPr/>
        </p:nvSpPr>
        <p:spPr>
          <a:xfrm>
            <a:off x="5524500" y="2819400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약 절반의 relevant item을 Top-10 안에 배치.</a:t>
            </a:r>
          </a:p>
        </p:txBody>
      </p:sp>
      <p:sp>
        <p:nvSpPr>
          <p:cNvPr id="11" name="text-94">
            <a:extLst>
              <a:ext uri="{FF2B5EF4-FFF2-40B4-BE49-F238E27FC236}">
                <a16:creationId xmlns:a16="http://schemas.microsoft.com/office/drawing/2014/main" id="{671E1B20-08DA-4E8A-B2DD-68A33F11A405}"/>
              </a:ext>
            </a:extLst>
          </p:cNvPr>
          <p:cNvSpPr>
            <a:spLocks noGrp="1"/>
          </p:cNvSpPr>
          <p:nvPr/>
        </p:nvSpPr>
        <p:spPr>
          <a:xfrm>
            <a:off x="5524500" y="3419475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② RMSE-oriented model보다 높은 성능</a:t>
            </a:r>
          </a:p>
        </p:txBody>
      </p:sp>
      <p:sp>
        <p:nvSpPr>
          <p:cNvPr id="12" name="text-95">
            <a:extLst>
              <a:ext uri="{FF2B5EF4-FFF2-40B4-BE49-F238E27FC236}">
                <a16:creationId xmlns:a16="http://schemas.microsoft.com/office/drawing/2014/main" id="{FB0DEC6C-7C39-4FFE-9C26-1A1AFCB28634}"/>
              </a:ext>
            </a:extLst>
          </p:cNvPr>
          <p:cNvSpPr>
            <a:spLocks noGrp="1"/>
          </p:cNvSpPr>
          <p:nvPr/>
        </p:nvSpPr>
        <p:spPr>
          <a:xfrm>
            <a:off x="5524500" y="3781425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AsySVD: Recall@10 ≈ 0.28</a:t>
            </a:r>
          </a:p>
        </p:txBody>
      </p:sp>
      <p:sp>
        <p:nvSpPr>
          <p:cNvPr id="13" name="text-96">
            <a:extLst>
              <a:ext uri="{FF2B5EF4-FFF2-40B4-BE49-F238E27FC236}">
                <a16:creationId xmlns:a16="http://schemas.microsoft.com/office/drawing/2014/main" id="{F0DE56B1-763F-4B65-BB9B-EFF092752462}"/>
              </a:ext>
            </a:extLst>
          </p:cNvPr>
          <p:cNvSpPr>
            <a:spLocks noGrp="1"/>
          </p:cNvSpPr>
          <p:nvPr/>
        </p:nvSpPr>
        <p:spPr>
          <a:xfrm>
            <a:off x="5524500" y="4133850"/>
            <a:ext cx="6096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즉 낮은 RMSE를 목표로 한 sophisticated model이</a:t>
            </a:r>
          </a:p>
          <a:p>
            <a:pPr>
              <a:defRPr sz="16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65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Top-N에서도 반드시 좋은 것은 아니었다.</a:t>
            </a:r>
          </a:p>
        </p:txBody>
      </p:sp>
      <p:sp>
        <p:nvSpPr>
          <p:cNvPr id="14" name="text-97">
            <a:extLst>
              <a:ext uri="{FF2B5EF4-FFF2-40B4-BE49-F238E27FC236}">
                <a16:creationId xmlns:a16="http://schemas.microsoft.com/office/drawing/2014/main" id="{98ED43C0-28F5-4861-9A08-0F2A05D4EBB9}"/>
              </a:ext>
            </a:extLst>
          </p:cNvPr>
          <p:cNvSpPr>
            <a:spLocks noGrp="1"/>
          </p:cNvSpPr>
          <p:nvPr/>
        </p:nvSpPr>
        <p:spPr>
          <a:xfrm>
            <a:off x="5524500" y="487680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③ 단순한 TopPop도 예상보다 강했다</a:t>
            </a:r>
          </a:p>
        </p:txBody>
      </p:sp>
      <p:sp>
        <p:nvSpPr>
          <p:cNvPr id="15" name="text-98">
            <a:extLst>
              <a:ext uri="{FF2B5EF4-FFF2-40B4-BE49-F238E27FC236}">
                <a16:creationId xmlns:a16="http://schemas.microsoft.com/office/drawing/2014/main" id="{EBB134D6-E016-40B5-94CE-39CE114BC8AF}"/>
              </a:ext>
            </a:extLst>
          </p:cNvPr>
          <p:cNvSpPr>
            <a:spLocks noGrp="1"/>
          </p:cNvSpPr>
          <p:nvPr/>
        </p:nvSpPr>
        <p:spPr>
          <a:xfrm>
            <a:off x="5524500" y="5238750"/>
            <a:ext cx="6096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TopPop ≈ 0.29 ≈ AsySVD</a:t>
            </a:r>
          </a:p>
        </p:txBody>
      </p:sp>
      <p:sp>
        <p:nvSpPr>
          <p:cNvPr id="16" name="text-99">
            <a:extLst>
              <a:ext uri="{FF2B5EF4-FFF2-40B4-BE49-F238E27FC236}">
                <a16:creationId xmlns:a16="http://schemas.microsoft.com/office/drawing/2014/main" id="{3C70AE5C-92A2-4175-8902-0EEF52CBA6A4}"/>
              </a:ext>
            </a:extLst>
          </p:cNvPr>
          <p:cNvSpPr>
            <a:spLocks noGrp="1"/>
          </p:cNvSpPr>
          <p:nvPr/>
        </p:nvSpPr>
        <p:spPr>
          <a:xfrm>
            <a:off x="5524500" y="5629275"/>
            <a:ext cx="609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Long-tail에서도 PureSVD가 최고 성능 유지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49882E3E-152D-4C25-A994-50953C0D0CD9}"/>
              </a:ext>
            </a:extLst>
          </p:cNvPr>
          <p:cNvSpPr>
            <a:spLocks noGrp="1"/>
          </p:cNvSpPr>
          <p:nvPr/>
        </p:nvSpPr>
        <p:spPr>
          <a:xfrm>
            <a:off x="571500" y="6115050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-100">
            <a:extLst>
              <a:ext uri="{FF2B5EF4-FFF2-40B4-BE49-F238E27FC236}">
                <a16:creationId xmlns:a16="http://schemas.microsoft.com/office/drawing/2014/main" id="{97AF7DFF-CD50-45F6-9A89-A875CB2D2A73}"/>
              </a:ext>
            </a:extLst>
          </p:cNvPr>
          <p:cNvSpPr>
            <a:spLocks noGrp="1"/>
          </p:cNvSpPr>
          <p:nvPr/>
        </p:nvSpPr>
        <p:spPr>
          <a:xfrm>
            <a:off x="571500" y="6200775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Top-N recommendation에서는 RMSE 최적화보다 ranking 목적에 맞춘 algorithm이</a:t>
            </a:r>
          </a:p>
          <a:p>
            <a:pPr>
              <a:defRPr sz="157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57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더 높은 accuracy를 보일 수 있었다.</a:t>
            </a:r>
          </a:p>
        </p:txBody>
      </p:sp>
    </p:spTree>
    <p:extLst>
      <p:ext uri="{BB962C8B-B14F-4D97-AF65-F5344CB8AC3E}">
        <p14:creationId xmlns:p14="http://schemas.microsoft.com/office/powerpoint/2010/main" val="58467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>
            <a:extLst>
              <a:ext uri="{FF2B5EF4-FFF2-40B4-BE49-F238E27FC236}">
                <a16:creationId xmlns:a16="http://schemas.microsoft.com/office/drawing/2014/main" id="{E0654EE7-0EAA-4C6E-8C89-4FFDA4651CA5}"/>
              </a:ext>
            </a:extLst>
          </p:cNvPr>
          <p:cNvSpPr>
            <a:spLocks noGrp="1"/>
          </p:cNvSpPr>
          <p:nvPr/>
        </p:nvSpPr>
        <p:spPr>
          <a:xfrm>
            <a:off x="571500" y="3333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30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7. 핵심 정리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032C779B-7C90-462A-8BC1-1E2C6D2E3C38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32E5665-BA7A-4269-8E50-CEBEB1CE3755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5BF9EB55-B1F7-4843-ACAE-303C5FE247FE}"/>
              </a:ext>
            </a:extLst>
          </p:cNvPr>
          <p:cNvSpPr>
            <a:spLocks noGrp="1"/>
          </p:cNvSpPr>
          <p:nvPr/>
        </p:nvSpPr>
        <p:spPr>
          <a:xfrm>
            <a:off x="6086475" y="1562100"/>
            <a:ext cx="0" cy="453390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B4EED748-9A6A-46CA-897E-87F53A41F142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-101">
            <a:extLst>
              <a:ext uri="{FF2B5EF4-FFF2-40B4-BE49-F238E27FC236}">
                <a16:creationId xmlns:a16="http://schemas.microsoft.com/office/drawing/2014/main" id="{A14E0E78-E683-4A52-A7DF-D549A642DEDE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102">
            <a:extLst>
              <a:ext uri="{FF2B5EF4-FFF2-40B4-BE49-F238E27FC236}">
                <a16:creationId xmlns:a16="http://schemas.microsoft.com/office/drawing/2014/main" id="{3EBCC78D-7160-48F4-9D7C-BE9C72815D1F}"/>
              </a:ext>
            </a:extLst>
          </p:cNvPr>
          <p:cNvSpPr>
            <a:spLocks noGrp="1"/>
          </p:cNvSpPr>
          <p:nvPr/>
        </p:nvSpPr>
        <p:spPr>
          <a:xfrm>
            <a:off x="6543675" y="14859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핵심 아이디어</a:t>
            </a:r>
          </a:p>
        </p:txBody>
      </p:sp>
      <p:sp>
        <p:nvSpPr>
          <p:cNvPr id="8" name="text-103">
            <a:extLst>
              <a:ext uri="{FF2B5EF4-FFF2-40B4-BE49-F238E27FC236}">
                <a16:creationId xmlns:a16="http://schemas.microsoft.com/office/drawing/2014/main" id="{2016C2D7-6F83-4238-AA56-935247E1CEF3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509587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Rating prediction 성능이</a:t>
            </a:r>
          </a:p>
          <a:p>
            <a:pPr>
              <a:defRPr sz="21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실제 추천 성능을 대표하는가?</a:t>
            </a:r>
          </a:p>
        </p:txBody>
      </p:sp>
      <p:sp>
        <p:nvSpPr>
          <p:cNvPr id="9" name="text-104">
            <a:extLst>
              <a:ext uri="{FF2B5EF4-FFF2-40B4-BE49-F238E27FC236}">
                <a16:creationId xmlns:a16="http://schemas.microsoft.com/office/drawing/2014/main" id="{35C31288-302F-4ACB-90C2-9F463375B4D2}"/>
              </a:ext>
            </a:extLst>
          </p:cNvPr>
          <p:cNvSpPr>
            <a:spLocks noGrp="1"/>
          </p:cNvSpPr>
          <p:nvPr/>
        </p:nvSpPr>
        <p:spPr>
          <a:xfrm>
            <a:off x="571500" y="3067050"/>
            <a:ext cx="5095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기존 RMSE 중심 평가는 실제 Top-N</a:t>
            </a:r>
          </a:p>
          <a:p>
            <a:pPr>
              <a:defRPr sz="172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72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recommendation과 목적이 다를 수 있음</a:t>
            </a:r>
          </a:p>
        </p:txBody>
      </p:sp>
      <p:sp>
        <p:nvSpPr>
          <p:cNvPr id="10" name="text-105">
            <a:extLst>
              <a:ext uri="{FF2B5EF4-FFF2-40B4-BE49-F238E27FC236}">
                <a16:creationId xmlns:a16="http://schemas.microsoft.com/office/drawing/2014/main" id="{73C7E3B5-19CD-44E0-A507-D9F030FBD2EA}"/>
              </a:ext>
            </a:extLst>
          </p:cNvPr>
          <p:cNvSpPr>
            <a:spLocks noGrp="1"/>
          </p:cNvSpPr>
          <p:nvPr/>
        </p:nvSpPr>
        <p:spPr>
          <a:xfrm>
            <a:off x="6543675" y="2114550"/>
            <a:ext cx="50768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1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Top-N task를 직접 평가</a:t>
            </a:r>
          </a:p>
        </p:txBody>
      </p:sp>
      <p:sp>
        <p:nvSpPr>
          <p:cNvPr id="11" name="text-106">
            <a:extLst>
              <a:ext uri="{FF2B5EF4-FFF2-40B4-BE49-F238E27FC236}">
                <a16:creationId xmlns:a16="http://schemas.microsoft.com/office/drawing/2014/main" id="{B0D597F5-8446-4D03-ACCC-4A057AB56198}"/>
              </a:ext>
            </a:extLst>
          </p:cNvPr>
          <p:cNvSpPr>
            <a:spLocks noGrp="1"/>
          </p:cNvSpPr>
          <p:nvPr/>
        </p:nvSpPr>
        <p:spPr>
          <a:xfrm>
            <a:off x="6543675" y="2809875"/>
            <a:ext cx="5076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Precision·Recall 측정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+ Popular / Long-tail 분리 평가</a:t>
            </a:r>
          </a:p>
        </p:txBody>
      </p:sp>
      <p:sp>
        <p:nvSpPr>
          <p:cNvPr id="12" name="text-107">
            <a:extLst>
              <a:ext uri="{FF2B5EF4-FFF2-40B4-BE49-F238E27FC236}">
                <a16:creationId xmlns:a16="http://schemas.microsoft.com/office/drawing/2014/main" id="{C21DE2AA-3933-4912-BF28-5E704F73FFDC}"/>
              </a:ext>
            </a:extLst>
          </p:cNvPr>
          <p:cNvSpPr>
            <a:spLocks noGrp="1"/>
          </p:cNvSpPr>
          <p:nvPr/>
        </p:nvSpPr>
        <p:spPr>
          <a:xfrm>
            <a:off x="5791200" y="2219325"/>
            <a:ext cx="5048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400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text-108">
            <a:extLst>
              <a:ext uri="{FF2B5EF4-FFF2-40B4-BE49-F238E27FC236}">
                <a16:creationId xmlns:a16="http://schemas.microsoft.com/office/drawing/2014/main" id="{3A7C2421-E2F2-4F67-851F-F4E79C078B01}"/>
              </a:ext>
            </a:extLst>
          </p:cNvPr>
          <p:cNvSpPr>
            <a:spLocks noGrp="1"/>
          </p:cNvSpPr>
          <p:nvPr/>
        </p:nvSpPr>
        <p:spPr>
          <a:xfrm>
            <a:off x="571500" y="4124325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14" name="text-109">
            <a:extLst>
              <a:ext uri="{FF2B5EF4-FFF2-40B4-BE49-F238E27FC236}">
                <a16:creationId xmlns:a16="http://schemas.microsoft.com/office/drawing/2014/main" id="{DF93A260-132B-463E-BBCE-68ABEC4C8007}"/>
              </a:ext>
            </a:extLst>
          </p:cNvPr>
          <p:cNvSpPr>
            <a:spLocks noGrp="1"/>
          </p:cNvSpPr>
          <p:nvPr/>
        </p:nvSpPr>
        <p:spPr>
          <a:xfrm>
            <a:off x="6543675" y="4124325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1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325" b="1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시사점</a:t>
            </a:r>
          </a:p>
        </p:txBody>
      </p:sp>
      <p:sp>
        <p:nvSpPr>
          <p:cNvPr id="15" name="text-110">
            <a:extLst>
              <a:ext uri="{FF2B5EF4-FFF2-40B4-BE49-F238E27FC236}">
                <a16:creationId xmlns:a16="http://schemas.microsoft.com/office/drawing/2014/main" id="{51D351FB-E302-49ED-96F7-3BACEB918323}"/>
              </a:ext>
            </a:extLst>
          </p:cNvPr>
          <p:cNvSpPr>
            <a:spLocks noGrp="1"/>
          </p:cNvSpPr>
          <p:nvPr/>
        </p:nvSpPr>
        <p:spPr>
          <a:xfrm>
            <a:off x="571500" y="4724400"/>
            <a:ext cx="50958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0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평가 기준에 따라</a:t>
            </a:r>
          </a:p>
          <a:p>
            <a:pPr>
              <a:defRPr sz="20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0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algorithm의 성능 양상이 달라짐</a:t>
            </a:r>
          </a:p>
        </p:txBody>
      </p:sp>
      <p:sp>
        <p:nvSpPr>
          <p:cNvPr id="16" name="text-111">
            <a:extLst>
              <a:ext uri="{FF2B5EF4-FFF2-40B4-BE49-F238E27FC236}">
                <a16:creationId xmlns:a16="http://schemas.microsoft.com/office/drawing/2014/main" id="{BF180CE3-65F0-4C0E-B264-2866F0E0E9AE}"/>
              </a:ext>
            </a:extLst>
          </p:cNvPr>
          <p:cNvSpPr>
            <a:spLocks noGrp="1"/>
          </p:cNvSpPr>
          <p:nvPr/>
        </p:nvSpPr>
        <p:spPr>
          <a:xfrm>
            <a:off x="571500" y="5600700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PureSVD가 높은 Top-N 성능,</a:t>
            </a:r>
          </a:p>
          <a:p>
            <a:pPr>
              <a:defRPr sz="1800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00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Popular item 포함 시 TopPop도 강세</a:t>
            </a:r>
          </a:p>
        </p:txBody>
      </p:sp>
      <p:sp>
        <p:nvSpPr>
          <p:cNvPr id="17" name="text-112">
            <a:extLst>
              <a:ext uri="{FF2B5EF4-FFF2-40B4-BE49-F238E27FC236}">
                <a16:creationId xmlns:a16="http://schemas.microsoft.com/office/drawing/2014/main" id="{D18F7E34-39CF-4B1F-8B23-CD6C60ED8310}"/>
              </a:ext>
            </a:extLst>
          </p:cNvPr>
          <p:cNvSpPr>
            <a:spLocks noGrp="1"/>
          </p:cNvSpPr>
          <p:nvPr/>
        </p:nvSpPr>
        <p:spPr>
          <a:xfrm>
            <a:off x="6543675" y="4724400"/>
            <a:ext cx="50768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025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Task와 metric을 일치시켜야 함</a:t>
            </a:r>
          </a:p>
        </p:txBody>
      </p:sp>
      <p:sp>
        <p:nvSpPr>
          <p:cNvPr id="18" name="text-113">
            <a:extLst>
              <a:ext uri="{FF2B5EF4-FFF2-40B4-BE49-F238E27FC236}">
                <a16:creationId xmlns:a16="http://schemas.microsoft.com/office/drawing/2014/main" id="{5FC8F443-216C-4A1A-8052-7E228854CBD8}"/>
              </a:ext>
            </a:extLst>
          </p:cNvPr>
          <p:cNvSpPr>
            <a:spLocks noGrp="1"/>
          </p:cNvSpPr>
          <p:nvPr/>
        </p:nvSpPr>
        <p:spPr>
          <a:xfrm>
            <a:off x="6543675" y="5486400"/>
            <a:ext cx="50768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낮은 RMSE ≠ 높은 Top-N accuracy,</a:t>
            </a:r>
          </a:p>
          <a:p>
            <a:pPr>
              <a:defRPr sz="1875" b="0">
                <a:solidFill>
                  <a:srgbClr val="17212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875" b="0" dirty="0">
                <a:solidFill>
                  <a:srgbClr val="17212B"/>
                </a:solidFill>
                <a:latin typeface="Noto Sans KR"/>
                <a:ea typeface="Noto Sans KR"/>
                <a:cs typeface="Noto Sans KR"/>
              </a:rPr>
              <a:t>test set 구성도 중요</a:t>
            </a:r>
          </a:p>
        </p:txBody>
      </p:sp>
      <p:sp>
        <p:nvSpPr>
          <p:cNvPr id="19" name="text-114">
            <a:extLst>
              <a:ext uri="{FF2B5EF4-FFF2-40B4-BE49-F238E27FC236}">
                <a16:creationId xmlns:a16="http://schemas.microsoft.com/office/drawing/2014/main" id="{1F1108F3-7371-4B82-A3D7-223C67A049B7}"/>
              </a:ext>
            </a:extLst>
          </p:cNvPr>
          <p:cNvSpPr>
            <a:spLocks noGrp="1"/>
          </p:cNvSpPr>
          <p:nvPr/>
        </p:nvSpPr>
        <p:spPr>
          <a:xfrm>
            <a:off x="5791200" y="4905375"/>
            <a:ext cx="5048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F669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400" b="0" dirty="0">
                <a:solidFill>
                  <a:srgbClr val="2F669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1268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">
            <a:extLst>
              <a:ext uri="{FF2B5EF4-FFF2-40B4-BE49-F238E27FC236}">
                <a16:creationId xmlns:a16="http://schemas.microsoft.com/office/drawing/2014/main" id="{0439FC6D-4A60-4790-9957-87CFE2D8536E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1200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2" name="text-115">
            <a:extLst>
              <a:ext uri="{FF2B5EF4-FFF2-40B4-BE49-F238E27FC236}">
                <a16:creationId xmlns:a16="http://schemas.microsoft.com/office/drawing/2014/main" id="{587662B6-7BA2-49C2-A66C-86DA0BBBA231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110490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183B5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5100" b="1" dirty="0">
                <a:solidFill>
                  <a:srgbClr val="183B56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1991A5D-C3AD-45CC-BEFC-475F9AED36C9}"/>
              </a:ext>
            </a:extLst>
          </p:cNvPr>
          <p:cNvSpPr>
            <a:spLocks noGrp="1"/>
          </p:cNvSpPr>
          <p:nvPr/>
        </p:nvSpPr>
        <p:spPr>
          <a:xfrm>
            <a:off x="571500" y="3886200"/>
            <a:ext cx="11049000" cy="0"/>
          </a:xfrm>
          <a:prstGeom prst="line">
            <a:avLst/>
          </a:prstGeom>
          <a:noFill/>
          <a:ln w="19050">
            <a:solidFill>
              <a:srgbClr val="2F6690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-116">
            <a:extLst>
              <a:ext uri="{FF2B5EF4-FFF2-40B4-BE49-F238E27FC236}">
                <a16:creationId xmlns:a16="http://schemas.microsoft.com/office/drawing/2014/main" id="{2BA20386-65B0-42D3-8137-DD06C68F364C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0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리뷰 팀: 닦고조이고기름치자</a:t>
            </a:r>
          </a:p>
          <a:p>
            <a:pPr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sz="2025" b="0" dirty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대상 팀: CREDIT</a:t>
            </a:r>
          </a:p>
        </p:txBody>
      </p:sp>
    </p:spTree>
    <p:extLst>
      <p:ext uri="{BB962C8B-B14F-4D97-AF65-F5344CB8AC3E}">
        <p14:creationId xmlns:p14="http://schemas.microsoft.com/office/powerpoint/2010/main" val="9078542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886</Words>
  <Application>Microsoft Office PowerPoint</Application>
  <DocSecurity>0</DocSecurity>
  <PresentationFormat>와이드스크린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Noto Sans KR</vt:lpstr>
      <vt:lpstr>Calibri</vt:lpstr>
      <vt:lpstr>Cambria Math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Home</cp:lastModifiedBy>
  <cp:revision>2</cp:revision>
  <dcterms:created xsi:type="dcterms:W3CDTF">2026-09-21T17:46:50Z</dcterms:created>
  <dcterms:modified xsi:type="dcterms:W3CDTF">2026-09-21T17:59:41Z</dcterms:modified>
</cp:coreProperties>
</file>