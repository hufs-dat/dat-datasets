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Skeleton F1</c:v>
                </c:pt>
              </c:strCache>
            </c:strRef>
          </c:tx>
          <c:spPr>
            <a:solidFill>
              <a:srgbClr val="14284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8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PC-stable</c:v>
                </c:pt>
                <c:pt idx="1">
                  <c:v>BOSS</c:v>
                </c:pt>
                <c:pt idx="2">
                  <c:v>DirectLiNGAM</c:v>
                </c:pt>
                <c:pt idx="3">
                  <c:v>DAGMA</c:v>
                </c:pt>
                <c:pt idx="4">
                  <c:v>PCMCI+</c:v>
                </c:pt>
                <c:pt idx="5">
                  <c:v>VarLiNGAM</c:v>
                </c:pt>
                <c:pt idx="6">
                  <c:v>DYNOTEARS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0.36</c:v>
                </c:pt>
                <c:pt idx="1">
                  <c:v>0.32800000000000001</c:v>
                </c:pt>
                <c:pt idx="2">
                  <c:v>0.22</c:v>
                </c:pt>
                <c:pt idx="3">
                  <c:v>0.26700000000000002</c:v>
                </c:pt>
                <c:pt idx="4">
                  <c:v>0.32100000000000001</c:v>
                </c:pt>
                <c:pt idx="5">
                  <c:v>0.17499999999999999</c:v>
                </c:pt>
                <c:pt idx="6">
                  <c:v>0.16200000000000001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A7-4C61-99EF-9246CCC218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엄격 Directed F1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8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PC-stable</c:v>
                </c:pt>
                <c:pt idx="1">
                  <c:v>BOSS</c:v>
                </c:pt>
                <c:pt idx="2">
                  <c:v>DirectLiNGAM</c:v>
                </c:pt>
                <c:pt idx="3">
                  <c:v>DAGMA</c:v>
                </c:pt>
                <c:pt idx="4">
                  <c:v>PCMCI+</c:v>
                </c:pt>
                <c:pt idx="5">
                  <c:v>VarLiNGAM</c:v>
                </c:pt>
                <c:pt idx="6">
                  <c:v>DYNOTEARS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0.08</c:v>
                </c:pt>
                <c:pt idx="1">
                  <c:v>0.11899999999999999</c:v>
                </c:pt>
                <c:pt idx="2">
                  <c:v>0.13200000000000001</c:v>
                </c:pt>
                <c:pt idx="3">
                  <c:v>0.08</c:v>
                </c:pt>
                <c:pt idx="4">
                  <c:v>0.123</c:v>
                </c:pt>
                <c:pt idx="5">
                  <c:v>4.3999999999999997E-2</c:v>
                </c:pt>
                <c:pt idx="6">
                  <c:v>5.0999999999999997E-2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A7-4C61-99EF-9246CCC218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587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8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00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닦고조이고기름치자 팀입니다. TEP 공정에서 인과그래프의 어떤 정확도가 개입 추천 성과를 더 잘 설명하는지를 다루는 연구의 중간 진행 상황을 발표드리겠습니다.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복잡한 공정에서는 실제 인과구조를 완전히 알 수 없고, 추정 그래프에는 누락·추가·방향 반전·방향 미정 오류가 남습니다. 같은 오류 수라도 조작변수에서 목표 측정변수로 가는 핵심 경로에 있는지에 따라 영향이 달라질 수 있다는 것이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RQ1은 완료, RQ2는 Task 집합과 GT 구조 정리까지 완료, RQ3는 가설이자 향후 검증 과제입니다. 현재 결과로 어느 지표가 우월하다고 결론 낼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TEP는 Downs &amp; Vogel의 공정 제어 문제, CIPCaD-Bench는 인과구조 발견용 벤치마크와 GT 제공, causRCA는 그래프 정확도가 RCA 성능에 미치는 영향을 분석했습니다. 본 연구는 이를 개입 추천으로 확장합니다.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분산이 0인 X27, X31을 입력과 GT에서 제외했습니다. 이는 두 변수가 공정에서 중요하지 않다는 뜻이 아니라 정상 운전 자료에서 변화가 없었다는 의미입니다.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현재는 SCM 계수 학습에 사용할 입력과 설계 규칙을 확정한 단계입니다. 계수 학습과 Simulator 평가는 아직 수행하지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XMV 9개 × XMEAS 22개 = 198쌍 중 GT에서 방향 경로가 있는 65쌍을 확인했고, 연구자가 변수 유형·공정 구간·경로 길이를 고려해 12개를 선정했습니다. X29→X19에는 제어 과정이 포함되어 실험 시 제어기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 분석은 Linear Additive SCM과 Ridge 회귀입니다. PCMCI+는 같은 시점 순환 때문에 단순 Ridge로는 인과계수 식별 근거가 부족해 학습을 보류했습니다. 비선형 SCM은 추가 분석 후보, 반사실 분석은 현재 범위 밖입니다.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PC-stable은 Skeleton F1이 가장 높고, DirectLiNGAM은 엄격 Directed F1이 가장 높습니다. 연결 유무를 보는지 방향까지 보는지에 따라 최고 알고리즘이 다릅니다. SHD는 연결이 적은 그래프에서 낮게 나올 수 있어 F1과 무작위 그래프 비교를 함께 해석했습니다.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 방향 간선 28개를 제어 루프 10쌍과 공정 흐름 18쌍으로 나눠 무작위 그래프와 비교했습니다. 이는 구조 추정 성능에 대한 평가이며 복구·안전 성과는 별도 검증이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실패 시에도 조건과 원인을 기록합니다. 같은 그래프를 여러 Task에 쓰고 Task들이 경로를 공유하므로 결과를 독립 사례로 취급하지 않으며, 그래프가 7개뿐이라는 제한도 함께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승인된 실제 날짜별 일정이 없어 수행 순서와 완료 기준으로 제시했습니다.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결과는 RQ1 중심이며, RQ3의 결론은 SCM 학습과 Simulator 평가 이후에 가능합니다.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87"/>
                </a:solidFill>
              </a:rPr>
              <a:t>DAT 8기 · 닦고조이고기름치자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33A"/>
                </a:solidFill>
              </a:rPr>
              <a:t>DAT 8기 캡스톤 프로젝트 중간발표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TEP 제조공정 인과구조 기반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개입 추천 연구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</a:rPr>
              <a:t>구조 평가와 SCM 연결 설계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닦고조이고기름치자  |  오성민 · 황주희 · 정창민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2026. 10. 07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1660"/>
            <a:ext cx="457200" cy="45720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51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459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B2438"/>
                </a:solidFill>
              </a:rPr>
              <a:t>연구</a:t>
            </a:r>
            <a:r>
              <a:rPr lang="en-US" sz="2000" b="1" dirty="0">
                <a:solidFill>
                  <a:srgbClr val="1B2438"/>
                </a:solidFill>
              </a:rPr>
              <a:t> </a:t>
            </a:r>
            <a:r>
              <a:rPr lang="en-US" sz="2000" b="1" dirty="0" err="1">
                <a:solidFill>
                  <a:srgbClr val="1B2438"/>
                </a:solidFill>
              </a:rPr>
              <a:t>배경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48940"/>
            <a:ext cx="457200" cy="45720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B2438"/>
                </a:solidFill>
              </a:rPr>
              <a:t>연구</a:t>
            </a:r>
            <a:r>
              <a:rPr lang="en-US" sz="2000" b="1" dirty="0">
                <a:solidFill>
                  <a:srgbClr val="1B2438"/>
                </a:solidFill>
              </a:rPr>
              <a:t> </a:t>
            </a:r>
            <a:r>
              <a:rPr lang="en-US" sz="2000" b="1" dirty="0" err="1">
                <a:solidFill>
                  <a:srgbClr val="1B2438"/>
                </a:solidFill>
              </a:rPr>
              <a:t>목적</a:t>
            </a:r>
            <a:r>
              <a:rPr lang="en-US" sz="2000" b="1" dirty="0">
                <a:solidFill>
                  <a:srgbClr val="1B2438"/>
                </a:solidFill>
              </a:rPr>
              <a:t> 및 </a:t>
            </a:r>
            <a:r>
              <a:rPr lang="en-US" sz="2000" b="1" dirty="0" err="1">
                <a:solidFill>
                  <a:srgbClr val="1B2438"/>
                </a:solidFill>
              </a:rPr>
              <a:t>연구</a:t>
            </a:r>
            <a:r>
              <a:rPr lang="en-US" sz="2000" b="1" dirty="0">
                <a:solidFill>
                  <a:srgbClr val="1B2438"/>
                </a:solidFill>
              </a:rPr>
              <a:t> 질문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046220"/>
            <a:ext cx="457200" cy="45720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404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8"/>
                </a:solidFill>
              </a:rPr>
              <a:t>선행연구 분석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143500"/>
            <a:ext cx="457200" cy="45720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14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937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8"/>
                </a:solidFill>
              </a:rPr>
              <a:t>조사 및 분석 데이터 소개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851660"/>
            <a:ext cx="457200" cy="45720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851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6459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8"/>
                </a:solidFill>
              </a:rPr>
              <a:t>연구 모형 설계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948940"/>
            <a:ext cx="457200" cy="45720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8"/>
                </a:solidFill>
              </a:rPr>
              <a:t>중간 분석 결과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17920" y="38404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046220"/>
            <a:ext cx="457200" cy="45720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8404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8"/>
                </a:solidFill>
              </a:rPr>
              <a:t>남은 과제 및 보완 방향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5143500"/>
            <a:ext cx="457200" cy="45720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514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937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8"/>
                </a:solidFill>
              </a:rPr>
              <a:t>추진 일정</a:t>
            </a:r>
            <a:endParaRPr lang="en-US" sz="2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연구 배경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그래프 전체 정확도만으로 개입 결과를 알 수 있을까?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64592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6FA3"/>
                </a:solidFill>
              </a:rPr>
              <a:t>일반적인 구조 평가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8"/>
                </a:solidFill>
              </a:rPr>
              <a:t>Skeleton F1, Directed F1, SHD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8"/>
                </a:solidFill>
              </a:rPr>
              <a:t>그래프 전체의 정확도를 요약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8"/>
                </a:solidFill>
              </a:rPr>
              <a:t>오류가 어디에 있는지는 구분하지 않음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553D"/>
                </a:solidFill>
              </a:rPr>
              <a:t>개입 의사결정에서 중요한 것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377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8"/>
                </a:solidFill>
              </a:rPr>
              <a:t>조작변수(Action)에서 목표 측정변수(Target)로 가는 경로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438"/>
                </a:solidFill>
              </a:rPr>
              <a:t>오류가 핵심 경로에 있는지에 따라 추천과 복구 결과가 달라질 가능성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484632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48463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TEP에서 전체 그래프 정확도 vs Task 관련 구조 정확도를 구분해 </a:t>
            </a:r>
            <a:r>
              <a:rPr lang="en-US" sz="1800" b="1" dirty="0" err="1">
                <a:solidFill>
                  <a:srgbClr val="FFFFFF"/>
                </a:solidFill>
              </a:rPr>
              <a:t>평가하고</a:t>
            </a:r>
            <a:r>
              <a:rPr lang="en-US" sz="1800" b="1" dirty="0">
                <a:solidFill>
                  <a:srgbClr val="FFFFFF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</a:rPr>
              <a:t>어느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sz="1800" b="1" dirty="0" err="1">
                <a:solidFill>
                  <a:srgbClr val="FFFFFF"/>
                </a:solidFill>
              </a:rPr>
              <a:t>쪽이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sz="1800" b="1" dirty="0" err="1">
                <a:solidFill>
                  <a:srgbClr val="FFFFFF"/>
                </a:solidFill>
              </a:rPr>
              <a:t>복구</a:t>
            </a:r>
            <a:r>
              <a:rPr lang="en-US" sz="1800" b="1" dirty="0">
                <a:solidFill>
                  <a:srgbClr val="FFFFFF"/>
                </a:solidFill>
              </a:rPr>
              <a:t>(Recovery)·</a:t>
            </a:r>
            <a:r>
              <a:rPr lang="en-US" sz="1800" b="1" dirty="0" err="1">
                <a:solidFill>
                  <a:srgbClr val="FFFFFF"/>
                </a:solidFill>
              </a:rPr>
              <a:t>안전</a:t>
            </a:r>
            <a:r>
              <a:rPr lang="en-US" sz="1800" b="1" dirty="0">
                <a:solidFill>
                  <a:srgbClr val="FFFFFF"/>
                </a:solidFill>
              </a:rPr>
              <a:t>(Safety) 성과와 더 밀접한지 검증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연구 목적 및 연구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연구 질문: 어느 구조 정확도가 성과를 더 잘 설명하는가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84B"/>
                </a:solidFill>
              </a:rPr>
              <a:t>RQ1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64592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1B2438"/>
                </a:solidFill>
              </a:rPr>
              <a:t>일곱</a:t>
            </a:r>
            <a:r>
              <a:rPr lang="en-US" sz="1800" dirty="0">
                <a:solidFill>
                  <a:srgbClr val="1B2438"/>
                </a:solidFill>
              </a:rPr>
              <a:t> </a:t>
            </a:r>
            <a:r>
              <a:rPr lang="ko-KR" altLang="en-US" sz="1800" dirty="0">
                <a:solidFill>
                  <a:srgbClr val="1B2438"/>
                </a:solidFill>
              </a:rPr>
              <a:t>개의</a:t>
            </a:r>
            <a:r>
              <a:rPr lang="en-US" sz="1800" dirty="0">
                <a:solidFill>
                  <a:srgbClr val="1B2438"/>
                </a:solidFill>
              </a:rPr>
              <a:t> causal discovery 알고리즘은 TEP GT의 전체 연결과 방향을 얼마나 복원하는가?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0" y="187452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완료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1546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84B"/>
                </a:solidFill>
              </a:rPr>
              <a:t>RQ2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315468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438"/>
                </a:solidFill>
              </a:rPr>
              <a:t>고정된 Action–Target Task에 필요한 GT 방향 경로와 관련 구조를 얼마나 복원하는가?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686800" y="33832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3383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8"/>
                </a:solidFill>
              </a:rPr>
              <a:t>Task·GT 구조 정리 완료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438"/>
                </a:solidFill>
              </a:rPr>
              <a:t>최종 점수·해석 후속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6634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84B"/>
                </a:solidFill>
              </a:rPr>
              <a:t>RQ3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46634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438"/>
                </a:solidFill>
              </a:rPr>
              <a:t>전체 그래프 정확도와 Task 관련 구조 정확도 중 어느 것이 SCM 기반 추천의 Recovery·Safety를 더 잘 설명하는가?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686800" y="489204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6B7587"/>
          </a:solidFill>
          <a:ln w="12700">
            <a:solidFill>
              <a:srgbClr val="6B75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4892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향후 </a:t>
            </a:r>
            <a:r>
              <a:rPr lang="en-US" sz="1400" b="1" dirty="0" err="1">
                <a:solidFill>
                  <a:srgbClr val="FFFFFF"/>
                </a:solidFill>
              </a:rPr>
              <a:t>검증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과제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선행연구 분석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선행연구와 본 연구의 위치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</a:rPr>
              <a:t>Downs &amp; Vogel (1993)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</a:rPr>
              <a:t>TEP를 공정 전체의 제어 전략 연구용 화학공정 모사 문제로 제시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</a:rPr>
              <a:t>CIPCaD-Bench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</a:rPr>
              <a:t>TEP 정상 운전 데이터를 인과구조 발견 벤치마크로 재구성, GT 제공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46720" y="16459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</a:rPr>
              <a:t>causRCA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</a:rPr>
              <a:t>추정 그래프의 정확도가 근본 원인 분석(RCA) 성능에 미치는 영향 분석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A"/>
                </a:solidFill>
              </a:rPr>
              <a:t>본 연구의 차별점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그래프 전체 정확도 vs Task(조작변수–목표 측정변수 쌍) 관련 구조 정확도를 구분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추정 그래프 기반 추천 조작을 Simulator에 적용해 복구·안전 성과와의 관계 비교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조사 및 분석 데이터 소개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TEP 정상 운전 데이터와 평가용 GT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284B"/>
                </a:solidFill>
              </a:rPr>
              <a:t>1,499 × 31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587"/>
                </a:solidFill>
              </a:rPr>
              <a:t>정상 운전 행 × 변수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284B"/>
                </a:solidFill>
              </a:rPr>
              <a:t>22 + 9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587"/>
                </a:solidFill>
              </a:rPr>
              <a:t>XMEAS 측정변수 + XMV 조작변수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284B"/>
                </a:solidFill>
              </a:rPr>
              <a:t>28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587"/>
                </a:solidFill>
              </a:rPr>
              <a:t>31×31 GT의 방향 간선 수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FA3"/>
                </a:solidFill>
              </a:rPr>
              <a:t>변수 제외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36576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</a:rPr>
              <a:t>값이 일정한 X27·X31 제거 (33→31</a:t>
            </a:r>
            <a:r>
              <a:rPr lang="ko-KR" altLang="en-US" sz="1500" dirty="0">
                <a:solidFill>
                  <a:srgbClr val="1B2438"/>
                </a:solidFill>
              </a:rPr>
              <a:t>개 </a:t>
            </a:r>
            <a:r>
              <a:rPr lang="en-US" sz="1500" dirty="0" err="1">
                <a:solidFill>
                  <a:srgbClr val="1B2438"/>
                </a:solidFill>
              </a:rPr>
              <a:t>변수</a:t>
            </a:r>
            <a:r>
              <a:rPr lang="en-US" sz="1500" dirty="0">
                <a:solidFill>
                  <a:srgbClr val="1B2438"/>
                </a:solidFill>
              </a:rPr>
              <a:t>), GT도 행·열 제거 후 순서 정렬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793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FA3"/>
                </a:solidFill>
              </a:rPr>
              <a:t>데이터 출처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427939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</a:rPr>
              <a:t>CIPCaD-Bench 공개 CSV와 byte 동일 (SHA-256 대조)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9011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FA3"/>
                </a:solidFill>
              </a:rPr>
              <a:t>시간 순서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490118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</a:rPr>
              <a:t>benchmark 설명을 근거로 행 순서 사용 (3분 간격 보고, raw timestamp 대조 없음)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5229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FA3"/>
                </a:solidFill>
              </a:rPr>
              <a:t>한계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2194560" y="552297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8"/>
                </a:solidFill>
              </a:rPr>
              <a:t>논문 1,500행 vs CSV 1,499행, 원인 미확정 · 임의 보정 없음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연구 모형 설계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연구 모형 설계: 전체 분석 흐름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3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데이터·GT 정렬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88920" y="17373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3A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7개 알고리즘 실행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0" y="17373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6636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3A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전체 구조 평가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69480" y="17373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3A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 선정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09760" y="17373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4692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3A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SCM 구성 검토·설계 확정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FA3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SCM 계수 학습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788920" y="3566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2608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FA3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926080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조작 추천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29200" y="3566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6636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FA3"/>
                </a:solidFill>
              </a:rPr>
              <a:t>8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Simulator 평가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269480" y="3566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0664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FA3"/>
                </a:solidFill>
              </a:rPr>
              <a:t>9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406640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지표 설명력 비교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48640" y="54864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8"/>
                </a:solidFill>
              </a:rPr>
              <a:t>완료 / 설계 확정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108960" y="54864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2F5FA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74720" y="5440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8"/>
                </a:solidFill>
              </a:rPr>
              <a:t>향후 수행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연구 모형 설계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Action–Target 후보: 198쌍에서 대표 12개 선정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284B"/>
                </a:solidFill>
              </a:rPr>
              <a:t>198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103120" y="1645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8"/>
                </a:solidFill>
              </a:rPr>
              <a:t>전체 조합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0175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284B"/>
                </a:solidFill>
              </a:rPr>
              <a:t>65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30175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8"/>
                </a:solidFill>
              </a:rPr>
              <a:t>GT 방향 경로 존재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3891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33A"/>
                </a:solidFill>
              </a:rPr>
              <a:t>12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2103120" y="43891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대표 후보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FA3"/>
                </a:solidFill>
              </a:rPr>
              <a:t>GT 최단 경로 간선 수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23360" y="2103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6052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X23→X22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583680" y="2103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2084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X24→X14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6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144000" y="2103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8116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X25→X6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78992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B7A"/>
                </a:solidFill>
              </a:rPr>
              <a:t>1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023360" y="30175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6052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X25→X7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3017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3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583680" y="30175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2084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X26→X8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3017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B7A"/>
                </a:solidFill>
              </a:rPr>
              <a:t>1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144000" y="30175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8116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X26→X13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0789920" y="3017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6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4023360" y="39319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160520" y="3931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X29→X17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669280" y="3931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2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6583680" y="39319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20840" y="3931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X29→X18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0" y="3931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2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9144000" y="39319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281160" y="3931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X29→X19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0789920" y="3931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4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4023360" y="48463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160520" y="4846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X30→X19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0" y="4846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B7A"/>
                </a:solidFill>
              </a:rPr>
              <a:t>1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6583680" y="48463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720840" y="4846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X32→X7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8229600" y="4846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284B"/>
                </a:solidFill>
              </a:rPr>
              <a:t>2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9144000" y="48463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281160" y="4846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8"/>
                </a:solidFill>
              </a:rPr>
              <a:t>X32→X9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10789920" y="4846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B7A"/>
                </a:solidFill>
              </a:rPr>
              <a:t>1</a:t>
            </a:r>
            <a:endParaRPr lang="en-US" sz="2000" dirty="0"/>
          </a:p>
        </p:txBody>
      </p:sp>
      <p:sp>
        <p:nvSpPr>
          <p:cNvPr id="51" name="Text 48"/>
          <p:cNvSpPr txBox="1"/>
          <p:nvPr/>
        </p:nvSpPr>
        <p:spPr>
          <a:xfrm>
            <a:off x="4023360" y="5806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※ 같은 Action 공유 6쌍 · 같은 Target 공유 2쌍 · 경로 포함 4쌍 → 12개를 독립 사례로 취급 불가 (본실험 Task 미확정)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연구 모형 설계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SCM 구성 및 학습 설정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FA3"/>
                </a:solidFill>
              </a:rPr>
              <a:t>모델 설정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8"/>
                </a:solidFill>
              </a:rPr>
              <a:t>Linear Additive SCM + Ridge 회귀 (alpha는 동일 규칙으로 선택)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8"/>
                </a:solidFill>
              </a:rPr>
              <a:t>표준화 값은 학습 자료에서만 계산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FA3"/>
                </a:solidFill>
              </a:rPr>
              <a:t>그래프 입력 규칙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8"/>
                </a:solidFill>
              </a:rPr>
              <a:t>정적 4종: 방향 확정 간선만 사용, 방향 미정은 제외 (손실 기록)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8"/>
                </a:solidFill>
              </a:rPr>
              <a:t>VarLiNGAM·DYNOTEARS: 원래 시간차 유지, GT로 수정 없음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</a:rPr>
              <a:t>시간 순서 분할 (행 번호 5–1498)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572000"/>
            <a:ext cx="6948277" cy="640080"/>
          </a:xfrm>
          <a:prstGeom prst="rect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6917" y="4572000"/>
            <a:ext cx="1738523" cy="64008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572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학습 1,195행 (5–1199)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496917" y="4572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8"/>
                </a:solidFill>
              </a:rPr>
              <a:t>검증 299행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601200" y="4114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BE9E4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0" y="41148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553D"/>
                </a:solidFill>
              </a:rPr>
              <a:t>PCMCI+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553D"/>
                </a:solidFill>
              </a:rPr>
              <a:t>계수 학습 보류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553D"/>
                </a:solidFill>
              </a:rPr>
              <a:t>(동시 시점 순환)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중간 분석 결과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7개 </a:t>
            </a:r>
            <a:r>
              <a:rPr lang="en-US" sz="3000" b="1" dirty="0" err="1">
                <a:solidFill>
                  <a:srgbClr val="14284B"/>
                </a:solidFill>
              </a:rPr>
              <a:t>알고리즘의</a:t>
            </a:r>
            <a:r>
              <a:rPr lang="en-US" sz="3000" b="1" dirty="0">
                <a:solidFill>
                  <a:srgbClr val="14284B"/>
                </a:solidFill>
              </a:rPr>
              <a:t> </a:t>
            </a:r>
            <a:r>
              <a:rPr lang="en-US" sz="3000" b="1" dirty="0" err="1">
                <a:solidFill>
                  <a:srgbClr val="14284B"/>
                </a:solidFill>
              </a:rPr>
              <a:t>그래프</a:t>
            </a:r>
            <a:r>
              <a:rPr lang="en-US" sz="3000" b="1" dirty="0">
                <a:solidFill>
                  <a:srgbClr val="14284B"/>
                </a:solidFill>
              </a:rPr>
              <a:t> </a:t>
            </a:r>
            <a:r>
              <a:rPr lang="ko-KR" altLang="en-US" sz="3000" b="1" dirty="0">
                <a:solidFill>
                  <a:srgbClr val="14284B"/>
                </a:solidFill>
              </a:rPr>
              <a:t>구조 복원</a:t>
            </a:r>
            <a:r>
              <a:rPr lang="en-US" sz="3000" b="1" dirty="0">
                <a:solidFill>
                  <a:srgbClr val="14284B"/>
                </a:solidFill>
              </a:rPr>
              <a:t> </a:t>
            </a:r>
            <a:r>
              <a:rPr lang="en-US" sz="3000" b="1" dirty="0" err="1">
                <a:solidFill>
                  <a:srgbClr val="14284B"/>
                </a:solidFill>
              </a:rPr>
              <a:t>성능</a:t>
            </a:r>
            <a:r>
              <a:rPr lang="en-US" sz="3000" b="1" dirty="0">
                <a:solidFill>
                  <a:srgbClr val="14284B"/>
                </a:solidFill>
              </a:rPr>
              <a:t> </a:t>
            </a:r>
            <a:r>
              <a:rPr lang="ko-KR" altLang="en-US" sz="3000" b="1" dirty="0">
                <a:solidFill>
                  <a:srgbClr val="14284B"/>
                </a:solidFill>
              </a:rPr>
              <a:t>비교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74066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8229600" y="164592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229600" y="310896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0" y="45720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412480" y="1645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Skeleton F1 최고</a:t>
            </a:r>
            <a:endParaRPr lang="en-US" sz="13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</a:rPr>
              <a:t>PC-stable 0.360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31089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엄격 Directed F1 최고</a:t>
            </a:r>
            <a:endParaRPr lang="en-US" sz="13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</a:rPr>
              <a:t>DirectLiNGAM 0.132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572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엄격 SHD (낮을수록 우수)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8"/>
                </a:solidFill>
              </a:rPr>
              <a:t>PC 39 · BOSS 52 · DAGMA 62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8"/>
                </a:solidFill>
              </a:rPr>
              <a:t>PCMCI+ 63 · DLiNGAM 75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8"/>
                </a:solidFill>
              </a:rPr>
              <a:t>DYNOTEARS 177 · VarLiNGAM 203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중간 분석 결과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제어 루프는 찾았지만, 공정 흐름은 찾지 못했다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7A"/>
                </a:solidFill>
              </a:rPr>
              <a:t>제어 루프 관련 (10쌍)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438"/>
                </a:solidFill>
              </a:rPr>
              <a:t>7개 알고리즘 모두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B2438"/>
                </a:solidFill>
              </a:rPr>
              <a:t>무작위 그래프보다 많이 발견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587"/>
                </a:solidFill>
              </a:rPr>
              <a:t>측정값에 따라 제어기가 조작값을 바꾸고, 그 조작이 다시 측정값에 영향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</a:rPr>
              <a:t>공정 흐름 관련 (18쌍)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438"/>
                </a:solidFill>
              </a:rPr>
              <a:t>어떤 알고리즘도 무작위보다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B2438"/>
                </a:solidFill>
              </a:rPr>
              <a:t>유의하게 많이 발견하지 못함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587"/>
                </a:solidFill>
              </a:rPr>
              <a:t>원료·열 등의 전달에 따라 공정 변수들이 서로 영향을 주는 관계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엄격 Directed F1이 무작위 그래프보다 유의하게 높은 알고리즘: PC-stable · BOSS · DirectLiNGAM · PCMCI+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남은 과제 및 보완 방향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남은 과제 및 보완 방향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</a:rPr>
              <a:t>SCM 계수 학습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8"/>
                </a:solidFill>
              </a:rPr>
              <a:t>정적 4종 + VarLiNGAM·DYNOTEARS. 예측 오차 기록, 실패 원인도 기록. 필요 시 비선형 모델로 보완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</a:rPr>
              <a:t>PCMCI+ 식별 방법 검토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8"/>
                </a:solidFill>
              </a:rPr>
              <a:t>동시 시점 순환의 인과계수 추정을 위한 추가 가정·방법 검토 후 학습 여부 결정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14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</a:rPr>
              <a:t>Simulator 개입 환경 점검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800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8"/>
                </a:solidFill>
              </a:rPr>
              <a:t>이상 주입, 조작 적용(XMV 직접 vs setpoint), 우선순위·지속시간, 정상 범위·안전 한계·복구 기준 사전 확정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4160520"/>
            <a:ext cx="457200" cy="45720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46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114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</a:rPr>
              <a:t>추천 · 평가 · 비교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800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8"/>
                </a:solidFill>
              </a:rPr>
              <a:t>공통 규칙으로 추천 → Simulator 적용 → Recovery·Safety 평가 → Global vs Task 지표 비교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FA3"/>
                </a:solidFill>
              </a:rPr>
              <a:t>추진 일정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</a:rPr>
              <a:t>추진 일정: </a:t>
            </a:r>
            <a:r>
              <a:rPr lang="en-US" sz="3000" b="1" dirty="0" err="1">
                <a:solidFill>
                  <a:srgbClr val="14284B"/>
                </a:solidFill>
              </a:rPr>
              <a:t>수행</a:t>
            </a:r>
            <a:r>
              <a:rPr lang="en-US" sz="3000" b="1" dirty="0">
                <a:solidFill>
                  <a:srgbClr val="14284B"/>
                </a:solidFill>
              </a:rPr>
              <a:t> </a:t>
            </a:r>
            <a:r>
              <a:rPr lang="en-US" sz="3000" b="1" dirty="0" err="1">
                <a:solidFill>
                  <a:srgbClr val="14284B"/>
                </a:solidFill>
              </a:rPr>
              <a:t>순서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05840" y="2606040"/>
            <a:ext cx="10149840" cy="0"/>
          </a:xfrm>
          <a:prstGeom prst="line">
            <a:avLst/>
          </a:prstGeom>
          <a:noFill/>
          <a:ln w="38100">
            <a:solidFill>
              <a:srgbClr val="D5DB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2377440"/>
            <a:ext cx="502920" cy="502920"/>
          </a:xfrm>
          <a:prstGeom prst="ellipse">
            <a:avLst/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329184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</a:rPr>
              <a:t>SCM 계수 학습·적합 점검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43484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6개 그래프, 오차·실패 원인 기록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17520" y="2377440"/>
            <a:ext cx="502920" cy="50292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23160" y="320040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32888" y="329184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</a:rPr>
              <a:t>PCMCI+ 계수 추정 검토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532888" y="443484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가정·방법 확정 또는 보류 유지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92040" y="2377440"/>
            <a:ext cx="502920" cy="50292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97680" y="320040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07408" y="329184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</a:rPr>
              <a:t>Simulator·제어기 확인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407408" y="443484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Fault 주입, XMV 적용, Target 로그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66560" y="2377440"/>
            <a:ext cx="502920" cy="50292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2200" y="320040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81928" y="329184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</a:rPr>
              <a:t>복구·안전 기준 및 Task 확정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81928" y="443484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정상 범위·안전 한계·성공 기준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641080" y="2377440"/>
            <a:ext cx="502920" cy="50292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41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046720" y="320040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56448" y="329184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</a:rPr>
              <a:t>조작 추천·Simulator 평가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156448" y="443484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공통 조건에서 성과·실패 사례 기록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515600" y="2377440"/>
            <a:ext cx="502920" cy="502920"/>
          </a:xfrm>
          <a:prstGeom prst="ellipse">
            <a:avLst/>
          </a:prstGeom>
          <a:solidFill>
            <a:srgbClr val="3E6FA3"/>
          </a:solidFill>
          <a:ln w="12700">
            <a:solidFill>
              <a:srgbClr val="3E6FA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5156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921240" y="320040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030968" y="329184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</a:rPr>
              <a:t>Global vs Task 지표 비교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030968" y="443484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587"/>
                </a:solidFill>
              </a:rPr>
              <a:t>의존성·적은 그래프 수 고려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58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중간 점검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E3B6B"/>
          </a:solidFill>
          <a:ln w="12700">
            <a:solidFill>
              <a:srgbClr val="1E3B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D6C2"/>
                </a:solidFill>
              </a:rPr>
              <a:t>완료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468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데이터·GT 정렬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7개 알고리즘 전체 구조 평가(RQ1)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Task 후보 12개 · SCM 설계 규칙 확정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E3B6B"/>
          </a:solidFill>
          <a:ln w="12700">
            <a:solidFill>
              <a:srgbClr val="1E3B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3A"/>
                </a:solidFill>
              </a:rPr>
              <a:t>진행·보류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68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6개 그래프 SCM 계수 학습 준비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PCMCI+ 식별 방법 검토 필요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E3B6B"/>
          </a:solidFill>
          <a:ln w="12700">
            <a:solidFill>
              <a:srgbClr val="1E3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08E"/>
                </a:solidFill>
              </a:rPr>
              <a:t>미수행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4688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SCM fitting · Simulator 개입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Recovery·Safety 평가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→ 현재 어느 지표가 우월한지 결론 불가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33A"/>
                </a:solidFill>
              </a:rPr>
              <a:t>감사합니다  ·  Q&amp;A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">
  <a:themeElements>
    <a:clrScheme name="DAT">
      <a:dk1>
        <a:srgbClr val="1B2438"/>
      </a:dk1>
      <a:lt1>
        <a:srgbClr val="FFFFFF"/>
      </a:lt1>
      <a:dk2>
        <a:srgbClr val="14284B"/>
      </a:dk2>
      <a:lt2>
        <a:srgbClr val="F2F5FA"/>
      </a:lt2>
      <a:accent1>
        <a:srgbClr val="14284B"/>
      </a:accent1>
      <a:accent2>
        <a:srgbClr val="3E6FA3"/>
      </a:accent2>
      <a:accent3>
        <a:srgbClr val="F2A33A"/>
      </a:accent3>
      <a:accent4>
        <a:srgbClr val="2E8B7A"/>
      </a:accent4>
      <a:accent5>
        <a:srgbClr val="C8553D"/>
      </a:accent5>
      <a:accent6>
        <a:srgbClr val="8A94A6"/>
      </a:accent6>
      <a:hlink>
        <a:srgbClr val="3E6FA3"/>
      </a:hlink>
      <a:folHlink>
        <a:srgbClr val="8A94A6"/>
      </a:folHlink>
    </a:clrScheme>
    <a:fontScheme name="DA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1483</Words>
  <Application>Microsoft Office PowerPoint</Application>
  <PresentationFormat>와이드스크린</PresentationFormat>
  <Paragraphs>254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DAT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TEP 제조공정 인과구조 기반 개입 추천 연구 - 중간발표</dc:title>
  <dc:subject>PptxGenJS Presentation</dc:subject>
  <dc:creator>PptxGenJS</dc:creator>
  <cp:lastModifiedBy>Home</cp:lastModifiedBy>
  <cp:revision>4</cp:revision>
  <dcterms:created xsi:type="dcterms:W3CDTF">2026-10-07T02:16:43Z</dcterms:created>
  <dcterms:modified xsi:type="dcterms:W3CDTF">2026-10-07T02:53:15Z</dcterms:modified>
</cp:coreProperties>
</file>