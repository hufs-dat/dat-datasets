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9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사용자 제공 연구 진행 발표 원고. 수치와 연구 설계는 원고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928349BC-FE29-48AE-9D45-3EF8FDCCDA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 w="9525">
            <a:solidFill>
              <a:srgbClr val="0B1F33"/>
            </a:solidFill>
          </a:ln>
        </p:spPr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DC26B1EE-BD5C-471F-9C6B-5F0F328AF8D0}"/>
              </a:ext>
            </a:extLst>
          </p:cNvPr>
          <p:cNvSpPr>
            <a:spLocks noGrp="1"/>
          </p:cNvSpPr>
          <p:nvPr/>
        </p:nvSpPr>
        <p:spPr>
          <a:xfrm>
            <a:off x="8001000" y="-2095500"/>
            <a:ext cx="5715000" cy="5715000"/>
          </a:xfrm>
          <a:prstGeom prst="arc">
            <a:avLst/>
          </a:prstGeom>
          <a:noFill/>
          <a:ln w="9525">
            <a:solidFill>
              <a:srgbClr val="0F9D8A"/>
            </a:solidFill>
          </a:ln>
        </p:spPr>
      </p:sp>
      <p:sp>
        <p:nvSpPr>
          <p:cNvPr id="3" name="원호 2">
            <a:extLst>
              <a:ext uri="{FF2B5EF4-FFF2-40B4-BE49-F238E27FC236}">
                <a16:creationId xmlns:a16="http://schemas.microsoft.com/office/drawing/2014/main" id="{3581310C-B682-4707-9598-805C54C9BBBF}"/>
              </a:ext>
            </a:extLst>
          </p:cNvPr>
          <p:cNvSpPr>
            <a:spLocks noGrp="1"/>
          </p:cNvSpPr>
          <p:nvPr/>
        </p:nvSpPr>
        <p:spPr>
          <a:xfrm>
            <a:off x="8572500" y="-1524000"/>
            <a:ext cx="4191000" cy="4191000"/>
          </a:xfrm>
          <a:prstGeom prst="arc">
            <a:avLst/>
          </a:prstGeom>
          <a:noFill/>
          <a:ln w="9525">
            <a:solidFill>
              <a:srgbClr val="2D78A8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B3CE69-1AD0-4DE9-8C73-D06BA7EDF062}"/>
              </a:ext>
            </a:extLst>
          </p:cNvPr>
          <p:cNvSpPr>
            <a:spLocks noGrp="1"/>
          </p:cNvSpPr>
          <p:nvPr/>
        </p:nvSpPr>
        <p:spPr>
          <a:xfrm>
            <a:off x="723900" y="78105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algn="l">
              <a:defRPr sz="1350" b="1">
                <a:solidFill>
                  <a:srgbClr val="8FD7CF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8FD7CF"/>
                </a:solidFill>
                <a:latin typeface="SUIT"/>
                <a:ea typeface="SUIT"/>
                <a:cs typeface="SUIT"/>
              </a:rPr>
              <a:t>연구 진행 발표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CB979B-EBA3-433D-8101-FDD9B6692167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7715250" cy="1619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33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인과구조 품질에 따른</a:t>
            </a:r>
          </a:p>
          <a:p>
            <a:pPr algn="l">
              <a:defRPr sz="33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33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제조 공정 개입 추천의 신뢰성 평가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A96B94-5CE3-4D05-A5A5-B7637556E9ED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7239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C9D7E4"/>
                </a:solidFill>
                <a:latin typeface="SUIT"/>
                <a:ea typeface="SUIT"/>
                <a:cs typeface="SUIT"/>
              </a:defRPr>
            </a:pPr>
            <a:r>
              <a:rPr sz="1575" b="0">
                <a:solidFill>
                  <a:srgbClr val="C9D7E4"/>
                </a:solidFill>
                <a:latin typeface="SUIT"/>
                <a:ea typeface="SUIT"/>
                <a:cs typeface="SUIT"/>
              </a:rPr>
              <a:t>전체 그래프 정확도와 의사결정 핵심 경로 정확도의 비교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F3073C-80B1-4B19-8D52-D4DD890DF19A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1238250" cy="38100"/>
          </a:xfrm>
          <a:prstGeom prst="rect">
            <a:avLst/>
          </a:prstGeom>
          <a:solidFill>
            <a:srgbClr val="0F9D8A"/>
          </a:solidFill>
          <a:ln w="9525">
            <a:solidFill>
              <a:srgbClr val="0F9D8A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582FCA-AB9C-4490-BD2E-1C049D97F281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 algn="l">
              <a:defRPr sz="15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5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닦고조이고기름치자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0912D9-9579-48C7-A296-12E4F5081BAA}"/>
              </a:ext>
            </a:extLst>
          </p:cNvPr>
          <p:cNvSpPr>
            <a:spLocks noGrp="1"/>
          </p:cNvSpPr>
          <p:nvPr/>
        </p:nvSpPr>
        <p:spPr>
          <a:xfrm>
            <a:off x="762000" y="5067300"/>
            <a:ext cx="3714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294"/>
          </a:bodyPr>
          <a:lstStyle/>
          <a:p>
            <a:pPr algn="l">
              <a:defRPr sz="1275" b="0">
                <a:solidFill>
                  <a:srgbClr val="C9D7E4"/>
                </a:solidFill>
                <a:latin typeface="SUIT"/>
                <a:ea typeface="SUIT"/>
                <a:cs typeface="SUIT"/>
              </a:defRPr>
            </a:pPr>
            <a:r>
              <a:rPr sz="1275" b="0">
                <a:solidFill>
                  <a:srgbClr val="C9D7E4"/>
                </a:solidFill>
                <a:latin typeface="SUIT"/>
                <a:ea typeface="SUIT"/>
                <a:cs typeface="SUIT"/>
              </a:rPr>
              <a:t>오성민 · 황주희 · 정창민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F1F9DB-4324-42CA-822A-E32E01CB455C}"/>
              </a:ext>
            </a:extLst>
          </p:cNvPr>
          <p:cNvSpPr>
            <a:spLocks noGrp="1"/>
          </p:cNvSpPr>
          <p:nvPr/>
        </p:nvSpPr>
        <p:spPr>
          <a:xfrm>
            <a:off x="762000" y="6019800"/>
            <a:ext cx="1714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 algn="l">
              <a:defRPr sz="975" b="0">
                <a:solidFill>
                  <a:srgbClr val="8FA8BA"/>
                </a:solidFill>
                <a:latin typeface="SUIT"/>
                <a:ea typeface="SUIT"/>
                <a:cs typeface="SUIT"/>
              </a:defRPr>
            </a:pPr>
            <a:r>
              <a:rPr sz="975" b="0">
                <a:solidFill>
                  <a:srgbClr val="8FA8BA"/>
                </a:solidFill>
                <a:latin typeface="SUIT"/>
                <a:ea typeface="SUIT"/>
                <a:cs typeface="SUIT"/>
              </a:rPr>
              <a:t>2026. 09</a:t>
            </a:r>
          </a:p>
        </p:txBody>
      </p:sp>
    </p:spTree>
    <p:extLst>
      <p:ext uri="{BB962C8B-B14F-4D97-AF65-F5344CB8AC3E}">
        <p14:creationId xmlns:p14="http://schemas.microsoft.com/office/powerpoint/2010/main" val="1893416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63F2626-07BA-4E80-B2C9-B74D1D7451A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9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02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202B3B-402E-4616-BB32-A527E5D57739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왜 “전체 정답률”만으로는 부족할 수 있는가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4BFAA7-38E6-47AB-8104-1C77CF0087A6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125" b="0">
                <a:solidFill>
                  <a:srgbClr val="617082"/>
                </a:solidFill>
                <a:latin typeface="SUIT"/>
                <a:ea typeface="SUIT"/>
                <a:cs typeface="SUIT"/>
              </a:rPr>
              <a:t>제조공정의 목적은 그래프를 맞히는 일이 아니라, 이상 공정을 안전하게 복구하는 일이다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9C123F-CE90-49F1-AF7F-CD015E8ABDDA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19050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A2C887C-3B1D-4627-A0C6-A0A4D29F36EA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194"/>
          </a:bodyPr>
          <a:lstStyle/>
          <a:p>
            <a:pPr algn="l">
              <a:defRPr sz="1800" b="1">
                <a:solidFill>
                  <a:srgbClr val="C94E4E"/>
                </a:solidFill>
                <a:latin typeface="SUIT"/>
                <a:ea typeface="SUIT"/>
                <a:cs typeface="SUIT"/>
              </a:defRPr>
            </a:pPr>
            <a:r>
              <a:rPr sz="1800" b="1">
                <a:solidFill>
                  <a:srgbClr val="C94E4E"/>
                </a:solidFill>
                <a:latin typeface="SUIT"/>
                <a:ea typeface="SUIT"/>
                <a:cs typeface="SUIT"/>
              </a:rPr>
              <a:t>공정 이상 발생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A72697C-A9A0-48E1-956E-39F208AF11BC}"/>
              </a:ext>
            </a:extLst>
          </p:cNvPr>
          <p:cNvSpPr>
            <a:spLocks noGrp="1"/>
          </p:cNvSpPr>
          <p:nvPr/>
        </p:nvSpPr>
        <p:spPr>
          <a:xfrm>
            <a:off x="1047750" y="2714625"/>
            <a:ext cx="1428750" cy="628650"/>
          </a:xfrm>
          <a:prstGeom prst="roundRect">
            <a:avLst>
              <a:gd name="adj" fmla="val 12121"/>
            </a:avLst>
          </a:prstGeom>
          <a:solidFill>
            <a:srgbClr val="0F9D8A"/>
          </a:solidFill>
          <a:ln w="9525">
            <a:solidFill>
              <a:srgbClr val="0F9D8A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0823E6-87A8-49CA-9EAE-9BBAB512AB67}"/>
              </a:ext>
            </a:extLst>
          </p:cNvPr>
          <p:cNvSpPr>
            <a:spLocks noGrp="1"/>
          </p:cNvSpPr>
          <p:nvPr/>
        </p:nvSpPr>
        <p:spPr>
          <a:xfrm>
            <a:off x="1143000" y="2828925"/>
            <a:ext cx="12382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조작변수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C972CD75-E6A0-4C40-AA0F-E1A90E7AFA06}"/>
              </a:ext>
            </a:extLst>
          </p:cNvPr>
          <p:cNvSpPr>
            <a:spLocks noGrp="1"/>
          </p:cNvSpPr>
          <p:nvPr/>
        </p:nvSpPr>
        <p:spPr>
          <a:xfrm>
            <a:off x="2571750" y="2924175"/>
            <a:ext cx="43815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6A737BE-754F-4414-A4B8-C6C5FE5D8F14}"/>
              </a:ext>
            </a:extLst>
          </p:cNvPr>
          <p:cNvSpPr>
            <a:spLocks noGrp="1"/>
          </p:cNvSpPr>
          <p:nvPr/>
        </p:nvSpPr>
        <p:spPr>
          <a:xfrm>
            <a:off x="3143250" y="2714625"/>
            <a:ext cx="1714500" cy="628650"/>
          </a:xfrm>
          <a:prstGeom prst="roundRect">
            <a:avLst>
              <a:gd name="adj" fmla="val 12121"/>
            </a:avLst>
          </a:prstGeom>
          <a:solidFill>
            <a:srgbClr val="F19A3E"/>
          </a:solidFill>
          <a:ln w="9525">
            <a:solidFill>
              <a:srgbClr val="F19A3E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549368-18DB-49A7-8724-334B3F1BB076}"/>
              </a:ext>
            </a:extLst>
          </p:cNvPr>
          <p:cNvSpPr>
            <a:spLocks noGrp="1"/>
          </p:cNvSpPr>
          <p:nvPr/>
        </p:nvSpPr>
        <p:spPr>
          <a:xfrm>
            <a:off x="3238500" y="2828925"/>
            <a:ext cx="1524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핵심 공정변수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FCD8886A-452A-4BBC-98D3-E3C8FA07B90B}"/>
              </a:ext>
            </a:extLst>
          </p:cNvPr>
          <p:cNvSpPr>
            <a:spLocks noGrp="1"/>
          </p:cNvSpPr>
          <p:nvPr/>
        </p:nvSpPr>
        <p:spPr>
          <a:xfrm>
            <a:off x="4953000" y="2924175"/>
            <a:ext cx="43815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0C29883-A307-472D-9E24-99D6B0B270A6}"/>
              </a:ext>
            </a:extLst>
          </p:cNvPr>
          <p:cNvSpPr>
            <a:spLocks noGrp="1"/>
          </p:cNvSpPr>
          <p:nvPr/>
        </p:nvSpPr>
        <p:spPr>
          <a:xfrm>
            <a:off x="5524500" y="2714625"/>
            <a:ext cx="1428750" cy="628650"/>
          </a:xfrm>
          <a:prstGeom prst="roundRect">
            <a:avLst>
              <a:gd name="adj" fmla="val 12121"/>
            </a:avLst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4B21AC-B014-4076-B884-1D00718AB8FA}"/>
              </a:ext>
            </a:extLst>
          </p:cNvPr>
          <p:cNvSpPr>
            <a:spLocks noGrp="1"/>
          </p:cNvSpPr>
          <p:nvPr/>
        </p:nvSpPr>
        <p:spPr>
          <a:xfrm>
            <a:off x="5619750" y="2828925"/>
            <a:ext cx="12382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목표변수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D95F954-5DFB-4F86-AA3F-61ED493FE7A2}"/>
              </a:ext>
            </a:extLst>
          </p:cNvPr>
          <p:cNvSpPr>
            <a:spLocks noGrp="1"/>
          </p:cNvSpPr>
          <p:nvPr/>
        </p:nvSpPr>
        <p:spPr>
          <a:xfrm>
            <a:off x="7429500" y="2095500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7544"/>
          </a:bodyPr>
          <a:lstStyle/>
          <a:p>
            <a:pPr algn="l">
              <a:defRPr sz="1425" b="1">
                <a:solidFill>
                  <a:srgbClr val="C94E4E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C94E4E"/>
                </a:solidFill>
                <a:latin typeface="SUIT"/>
                <a:ea typeface="SUIT"/>
                <a:cs typeface="SUIT"/>
              </a:rPr>
              <a:t>Graph A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6B28AC-F72E-4AA6-B5EE-F6B41EE4A76C}"/>
              </a:ext>
            </a:extLst>
          </p:cNvPr>
          <p:cNvSpPr>
            <a:spLocks noGrp="1"/>
          </p:cNvSpPr>
          <p:nvPr/>
        </p:nvSpPr>
        <p:spPr>
          <a:xfrm>
            <a:off x="7429500" y="2400300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전체 관계는 많이 맞혔지만</a:t>
            </a:r>
          </a:p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핵심 경로를 틀린 그래프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B198BC-E20A-4933-872B-B64E68ABCB91}"/>
              </a:ext>
            </a:extLst>
          </p:cNvPr>
          <p:cNvSpPr>
            <a:spLocks noGrp="1"/>
          </p:cNvSpPr>
          <p:nvPr/>
        </p:nvSpPr>
        <p:spPr>
          <a:xfrm>
            <a:off x="7429500" y="3619500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7544"/>
          </a:bodyPr>
          <a:lstStyle/>
          <a:p>
            <a:pPr algn="l">
              <a:defRPr sz="1425" b="1">
                <a:solidFill>
                  <a:srgbClr val="2E8B57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2E8B57"/>
                </a:solidFill>
                <a:latin typeface="SUIT"/>
                <a:ea typeface="SUIT"/>
                <a:cs typeface="SUIT"/>
              </a:rPr>
              <a:t>Graph B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E1A2C2-79D0-42C6-9D5E-0E842D149BFD}"/>
              </a:ext>
            </a:extLst>
          </p:cNvPr>
          <p:cNvSpPr>
            <a:spLocks noGrp="1"/>
          </p:cNvSpPr>
          <p:nvPr/>
        </p:nvSpPr>
        <p:spPr>
          <a:xfrm>
            <a:off x="7429500" y="3924300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전체 관계는 조금 덜 맞혔지만</a:t>
            </a:r>
          </a:p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핵심 경로를 맞힌 그래프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812E136-C621-45A2-981E-E21CC46C6A04}"/>
              </a:ext>
            </a:extLst>
          </p:cNvPr>
          <p:cNvSpPr>
            <a:spLocks noGrp="1"/>
          </p:cNvSpPr>
          <p:nvPr/>
        </p:nvSpPr>
        <p:spPr>
          <a:xfrm>
            <a:off x="819150" y="5334000"/>
            <a:ext cx="8953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476"/>
          </a:bodyPr>
          <a:lstStyle/>
          <a:p>
            <a:pPr algn="l">
              <a:defRPr sz="21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1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실제 복구 성능은 Graph B가 더 좋을 수도 있다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22A5D50-576E-4243-BB30-DC218465047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 algn="l">
              <a:defRPr sz="7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7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닦고조이고기름치자  |  오성민 · 황주희 · 정창민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4F5F918-0FB4-4E6D-85E6-195B1212B6EA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82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568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FD4A9E-80E0-4A97-90CA-1C1AC6AE93D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9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03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234D07E-532F-4889-B507-DD2AAFE02EA8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핵심 연구 질문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EAF30C-E816-4106-BE39-C64EB35D7DEF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125" b="0">
                <a:solidFill>
                  <a:srgbClr val="617082"/>
                </a:solidFill>
                <a:latin typeface="SUIT"/>
                <a:ea typeface="SUIT"/>
                <a:cs typeface="SUIT"/>
              </a:rPr>
              <a:t>전체 인과그래프 복원 정확도와 의사결정 핵심 경로 정확도 중 무엇이 공정 복구 성능을 더 잘 설명하는가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807C69-E85F-4899-9DFB-3204FE4577EB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19050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7F6C43-4F78-4629-8212-6EB56367EF67}"/>
              </a:ext>
            </a:extLst>
          </p:cNvPr>
          <p:cNvSpPr>
            <a:spLocks noGrp="1"/>
          </p:cNvSpPr>
          <p:nvPr/>
        </p:nvSpPr>
        <p:spPr>
          <a:xfrm>
            <a:off x="819150" y="2047875"/>
            <a:ext cx="6762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“얼마나 많이 틀렸는가보다</a:t>
            </a:r>
          </a:p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어디를 틀렸는가가 더 중요할 수 있다.”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D59C92-AEAD-4E8F-BE30-AE318EA6CC62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2857500" cy="2000250"/>
          </a:xfrm>
          <a:prstGeom prst="roundRect">
            <a:avLst>
              <a:gd name="adj" fmla="val 3810"/>
            </a:avLst>
          </a:prstGeom>
          <a:solidFill>
            <a:srgbClr val="E8F5F3"/>
          </a:solidFill>
          <a:ln w="9525">
            <a:solidFill>
              <a:srgbClr val="E8F5F3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4C9B34-3BD1-4B97-877C-1ECA25933A08}"/>
              </a:ext>
            </a:extLst>
          </p:cNvPr>
          <p:cNvSpPr>
            <a:spLocks noGrp="1"/>
          </p:cNvSpPr>
          <p:nvPr/>
        </p:nvSpPr>
        <p:spPr>
          <a:xfrm>
            <a:off x="8191500" y="2286000"/>
            <a:ext cx="1333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7544"/>
          </a:bodyPr>
          <a:lstStyle/>
          <a:p>
            <a:pPr algn="l">
              <a:defRPr sz="142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연구 가설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1AE460-0CE0-49B9-95D8-3A035F862B69}"/>
              </a:ext>
            </a:extLst>
          </p:cNvPr>
          <p:cNvSpPr>
            <a:spLocks noGrp="1"/>
          </p:cNvSpPr>
          <p:nvPr/>
        </p:nvSpPr>
        <p:spPr>
          <a:xfrm>
            <a:off x="8191500" y="2714625"/>
            <a:ext cx="2190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 lnSpcReduction="20000"/>
          </a:bodyPr>
          <a:lstStyle/>
          <a:p>
            <a:pPr algn="l">
              <a:defRPr sz="1575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575" b="1" dirty="0" err="1">
                <a:solidFill>
                  <a:srgbClr val="132235"/>
                </a:solidFill>
                <a:latin typeface="SUIT"/>
                <a:ea typeface="SUIT"/>
                <a:cs typeface="SUIT"/>
              </a:rPr>
              <a:t>핵심</a:t>
            </a:r>
            <a:r>
              <a:rPr sz="1575" b="1" dirty="0">
                <a:solidFill>
                  <a:srgbClr val="132235"/>
                </a:solidFill>
                <a:latin typeface="SUIT"/>
                <a:ea typeface="SUIT"/>
                <a:cs typeface="SUIT"/>
              </a:rPr>
              <a:t> </a:t>
            </a:r>
            <a:r>
              <a:rPr sz="1575" b="1" dirty="0" err="1">
                <a:solidFill>
                  <a:srgbClr val="132235"/>
                </a:solidFill>
                <a:latin typeface="SUIT"/>
                <a:ea typeface="SUIT"/>
                <a:cs typeface="SUIT"/>
              </a:rPr>
              <a:t>경로</a:t>
            </a:r>
            <a:r>
              <a:rPr sz="1575" b="1" dirty="0">
                <a:solidFill>
                  <a:srgbClr val="132235"/>
                </a:solidFill>
                <a:latin typeface="SUIT"/>
                <a:ea typeface="SUIT"/>
                <a:cs typeface="SUIT"/>
              </a:rPr>
              <a:t> </a:t>
            </a:r>
            <a:r>
              <a:rPr sz="1575" b="1" dirty="0" err="1">
                <a:solidFill>
                  <a:srgbClr val="132235"/>
                </a:solidFill>
                <a:latin typeface="SUIT"/>
                <a:ea typeface="SUIT"/>
                <a:cs typeface="SUIT"/>
              </a:rPr>
              <a:t>정확도가</a:t>
            </a:r>
            <a:endParaRPr sz="1575" b="1" dirty="0">
              <a:solidFill>
                <a:srgbClr val="132235"/>
              </a:solidFill>
              <a:latin typeface="SUIT"/>
              <a:ea typeface="SUIT"/>
              <a:cs typeface="SUIT"/>
            </a:endParaRPr>
          </a:p>
          <a:p>
            <a:pPr algn="l">
              <a:defRPr sz="1575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575" b="1" dirty="0">
                <a:solidFill>
                  <a:srgbClr val="132235"/>
                </a:solidFill>
                <a:latin typeface="SUIT"/>
                <a:ea typeface="SUIT"/>
                <a:cs typeface="SUIT"/>
              </a:rPr>
              <a:t>Recovery / </a:t>
            </a:r>
            <a:r>
              <a:rPr sz="1575" b="1" dirty="0" err="1">
                <a:solidFill>
                  <a:srgbClr val="132235"/>
                </a:solidFill>
                <a:latin typeface="SUIT"/>
                <a:ea typeface="SUIT"/>
                <a:cs typeface="SUIT"/>
              </a:rPr>
              <a:t>Safety와</a:t>
            </a:r>
            <a:endParaRPr sz="1575" b="1" dirty="0">
              <a:solidFill>
                <a:srgbClr val="132235"/>
              </a:solidFill>
              <a:latin typeface="SUIT"/>
              <a:ea typeface="SUIT"/>
              <a:cs typeface="SUIT"/>
            </a:endParaRPr>
          </a:p>
          <a:p>
            <a:pPr algn="l">
              <a:defRPr sz="1575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575" b="1" dirty="0">
                <a:solidFill>
                  <a:srgbClr val="132235"/>
                </a:solidFill>
                <a:latin typeface="SUIT"/>
                <a:ea typeface="SUIT"/>
                <a:cs typeface="SUIT"/>
              </a:rPr>
              <a:t>더 </a:t>
            </a:r>
            <a:r>
              <a:rPr sz="1575" b="1" dirty="0" err="1">
                <a:solidFill>
                  <a:srgbClr val="132235"/>
                </a:solidFill>
                <a:latin typeface="SUIT"/>
                <a:ea typeface="SUIT"/>
                <a:cs typeface="SUIT"/>
              </a:rPr>
              <a:t>강한</a:t>
            </a:r>
            <a:r>
              <a:rPr sz="1575" b="1" dirty="0">
                <a:solidFill>
                  <a:srgbClr val="132235"/>
                </a:solidFill>
                <a:latin typeface="SUIT"/>
                <a:ea typeface="SUIT"/>
                <a:cs typeface="SUIT"/>
              </a:rPr>
              <a:t> </a:t>
            </a:r>
            <a:r>
              <a:rPr sz="1575" b="1" dirty="0" err="1">
                <a:solidFill>
                  <a:srgbClr val="132235"/>
                </a:solidFill>
                <a:latin typeface="SUIT"/>
                <a:ea typeface="SUIT"/>
                <a:cs typeface="SUIT"/>
              </a:rPr>
              <a:t>관계를</a:t>
            </a:r>
            <a:r>
              <a:rPr sz="1575" b="1" dirty="0">
                <a:solidFill>
                  <a:srgbClr val="132235"/>
                </a:solidFill>
                <a:latin typeface="SUIT"/>
                <a:ea typeface="SUIT"/>
                <a:cs typeface="SUIT"/>
              </a:rPr>
              <a:t> </a:t>
            </a:r>
            <a:r>
              <a:rPr sz="1575" b="1" dirty="0" err="1">
                <a:solidFill>
                  <a:srgbClr val="132235"/>
                </a:solidFill>
                <a:latin typeface="SUIT"/>
                <a:ea typeface="SUIT"/>
                <a:cs typeface="SUIT"/>
              </a:rPr>
              <a:t>보일</a:t>
            </a:r>
            <a:endParaRPr lang="en-US" sz="1575" b="1" dirty="0">
              <a:solidFill>
                <a:srgbClr val="132235"/>
              </a:solidFill>
              <a:latin typeface="SUIT"/>
              <a:ea typeface="SUIT"/>
              <a:cs typeface="SUIT"/>
            </a:endParaRPr>
          </a:p>
          <a:p>
            <a:pPr algn="l">
              <a:defRPr sz="1575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575" b="1" dirty="0">
                <a:solidFill>
                  <a:srgbClr val="132235"/>
                </a:solidFill>
                <a:latin typeface="SUIT"/>
                <a:ea typeface="SUIT"/>
                <a:cs typeface="SUIT"/>
              </a:rPr>
              <a:t> </a:t>
            </a:r>
            <a:r>
              <a:rPr sz="1575" b="1" dirty="0" err="1">
                <a:solidFill>
                  <a:srgbClr val="132235"/>
                </a:solidFill>
                <a:latin typeface="SUIT"/>
                <a:ea typeface="SUIT"/>
                <a:cs typeface="SUIT"/>
              </a:rPr>
              <a:t>가능성</a:t>
            </a:r>
            <a:endParaRPr sz="1575" b="1" dirty="0">
              <a:solidFill>
                <a:srgbClr val="132235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DB04EE-5C46-43C0-BF4C-17842170AE29}"/>
              </a:ext>
            </a:extLst>
          </p:cNvPr>
          <p:cNvSpPr>
            <a:spLocks noGrp="1"/>
          </p:cNvSpPr>
          <p:nvPr/>
        </p:nvSpPr>
        <p:spPr>
          <a:xfrm>
            <a:off x="819150" y="5143500"/>
            <a:ext cx="6381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단, 아직 결과가 없으므로 가설로 검증한다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E99770-D253-4FC5-BF20-FB239CA2649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 algn="l">
              <a:defRPr sz="7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7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닦고조이고기름치자  |  오성민 · 황주희 · 정창민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C814EC7-9912-4E5A-A895-769EA8FF5AA7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82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9236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AE6674B3-A496-4A13-A80A-A10105B037B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9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04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4E7824-087B-4715-BA9F-9F1AD996404F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전체 연구 파이프라인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D3ED59-7CBA-4B2B-925E-AE33E7B1190C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125" b="0">
                <a:solidFill>
                  <a:srgbClr val="617082"/>
                </a:solidFill>
                <a:latin typeface="SUIT"/>
                <a:ea typeface="SUIT"/>
                <a:cs typeface="SUIT"/>
              </a:rPr>
              <a:t>Counterfactual은 개입안을 만드는 방법이며, 후속 과제는 “공정 복구를 위한 개입 추천”이다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09864A-C8ED-42CD-AE3B-5448CF26C715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19050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51516D1-419B-4A9B-92C4-B77B96828A04}"/>
              </a:ext>
            </a:extLst>
          </p:cNvPr>
          <p:cNvSpPr>
            <a:spLocks noGrp="1"/>
          </p:cNvSpPr>
          <p:nvPr/>
        </p:nvSpPr>
        <p:spPr>
          <a:xfrm>
            <a:off x="628650" y="2428875"/>
            <a:ext cx="1352550" cy="781050"/>
          </a:xfrm>
          <a:prstGeom prst="roundRect">
            <a:avLst>
              <a:gd name="adj" fmla="val 9756"/>
            </a:avLst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CC169B-3526-42F2-B8EC-C81FAF1B7D5C}"/>
              </a:ext>
            </a:extLst>
          </p:cNvPr>
          <p:cNvSpPr>
            <a:spLocks noGrp="1"/>
          </p:cNvSpPr>
          <p:nvPr/>
        </p:nvSpPr>
        <p:spPr>
          <a:xfrm>
            <a:off x="628650" y="2686050"/>
            <a:ext cx="12954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00" b="1" dirty="0">
                <a:solidFill>
                  <a:srgbClr val="FFFFFF"/>
                </a:solidFill>
                <a:latin typeface="SUIT"/>
                <a:ea typeface="SUIT"/>
                <a:cs typeface="SUIT"/>
              </a:rPr>
              <a:t>TEP </a:t>
            </a: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공정</a:t>
            </a:r>
            <a:r>
              <a:rPr sz="1200" b="1" dirty="0">
                <a:solidFill>
                  <a:srgbClr val="FFFFFF"/>
                </a:solidFill>
                <a:latin typeface="SUIT"/>
                <a:ea typeface="SUIT"/>
                <a:cs typeface="SUIT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데이터</a:t>
            </a:r>
            <a:endParaRPr sz="1200" b="1" dirty="0">
              <a:solidFill>
                <a:srgbClr val="FFFFFF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8E6A00D9-02C6-4995-8001-EAE264A217C4}"/>
              </a:ext>
            </a:extLst>
          </p:cNvPr>
          <p:cNvSpPr>
            <a:spLocks noGrp="1"/>
          </p:cNvSpPr>
          <p:nvPr/>
        </p:nvSpPr>
        <p:spPr>
          <a:xfrm>
            <a:off x="2019300" y="2714625"/>
            <a:ext cx="30480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2F5A352-0FA2-45A4-B278-73976E1BFCD1}"/>
              </a:ext>
            </a:extLst>
          </p:cNvPr>
          <p:cNvSpPr>
            <a:spLocks noGrp="1"/>
          </p:cNvSpPr>
          <p:nvPr/>
        </p:nvSpPr>
        <p:spPr>
          <a:xfrm>
            <a:off x="2286000" y="2428875"/>
            <a:ext cx="1352550" cy="781050"/>
          </a:xfrm>
          <a:prstGeom prst="roundRect">
            <a:avLst>
              <a:gd name="adj" fmla="val 9756"/>
            </a:avLst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D858069-946A-464F-A613-2B7414305287}"/>
              </a:ext>
            </a:extLst>
          </p:cNvPr>
          <p:cNvSpPr>
            <a:spLocks noGrp="1"/>
          </p:cNvSpPr>
          <p:nvPr/>
        </p:nvSpPr>
        <p:spPr>
          <a:xfrm>
            <a:off x="2381250" y="2609850"/>
            <a:ext cx="11620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00" b="1" dirty="0">
                <a:solidFill>
                  <a:srgbClr val="FFFFFF"/>
                </a:solidFill>
                <a:latin typeface="SUIT"/>
                <a:ea typeface="SUIT"/>
                <a:cs typeface="SUIT"/>
              </a:rPr>
              <a:t>5개 </a:t>
            </a: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인과관계</a:t>
            </a:r>
            <a:endParaRPr sz="1200" b="1" dirty="0">
              <a:solidFill>
                <a:srgbClr val="FFFFFF"/>
              </a:solidFill>
              <a:latin typeface="SUIT"/>
              <a:ea typeface="SUIT"/>
              <a:cs typeface="SUIT"/>
            </a:endParaRPr>
          </a:p>
          <a:p>
            <a:pPr algn="ctr">
              <a:defRPr sz="12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구조</a:t>
            </a:r>
            <a:r>
              <a:rPr sz="1200" b="1" dirty="0">
                <a:solidFill>
                  <a:srgbClr val="FFFFFF"/>
                </a:solidFill>
                <a:latin typeface="SUIT"/>
                <a:ea typeface="SUIT"/>
                <a:cs typeface="SUIT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추정</a:t>
            </a:r>
            <a:endParaRPr sz="1200" b="1" dirty="0">
              <a:solidFill>
                <a:srgbClr val="FFFFFF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11880F02-747C-440B-AAAE-4F06498C3763}"/>
              </a:ext>
            </a:extLst>
          </p:cNvPr>
          <p:cNvSpPr>
            <a:spLocks noGrp="1"/>
          </p:cNvSpPr>
          <p:nvPr/>
        </p:nvSpPr>
        <p:spPr>
          <a:xfrm>
            <a:off x="3676650" y="2714625"/>
            <a:ext cx="30480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1B73EE9-9058-4F9E-BB8F-F60B1184FBF7}"/>
              </a:ext>
            </a:extLst>
          </p:cNvPr>
          <p:cNvSpPr>
            <a:spLocks noGrp="1"/>
          </p:cNvSpPr>
          <p:nvPr/>
        </p:nvSpPr>
        <p:spPr>
          <a:xfrm>
            <a:off x="3943350" y="2428875"/>
            <a:ext cx="1352550" cy="781050"/>
          </a:xfrm>
          <a:prstGeom prst="roundRect">
            <a:avLst>
              <a:gd name="adj" fmla="val 9756"/>
            </a:avLst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F61709-3820-4C5E-9F81-129EFBBD6004}"/>
              </a:ext>
            </a:extLst>
          </p:cNvPr>
          <p:cNvSpPr>
            <a:spLocks noGrp="1"/>
          </p:cNvSpPr>
          <p:nvPr/>
        </p:nvSpPr>
        <p:spPr>
          <a:xfrm>
            <a:off x="4038600" y="2609850"/>
            <a:ext cx="11620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00" b="1" dirty="0">
                <a:solidFill>
                  <a:srgbClr val="FFFFFF"/>
                </a:solidFill>
                <a:latin typeface="SUIT"/>
                <a:ea typeface="SUIT"/>
                <a:cs typeface="SUIT"/>
              </a:rPr>
              <a:t>GT </a:t>
            </a: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없이</a:t>
            </a:r>
            <a:endParaRPr sz="1200" b="1" dirty="0">
              <a:solidFill>
                <a:srgbClr val="FFFFFF"/>
              </a:solidFill>
              <a:latin typeface="SUIT"/>
              <a:ea typeface="SUIT"/>
              <a:cs typeface="SUIT"/>
            </a:endParaRPr>
          </a:p>
          <a:p>
            <a:pPr algn="ctr">
              <a:defRPr sz="12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설정</a:t>
            </a:r>
            <a:r>
              <a:rPr sz="1200" b="1" dirty="0">
                <a:solidFill>
                  <a:srgbClr val="FFFFFF"/>
                </a:solidFill>
                <a:latin typeface="SUIT"/>
                <a:ea typeface="SUIT"/>
                <a:cs typeface="SUIT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최적화</a:t>
            </a:r>
            <a:endParaRPr sz="1200" b="1" dirty="0">
              <a:solidFill>
                <a:srgbClr val="FFFFFF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F440DBF-9AC3-4B48-9E19-8DA1CD4209D1}"/>
              </a:ext>
            </a:extLst>
          </p:cNvPr>
          <p:cNvSpPr>
            <a:spLocks noGrp="1"/>
          </p:cNvSpPr>
          <p:nvPr/>
        </p:nvSpPr>
        <p:spPr>
          <a:xfrm>
            <a:off x="5334000" y="2714625"/>
            <a:ext cx="30480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D0229A5-2793-4BC2-8F3B-08CCEDDDA2DB}"/>
              </a:ext>
            </a:extLst>
          </p:cNvPr>
          <p:cNvSpPr>
            <a:spLocks noGrp="1"/>
          </p:cNvSpPr>
          <p:nvPr/>
        </p:nvSpPr>
        <p:spPr>
          <a:xfrm>
            <a:off x="5600700" y="2428875"/>
            <a:ext cx="1352550" cy="781050"/>
          </a:xfrm>
          <a:prstGeom prst="roundRect">
            <a:avLst>
              <a:gd name="adj" fmla="val 9756"/>
            </a:avLst>
          </a:prstGeom>
          <a:solidFill>
            <a:srgbClr val="0F9D8A"/>
          </a:solidFill>
          <a:ln w="9525">
            <a:solidFill>
              <a:srgbClr val="0F9D8A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B2D380-5D77-4DA2-AEBA-2AEF499641AF}"/>
              </a:ext>
            </a:extLst>
          </p:cNvPr>
          <p:cNvSpPr>
            <a:spLocks noGrp="1"/>
          </p:cNvSpPr>
          <p:nvPr/>
        </p:nvSpPr>
        <p:spPr>
          <a:xfrm>
            <a:off x="5638800" y="2714625"/>
            <a:ext cx="1238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구조</a:t>
            </a:r>
            <a:r>
              <a:rPr sz="1200" b="1" dirty="0">
                <a:solidFill>
                  <a:srgbClr val="FFFFFF"/>
                </a:solidFill>
                <a:latin typeface="SUIT"/>
                <a:ea typeface="SUIT"/>
                <a:cs typeface="SUIT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품질</a:t>
            </a:r>
            <a:r>
              <a:rPr sz="1200" b="1" dirty="0">
                <a:solidFill>
                  <a:srgbClr val="FFFFFF"/>
                </a:solidFill>
                <a:latin typeface="SUIT"/>
                <a:ea typeface="SUIT"/>
                <a:cs typeface="SUIT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평가</a:t>
            </a:r>
            <a:endParaRPr sz="1200" b="1" dirty="0">
              <a:solidFill>
                <a:srgbClr val="FFFFFF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00E46232-819D-46E3-AD56-982B5CD995FF}"/>
              </a:ext>
            </a:extLst>
          </p:cNvPr>
          <p:cNvSpPr>
            <a:spLocks noGrp="1"/>
          </p:cNvSpPr>
          <p:nvPr/>
        </p:nvSpPr>
        <p:spPr>
          <a:xfrm>
            <a:off x="6991350" y="2714625"/>
            <a:ext cx="30480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C1FB791-49EC-40DA-933E-CCC85DE4EE15}"/>
              </a:ext>
            </a:extLst>
          </p:cNvPr>
          <p:cNvSpPr>
            <a:spLocks noGrp="1"/>
          </p:cNvSpPr>
          <p:nvPr/>
        </p:nvSpPr>
        <p:spPr>
          <a:xfrm>
            <a:off x="7258050" y="2428875"/>
            <a:ext cx="1352550" cy="781050"/>
          </a:xfrm>
          <a:prstGeom prst="roundRect">
            <a:avLst>
              <a:gd name="adj" fmla="val 9756"/>
            </a:avLst>
          </a:prstGeom>
          <a:solidFill>
            <a:srgbClr val="F19A3E"/>
          </a:solidFill>
          <a:ln w="9525">
            <a:solidFill>
              <a:srgbClr val="F19A3E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5C2648D-9C36-4AC1-8499-8EC8FB9891C4}"/>
              </a:ext>
            </a:extLst>
          </p:cNvPr>
          <p:cNvSpPr>
            <a:spLocks noGrp="1"/>
          </p:cNvSpPr>
          <p:nvPr/>
        </p:nvSpPr>
        <p:spPr>
          <a:xfrm>
            <a:off x="7353300" y="2543175"/>
            <a:ext cx="11620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SCM과</a:t>
            </a:r>
            <a:endParaRPr sz="1200" b="1" dirty="0">
              <a:solidFill>
                <a:srgbClr val="FFFFFF"/>
              </a:solidFill>
              <a:latin typeface="SUIT"/>
              <a:ea typeface="SUIT"/>
              <a:cs typeface="SUIT"/>
            </a:endParaRPr>
          </a:p>
          <a:p>
            <a:pPr algn="ctr">
              <a:defRPr sz="12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반사실적</a:t>
            </a:r>
            <a:r>
              <a:rPr sz="1200" b="1" dirty="0">
                <a:solidFill>
                  <a:srgbClr val="FFFFFF"/>
                </a:solidFill>
                <a:latin typeface="SUIT"/>
                <a:ea typeface="SUIT"/>
                <a:cs typeface="SUIT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개입</a:t>
            </a:r>
            <a:r>
              <a:rPr sz="1200" b="1" dirty="0">
                <a:solidFill>
                  <a:srgbClr val="FFFFFF"/>
                </a:solidFill>
                <a:latin typeface="SUIT"/>
                <a:ea typeface="SUIT"/>
                <a:cs typeface="SUIT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생성</a:t>
            </a:r>
            <a:endParaRPr sz="1200" b="1" dirty="0">
              <a:solidFill>
                <a:srgbClr val="FFFFFF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8A317927-3C0D-4843-B496-4CBA4F189959}"/>
              </a:ext>
            </a:extLst>
          </p:cNvPr>
          <p:cNvSpPr>
            <a:spLocks noGrp="1"/>
          </p:cNvSpPr>
          <p:nvPr/>
        </p:nvSpPr>
        <p:spPr>
          <a:xfrm>
            <a:off x="8648700" y="2714625"/>
            <a:ext cx="30480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536CA93-6FF4-40D9-B0EF-CBD3EBC09906}"/>
              </a:ext>
            </a:extLst>
          </p:cNvPr>
          <p:cNvSpPr>
            <a:spLocks noGrp="1"/>
          </p:cNvSpPr>
          <p:nvPr/>
        </p:nvSpPr>
        <p:spPr>
          <a:xfrm>
            <a:off x="8915400" y="2428875"/>
            <a:ext cx="1352550" cy="781050"/>
          </a:xfrm>
          <a:prstGeom prst="roundRect">
            <a:avLst>
              <a:gd name="adj" fmla="val 9756"/>
            </a:avLst>
          </a:prstGeom>
          <a:solidFill>
            <a:srgbClr val="F19A3E"/>
          </a:solidFill>
          <a:ln w="9525">
            <a:solidFill>
              <a:srgbClr val="F19A3E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03EB23D-3C18-43AF-9FC9-0367F4B514AD}"/>
              </a:ext>
            </a:extLst>
          </p:cNvPr>
          <p:cNvSpPr>
            <a:spLocks noGrp="1"/>
          </p:cNvSpPr>
          <p:nvPr/>
        </p:nvSpPr>
        <p:spPr>
          <a:xfrm>
            <a:off x="9010650" y="2686050"/>
            <a:ext cx="11620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00" b="1" dirty="0">
                <a:solidFill>
                  <a:srgbClr val="FFFFFF"/>
                </a:solidFill>
                <a:latin typeface="SUIT"/>
                <a:ea typeface="SUIT"/>
                <a:cs typeface="SUIT"/>
              </a:rPr>
              <a:t>TEP Simulator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FE17FCA3-55C9-468F-972E-B36CB81800DD}"/>
              </a:ext>
            </a:extLst>
          </p:cNvPr>
          <p:cNvSpPr>
            <a:spLocks noGrp="1"/>
          </p:cNvSpPr>
          <p:nvPr/>
        </p:nvSpPr>
        <p:spPr>
          <a:xfrm>
            <a:off x="10306050" y="2714625"/>
            <a:ext cx="30480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EFB8415-616D-4F9D-9E07-614AC8EF4D99}"/>
              </a:ext>
            </a:extLst>
          </p:cNvPr>
          <p:cNvSpPr>
            <a:spLocks noGrp="1"/>
          </p:cNvSpPr>
          <p:nvPr/>
        </p:nvSpPr>
        <p:spPr>
          <a:xfrm>
            <a:off x="10572750" y="2428875"/>
            <a:ext cx="1352550" cy="781050"/>
          </a:xfrm>
          <a:prstGeom prst="roundRect">
            <a:avLst>
              <a:gd name="adj" fmla="val 9756"/>
            </a:avLst>
          </a:prstGeom>
          <a:solidFill>
            <a:srgbClr val="2E8B57"/>
          </a:solidFill>
          <a:ln w="9525">
            <a:solidFill>
              <a:srgbClr val="2E8B57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92FB4D2-5999-4A04-BE0E-A7A9BD14069B}"/>
              </a:ext>
            </a:extLst>
          </p:cNvPr>
          <p:cNvSpPr>
            <a:spLocks noGrp="1"/>
          </p:cNvSpPr>
          <p:nvPr/>
        </p:nvSpPr>
        <p:spPr>
          <a:xfrm>
            <a:off x="10572750" y="2609850"/>
            <a:ext cx="13525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472"/>
          </a:bodyPr>
          <a:lstStyle/>
          <a:p>
            <a:pPr algn="ctr">
              <a:defRPr sz="12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00" b="1" dirty="0">
                <a:solidFill>
                  <a:srgbClr val="FFFFFF"/>
                </a:solidFill>
                <a:latin typeface="SUIT"/>
                <a:ea typeface="SUIT"/>
                <a:cs typeface="SUIT"/>
              </a:rPr>
              <a:t>Recovery / Safety</a:t>
            </a:r>
          </a:p>
          <a:p>
            <a:pPr algn="ctr">
              <a:defRPr sz="12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00" b="1" dirty="0" err="1">
                <a:solidFill>
                  <a:srgbClr val="FFFFFF"/>
                </a:solidFill>
                <a:latin typeface="SUIT"/>
                <a:ea typeface="SUIT"/>
                <a:cs typeface="SUIT"/>
              </a:rPr>
              <a:t>비교</a:t>
            </a:r>
            <a:endParaRPr sz="1200" b="1" dirty="0">
              <a:solidFill>
                <a:srgbClr val="FFFFFF"/>
              </a:solidFill>
              <a:latin typeface="SUIT"/>
              <a:ea typeface="SUIT"/>
              <a:cs typeface="SUIT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09708F0-BE96-4E20-8396-BC68719AFA28}"/>
              </a:ext>
            </a:extLst>
          </p:cNvPr>
          <p:cNvSpPr>
            <a:spLocks noGrp="1"/>
          </p:cNvSpPr>
          <p:nvPr/>
        </p:nvSpPr>
        <p:spPr>
          <a:xfrm>
            <a:off x="1714500" y="4095750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702"/>
          </a:bodyPr>
          <a:lstStyle/>
          <a:p>
            <a:pPr algn="l">
              <a:defRPr sz="1425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0B1F33"/>
                </a:solidFill>
                <a:latin typeface="SUIT"/>
                <a:ea typeface="SUIT"/>
                <a:cs typeface="SUIT"/>
              </a:rPr>
              <a:t>① 전체 그래프 정확도: F1, SHD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771AAF-6C23-4AA9-A06C-076041CCE50E}"/>
              </a:ext>
            </a:extLst>
          </p:cNvPr>
          <p:cNvSpPr>
            <a:spLocks noGrp="1"/>
          </p:cNvSpPr>
          <p:nvPr/>
        </p:nvSpPr>
        <p:spPr>
          <a:xfrm>
            <a:off x="6381750" y="4095750"/>
            <a:ext cx="3905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702"/>
          </a:bodyPr>
          <a:lstStyle/>
          <a:p>
            <a:pPr algn="l">
              <a:defRPr sz="1425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0B1F33"/>
                </a:solidFill>
                <a:latin typeface="SUIT"/>
                <a:ea typeface="SUIT"/>
                <a:cs typeface="SUIT"/>
              </a:rPr>
              <a:t>② 의사결정 관련 핵심 경로 정확도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A6468D-C484-44CF-B66E-AE5FD2E69637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ctr">
              <a:defRPr sz="1875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1875" b="1">
                <a:solidFill>
                  <a:srgbClr val="0B1F33"/>
                </a:solidFill>
                <a:latin typeface="SUIT"/>
                <a:ea typeface="SUIT"/>
                <a:cs typeface="SUIT"/>
              </a:rPr>
              <a:t>두 정확도 중 어느 쪽이 실제 복구 성능을 더 잘 설명하는지 비교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A968A1B-50E5-454F-8B2C-BA44F1B5075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 algn="l">
              <a:defRPr sz="7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7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닦고조이고기름치자  |  오성민 · 황주희 · 정창민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98FED39-502E-46B0-835D-87008A462908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82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22182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474AAA-9A00-477C-9937-898DC5F0828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9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05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E665E92-9FFE-4BA6-B2A1-4C8662B50F6B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데이터와 정답 인과구조 정렬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C00039-D764-41BB-818C-1505E92205ED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125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데이터와 정답 그래프의 변수 구성을 맞추는 작업 Alignment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A6895F-8E80-4EC0-8A00-3BCD152BEFFC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19050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0C8A094-65D1-464A-81D3-7BBA80ED0955}"/>
              </a:ext>
            </a:extLst>
          </p:cNvPr>
          <p:cNvSpPr>
            <a:spLocks noGrp="1"/>
          </p:cNvSpPr>
          <p:nvPr/>
        </p:nvSpPr>
        <p:spPr>
          <a:xfrm>
            <a:off x="1000125" y="2286000"/>
            <a:ext cx="2190750" cy="876300"/>
          </a:xfrm>
          <a:prstGeom prst="roundRect">
            <a:avLst>
              <a:gd name="adj" fmla="val 8696"/>
            </a:avLst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0E3C35-2090-45DD-B1C5-0264452128F2}"/>
              </a:ext>
            </a:extLst>
          </p:cNvPr>
          <p:cNvSpPr>
            <a:spLocks noGrp="1"/>
          </p:cNvSpPr>
          <p:nvPr/>
        </p:nvSpPr>
        <p:spPr>
          <a:xfrm>
            <a:off x="1095375" y="2400300"/>
            <a:ext cx="2000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원본 TEP 데이터</a:t>
            </a:r>
          </a:p>
          <a:p>
            <a:pPr algn="ctr">
              <a:defRPr sz="142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1499행 × 32열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38D98D54-66C6-419A-8A9F-454DAC93DFB1}"/>
              </a:ext>
            </a:extLst>
          </p:cNvPr>
          <p:cNvSpPr>
            <a:spLocks noGrp="1"/>
          </p:cNvSpPr>
          <p:nvPr/>
        </p:nvSpPr>
        <p:spPr>
          <a:xfrm>
            <a:off x="3429000" y="2619375"/>
            <a:ext cx="57150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F05706E-FC76-40B9-96B6-304669280B2D}"/>
              </a:ext>
            </a:extLst>
          </p:cNvPr>
          <p:cNvSpPr>
            <a:spLocks noGrp="1"/>
          </p:cNvSpPr>
          <p:nvPr/>
        </p:nvSpPr>
        <p:spPr>
          <a:xfrm>
            <a:off x="4286250" y="2286000"/>
            <a:ext cx="2190750" cy="876300"/>
          </a:xfrm>
          <a:prstGeom prst="roundRect">
            <a:avLst>
              <a:gd name="adj" fmla="val 8696"/>
            </a:avLst>
          </a:prstGeom>
          <a:solidFill>
            <a:srgbClr val="0F9D8A"/>
          </a:solidFill>
          <a:ln w="9525">
            <a:solidFill>
              <a:srgbClr val="0F9D8A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74153B7-A1A4-4294-9519-D389DCF31D08}"/>
              </a:ext>
            </a:extLst>
          </p:cNvPr>
          <p:cNvSpPr>
            <a:spLocks noGrp="1"/>
          </p:cNvSpPr>
          <p:nvPr/>
        </p:nvSpPr>
        <p:spPr>
          <a:xfrm>
            <a:off x="4381500" y="2400300"/>
            <a:ext cx="2000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불필요한 index 열 제거</a:t>
            </a:r>
          </a:p>
          <a:p>
            <a:pPr algn="ctr">
              <a:defRPr sz="142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31개 공정 변수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E50F776C-EDB3-4C1A-A402-48E954D41D16}"/>
              </a:ext>
            </a:extLst>
          </p:cNvPr>
          <p:cNvSpPr>
            <a:spLocks noGrp="1"/>
          </p:cNvSpPr>
          <p:nvPr/>
        </p:nvSpPr>
        <p:spPr>
          <a:xfrm>
            <a:off x="6715125" y="2619375"/>
            <a:ext cx="57150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896C3F8-F283-4573-8DB2-713D4A12535C}"/>
              </a:ext>
            </a:extLst>
          </p:cNvPr>
          <p:cNvSpPr>
            <a:spLocks noGrp="1"/>
          </p:cNvSpPr>
          <p:nvPr/>
        </p:nvSpPr>
        <p:spPr>
          <a:xfrm>
            <a:off x="7810500" y="2286000"/>
            <a:ext cx="2571750" cy="876300"/>
          </a:xfrm>
          <a:prstGeom prst="roundRect">
            <a:avLst>
              <a:gd name="adj" fmla="val 8696"/>
            </a:avLst>
          </a:prstGeom>
          <a:solidFill>
            <a:srgbClr val="F19A3E"/>
          </a:solidFill>
          <a:ln w="9525">
            <a:solidFill>
              <a:srgbClr val="F19A3E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AA9CBC-DD7A-4E59-A4D3-6B4ADD00CAAB}"/>
              </a:ext>
            </a:extLst>
          </p:cNvPr>
          <p:cNvSpPr>
            <a:spLocks noGrp="1"/>
          </p:cNvSpPr>
          <p:nvPr/>
        </p:nvSpPr>
        <p:spPr>
          <a:xfrm>
            <a:off x="7905750" y="2400300"/>
            <a:ext cx="2381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평가용 GT</a:t>
            </a:r>
          </a:p>
          <a:p>
            <a:pPr algn="ctr">
              <a:defRPr sz="135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31변수 · 28 causal edges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01747E-463A-4D3E-8863-5388A86ABD12}"/>
              </a:ext>
            </a:extLst>
          </p:cNvPr>
          <p:cNvSpPr>
            <a:spLocks noGrp="1"/>
          </p:cNvSpPr>
          <p:nvPr/>
        </p:nvSpPr>
        <p:spPr>
          <a:xfrm>
            <a:off x="1000125" y="3762375"/>
            <a:ext cx="2952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7544"/>
          </a:bodyPr>
          <a:lstStyle/>
          <a:p>
            <a:pPr algn="l">
              <a:defRPr sz="1425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132235"/>
                </a:solidFill>
                <a:latin typeface="SUIT"/>
                <a:ea typeface="SUIT"/>
                <a:cs typeface="SUIT"/>
              </a:rPr>
              <a:t>원래 GT: 33변수 · 32 causal edges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F0A3F1C-1B4D-410F-B945-5756671D84FD}"/>
              </a:ext>
            </a:extLst>
          </p:cNvPr>
          <p:cNvSpPr>
            <a:spLocks noGrp="1"/>
          </p:cNvSpPr>
          <p:nvPr/>
        </p:nvSpPr>
        <p:spPr>
          <a:xfrm>
            <a:off x="4619625" y="3762375"/>
            <a:ext cx="1524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7544"/>
          </a:bodyPr>
          <a:lstStyle/>
          <a:p>
            <a:pPr algn="ctr">
              <a:defRPr sz="1425" b="1">
                <a:solidFill>
                  <a:srgbClr val="C94E4E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C94E4E"/>
                </a:solidFill>
                <a:latin typeface="SUIT"/>
                <a:ea typeface="SUIT"/>
                <a:cs typeface="SUIT"/>
              </a:rPr>
              <a:t>X27, X31 제거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18AB7B-7B12-4AFB-9F89-3469BA4EFB9A}"/>
              </a:ext>
            </a:extLst>
          </p:cNvPr>
          <p:cNvSpPr>
            <a:spLocks noGrp="1"/>
          </p:cNvSpPr>
          <p:nvPr/>
        </p:nvSpPr>
        <p:spPr>
          <a:xfrm>
            <a:off x="7239000" y="3762375"/>
            <a:ext cx="3333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7544"/>
          </a:bodyPr>
          <a:lstStyle/>
          <a:p>
            <a:pPr algn="l">
              <a:defRPr sz="1425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132235"/>
                </a:solidFill>
                <a:latin typeface="SUIT"/>
                <a:ea typeface="SUIT"/>
                <a:cs typeface="SUIT"/>
              </a:rPr>
              <a:t>분석 데이터와 GT의 변수 구성을 일치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3119CF7-DF51-45FC-992E-3B0D4EBD99B0}"/>
              </a:ext>
            </a:extLst>
          </p:cNvPr>
          <p:cNvSpPr>
            <a:spLocks noGrp="1"/>
          </p:cNvSpPr>
          <p:nvPr/>
        </p:nvSpPr>
        <p:spPr>
          <a:xfrm>
            <a:off x="1000125" y="4572000"/>
            <a:ext cx="9334500" cy="714375"/>
          </a:xfrm>
          <a:prstGeom prst="roundRect">
            <a:avLst>
              <a:gd name="adj" fmla="val 10667"/>
            </a:avLst>
          </a:prstGeom>
          <a:solidFill>
            <a:srgbClr val="EAF0F6"/>
          </a:solidFill>
          <a:ln w="9525">
            <a:solidFill>
              <a:srgbClr val="EAF0F6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8B842C9-BFE9-4F05-A565-B99C965F599A}"/>
              </a:ext>
            </a:extLst>
          </p:cNvPr>
          <p:cNvSpPr>
            <a:spLocks noGrp="1"/>
          </p:cNvSpPr>
          <p:nvPr/>
        </p:nvSpPr>
        <p:spPr>
          <a:xfrm>
            <a:off x="1238250" y="4791075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공통 전처리: Z-score 표준화  |  변수 단위와 크이 차이를 줄여 평균 0, 표준편차 1의 공통 척도로 변환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DD1B02-34A1-4653-B490-998C74CEEEB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 algn="l">
              <a:defRPr sz="7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7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닦고조이고기름치자  |  오성민 · 황주희 · 정창민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0BB430F-34E0-499D-85E8-819B46EF1E52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82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663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A713DA-FC90-48C1-9858-0330B4E5DCD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9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06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071E8E-9823-41B4-B79B-16F6AA73A281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왜 서로 다른 5개 알고리즘을 사용하는가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8F3BC0-60B3-4E3D-93BF-31BD58FB3979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125" b="0">
                <a:solidFill>
                  <a:srgbClr val="617082"/>
                </a:solidFill>
                <a:latin typeface="SUIT"/>
                <a:ea typeface="SUIT"/>
                <a:cs typeface="SUIT"/>
              </a:rPr>
              <a:t>한 명의 “1등”을 뽑기보다, 서로 다른 품질과 오류 패턴의 그래프를 확보한다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410480-D035-4100-A95C-F5E4EF913539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19050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4F346D3-D7D9-4164-8338-B0E626CD3CB0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3095625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2AF902-E060-4A5A-AD88-BB011325C758}"/>
              </a:ext>
            </a:extLst>
          </p:cNvPr>
          <p:cNvSpPr>
            <a:spLocks noGrp="1"/>
          </p:cNvSpPr>
          <p:nvPr/>
        </p:nvSpPr>
        <p:spPr>
          <a:xfrm>
            <a:off x="952500" y="21240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 algn="l">
              <a:defRPr sz="1650" b="1">
                <a:solidFill>
                  <a:srgbClr val="155E9C"/>
                </a:solidFill>
                <a:latin typeface="SUIT"/>
                <a:ea typeface="SUIT"/>
                <a:cs typeface="SUIT"/>
              </a:defRPr>
            </a:pPr>
            <a:r>
              <a:rPr sz="1650" b="1">
                <a:solidFill>
                  <a:srgbClr val="155E9C"/>
                </a:solidFill>
                <a:latin typeface="SUIT"/>
                <a:ea typeface="SUIT"/>
                <a:cs typeface="SUIT"/>
              </a:rPr>
              <a:t>PC-stable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27D758-D618-4815-8636-8AF8D0F4E118}"/>
              </a:ext>
            </a:extLst>
          </p:cNvPr>
          <p:cNvSpPr>
            <a:spLocks noGrp="1"/>
          </p:cNvSpPr>
          <p:nvPr/>
        </p:nvSpPr>
        <p:spPr>
          <a:xfrm>
            <a:off x="952500" y="2524125"/>
            <a:ext cx="26193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27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독립성 검사를 반복해</a:t>
            </a:r>
          </a:p>
          <a:p>
            <a:pPr algn="l">
              <a:defRPr sz="127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27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불필요한 연결을 제거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34B0BE8-49E7-481D-82E6-762BAEE87D73}"/>
              </a:ext>
            </a:extLst>
          </p:cNvPr>
          <p:cNvSpPr>
            <a:spLocks noGrp="1"/>
          </p:cNvSpPr>
          <p:nvPr/>
        </p:nvSpPr>
        <p:spPr>
          <a:xfrm>
            <a:off x="4314825" y="1952625"/>
            <a:ext cx="3095625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9008887-5EDB-4C5C-AB38-E43F027986E0}"/>
              </a:ext>
            </a:extLst>
          </p:cNvPr>
          <p:cNvSpPr>
            <a:spLocks noGrp="1"/>
          </p:cNvSpPr>
          <p:nvPr/>
        </p:nvSpPr>
        <p:spPr>
          <a:xfrm>
            <a:off x="4524375" y="21240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 algn="l">
              <a:defRPr sz="1650" b="1">
                <a:solidFill>
                  <a:srgbClr val="155E9C"/>
                </a:solidFill>
                <a:latin typeface="SUIT"/>
                <a:ea typeface="SUIT"/>
                <a:cs typeface="SUIT"/>
              </a:defRPr>
            </a:pPr>
            <a:r>
              <a:rPr sz="1650" b="1">
                <a:solidFill>
                  <a:srgbClr val="155E9C"/>
                </a:solidFill>
                <a:latin typeface="SUIT"/>
                <a:ea typeface="SUIT"/>
                <a:cs typeface="SUIT"/>
              </a:rPr>
              <a:t>BOSS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10B45F-8118-4DBC-B8E0-42F3B9C49ED4}"/>
              </a:ext>
            </a:extLst>
          </p:cNvPr>
          <p:cNvSpPr>
            <a:spLocks noGrp="1"/>
          </p:cNvSpPr>
          <p:nvPr/>
        </p:nvSpPr>
        <p:spPr>
          <a:xfrm>
            <a:off x="4524375" y="2524125"/>
            <a:ext cx="26193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27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여러 그래프 후보를 탐색해</a:t>
            </a:r>
          </a:p>
          <a:p>
            <a:pPr algn="l">
              <a:defRPr sz="127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27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데이터에 맞는 구조를 찾음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BC13A0B-8527-433D-BCF3-AA06C5399060}"/>
              </a:ext>
            </a:extLst>
          </p:cNvPr>
          <p:cNvSpPr>
            <a:spLocks noGrp="1"/>
          </p:cNvSpPr>
          <p:nvPr/>
        </p:nvSpPr>
        <p:spPr>
          <a:xfrm>
            <a:off x="7886700" y="1952625"/>
            <a:ext cx="3095625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64240A-68BC-4BD4-A87D-CECC03D1B97A}"/>
              </a:ext>
            </a:extLst>
          </p:cNvPr>
          <p:cNvSpPr>
            <a:spLocks noGrp="1"/>
          </p:cNvSpPr>
          <p:nvPr/>
        </p:nvSpPr>
        <p:spPr>
          <a:xfrm>
            <a:off x="8096250" y="21240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 algn="l">
              <a:defRPr sz="1650" b="1">
                <a:solidFill>
                  <a:srgbClr val="155E9C"/>
                </a:solidFill>
                <a:latin typeface="SUIT"/>
                <a:ea typeface="SUIT"/>
                <a:cs typeface="SUIT"/>
              </a:defRPr>
            </a:pPr>
            <a:r>
              <a:rPr sz="1650" b="1">
                <a:solidFill>
                  <a:srgbClr val="155E9C"/>
                </a:solidFill>
                <a:latin typeface="SUIT"/>
                <a:ea typeface="SUIT"/>
                <a:cs typeface="SUIT"/>
              </a:rPr>
              <a:t>DirectLiNGAM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AB771E-E82B-4655-B762-D69FDE8DD375}"/>
              </a:ext>
            </a:extLst>
          </p:cNvPr>
          <p:cNvSpPr>
            <a:spLocks noGrp="1"/>
          </p:cNvSpPr>
          <p:nvPr/>
        </p:nvSpPr>
        <p:spPr>
          <a:xfrm>
            <a:off x="8096250" y="2524125"/>
            <a:ext cx="26193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27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분포의 비대칭성을 이용해</a:t>
            </a:r>
          </a:p>
          <a:p>
            <a:pPr algn="l">
              <a:defRPr sz="127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27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인과 방향을 추정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A80E5B7-DB67-47AA-828F-C230D254EB1C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3095625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357FBB7-09B7-40DC-85B6-8708446D864A}"/>
              </a:ext>
            </a:extLst>
          </p:cNvPr>
          <p:cNvSpPr>
            <a:spLocks noGrp="1"/>
          </p:cNvSpPr>
          <p:nvPr/>
        </p:nvSpPr>
        <p:spPr>
          <a:xfrm>
            <a:off x="952500" y="40767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 algn="l">
              <a:defRPr sz="1650" b="1">
                <a:solidFill>
                  <a:srgbClr val="155E9C"/>
                </a:solidFill>
                <a:latin typeface="SUIT"/>
                <a:ea typeface="SUIT"/>
                <a:cs typeface="SUIT"/>
              </a:defRPr>
            </a:pPr>
            <a:r>
              <a:rPr sz="1650" b="1">
                <a:solidFill>
                  <a:srgbClr val="155E9C"/>
                </a:solidFill>
                <a:latin typeface="SUIT"/>
                <a:ea typeface="SUIT"/>
                <a:cs typeface="SUIT"/>
              </a:rPr>
              <a:t>DAGMA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2049AA-3C5B-4BDA-8380-FC3A57C2FFCD}"/>
              </a:ext>
            </a:extLst>
          </p:cNvPr>
          <p:cNvSpPr>
            <a:spLocks noGrp="1"/>
          </p:cNvSpPr>
          <p:nvPr/>
        </p:nvSpPr>
        <p:spPr>
          <a:xfrm>
            <a:off x="952500" y="4476750"/>
            <a:ext cx="26193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27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수학적 최적화로</a:t>
            </a:r>
          </a:p>
          <a:p>
            <a:pPr algn="l">
              <a:defRPr sz="127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27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순환 없는 그래프를 학습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8FD5C5E-84F5-43B7-B370-6D71A24D2AF1}"/>
              </a:ext>
            </a:extLst>
          </p:cNvPr>
          <p:cNvSpPr>
            <a:spLocks noGrp="1"/>
          </p:cNvSpPr>
          <p:nvPr/>
        </p:nvSpPr>
        <p:spPr>
          <a:xfrm>
            <a:off x="4314825" y="3905250"/>
            <a:ext cx="3095625" cy="1381125"/>
          </a:xfrm>
          <a:prstGeom prst="roundRect">
            <a:avLst>
              <a:gd name="adj" fmla="val 5517"/>
            </a:avLst>
          </a:prstGeom>
          <a:solidFill>
            <a:srgbClr val="E8F5F3"/>
          </a:solidFill>
          <a:ln w="9525">
            <a:solidFill>
              <a:srgbClr val="E8F5F3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3CCBAB-309F-4752-B76D-38730CF23040}"/>
              </a:ext>
            </a:extLst>
          </p:cNvPr>
          <p:cNvSpPr>
            <a:spLocks noGrp="1"/>
          </p:cNvSpPr>
          <p:nvPr/>
        </p:nvSpPr>
        <p:spPr>
          <a:xfrm>
            <a:off x="4524375" y="40767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 algn="l">
              <a:defRPr sz="1650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1650" b="1">
                <a:solidFill>
                  <a:srgbClr val="0F9D8A"/>
                </a:solidFill>
                <a:latin typeface="SUIT"/>
                <a:ea typeface="SUIT"/>
                <a:cs typeface="SUIT"/>
              </a:rPr>
              <a:t>PCMCI+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88C217-6762-41BD-A0BE-04A01A22A065}"/>
              </a:ext>
            </a:extLst>
          </p:cNvPr>
          <p:cNvSpPr>
            <a:spLocks noGrp="1"/>
          </p:cNvSpPr>
          <p:nvPr/>
        </p:nvSpPr>
        <p:spPr>
          <a:xfrm>
            <a:off x="4524375" y="4476750"/>
            <a:ext cx="2619375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27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과거와 현재의 관계를 비교해</a:t>
            </a:r>
          </a:p>
          <a:p>
            <a:pPr algn="l">
              <a:defRPr sz="127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27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시간지연까지 고려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1A65EFD-CD9F-4C9A-AB56-99892D21767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 algn="l">
              <a:defRPr sz="7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7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닦고조이고기름치자  |  오성민 · 황주희 · 정창민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5A24EA-1C4F-4E7C-9223-1A73883BA933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82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1836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FBEAB3-837E-498B-B3C7-CD60AEB33E6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9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07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DF35BE-1C4C-4DDA-90A1-A0CBBB1FFCCD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공정한 실험을 위한 설정 원칙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E76106-665C-415D-A324-8DDC8CABB3A1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125" b="0">
                <a:solidFill>
                  <a:srgbClr val="617082"/>
                </a:solidFill>
                <a:latin typeface="SUIT"/>
                <a:ea typeface="SUIT"/>
                <a:cs typeface="SUIT"/>
              </a:rPr>
              <a:t>정답을 보고 설정을 고르면 실제 성능을 공정하게 평가할 수 없다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5BC84F-3E1C-4773-B5D8-DDD44989A554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19050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618D79B-139C-473C-9CD6-5273840076FB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2047875" cy="514350"/>
          </a:xfrm>
          <a:prstGeom prst="roundRect">
            <a:avLst>
              <a:gd name="adj" fmla="val 14815"/>
            </a:avLst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0498CE6-835F-4AF3-B280-38B78FD2E3A3}"/>
              </a:ext>
            </a:extLst>
          </p:cNvPr>
          <p:cNvSpPr>
            <a:spLocks noGrp="1"/>
          </p:cNvSpPr>
          <p:nvPr/>
        </p:nvSpPr>
        <p:spPr>
          <a:xfrm>
            <a:off x="876300" y="2400300"/>
            <a:ext cx="1857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초기 기준 설정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9E8A68-0B09-471A-8D11-376EEE4F8E4C}"/>
              </a:ext>
            </a:extLst>
          </p:cNvPr>
          <p:cNvSpPr>
            <a:spLocks noGrp="1"/>
          </p:cNvSpPr>
          <p:nvPr/>
        </p:nvSpPr>
        <p:spPr>
          <a:xfrm>
            <a:off x="781050" y="3000375"/>
            <a:ext cx="2047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0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Initial Baseline</a:t>
            </a:r>
          </a:p>
          <a:p>
            <a:pPr algn="ctr">
              <a:defRPr sz="120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0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사전에 결정한 설정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8B62DA5-7B22-40BF-B74C-9A02F8B6BB56}"/>
              </a:ext>
            </a:extLst>
          </p:cNvPr>
          <p:cNvSpPr>
            <a:spLocks noGrp="1"/>
          </p:cNvSpPr>
          <p:nvPr/>
        </p:nvSpPr>
        <p:spPr>
          <a:xfrm>
            <a:off x="2924175" y="2457450"/>
            <a:ext cx="428625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D347263-2DFB-497C-A3DE-3AF473BA8698}"/>
              </a:ext>
            </a:extLst>
          </p:cNvPr>
          <p:cNvSpPr>
            <a:spLocks noGrp="1"/>
          </p:cNvSpPr>
          <p:nvPr/>
        </p:nvSpPr>
        <p:spPr>
          <a:xfrm>
            <a:off x="3448050" y="2286000"/>
            <a:ext cx="2047875" cy="514350"/>
          </a:xfrm>
          <a:prstGeom prst="roundRect">
            <a:avLst>
              <a:gd name="adj" fmla="val 14815"/>
            </a:avLst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70CC2A8-A219-4E09-AF10-CFA9BFDEC97A}"/>
              </a:ext>
            </a:extLst>
          </p:cNvPr>
          <p:cNvSpPr>
            <a:spLocks noGrp="1"/>
          </p:cNvSpPr>
          <p:nvPr/>
        </p:nvSpPr>
        <p:spPr>
          <a:xfrm>
            <a:off x="3543300" y="2400300"/>
            <a:ext cx="1857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설정 민감도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5E01EE-17A2-463C-95CB-A8FC48752C12}"/>
              </a:ext>
            </a:extLst>
          </p:cNvPr>
          <p:cNvSpPr>
            <a:spLocks noGrp="1"/>
          </p:cNvSpPr>
          <p:nvPr/>
        </p:nvSpPr>
        <p:spPr>
          <a:xfrm>
            <a:off x="3448050" y="3000375"/>
            <a:ext cx="2047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0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Sensitivity Analysis</a:t>
            </a:r>
          </a:p>
          <a:p>
            <a:pPr algn="ctr">
              <a:defRPr sz="120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0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결과가 얼마나 흔들리는지 확인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BE07214-2C11-4111-8C14-9A81ED776F10}"/>
              </a:ext>
            </a:extLst>
          </p:cNvPr>
          <p:cNvSpPr>
            <a:spLocks noGrp="1"/>
          </p:cNvSpPr>
          <p:nvPr/>
        </p:nvSpPr>
        <p:spPr>
          <a:xfrm>
            <a:off x="5591175" y="2457450"/>
            <a:ext cx="428625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02D26B6-B80E-4C94-A801-5F06FEFD0B57}"/>
              </a:ext>
            </a:extLst>
          </p:cNvPr>
          <p:cNvSpPr>
            <a:spLocks noGrp="1"/>
          </p:cNvSpPr>
          <p:nvPr/>
        </p:nvSpPr>
        <p:spPr>
          <a:xfrm>
            <a:off x="6115050" y="2286000"/>
            <a:ext cx="2047875" cy="514350"/>
          </a:xfrm>
          <a:prstGeom prst="roundRect">
            <a:avLst>
              <a:gd name="adj" fmla="val 14815"/>
            </a:avLst>
          </a:prstGeom>
          <a:solidFill>
            <a:srgbClr val="0F9D8A"/>
          </a:solidFill>
          <a:ln w="9525">
            <a:solidFill>
              <a:srgbClr val="0F9D8A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A289D2-A550-458B-9384-ED2D1D953DD9}"/>
              </a:ext>
            </a:extLst>
          </p:cNvPr>
          <p:cNvSpPr>
            <a:spLocks noGrp="1"/>
          </p:cNvSpPr>
          <p:nvPr/>
        </p:nvSpPr>
        <p:spPr>
          <a:xfrm>
            <a:off x="6210300" y="2400300"/>
            <a:ext cx="1857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GT 없이 최적화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BCBE5F-D540-499B-9905-15DA297D7B5F}"/>
              </a:ext>
            </a:extLst>
          </p:cNvPr>
          <p:cNvSpPr>
            <a:spLocks noGrp="1"/>
          </p:cNvSpPr>
          <p:nvPr/>
        </p:nvSpPr>
        <p:spPr>
          <a:xfrm>
            <a:off x="6115050" y="3000375"/>
            <a:ext cx="2047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0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Optimized Configuration</a:t>
            </a:r>
          </a:p>
          <a:p>
            <a:pPr algn="ctr">
              <a:defRPr sz="120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0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안정성·데이터 특성으로 결정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141C85B-B348-4396-9843-46942F6DD41D}"/>
              </a:ext>
            </a:extLst>
          </p:cNvPr>
          <p:cNvSpPr>
            <a:spLocks noGrp="1"/>
          </p:cNvSpPr>
          <p:nvPr/>
        </p:nvSpPr>
        <p:spPr>
          <a:xfrm>
            <a:off x="8258175" y="2457450"/>
            <a:ext cx="428625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356D884-B1DF-4E4A-B43F-388865ECCEF2}"/>
              </a:ext>
            </a:extLst>
          </p:cNvPr>
          <p:cNvSpPr>
            <a:spLocks noGrp="1"/>
          </p:cNvSpPr>
          <p:nvPr/>
        </p:nvSpPr>
        <p:spPr>
          <a:xfrm>
            <a:off x="8782050" y="2286000"/>
            <a:ext cx="2047875" cy="514350"/>
          </a:xfrm>
          <a:prstGeom prst="roundRect">
            <a:avLst>
              <a:gd name="adj" fmla="val 14815"/>
            </a:avLst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939E18-536C-474B-ABD5-7BEA72ED0371}"/>
              </a:ext>
            </a:extLst>
          </p:cNvPr>
          <p:cNvSpPr>
            <a:spLocks noGrp="1"/>
          </p:cNvSpPr>
          <p:nvPr/>
        </p:nvSpPr>
        <p:spPr>
          <a:xfrm>
            <a:off x="8877300" y="2400300"/>
            <a:ext cx="1857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설정 고정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E4C56DD-F36E-4203-9DBD-6E6835DE46CD}"/>
              </a:ext>
            </a:extLst>
          </p:cNvPr>
          <p:cNvSpPr>
            <a:spLocks noGrp="1"/>
          </p:cNvSpPr>
          <p:nvPr/>
        </p:nvSpPr>
        <p:spPr>
          <a:xfrm>
            <a:off x="8782050" y="3000375"/>
            <a:ext cx="2047875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0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0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Freeze</a:t>
            </a:r>
          </a:p>
          <a:p>
            <a:pPr algn="ctr">
              <a:defRPr sz="120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0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그 다음 GT로 최종 평가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CB3FD50-C37C-4A95-B962-260C9E936492}"/>
              </a:ext>
            </a:extLst>
          </p:cNvPr>
          <p:cNvSpPr>
            <a:spLocks noGrp="1"/>
          </p:cNvSpPr>
          <p:nvPr/>
        </p:nvSpPr>
        <p:spPr>
          <a:xfrm>
            <a:off x="1476375" y="4476750"/>
            <a:ext cx="9239250" cy="666750"/>
          </a:xfrm>
          <a:prstGeom prst="roundRect">
            <a:avLst>
              <a:gd name="adj" fmla="val 11429"/>
            </a:avLst>
          </a:prstGeom>
          <a:solidFill>
            <a:srgbClr val="FFF3E6"/>
          </a:solidFill>
          <a:ln w="9525">
            <a:solidFill>
              <a:srgbClr val="FFF3E6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AB32223-C90D-4D7B-9C1E-A3B3E352D719}"/>
              </a:ext>
            </a:extLst>
          </p:cNvPr>
          <p:cNvSpPr>
            <a:spLocks noGrp="1"/>
          </p:cNvSpPr>
          <p:nvPr/>
        </p:nvSpPr>
        <p:spPr>
          <a:xfrm>
            <a:off x="1762125" y="4695825"/>
            <a:ext cx="866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 algn="ctr">
              <a:defRPr sz="1425" b="1">
                <a:solidFill>
                  <a:srgbClr val="C94E4E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C94E4E"/>
                </a:solidFill>
                <a:latin typeface="SUIT"/>
                <a:ea typeface="SUIT"/>
                <a:cs typeface="SUIT"/>
              </a:rPr>
              <a:t>중요: Sensitivity에서 GT 점수가 더 좋아 보여도, 그 결과를 보고 대표 설정을 사후 변경하지 않는다.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9A0AC7-D9D1-4808-9C0B-39E4E50073F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 algn="l">
              <a:defRPr sz="7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7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닦고조이고기름치자  |  오성민 · 황주희 · 정창민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0CDC1F-1268-4DA5-ABBD-1DFDB72E43F1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82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430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5D552506-4FA1-41A2-BC2D-98E70D9D496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9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08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F0627AB-C796-49E0-BEA6-FF5F1AD9F555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구조 복원 성능을 읽는 방법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09A30D-C3F2-4E1C-BC42-E6653AAE882B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125" b="0">
                <a:solidFill>
                  <a:srgbClr val="617082"/>
                </a:solidFill>
                <a:latin typeface="SUIT"/>
                <a:ea typeface="SUIT"/>
                <a:cs typeface="SUIT"/>
              </a:rPr>
              <a:t>연결을 맞혔는지와 방향까지 맞혔는지를 구분해 평가한다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4CC857-FBAD-4863-8F33-6AAAB1547CB8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19050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B2F93A-AB95-494D-A846-487E9E5B1274}"/>
              </a:ext>
            </a:extLst>
          </p:cNvPr>
          <p:cNvSpPr>
            <a:spLocks noGrp="1"/>
          </p:cNvSpPr>
          <p:nvPr/>
        </p:nvSpPr>
        <p:spPr>
          <a:xfrm>
            <a:off x="809625" y="2000250"/>
            <a:ext cx="1524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1930"/>
          </a:bodyPr>
          <a:lstStyle/>
          <a:p>
            <a:pPr algn="ctr">
              <a:defRPr sz="1425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0B1F33"/>
                </a:solidFill>
                <a:latin typeface="SUIT"/>
                <a:ea typeface="SUIT"/>
                <a:cs typeface="SUIT"/>
              </a:rPr>
              <a:t>GT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135876D-B66C-49DE-B2EC-768140D606A4}"/>
              </a:ext>
            </a:extLst>
          </p:cNvPr>
          <p:cNvSpPr>
            <a:spLocks noGrp="1"/>
          </p:cNvSpPr>
          <p:nvPr/>
        </p:nvSpPr>
        <p:spPr>
          <a:xfrm>
            <a:off x="809625" y="238125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058927-37B4-455F-81C8-A48913357CC8}"/>
              </a:ext>
            </a:extLst>
          </p:cNvPr>
          <p:cNvSpPr>
            <a:spLocks noGrp="1"/>
          </p:cNvSpPr>
          <p:nvPr/>
        </p:nvSpPr>
        <p:spPr>
          <a:xfrm>
            <a:off x="1000125" y="2571750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6944"/>
          </a:bodyPr>
          <a:lstStyle/>
          <a:p>
            <a:pPr algn="ctr">
              <a:defRPr sz="180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80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A  →  B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D0FD77B-ADAE-4650-BA1F-2CDF6679E42D}"/>
              </a:ext>
            </a:extLst>
          </p:cNvPr>
          <p:cNvSpPr>
            <a:spLocks noGrp="1"/>
          </p:cNvSpPr>
          <p:nvPr/>
        </p:nvSpPr>
        <p:spPr>
          <a:xfrm>
            <a:off x="3429000" y="2000250"/>
            <a:ext cx="1524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1930"/>
          </a:bodyPr>
          <a:lstStyle/>
          <a:p>
            <a:pPr algn="ctr">
              <a:defRPr sz="1425" b="1">
                <a:solidFill>
                  <a:srgbClr val="2E8B57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2E8B57"/>
                </a:solidFill>
                <a:latin typeface="SUIT"/>
                <a:ea typeface="SUIT"/>
                <a:cs typeface="SUIT"/>
              </a:rPr>
              <a:t>예측 1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E741128-599E-4AD2-842D-9FC45F8B8F18}"/>
              </a:ext>
            </a:extLst>
          </p:cNvPr>
          <p:cNvSpPr>
            <a:spLocks noGrp="1"/>
          </p:cNvSpPr>
          <p:nvPr/>
        </p:nvSpPr>
        <p:spPr>
          <a:xfrm>
            <a:off x="3429000" y="238125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2BC701-F670-4C72-B421-748659E3DB3E}"/>
              </a:ext>
            </a:extLst>
          </p:cNvPr>
          <p:cNvSpPr>
            <a:spLocks noGrp="1"/>
          </p:cNvSpPr>
          <p:nvPr/>
        </p:nvSpPr>
        <p:spPr>
          <a:xfrm>
            <a:off x="3619500" y="2571750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6944"/>
          </a:bodyPr>
          <a:lstStyle/>
          <a:p>
            <a:pPr algn="ctr">
              <a:defRPr sz="180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80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A  →  B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FA745B-6152-401A-8B9A-5F7B2835B570}"/>
              </a:ext>
            </a:extLst>
          </p:cNvPr>
          <p:cNvSpPr>
            <a:spLocks noGrp="1"/>
          </p:cNvSpPr>
          <p:nvPr/>
        </p:nvSpPr>
        <p:spPr>
          <a:xfrm>
            <a:off x="6048375" y="2000250"/>
            <a:ext cx="1524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1930"/>
          </a:bodyPr>
          <a:lstStyle/>
          <a:p>
            <a:pPr algn="ctr">
              <a:defRPr sz="1425" b="1">
                <a:solidFill>
                  <a:srgbClr val="F19A3E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F19A3E"/>
                </a:solidFill>
                <a:latin typeface="SUIT"/>
                <a:ea typeface="SUIT"/>
                <a:cs typeface="SUIT"/>
              </a:rPr>
              <a:t>예측 2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37857C6-45DD-4D87-8438-5CE2EC005A14}"/>
              </a:ext>
            </a:extLst>
          </p:cNvPr>
          <p:cNvSpPr>
            <a:spLocks noGrp="1"/>
          </p:cNvSpPr>
          <p:nvPr/>
        </p:nvSpPr>
        <p:spPr>
          <a:xfrm>
            <a:off x="6048375" y="238125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37482E5-A5AA-425C-8DC7-5B222448B8F6}"/>
              </a:ext>
            </a:extLst>
          </p:cNvPr>
          <p:cNvSpPr>
            <a:spLocks noGrp="1"/>
          </p:cNvSpPr>
          <p:nvPr/>
        </p:nvSpPr>
        <p:spPr>
          <a:xfrm>
            <a:off x="6238875" y="2571750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6944"/>
          </a:bodyPr>
          <a:lstStyle/>
          <a:p>
            <a:pPr algn="ctr">
              <a:defRPr sz="180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80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A  ←  B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0445C5-D04B-4ADD-B7E4-D47C1BF19135}"/>
              </a:ext>
            </a:extLst>
          </p:cNvPr>
          <p:cNvSpPr>
            <a:spLocks noGrp="1"/>
          </p:cNvSpPr>
          <p:nvPr/>
        </p:nvSpPr>
        <p:spPr>
          <a:xfrm>
            <a:off x="8667750" y="2000250"/>
            <a:ext cx="1524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1930"/>
          </a:bodyPr>
          <a:lstStyle/>
          <a:p>
            <a:pPr algn="ctr">
              <a:defRPr sz="1425" b="1">
                <a:solidFill>
                  <a:srgbClr val="C94E4E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C94E4E"/>
                </a:solidFill>
                <a:latin typeface="SUIT"/>
                <a:ea typeface="SUIT"/>
                <a:cs typeface="SUIT"/>
              </a:rPr>
              <a:t>예측 3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EC4B770-0F49-4103-BD39-0B3A39E5141C}"/>
              </a:ext>
            </a:extLst>
          </p:cNvPr>
          <p:cNvSpPr>
            <a:spLocks noGrp="1"/>
          </p:cNvSpPr>
          <p:nvPr/>
        </p:nvSpPr>
        <p:spPr>
          <a:xfrm>
            <a:off x="8667750" y="238125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D90E83-CCCC-4475-ABD8-9339D1EAC5E4}"/>
              </a:ext>
            </a:extLst>
          </p:cNvPr>
          <p:cNvSpPr>
            <a:spLocks noGrp="1"/>
          </p:cNvSpPr>
          <p:nvPr/>
        </p:nvSpPr>
        <p:spPr>
          <a:xfrm>
            <a:off x="8858250" y="2571750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6944"/>
          </a:bodyPr>
          <a:lstStyle/>
          <a:p>
            <a:pPr algn="ctr">
              <a:defRPr sz="180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80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A     B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A2C3CD-AD2B-4706-9E39-B0F5213B5FAF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 algn="l">
              <a:defRPr sz="1425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132235"/>
                </a:solidFill>
                <a:latin typeface="SUIT"/>
                <a:ea typeface="SUIT"/>
                <a:cs typeface="SUIT"/>
              </a:rPr>
              <a:t>Skeleton: 두 변수가 연결되어 있는가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97C882-CD5A-4A55-B8F4-04E6B3AB9BBA}"/>
              </a:ext>
            </a:extLst>
          </p:cNvPr>
          <p:cNvSpPr>
            <a:spLocks noGrp="1"/>
          </p:cNvSpPr>
          <p:nvPr/>
        </p:nvSpPr>
        <p:spPr>
          <a:xfrm>
            <a:off x="4381500" y="37147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 algn="l">
              <a:defRPr sz="1425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425" b="1">
                <a:solidFill>
                  <a:srgbClr val="132235"/>
                </a:solidFill>
                <a:latin typeface="SUIT"/>
                <a:ea typeface="SUIT"/>
                <a:cs typeface="SUIT"/>
              </a:rPr>
              <a:t>Directed: 원인 → 결과 방향까지 맞혔는가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AB337C-57F6-4AEF-9F94-1E9F2B7A5D8D}"/>
              </a:ext>
            </a:extLst>
          </p:cNvPr>
          <p:cNvSpPr>
            <a:spLocks noGrp="1"/>
          </p:cNvSpPr>
          <p:nvPr/>
        </p:nvSpPr>
        <p:spPr>
          <a:xfrm>
            <a:off x="857250" y="4524375"/>
            <a:ext cx="485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algn="l">
              <a:defRPr sz="1350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0F9D8A"/>
                </a:solidFill>
                <a:latin typeface="SUIT"/>
                <a:ea typeface="SUIT"/>
                <a:cs typeface="SUIT"/>
              </a:rPr>
              <a:t>F1 ↑  찾은 관계의 정확성과 빠짐없는 정도를 함께 반영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8C55F5-C1D9-4A3D-9D34-2FB93EA52A06}"/>
              </a:ext>
            </a:extLst>
          </p:cNvPr>
          <p:cNvSpPr>
            <a:spLocks noGrp="1"/>
          </p:cNvSpPr>
          <p:nvPr/>
        </p:nvSpPr>
        <p:spPr>
          <a:xfrm>
            <a:off x="61912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algn="l">
              <a:defRPr sz="1350" b="1">
                <a:solidFill>
                  <a:srgbClr val="C94E4E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C94E4E"/>
                </a:solidFill>
                <a:latin typeface="SUIT"/>
                <a:ea typeface="SUIT"/>
                <a:cs typeface="SUIT"/>
              </a:rPr>
              <a:t>SHD ↓  정답 그래프로 바꾸기 위해 필요한 수정 횟수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EF9DC5-5A3C-41DB-8DC0-FB6A8DF656A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 algn="l">
              <a:defRPr sz="7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7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닦고조이고기름치자  |  오성민 · 황주희 · 정창민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53F793-D56E-464C-840E-78C5038B32AF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82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0353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2E64D95F-FDC8-44F1-9CC4-56710487A18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9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09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75E47E4-B52E-4158-9091-8F1EA3E25F6E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현재 결과: PC-stable과 BOSS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13854C-A089-4114-ADE2-4FB7BCA31BE8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125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두 알고리즘의 초기 설정과 구조 복원 지표 비교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45752A-9156-4DAA-9D8A-BE0D46C65569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19050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EACF000-C146-474A-819C-4F47D2383C19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4762500" cy="280035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9FD46E0-9BEA-41E2-96C6-FAE059C44CBF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4762500" cy="495300"/>
          </a:xfrm>
          <a:prstGeom prst="roundRect">
            <a:avLst>
              <a:gd name="adj" fmla="val 15385"/>
            </a:avLst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C1F2EB-1A2A-473E-83FD-BEDF86588944}"/>
              </a:ext>
            </a:extLst>
          </p:cNvPr>
          <p:cNvSpPr>
            <a:spLocks noGrp="1"/>
          </p:cNvSpPr>
          <p:nvPr/>
        </p:nvSpPr>
        <p:spPr>
          <a:xfrm>
            <a:off x="1104900" y="22288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 algn="l">
              <a:defRPr sz="172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72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PC-stable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59A92B6-9B3A-4B7D-926D-A1959391569D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588"/>
          </a:bodyPr>
          <a:lstStyle/>
          <a:p>
            <a:pPr algn="l">
              <a:defRPr sz="127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초기 설정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CCA929-EE68-460D-8434-036D5072F507}"/>
              </a:ext>
            </a:extLst>
          </p:cNvPr>
          <p:cNvSpPr>
            <a:spLocks noGrp="1"/>
          </p:cNvSpPr>
          <p:nvPr/>
        </p:nvSpPr>
        <p:spPr>
          <a:xfrm>
            <a:off x="1123950" y="3190875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702"/>
          </a:bodyPr>
          <a:lstStyle/>
          <a:p>
            <a:pPr algn="l">
              <a:defRPr sz="142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42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alpha = 0.05 · Fisher-Z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6D08FA-674E-49B9-809E-CD979011776C}"/>
              </a:ext>
            </a:extLst>
          </p:cNvPr>
          <p:cNvSpPr>
            <a:spLocks noGrp="1"/>
          </p:cNvSpPr>
          <p:nvPr/>
        </p:nvSpPr>
        <p:spPr>
          <a:xfrm>
            <a:off x="1123950" y="3638550"/>
            <a:ext cx="4229100" cy="9525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74D7DA-0C57-474C-BF5A-DEC398E83DC9}"/>
              </a:ext>
            </a:extLst>
          </p:cNvPr>
          <p:cNvSpPr>
            <a:spLocks noGrp="1"/>
          </p:cNvSpPr>
          <p:nvPr/>
        </p:nvSpPr>
        <p:spPr>
          <a:xfrm>
            <a:off x="1123950" y="390525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588"/>
          </a:bodyPr>
          <a:lstStyle/>
          <a:p>
            <a:pPr algn="l">
              <a:defRPr sz="127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Skeleton F1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DE12010-4E47-4596-978E-4E1A9C541032}"/>
              </a:ext>
            </a:extLst>
          </p:cNvPr>
          <p:cNvSpPr>
            <a:spLocks noGrp="1"/>
          </p:cNvSpPr>
          <p:nvPr/>
        </p:nvSpPr>
        <p:spPr>
          <a:xfrm>
            <a:off x="4095750" y="3848100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8000"/>
          </a:bodyPr>
          <a:lstStyle/>
          <a:p>
            <a:pPr algn="r">
              <a:defRPr sz="18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18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0.3099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6AC3C3-A766-48C0-9342-39A6D6429C1D}"/>
              </a:ext>
            </a:extLst>
          </p:cNvPr>
          <p:cNvSpPr>
            <a:spLocks noGrp="1"/>
          </p:cNvSpPr>
          <p:nvPr/>
        </p:nvSpPr>
        <p:spPr>
          <a:xfrm>
            <a:off x="1123950" y="4276725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588"/>
          </a:bodyPr>
          <a:lstStyle/>
          <a:p>
            <a:pPr algn="l">
              <a:defRPr sz="127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Directed F1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35FA9E-1C27-42B6-9B32-9556C64B2291}"/>
              </a:ext>
            </a:extLst>
          </p:cNvPr>
          <p:cNvSpPr>
            <a:spLocks noGrp="1"/>
          </p:cNvSpPr>
          <p:nvPr/>
        </p:nvSpPr>
        <p:spPr>
          <a:xfrm>
            <a:off x="4095750" y="422910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 algn="r">
              <a:defRPr sz="150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50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0.0896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76954D-A7AD-4D0B-9630-162F3A531EC0}"/>
              </a:ext>
            </a:extLst>
          </p:cNvPr>
          <p:cNvSpPr>
            <a:spLocks noGrp="1"/>
          </p:cNvSpPr>
          <p:nvPr/>
        </p:nvSpPr>
        <p:spPr>
          <a:xfrm>
            <a:off x="1123950" y="46482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588"/>
          </a:bodyPr>
          <a:lstStyle/>
          <a:p>
            <a:pPr algn="l">
              <a:defRPr sz="127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SHD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A7C54D-8E23-476F-8256-48CA33E4A1E1}"/>
              </a:ext>
            </a:extLst>
          </p:cNvPr>
          <p:cNvSpPr>
            <a:spLocks noGrp="1"/>
          </p:cNvSpPr>
          <p:nvPr/>
        </p:nvSpPr>
        <p:spPr>
          <a:xfrm>
            <a:off x="4572000" y="46005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 algn="r">
              <a:defRPr sz="1650" b="1">
                <a:solidFill>
                  <a:srgbClr val="F19A3E"/>
                </a:solidFill>
                <a:latin typeface="SUIT"/>
                <a:ea typeface="SUIT"/>
                <a:cs typeface="SUIT"/>
              </a:defRPr>
            </a:pPr>
            <a:r>
              <a:rPr sz="1650" b="1">
                <a:solidFill>
                  <a:srgbClr val="F19A3E"/>
                </a:solidFill>
                <a:latin typeface="SUIT"/>
                <a:ea typeface="SUIT"/>
                <a:cs typeface="SUIT"/>
              </a:rPr>
              <a:t>57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CC7BA4C-9A62-4DA1-AF7B-E49E90F112A3}"/>
              </a:ext>
            </a:extLst>
          </p:cNvPr>
          <p:cNvSpPr>
            <a:spLocks noGrp="1"/>
          </p:cNvSpPr>
          <p:nvPr/>
        </p:nvSpPr>
        <p:spPr>
          <a:xfrm>
            <a:off x="6286500" y="2095499"/>
            <a:ext cx="4762500" cy="2800349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F898542-7917-4C3A-8AF9-45818AC63B18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4762500" cy="495300"/>
          </a:xfrm>
          <a:prstGeom prst="roundRect">
            <a:avLst>
              <a:gd name="adj" fmla="val 15385"/>
            </a:avLst>
          </a:prstGeom>
          <a:solidFill>
            <a:srgbClr val="0F9D8A"/>
          </a:solidFill>
          <a:ln w="9525">
            <a:solidFill>
              <a:srgbClr val="0F9D8A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41D6B8-E182-4C76-8D9E-E9639757C5AF}"/>
              </a:ext>
            </a:extLst>
          </p:cNvPr>
          <p:cNvSpPr>
            <a:spLocks noGrp="1"/>
          </p:cNvSpPr>
          <p:nvPr/>
        </p:nvSpPr>
        <p:spPr>
          <a:xfrm>
            <a:off x="6534150" y="22288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/>
          </a:bodyPr>
          <a:lstStyle/>
          <a:p>
            <a:pPr algn="l">
              <a:defRPr sz="172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72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BOSS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CEF5A5-7156-43CD-A45E-77F4E7C39269}"/>
              </a:ext>
            </a:extLst>
          </p:cNvPr>
          <p:cNvSpPr>
            <a:spLocks noGrp="1"/>
          </p:cNvSpPr>
          <p:nvPr/>
        </p:nvSpPr>
        <p:spPr>
          <a:xfrm>
            <a:off x="6553200" y="28575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588"/>
          </a:bodyPr>
          <a:lstStyle/>
          <a:p>
            <a:pPr algn="l">
              <a:defRPr sz="127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초기 설정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553E2A-9E66-45D2-9047-9D9FB450AF68}"/>
              </a:ext>
            </a:extLst>
          </p:cNvPr>
          <p:cNvSpPr>
            <a:spLocks noGrp="1"/>
          </p:cNvSpPr>
          <p:nvPr/>
        </p:nvSpPr>
        <p:spPr>
          <a:xfrm>
            <a:off x="6553200" y="3190875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702"/>
          </a:bodyPr>
          <a:lstStyle/>
          <a:p>
            <a:pPr algn="l">
              <a:defRPr sz="142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42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penalty_discount = 2 · SEM-BIC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4B44C1B-C52B-40C5-AF70-14B21645A24B}"/>
              </a:ext>
            </a:extLst>
          </p:cNvPr>
          <p:cNvSpPr>
            <a:spLocks noGrp="1"/>
          </p:cNvSpPr>
          <p:nvPr/>
        </p:nvSpPr>
        <p:spPr>
          <a:xfrm>
            <a:off x="6553200" y="3638550"/>
            <a:ext cx="4229100" cy="9525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1129BC-6192-4CAF-A76E-0A88C0E262B7}"/>
              </a:ext>
            </a:extLst>
          </p:cNvPr>
          <p:cNvSpPr>
            <a:spLocks noGrp="1"/>
          </p:cNvSpPr>
          <p:nvPr/>
        </p:nvSpPr>
        <p:spPr>
          <a:xfrm>
            <a:off x="6553200" y="390525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588"/>
          </a:bodyPr>
          <a:lstStyle/>
          <a:p>
            <a:pPr algn="l">
              <a:defRPr sz="127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Skeleton F1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6D00C8D-CC7C-4608-B0D2-A5C9FE3EF0B6}"/>
              </a:ext>
            </a:extLst>
          </p:cNvPr>
          <p:cNvSpPr>
            <a:spLocks noGrp="1"/>
          </p:cNvSpPr>
          <p:nvPr/>
        </p:nvSpPr>
        <p:spPr>
          <a:xfrm>
            <a:off x="9525000" y="3848100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8000"/>
          </a:bodyPr>
          <a:lstStyle/>
          <a:p>
            <a:pPr algn="r">
              <a:defRPr sz="18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18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0.2909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C4E094C-1FE4-478F-9BC7-D5911C324B52}"/>
              </a:ext>
            </a:extLst>
          </p:cNvPr>
          <p:cNvSpPr>
            <a:spLocks noGrp="1"/>
          </p:cNvSpPr>
          <p:nvPr/>
        </p:nvSpPr>
        <p:spPr>
          <a:xfrm>
            <a:off x="6553200" y="4276725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588"/>
          </a:bodyPr>
          <a:lstStyle/>
          <a:p>
            <a:pPr algn="l">
              <a:defRPr sz="127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Directed F1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E792A30-DB10-4973-90DE-83F92C551CEF}"/>
              </a:ext>
            </a:extLst>
          </p:cNvPr>
          <p:cNvSpPr>
            <a:spLocks noGrp="1"/>
          </p:cNvSpPr>
          <p:nvPr/>
        </p:nvSpPr>
        <p:spPr>
          <a:xfrm>
            <a:off x="9525000" y="422910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 algn="r">
              <a:defRPr sz="150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50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0.0935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059BF27-160B-4C64-8B20-1F2225A79307}"/>
              </a:ext>
            </a:extLst>
          </p:cNvPr>
          <p:cNvSpPr>
            <a:spLocks noGrp="1"/>
          </p:cNvSpPr>
          <p:nvPr/>
        </p:nvSpPr>
        <p:spPr>
          <a:xfrm>
            <a:off x="6553200" y="46482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588"/>
          </a:bodyPr>
          <a:lstStyle/>
          <a:p>
            <a:pPr algn="l">
              <a:defRPr sz="127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SHD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48768D-B04A-4CFD-8B79-EA2F1A2FF5C9}"/>
              </a:ext>
            </a:extLst>
          </p:cNvPr>
          <p:cNvSpPr>
            <a:spLocks noGrp="1"/>
          </p:cNvSpPr>
          <p:nvPr/>
        </p:nvSpPr>
        <p:spPr>
          <a:xfrm>
            <a:off x="10001250" y="4600575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 algn="r">
              <a:defRPr sz="1650" b="1">
                <a:solidFill>
                  <a:srgbClr val="F19A3E"/>
                </a:solidFill>
                <a:latin typeface="SUIT"/>
                <a:ea typeface="SUIT"/>
                <a:cs typeface="SUIT"/>
              </a:defRPr>
            </a:pPr>
            <a:r>
              <a:rPr sz="1650" b="1">
                <a:solidFill>
                  <a:srgbClr val="F19A3E"/>
                </a:solidFill>
                <a:latin typeface="SUIT"/>
                <a:ea typeface="SUIT"/>
                <a:cs typeface="SUIT"/>
              </a:rPr>
              <a:t>89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31D1C74-077A-400B-BD14-525E1DE1BD4F}"/>
              </a:ext>
            </a:extLst>
          </p:cNvPr>
          <p:cNvSpPr>
            <a:spLocks noGrp="1"/>
          </p:cNvSpPr>
          <p:nvPr/>
        </p:nvSpPr>
        <p:spPr>
          <a:xfrm>
            <a:off x="1428750" y="5238750"/>
            <a:ext cx="9334500" cy="619125"/>
          </a:xfrm>
          <a:prstGeom prst="roundRect">
            <a:avLst>
              <a:gd name="adj" fmla="val 12308"/>
            </a:avLst>
          </a:prstGeom>
          <a:solidFill>
            <a:srgbClr val="FFF3E6"/>
          </a:solidFill>
          <a:ln w="9525">
            <a:solidFill>
              <a:srgbClr val="FFF3E6"/>
            </a:solidFill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0B2A43-0461-4C08-A4B6-DA25BB873129}"/>
              </a:ext>
            </a:extLst>
          </p:cNvPr>
          <p:cNvSpPr>
            <a:spLocks noGrp="1"/>
          </p:cNvSpPr>
          <p:nvPr/>
        </p:nvSpPr>
        <p:spPr>
          <a:xfrm>
            <a:off x="1714500" y="5438775"/>
            <a:ext cx="876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ctr">
              <a:defRPr sz="1350" b="1">
                <a:solidFill>
                  <a:srgbClr val="C94E4E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C94E4E"/>
                </a:solidFill>
                <a:latin typeface="SUIT"/>
                <a:ea typeface="SUIT"/>
                <a:cs typeface="SUIT"/>
              </a:rPr>
              <a:t>더 좋은 sensitivity 결과가 있었지만, GT 확인 후 대표 설정을 바꾸지는 않았다.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D647104-5448-492D-8DCF-225B4ACC517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 algn="l">
              <a:defRPr sz="7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7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닦고조이고기름치자  |  오성민 · 황주희 · 정창민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2E3053B-4ABD-4AF5-9D97-069A6585BD56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82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4761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AABA173E-0682-4193-BF89-9F3BF774FC7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9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10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5B92641-ACBD-441C-BD68-C582DFE01A22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현재 결과: DirectLiNGAM · DAGMA · PCMCI+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031B82-E69E-4083-A4F9-A192AE4B83C5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125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낮은 초기 성능은 코드 실패로 단정하지 않고, 알고리즘 가정과 TEP 공정 특성의 차이도 함께 진단한다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0BACC5-B2DF-4EC2-903D-FBF4BB745C77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19050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BB9F463-E0C2-41B2-9D01-EBEB03DB6211}"/>
              </a:ext>
            </a:extLst>
          </p:cNvPr>
          <p:cNvSpPr>
            <a:spLocks noGrp="1"/>
          </p:cNvSpPr>
          <p:nvPr/>
        </p:nvSpPr>
        <p:spPr>
          <a:xfrm>
            <a:off x="714375" y="2000250"/>
            <a:ext cx="314325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48AAB6-0342-4A89-86F5-AEBA9506E2E3}"/>
              </a:ext>
            </a:extLst>
          </p:cNvPr>
          <p:cNvSpPr>
            <a:spLocks noGrp="1"/>
          </p:cNvSpPr>
          <p:nvPr/>
        </p:nvSpPr>
        <p:spPr>
          <a:xfrm>
            <a:off x="923925" y="223837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9420"/>
          </a:bodyPr>
          <a:lstStyle/>
          <a:p>
            <a:pPr algn="l">
              <a:defRPr sz="1725" b="1">
                <a:solidFill>
                  <a:srgbClr val="155E9C"/>
                </a:solidFill>
                <a:latin typeface="SUIT"/>
                <a:ea typeface="SUIT"/>
                <a:cs typeface="SUIT"/>
              </a:defRPr>
            </a:pPr>
            <a:r>
              <a:rPr sz="1725" b="1">
                <a:solidFill>
                  <a:srgbClr val="155E9C"/>
                </a:solidFill>
                <a:latin typeface="SUIT"/>
                <a:ea typeface="SUIT"/>
                <a:cs typeface="SUIT"/>
              </a:rPr>
              <a:t>DirectLiNGAM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FF13A1-7575-4E15-A5BA-0B5C7244AC06}"/>
              </a:ext>
            </a:extLst>
          </p:cNvPr>
          <p:cNvSpPr>
            <a:spLocks noGrp="1"/>
          </p:cNvSpPr>
          <p:nvPr/>
        </p:nvSpPr>
        <p:spPr>
          <a:xfrm>
            <a:off x="923925" y="26670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/>
          </a:bodyPr>
          <a:lstStyle/>
          <a:p>
            <a:pPr algn="l">
              <a:defRPr sz="120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0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150 edges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8DD3EA-2539-4307-9C55-EC20C24D2166}"/>
              </a:ext>
            </a:extLst>
          </p:cNvPr>
          <p:cNvSpPr>
            <a:spLocks noGrp="1"/>
          </p:cNvSpPr>
          <p:nvPr/>
        </p:nvSpPr>
        <p:spPr>
          <a:xfrm>
            <a:off x="923925" y="3143250"/>
            <a:ext cx="26670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Skeleton F1 0.191</a:t>
            </a:r>
          </a:p>
          <a:p>
            <a:pPr algn="l">
              <a:defRPr sz="135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Directed F1 0.090</a:t>
            </a:r>
          </a:p>
          <a:p>
            <a:pPr algn="l">
              <a:defRPr sz="135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SHD 153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31966CB-06A3-49B6-A810-C13744BF6022}"/>
              </a:ext>
            </a:extLst>
          </p:cNvPr>
          <p:cNvSpPr>
            <a:spLocks noGrp="1"/>
          </p:cNvSpPr>
          <p:nvPr/>
        </p:nvSpPr>
        <p:spPr>
          <a:xfrm>
            <a:off x="4286250" y="2000250"/>
            <a:ext cx="314325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DEACD70-32D1-4CA5-973E-5866E4C23B28}"/>
              </a:ext>
            </a:extLst>
          </p:cNvPr>
          <p:cNvSpPr>
            <a:spLocks noGrp="1"/>
          </p:cNvSpPr>
          <p:nvPr/>
        </p:nvSpPr>
        <p:spPr>
          <a:xfrm>
            <a:off x="4495800" y="223837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9420"/>
          </a:bodyPr>
          <a:lstStyle/>
          <a:p>
            <a:pPr algn="l">
              <a:defRPr sz="1725" b="1">
                <a:solidFill>
                  <a:srgbClr val="155E9C"/>
                </a:solidFill>
                <a:latin typeface="SUIT"/>
                <a:ea typeface="SUIT"/>
                <a:cs typeface="SUIT"/>
              </a:defRPr>
            </a:pPr>
            <a:r>
              <a:rPr sz="1725" b="1">
                <a:solidFill>
                  <a:srgbClr val="155E9C"/>
                </a:solidFill>
                <a:latin typeface="SUIT"/>
                <a:ea typeface="SUIT"/>
                <a:cs typeface="SUIT"/>
              </a:rPr>
              <a:t>DAGMA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A508A7-BB15-4AA3-A39D-7236DD942D65}"/>
              </a:ext>
            </a:extLst>
          </p:cNvPr>
          <p:cNvSpPr>
            <a:spLocks noGrp="1"/>
          </p:cNvSpPr>
          <p:nvPr/>
        </p:nvSpPr>
        <p:spPr>
          <a:xfrm>
            <a:off x="4495800" y="26670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/>
          </a:bodyPr>
          <a:lstStyle/>
          <a:p>
            <a:pPr algn="l">
              <a:defRPr sz="120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0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29 edges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B1DE79-3AB1-4ABD-BBFA-906A17B2D9E4}"/>
              </a:ext>
            </a:extLst>
          </p:cNvPr>
          <p:cNvSpPr>
            <a:spLocks noGrp="1"/>
          </p:cNvSpPr>
          <p:nvPr/>
        </p:nvSpPr>
        <p:spPr>
          <a:xfrm>
            <a:off x="4495800" y="3143250"/>
            <a:ext cx="26670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Skeleton F1 0.281</a:t>
            </a:r>
          </a:p>
          <a:p>
            <a:pPr algn="l">
              <a:defRPr sz="135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Directed F1 0.035</a:t>
            </a:r>
          </a:p>
          <a:p>
            <a:pPr algn="l">
              <a:defRPr sz="135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SHD 48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98346C4-4CB7-442B-BC10-DC571CC4CBE9}"/>
              </a:ext>
            </a:extLst>
          </p:cNvPr>
          <p:cNvSpPr>
            <a:spLocks noGrp="1"/>
          </p:cNvSpPr>
          <p:nvPr/>
        </p:nvSpPr>
        <p:spPr>
          <a:xfrm>
            <a:off x="7858125" y="2000250"/>
            <a:ext cx="314325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2FC77E8-5429-4E23-823D-4E6B32FC18A7}"/>
              </a:ext>
            </a:extLst>
          </p:cNvPr>
          <p:cNvSpPr>
            <a:spLocks noGrp="1"/>
          </p:cNvSpPr>
          <p:nvPr/>
        </p:nvSpPr>
        <p:spPr>
          <a:xfrm>
            <a:off x="8067675" y="2238375"/>
            <a:ext cx="2381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9420"/>
          </a:bodyPr>
          <a:lstStyle/>
          <a:p>
            <a:pPr algn="l">
              <a:defRPr sz="1725" b="1">
                <a:solidFill>
                  <a:srgbClr val="155E9C"/>
                </a:solidFill>
                <a:latin typeface="SUIT"/>
                <a:ea typeface="SUIT"/>
                <a:cs typeface="SUIT"/>
              </a:defRPr>
            </a:pPr>
            <a:r>
              <a:rPr sz="1725" b="1">
                <a:solidFill>
                  <a:srgbClr val="155E9C"/>
                </a:solidFill>
                <a:latin typeface="SUIT"/>
                <a:ea typeface="SUIT"/>
                <a:cs typeface="SUIT"/>
              </a:rPr>
              <a:t>PCMCI+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7E4F13-A8A9-4DBC-A9E6-C1CE7F1055B4}"/>
              </a:ext>
            </a:extLst>
          </p:cNvPr>
          <p:cNvSpPr>
            <a:spLocks noGrp="1"/>
          </p:cNvSpPr>
          <p:nvPr/>
        </p:nvSpPr>
        <p:spPr>
          <a:xfrm>
            <a:off x="8067675" y="2667000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/>
          </a:bodyPr>
          <a:lstStyle/>
          <a:p>
            <a:pPr algn="l">
              <a:defRPr sz="120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20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tau_max=3, pc_alpha=0.05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2A7D54-6F4E-4F99-8D33-A5E9390880B3}"/>
              </a:ext>
            </a:extLst>
          </p:cNvPr>
          <p:cNvSpPr>
            <a:spLocks noGrp="1"/>
          </p:cNvSpPr>
          <p:nvPr/>
        </p:nvSpPr>
        <p:spPr>
          <a:xfrm>
            <a:off x="8067675" y="3143250"/>
            <a:ext cx="26670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Raw 123 relations</a:t>
            </a:r>
          </a:p>
          <a:p>
            <a:pPr algn="l">
              <a:defRPr sz="135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시간지연 77 · 동시점 46</a:t>
            </a:r>
          </a:p>
          <a:p>
            <a:pPr algn="l">
              <a:defRPr sz="1350" b="1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1">
                <a:solidFill>
                  <a:srgbClr val="132235"/>
                </a:solidFill>
                <a:latin typeface="SUIT"/>
                <a:ea typeface="SUIT"/>
                <a:cs typeface="SUIT"/>
              </a:rPr>
              <a:t>평가용 57 edges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E1040E6-E54D-46F4-8047-E5B26079ED23}"/>
              </a:ext>
            </a:extLst>
          </p:cNvPr>
          <p:cNvSpPr>
            <a:spLocks noGrp="1"/>
          </p:cNvSpPr>
          <p:nvPr/>
        </p:nvSpPr>
        <p:spPr>
          <a:xfrm>
            <a:off x="952500" y="5029200"/>
            <a:ext cx="95250" cy="95250"/>
          </a:xfrm>
          <a:prstGeom prst="ellipse">
            <a:avLst/>
          </a:prstGeom>
          <a:solidFill>
            <a:srgbClr val="F19A3E"/>
          </a:solidFill>
          <a:ln w="9525">
            <a:solidFill>
              <a:srgbClr val="F19A3E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33BD67-134B-41A5-A555-FE376F8FB54F}"/>
              </a:ext>
            </a:extLst>
          </p:cNvPr>
          <p:cNvSpPr>
            <a:spLocks noGrp="1"/>
          </p:cNvSpPr>
          <p:nvPr/>
        </p:nvSpPr>
        <p:spPr>
          <a:xfrm>
            <a:off x="1162050" y="4953000"/>
            <a:ext cx="93154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42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TEP에는 강한 시간적 자기상관과 폐루프 제어가 존재한다.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42446C0-C5DD-493B-B94B-9F7D6B8397F1}"/>
              </a:ext>
            </a:extLst>
          </p:cNvPr>
          <p:cNvSpPr>
            <a:spLocks noGrp="1"/>
          </p:cNvSpPr>
          <p:nvPr/>
        </p:nvSpPr>
        <p:spPr>
          <a:xfrm>
            <a:off x="952500" y="5457825"/>
            <a:ext cx="95250" cy="95250"/>
          </a:xfrm>
          <a:prstGeom prst="ellipse">
            <a:avLst/>
          </a:prstGeom>
          <a:solidFill>
            <a:srgbClr val="F19A3E"/>
          </a:solidFill>
          <a:ln w="9525">
            <a:solidFill>
              <a:srgbClr val="F19A3E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25F09D1-D35C-4459-A4C0-225CAA9F0A52}"/>
              </a:ext>
            </a:extLst>
          </p:cNvPr>
          <p:cNvSpPr>
            <a:spLocks noGrp="1"/>
          </p:cNvSpPr>
          <p:nvPr/>
        </p:nvSpPr>
        <p:spPr>
          <a:xfrm>
            <a:off x="1162050" y="5381625"/>
            <a:ext cx="93154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425" b="0">
                <a:solidFill>
                  <a:srgbClr val="132235"/>
                </a:solidFill>
                <a:latin typeface="SUIT"/>
                <a:ea typeface="SUIT"/>
                <a:cs typeface="SUIT"/>
              </a:rPr>
              <a:t>DirectLiNGAM에 필요한 비가우시안 특성이 약하게 나타날 가능성도 확인했다.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30EEAA2-A14C-4B71-BABB-8D319C63390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 algn="l">
              <a:defRPr sz="7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7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닦고조이고기름치자  |  오성민 · 황주희 · 정창민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8FEA1FF-BD76-4FFE-980D-49F82A4A6FA4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82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7049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C9703C-AB45-43C5-B429-A7EF5A6ECC9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9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11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2D6EF6-AE70-42F9-924D-BF38501678CD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현재 결과의 해석과 다음 단계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B2D871-8FEE-455C-AD0B-EE20695A77B4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125" b="0">
                <a:solidFill>
                  <a:srgbClr val="617082"/>
                </a:solidFill>
                <a:latin typeface="SUIT"/>
                <a:ea typeface="SUIT"/>
                <a:cs typeface="SUIT"/>
              </a:rPr>
              <a:t>초기 기준 결과만으로 연구를 결론내릴 수 없으며, GT를 보지 않는 최적화가 필요하다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67F4E3-90B8-4910-A03E-B0EA1CFF89E0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19050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E2C3263-C4B9-4272-AD29-51A173821C67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4429125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D24889-069C-428E-9652-A763E1949C4A}"/>
              </a:ext>
            </a:extLst>
          </p:cNvPr>
          <p:cNvSpPr>
            <a:spLocks noGrp="1"/>
          </p:cNvSpPr>
          <p:nvPr/>
        </p:nvSpPr>
        <p:spPr>
          <a:xfrm>
            <a:off x="1143000" y="23812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/>
          </a:bodyPr>
          <a:lstStyle/>
          <a:p>
            <a:pPr algn="l">
              <a:defRPr sz="1800" b="1">
                <a:solidFill>
                  <a:srgbClr val="155E9C"/>
                </a:solidFill>
                <a:latin typeface="SUIT"/>
                <a:ea typeface="SUIT"/>
                <a:cs typeface="SUIT"/>
              </a:defRPr>
            </a:pPr>
            <a:r>
              <a:rPr sz="1800" b="1">
                <a:solidFill>
                  <a:srgbClr val="155E9C"/>
                </a:solidFill>
                <a:latin typeface="SUIT"/>
                <a:ea typeface="SUIT"/>
                <a:cs typeface="SUIT"/>
              </a:rPr>
              <a:t>현재 위치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8B66D2B-66DB-45A7-BC3B-A77ADE2E3772}"/>
              </a:ext>
            </a:extLst>
          </p:cNvPr>
          <p:cNvSpPr>
            <a:spLocks noGrp="1"/>
          </p:cNvSpPr>
          <p:nvPr/>
        </p:nvSpPr>
        <p:spPr>
          <a:xfrm>
            <a:off x="1143000" y="2981325"/>
            <a:ext cx="95250" cy="95250"/>
          </a:xfrm>
          <a:prstGeom prst="ellipse">
            <a:avLst/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0920DE-9C96-4381-9BEA-855BC5D394EB}"/>
              </a:ext>
            </a:extLst>
          </p:cNvPr>
          <p:cNvSpPr>
            <a:spLocks noGrp="1"/>
          </p:cNvSpPr>
          <p:nvPr/>
        </p:nvSpPr>
        <p:spPr>
          <a:xfrm>
            <a:off x="1352550" y="2905125"/>
            <a:ext cx="34099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초기 F1은 대체로 0.2~0.3 수준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8AA465F-CAFC-4FA9-9546-252F5C9ABFE9}"/>
              </a:ext>
            </a:extLst>
          </p:cNvPr>
          <p:cNvSpPr>
            <a:spLocks noGrp="1"/>
          </p:cNvSpPr>
          <p:nvPr/>
        </p:nvSpPr>
        <p:spPr>
          <a:xfrm>
            <a:off x="1143000" y="3457575"/>
            <a:ext cx="95250" cy="95250"/>
          </a:xfrm>
          <a:prstGeom prst="ellipse">
            <a:avLst/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EEC58D-5A0C-46E2-8118-444F3D7342FE}"/>
              </a:ext>
            </a:extLst>
          </p:cNvPr>
          <p:cNvSpPr>
            <a:spLocks noGrp="1"/>
          </p:cNvSpPr>
          <p:nvPr/>
        </p:nvSpPr>
        <p:spPr>
          <a:xfrm>
            <a:off x="1352550" y="3381375"/>
            <a:ext cx="34099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알고리즘별 오류 패턴을 확인 중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7AD52EE-C4F0-452C-8DD4-5E502E174142}"/>
              </a:ext>
            </a:extLst>
          </p:cNvPr>
          <p:cNvSpPr>
            <a:spLocks noGrp="1"/>
          </p:cNvSpPr>
          <p:nvPr/>
        </p:nvSpPr>
        <p:spPr>
          <a:xfrm>
            <a:off x="6905625" y="2095500"/>
            <a:ext cx="4429125" cy="2095500"/>
          </a:xfrm>
          <a:prstGeom prst="roundRect">
            <a:avLst>
              <a:gd name="adj" fmla="val 3636"/>
            </a:avLst>
          </a:prstGeom>
          <a:solidFill>
            <a:srgbClr val="E8F5F3"/>
          </a:solidFill>
          <a:ln w="9525">
            <a:solidFill>
              <a:srgbClr val="E8F5F3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2E662C6-7FDD-4FB7-9384-3C31D13F0A2C}"/>
              </a:ext>
            </a:extLst>
          </p:cNvPr>
          <p:cNvSpPr>
            <a:spLocks noGrp="1"/>
          </p:cNvSpPr>
          <p:nvPr/>
        </p:nvSpPr>
        <p:spPr>
          <a:xfrm>
            <a:off x="7191375" y="23812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/>
          </a:bodyPr>
          <a:lstStyle/>
          <a:p>
            <a:pPr algn="l">
              <a:defRPr sz="1800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1800" b="1">
                <a:solidFill>
                  <a:srgbClr val="0F9D8A"/>
                </a:solidFill>
                <a:latin typeface="SUIT"/>
                <a:ea typeface="SUIT"/>
                <a:cs typeface="SUIT"/>
              </a:rPr>
              <a:t>다음 단계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299AC88-135A-4AFA-9A2D-0645631D63EE}"/>
              </a:ext>
            </a:extLst>
          </p:cNvPr>
          <p:cNvSpPr>
            <a:spLocks noGrp="1"/>
          </p:cNvSpPr>
          <p:nvPr/>
        </p:nvSpPr>
        <p:spPr>
          <a:xfrm>
            <a:off x="7191375" y="2981325"/>
            <a:ext cx="95250" cy="95250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845C4F-54BB-41CE-9628-1B4C54DD3687}"/>
              </a:ext>
            </a:extLst>
          </p:cNvPr>
          <p:cNvSpPr>
            <a:spLocks noGrp="1"/>
          </p:cNvSpPr>
          <p:nvPr/>
        </p:nvSpPr>
        <p:spPr>
          <a:xfrm>
            <a:off x="7400925" y="2905125"/>
            <a:ext cx="34099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GT 없이 설정을 합리적으로 개선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9EE863D-402E-4692-A954-5A3A2B8B625A}"/>
              </a:ext>
            </a:extLst>
          </p:cNvPr>
          <p:cNvSpPr>
            <a:spLocks noGrp="1"/>
          </p:cNvSpPr>
          <p:nvPr/>
        </p:nvSpPr>
        <p:spPr>
          <a:xfrm>
            <a:off x="7191375" y="3457575"/>
            <a:ext cx="95250" cy="95250"/>
          </a:xfrm>
          <a:prstGeom prst="ellipse">
            <a:avLst/>
          </a:prstGeom>
          <a:solidFill>
            <a:srgbClr val="0F9D8A"/>
          </a:solidFill>
          <a:ln w="9525">
            <a:solidFill>
              <a:srgbClr val="0F9D8A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5E4F209-50EC-4386-9861-CB618485B564}"/>
              </a:ext>
            </a:extLst>
          </p:cNvPr>
          <p:cNvSpPr>
            <a:spLocks noGrp="1"/>
          </p:cNvSpPr>
          <p:nvPr/>
        </p:nvSpPr>
        <p:spPr>
          <a:xfrm>
            <a:off x="7400925" y="3381375"/>
            <a:ext cx="34099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서로 다른 품질의 그래프 5개 확보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DDE0A4FA-8FB5-4BAD-9A36-FEC9A8A1BB0C}"/>
              </a:ext>
            </a:extLst>
          </p:cNvPr>
          <p:cNvSpPr>
            <a:spLocks noGrp="1"/>
          </p:cNvSpPr>
          <p:nvPr/>
        </p:nvSpPr>
        <p:spPr>
          <a:xfrm>
            <a:off x="5524500" y="3000375"/>
            <a:ext cx="952500" cy="209550"/>
          </a:xfrm>
          <a:prstGeom prst="rightArrow">
            <a:avLst/>
          </a:prstGeom>
          <a:solidFill>
            <a:srgbClr val="F19A3E"/>
          </a:solidFill>
          <a:ln w="9525">
            <a:solidFill>
              <a:srgbClr val="F19A3E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04C9B67-923F-4B2B-B729-0383F1E661A9}"/>
              </a:ext>
            </a:extLst>
          </p:cNvPr>
          <p:cNvSpPr>
            <a:spLocks noGrp="1"/>
          </p:cNvSpPr>
          <p:nvPr/>
        </p:nvSpPr>
        <p:spPr>
          <a:xfrm>
            <a:off x="2476500" y="4905375"/>
            <a:ext cx="7239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028"/>
          </a:bodyPr>
          <a:lstStyle/>
          <a:p>
            <a:pPr algn="ctr">
              <a:defRPr sz="18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18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연구 실패가 아니라</a:t>
            </a:r>
          </a:p>
          <a:p>
            <a:pPr algn="ctr">
              <a:defRPr sz="18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18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검증 가능한 그래프 범위를 넓히는 단계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578B89F-B1A4-4D0A-AF6B-B72B5193AD5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 algn="l">
              <a:defRPr sz="7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7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닦고조이고기름치자  |  오성민 · 황주희 · 정창민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4540965-B0D6-4F9F-B8CC-34F14E571381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82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8373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66AF543D-D306-4319-AFCD-86214973055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9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12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64AD38-9345-493A-B6A4-8C089ED8C7BF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향후 분석: 공정 복구를 위한 개입 추천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2652CA-4A76-4E02-9A82-D047A1482C8F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1125" b="0">
                <a:solidFill>
                  <a:srgbClr val="617082"/>
                </a:solidFill>
                <a:latin typeface="SUIT"/>
                <a:ea typeface="SUIT"/>
                <a:cs typeface="SUIT"/>
              </a:rPr>
              <a:t>Fault · Action · Target을 정한 뒤, 5개 Optimized Graph를 모두 SCM과 Simulator 검증에 사용한다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5F1B67-D278-494F-8421-DB5D5B9C68A7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19050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2B9E818-7A57-40F6-B367-2EDD477618CE}"/>
              </a:ext>
            </a:extLst>
          </p:cNvPr>
          <p:cNvSpPr>
            <a:spLocks noGrp="1"/>
          </p:cNvSpPr>
          <p:nvPr/>
        </p:nvSpPr>
        <p:spPr>
          <a:xfrm>
            <a:off x="523875" y="2571750"/>
            <a:ext cx="1504950" cy="762000"/>
          </a:xfrm>
          <a:prstGeom prst="roundRect">
            <a:avLst>
              <a:gd name="adj" fmla="val 10000"/>
            </a:avLst>
          </a:prstGeom>
          <a:solidFill>
            <a:srgbClr val="F19A3E"/>
          </a:solidFill>
          <a:ln w="9525">
            <a:solidFill>
              <a:srgbClr val="F19A3E"/>
            </a:solidFill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55755B-E755-4A9B-A392-E63F4E791FAA}"/>
              </a:ext>
            </a:extLst>
          </p:cNvPr>
          <p:cNvSpPr>
            <a:spLocks noGrp="1"/>
          </p:cNvSpPr>
          <p:nvPr/>
        </p:nvSpPr>
        <p:spPr>
          <a:xfrm>
            <a:off x="619125" y="2686050"/>
            <a:ext cx="13144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Fault</a:t>
            </a:r>
          </a:p>
          <a:p>
            <a:pPr algn="ctr">
              <a:defRPr sz="127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어떤 이상을 복구?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2C7D0694-3800-47E3-9257-65D2840FF1BC}"/>
              </a:ext>
            </a:extLst>
          </p:cNvPr>
          <p:cNvSpPr>
            <a:spLocks noGrp="1"/>
          </p:cNvSpPr>
          <p:nvPr/>
        </p:nvSpPr>
        <p:spPr>
          <a:xfrm>
            <a:off x="2047875" y="2838450"/>
            <a:ext cx="28575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863CBB8-6DDB-40D5-94D9-5F1A66C12A14}"/>
              </a:ext>
            </a:extLst>
          </p:cNvPr>
          <p:cNvSpPr>
            <a:spLocks noGrp="1"/>
          </p:cNvSpPr>
          <p:nvPr/>
        </p:nvSpPr>
        <p:spPr>
          <a:xfrm>
            <a:off x="2362200" y="2571750"/>
            <a:ext cx="1504950" cy="762000"/>
          </a:xfrm>
          <a:prstGeom prst="roundRect">
            <a:avLst>
              <a:gd name="adj" fmla="val 10000"/>
            </a:avLst>
          </a:prstGeom>
          <a:solidFill>
            <a:srgbClr val="F19A3E"/>
          </a:solidFill>
          <a:ln w="9525">
            <a:solidFill>
              <a:srgbClr val="F19A3E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DB8C06C-DA38-4CDB-A7DA-34E769B57B2A}"/>
              </a:ext>
            </a:extLst>
          </p:cNvPr>
          <p:cNvSpPr>
            <a:spLocks noGrp="1"/>
          </p:cNvSpPr>
          <p:nvPr/>
        </p:nvSpPr>
        <p:spPr>
          <a:xfrm>
            <a:off x="2457450" y="2686050"/>
            <a:ext cx="13144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Action</a:t>
            </a:r>
          </a:p>
          <a:p>
            <a:pPr algn="ctr">
              <a:defRPr sz="127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무엇을 조절?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61069D33-244A-4EB2-B94B-55F0B0A26535}"/>
              </a:ext>
            </a:extLst>
          </p:cNvPr>
          <p:cNvSpPr>
            <a:spLocks noGrp="1"/>
          </p:cNvSpPr>
          <p:nvPr/>
        </p:nvSpPr>
        <p:spPr>
          <a:xfrm>
            <a:off x="3886200" y="2838450"/>
            <a:ext cx="28575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A2D0438-FD31-48D1-B7F2-51C9F4DA44D5}"/>
              </a:ext>
            </a:extLst>
          </p:cNvPr>
          <p:cNvSpPr>
            <a:spLocks noGrp="1"/>
          </p:cNvSpPr>
          <p:nvPr/>
        </p:nvSpPr>
        <p:spPr>
          <a:xfrm>
            <a:off x="4200525" y="2571750"/>
            <a:ext cx="1504950" cy="762000"/>
          </a:xfrm>
          <a:prstGeom prst="roundRect">
            <a:avLst>
              <a:gd name="adj" fmla="val 10000"/>
            </a:avLst>
          </a:prstGeom>
          <a:solidFill>
            <a:srgbClr val="F19A3E"/>
          </a:solidFill>
          <a:ln w="9525">
            <a:solidFill>
              <a:srgbClr val="F19A3E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EC1DC5-3E79-4E4D-BDF3-9BF808916BAE}"/>
              </a:ext>
            </a:extLst>
          </p:cNvPr>
          <p:cNvSpPr>
            <a:spLocks noGrp="1"/>
          </p:cNvSpPr>
          <p:nvPr/>
        </p:nvSpPr>
        <p:spPr>
          <a:xfrm>
            <a:off x="4295775" y="2686050"/>
            <a:ext cx="13144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Target</a:t>
            </a:r>
          </a:p>
          <a:p>
            <a:pPr algn="ctr">
              <a:defRPr sz="127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무엇을 정상화?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4F1766B9-62FC-4C9E-A0C5-6CC91FACC1B1}"/>
              </a:ext>
            </a:extLst>
          </p:cNvPr>
          <p:cNvSpPr>
            <a:spLocks noGrp="1"/>
          </p:cNvSpPr>
          <p:nvPr/>
        </p:nvSpPr>
        <p:spPr>
          <a:xfrm>
            <a:off x="5724525" y="2838450"/>
            <a:ext cx="28575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A987402-B1BC-4794-9AC8-88C8B073CF08}"/>
              </a:ext>
            </a:extLst>
          </p:cNvPr>
          <p:cNvSpPr>
            <a:spLocks noGrp="1"/>
          </p:cNvSpPr>
          <p:nvPr/>
        </p:nvSpPr>
        <p:spPr>
          <a:xfrm>
            <a:off x="6038850" y="2571750"/>
            <a:ext cx="1504950" cy="762000"/>
          </a:xfrm>
          <a:prstGeom prst="roundRect">
            <a:avLst>
              <a:gd name="adj" fmla="val 10000"/>
            </a:avLst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8D3750-0A0D-4F0A-9D2A-3DEB41E033D2}"/>
              </a:ext>
            </a:extLst>
          </p:cNvPr>
          <p:cNvSpPr>
            <a:spLocks noGrp="1"/>
          </p:cNvSpPr>
          <p:nvPr/>
        </p:nvSpPr>
        <p:spPr>
          <a:xfrm>
            <a:off x="6134100" y="2686050"/>
            <a:ext cx="13144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SCM</a:t>
            </a:r>
          </a:p>
          <a:p>
            <a:pPr algn="ctr">
              <a:defRPr sz="127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수식으로 표현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DB0E1084-889D-4E5D-A15B-1510E632E814}"/>
              </a:ext>
            </a:extLst>
          </p:cNvPr>
          <p:cNvSpPr>
            <a:spLocks noGrp="1"/>
          </p:cNvSpPr>
          <p:nvPr/>
        </p:nvSpPr>
        <p:spPr>
          <a:xfrm>
            <a:off x="7562850" y="2838450"/>
            <a:ext cx="28575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329A5D7-F697-493C-9C3A-97C0DBCA87ED}"/>
              </a:ext>
            </a:extLst>
          </p:cNvPr>
          <p:cNvSpPr>
            <a:spLocks noGrp="1"/>
          </p:cNvSpPr>
          <p:nvPr/>
        </p:nvSpPr>
        <p:spPr>
          <a:xfrm>
            <a:off x="7877175" y="2571750"/>
            <a:ext cx="1504950" cy="762000"/>
          </a:xfrm>
          <a:prstGeom prst="roundRect">
            <a:avLst>
              <a:gd name="adj" fmla="val 10000"/>
            </a:avLst>
          </a:prstGeom>
          <a:solidFill>
            <a:srgbClr val="155E9C"/>
          </a:solidFill>
          <a:ln w="9525">
            <a:solidFill>
              <a:srgbClr val="155E9C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FF1120C-4AA0-4CF9-8CD8-8B77CB8FB031}"/>
              </a:ext>
            </a:extLst>
          </p:cNvPr>
          <p:cNvSpPr>
            <a:spLocks noGrp="1"/>
          </p:cNvSpPr>
          <p:nvPr/>
        </p:nvSpPr>
        <p:spPr>
          <a:xfrm>
            <a:off x="7972425" y="2686050"/>
            <a:ext cx="13144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709"/>
          </a:bodyPr>
          <a:lstStyle/>
          <a:p>
            <a:pPr algn="ctr">
              <a:defRPr sz="127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Counterfactual</a:t>
            </a:r>
          </a:p>
          <a:p>
            <a:pPr algn="ctr">
              <a:defRPr sz="127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개입안 생성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48E43594-0453-499F-8C02-A739FD9A312F}"/>
              </a:ext>
            </a:extLst>
          </p:cNvPr>
          <p:cNvSpPr>
            <a:spLocks noGrp="1"/>
          </p:cNvSpPr>
          <p:nvPr/>
        </p:nvSpPr>
        <p:spPr>
          <a:xfrm>
            <a:off x="9401175" y="2838450"/>
            <a:ext cx="285750" cy="209550"/>
          </a:xfrm>
          <a:prstGeom prst="rightArrow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DB2FD24-389D-4493-8823-10B044745D9C}"/>
              </a:ext>
            </a:extLst>
          </p:cNvPr>
          <p:cNvSpPr>
            <a:spLocks noGrp="1"/>
          </p:cNvSpPr>
          <p:nvPr/>
        </p:nvSpPr>
        <p:spPr>
          <a:xfrm>
            <a:off x="9715500" y="2571750"/>
            <a:ext cx="1504950" cy="76200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 w="9525">
            <a:solidFill>
              <a:srgbClr val="2E8B57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676E84-899A-49DD-BC2B-2E89480E6C66}"/>
              </a:ext>
            </a:extLst>
          </p:cNvPr>
          <p:cNvSpPr>
            <a:spLocks noGrp="1"/>
          </p:cNvSpPr>
          <p:nvPr/>
        </p:nvSpPr>
        <p:spPr>
          <a:xfrm>
            <a:off x="9810750" y="2686050"/>
            <a:ext cx="13144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TEP Simulator</a:t>
            </a:r>
          </a:p>
          <a:p>
            <a:pPr algn="ctr">
              <a:defRPr sz="1275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275" b="1">
                <a:solidFill>
                  <a:srgbClr val="FFFFFF"/>
                </a:solidFill>
                <a:latin typeface="SUIT"/>
                <a:ea typeface="SUIT"/>
                <a:cs typeface="SUIT"/>
              </a:rPr>
              <a:t>실제 반응 검증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1E67DEE-507B-4F6F-A237-A2F202340FEF}"/>
              </a:ext>
            </a:extLst>
          </p:cNvPr>
          <p:cNvSpPr>
            <a:spLocks noGrp="1"/>
          </p:cNvSpPr>
          <p:nvPr/>
        </p:nvSpPr>
        <p:spPr>
          <a:xfrm>
            <a:off x="857250" y="447675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9697"/>
          </a:bodyPr>
          <a:lstStyle/>
          <a:p>
            <a:pPr algn="l">
              <a:defRPr sz="165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165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최종 비교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ECC8AE2-731C-4B50-B0FA-2FC86D782477}"/>
              </a:ext>
            </a:extLst>
          </p:cNvPr>
          <p:cNvSpPr>
            <a:spLocks noGrp="1"/>
          </p:cNvSpPr>
          <p:nvPr/>
        </p:nvSpPr>
        <p:spPr>
          <a:xfrm>
            <a:off x="2762250" y="4429125"/>
            <a:ext cx="38100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857"/>
          </a:bodyPr>
          <a:lstStyle/>
          <a:p>
            <a:pPr algn="l">
              <a:defRPr sz="1575" b="1">
                <a:solidFill>
                  <a:srgbClr val="155E9C"/>
                </a:solidFill>
                <a:latin typeface="SUIT"/>
                <a:ea typeface="SUIT"/>
                <a:cs typeface="SUIT"/>
              </a:defRPr>
            </a:pPr>
            <a:r>
              <a:rPr sz="1575" b="1">
                <a:solidFill>
                  <a:srgbClr val="155E9C"/>
                </a:solidFill>
                <a:latin typeface="SUIT"/>
                <a:ea typeface="SUIT"/>
                <a:cs typeface="SUIT"/>
              </a:rPr>
              <a:t>전체 그래프 정확도  ↔  Recovery / Safety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4F0A415-6461-40D4-B072-503DF9F79031}"/>
              </a:ext>
            </a:extLst>
          </p:cNvPr>
          <p:cNvSpPr>
            <a:spLocks noGrp="1"/>
          </p:cNvSpPr>
          <p:nvPr/>
        </p:nvSpPr>
        <p:spPr>
          <a:xfrm>
            <a:off x="6953250" y="4429125"/>
            <a:ext cx="41910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857"/>
          </a:bodyPr>
          <a:lstStyle/>
          <a:p>
            <a:pPr algn="l">
              <a:defRPr sz="15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15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핵심 경로 정확도  ↔  Recovery / Safety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7F817EE-00EC-4BD5-80D2-C945509C48AA}"/>
              </a:ext>
            </a:extLst>
          </p:cNvPr>
          <p:cNvSpPr>
            <a:spLocks noGrp="1"/>
          </p:cNvSpPr>
          <p:nvPr/>
        </p:nvSpPr>
        <p:spPr>
          <a:xfrm>
            <a:off x="904875" y="5334000"/>
            <a:ext cx="10287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212"/>
          </a:bodyPr>
          <a:lstStyle/>
          <a:p>
            <a:pPr algn="ctr">
              <a:defRPr sz="165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165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핵심 경로 정확도가 전체 F1 이후에도 추가 설명력을 주는지 검증한다.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EEA04EB-15EB-4EE5-98BA-226FDBB383B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 algn="l">
              <a:defRPr sz="7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7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닦고조이고기름치자  |  오성민 · 황주희 · 정창민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5852DE-4FEB-405D-9C6D-E45FB761027E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82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16592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9C75F7-F475-4561-817E-80B575CA75A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28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75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975" b="1">
                <a:solidFill>
                  <a:srgbClr val="0F9D8A"/>
                </a:solidFill>
                <a:latin typeface="SUIT"/>
                <a:ea typeface="SUIT"/>
                <a:cs typeface="SUIT"/>
              </a:rPr>
              <a:t>13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7D3A77-01B4-4863-9505-D699A89E5470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0B1F33"/>
                </a:solidFill>
                <a:latin typeface="SUIT"/>
                <a:ea typeface="SUIT"/>
                <a:cs typeface="SUIT"/>
              </a:defRPr>
            </a:pPr>
            <a:r>
              <a:rPr sz="2400" b="1">
                <a:solidFill>
                  <a:srgbClr val="0B1F33"/>
                </a:solidFill>
                <a:latin typeface="SUIT"/>
                <a:ea typeface="SUIT"/>
                <a:cs typeface="SUIT"/>
              </a:rPr>
              <a:t>현재 위치와 다음 단계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BE7E2C-DCA3-4F8A-9843-5F1E1D1DD65C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19050"/>
          </a:xfrm>
          <a:prstGeom prst="rect">
            <a:avLst/>
          </a:prstGeom>
          <a:solidFill>
            <a:srgbClr val="DCE7F0"/>
          </a:solidFill>
          <a:ln w="9525">
            <a:solidFill>
              <a:srgbClr val="DCE7F0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D3F65D-B7A1-40ED-8555-BA40A7F698A0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/>
          </a:bodyPr>
          <a:lstStyle/>
          <a:p>
            <a:pPr algn="l">
              <a:defRPr sz="1800" b="1">
                <a:solidFill>
                  <a:srgbClr val="0F9D8A"/>
                </a:solidFill>
                <a:latin typeface="SUIT"/>
                <a:ea typeface="SUIT"/>
                <a:cs typeface="SUIT"/>
              </a:defRPr>
            </a:pPr>
            <a:r>
              <a:rPr sz="1800" b="1">
                <a:solidFill>
                  <a:srgbClr val="0F9D8A"/>
                </a:solidFill>
                <a:latin typeface="SUIT"/>
                <a:ea typeface="SUIT"/>
                <a:cs typeface="SUIT"/>
              </a:rPr>
              <a:t>완료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4B7571-6A98-45C2-8C99-D3ADA53D7927}"/>
              </a:ext>
            </a:extLst>
          </p:cNvPr>
          <p:cNvSpPr>
            <a:spLocks noGrp="1"/>
          </p:cNvSpPr>
          <p:nvPr/>
        </p:nvSpPr>
        <p:spPr>
          <a:xfrm>
            <a:off x="1000125" y="2428875"/>
            <a:ext cx="4476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✓  TEP 데이터와 GT 정렬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93B19B-F0E0-47E6-AFF5-3347DD201729}"/>
              </a:ext>
            </a:extLst>
          </p:cNvPr>
          <p:cNvSpPr>
            <a:spLocks noGrp="1"/>
          </p:cNvSpPr>
          <p:nvPr/>
        </p:nvSpPr>
        <p:spPr>
          <a:xfrm>
            <a:off x="1000125" y="2790825"/>
            <a:ext cx="4476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✓  공통 전처리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38B072-5F35-40A2-80DE-4C9B8A144FBC}"/>
              </a:ext>
            </a:extLst>
          </p:cNvPr>
          <p:cNvSpPr>
            <a:spLocks noGrp="1"/>
          </p:cNvSpPr>
          <p:nvPr/>
        </p:nvSpPr>
        <p:spPr>
          <a:xfrm>
            <a:off x="1000125" y="3152775"/>
            <a:ext cx="4476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✓  5개 인과구조 추정 알고리즘 실행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057594-0B63-4AA9-A84E-6956EDF9969F}"/>
              </a:ext>
            </a:extLst>
          </p:cNvPr>
          <p:cNvSpPr>
            <a:spLocks noGrp="1"/>
          </p:cNvSpPr>
          <p:nvPr/>
        </p:nvSpPr>
        <p:spPr>
          <a:xfrm>
            <a:off x="1000125" y="3514725"/>
            <a:ext cx="4476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✓  초기 구조복원 성능 평가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ED0283-7A9A-4DB3-8479-77E49FEABD65}"/>
              </a:ext>
            </a:extLst>
          </p:cNvPr>
          <p:cNvSpPr>
            <a:spLocks noGrp="1"/>
          </p:cNvSpPr>
          <p:nvPr/>
        </p:nvSpPr>
        <p:spPr>
          <a:xfrm>
            <a:off x="1000125" y="3876675"/>
            <a:ext cx="4476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✓  설정 민감도 및 재현성 확인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A06D11-4EE5-4877-AE64-558182E3F14E}"/>
              </a:ext>
            </a:extLst>
          </p:cNvPr>
          <p:cNvSpPr>
            <a:spLocks noGrp="1"/>
          </p:cNvSpPr>
          <p:nvPr/>
        </p:nvSpPr>
        <p:spPr>
          <a:xfrm>
            <a:off x="1000125" y="4238625"/>
            <a:ext cx="4476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✓  알고리즘별 문제점 진단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E09D56-3304-47AC-BF45-03E2AAFFA540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/>
          </a:bodyPr>
          <a:lstStyle/>
          <a:p>
            <a:pPr algn="l">
              <a:defRPr sz="1800" b="1">
                <a:solidFill>
                  <a:srgbClr val="F19A3E"/>
                </a:solidFill>
                <a:latin typeface="SUIT"/>
                <a:ea typeface="SUIT"/>
                <a:cs typeface="SUIT"/>
              </a:defRPr>
            </a:pPr>
            <a:r>
              <a:rPr sz="1800" b="1">
                <a:solidFill>
                  <a:srgbClr val="F19A3E"/>
                </a:solidFill>
                <a:latin typeface="SUIT"/>
                <a:ea typeface="SUIT"/>
                <a:cs typeface="SUIT"/>
              </a:rPr>
              <a:t>다음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CC174A-8D4A-4A13-BE00-8AE12FECC64C}"/>
              </a:ext>
            </a:extLst>
          </p:cNvPr>
          <p:cNvSpPr>
            <a:spLocks noGrp="1"/>
          </p:cNvSpPr>
          <p:nvPr/>
        </p:nvSpPr>
        <p:spPr>
          <a:xfrm>
            <a:off x="6715125" y="2428875"/>
            <a:ext cx="4429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1.  GT 없이 알고리즘 최적화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2F6A03-31E7-4FB1-A835-E0B240178F6D}"/>
              </a:ext>
            </a:extLst>
          </p:cNvPr>
          <p:cNvSpPr>
            <a:spLocks noGrp="1"/>
          </p:cNvSpPr>
          <p:nvPr/>
        </p:nvSpPr>
        <p:spPr>
          <a:xfrm>
            <a:off x="6715125" y="2790825"/>
            <a:ext cx="4429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2.  Optimized Graph 5개 확정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99F670-F968-489B-A65E-49353D7CCAA2}"/>
              </a:ext>
            </a:extLst>
          </p:cNvPr>
          <p:cNvSpPr>
            <a:spLocks noGrp="1"/>
          </p:cNvSpPr>
          <p:nvPr/>
        </p:nvSpPr>
        <p:spPr>
          <a:xfrm>
            <a:off x="6715125" y="3152775"/>
            <a:ext cx="4429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3.  핵심 인과경로 정확도 계산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645870-990B-4C77-B69B-8D18ACE04EEF}"/>
              </a:ext>
            </a:extLst>
          </p:cNvPr>
          <p:cNvSpPr>
            <a:spLocks noGrp="1"/>
          </p:cNvSpPr>
          <p:nvPr/>
        </p:nvSpPr>
        <p:spPr>
          <a:xfrm>
            <a:off x="6715125" y="3514725"/>
            <a:ext cx="4429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4.  SCM·반사실적 개입 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2697EB-78BD-4756-87B1-10191BDC9FB8}"/>
              </a:ext>
            </a:extLst>
          </p:cNvPr>
          <p:cNvSpPr>
            <a:spLocks noGrp="1"/>
          </p:cNvSpPr>
          <p:nvPr/>
        </p:nvSpPr>
        <p:spPr>
          <a:xfrm>
            <a:off x="6715125" y="3876675"/>
            <a:ext cx="4429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5.  TEP Simulator로 Recovery / Safety 평가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7BAFA3-F264-4480-BBA4-AD89406931D7}"/>
              </a:ext>
            </a:extLst>
          </p:cNvPr>
          <p:cNvSpPr>
            <a:spLocks noGrp="1"/>
          </p:cNvSpPr>
          <p:nvPr/>
        </p:nvSpPr>
        <p:spPr>
          <a:xfrm>
            <a:off x="6715125" y="4238625"/>
            <a:ext cx="4429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0">
                <a:solidFill>
                  <a:srgbClr val="132235"/>
                </a:solidFill>
                <a:latin typeface="SUIT"/>
                <a:ea typeface="SUIT"/>
                <a:cs typeface="SUIT"/>
              </a:defRPr>
            </a:pPr>
            <a:r>
              <a:rPr sz="1350" b="0">
                <a:solidFill>
                  <a:srgbClr val="132235"/>
                </a:solidFill>
                <a:latin typeface="SUIT"/>
                <a:ea typeface="SUIT"/>
                <a:cs typeface="SUIT"/>
              </a:rPr>
              <a:t>6.  두 정확도 지표의 설명력 비교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3F610C9-772A-4AE1-B3ED-58B9E2FF391A}"/>
              </a:ext>
            </a:extLst>
          </p:cNvPr>
          <p:cNvSpPr>
            <a:spLocks noGrp="1"/>
          </p:cNvSpPr>
          <p:nvPr/>
        </p:nvSpPr>
        <p:spPr>
          <a:xfrm>
            <a:off x="1000125" y="5095875"/>
            <a:ext cx="10096500" cy="685800"/>
          </a:xfrm>
          <a:prstGeom prst="roundRect">
            <a:avLst>
              <a:gd name="adj" fmla="val 11111"/>
            </a:avLst>
          </a:prstGeom>
          <a:solidFill>
            <a:srgbClr val="0B1F33"/>
          </a:solidFill>
          <a:ln w="9525">
            <a:solidFill>
              <a:srgbClr val="0B1F33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7701C52-8BFC-410D-A570-0235BCB4A327}"/>
              </a:ext>
            </a:extLst>
          </p:cNvPr>
          <p:cNvSpPr>
            <a:spLocks noGrp="1"/>
          </p:cNvSpPr>
          <p:nvPr/>
        </p:nvSpPr>
        <p:spPr>
          <a:xfrm>
            <a:off x="1285875" y="5286375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333"/>
          </a:bodyPr>
          <a:lstStyle/>
          <a:p>
            <a:pPr algn="ctr">
              <a:defRPr sz="1500" b="1">
                <a:solidFill>
                  <a:srgbClr val="FFFFFF"/>
                </a:solidFill>
                <a:latin typeface="SUIT"/>
                <a:ea typeface="SUIT"/>
                <a:cs typeface="SUIT"/>
              </a:defRPr>
            </a:pPr>
            <a:r>
              <a:rPr sz="1500" b="1">
                <a:solidFill>
                  <a:srgbClr val="FFFFFF"/>
                </a:solidFill>
                <a:latin typeface="SUIT"/>
                <a:ea typeface="SUIT"/>
                <a:cs typeface="SUIT"/>
              </a:rPr>
              <a:t>우리는 가장 정확한 그래프 하나가 아니라, 실제 공정 의사결정의 신뢰성을 결정하는 인과구조 정확도의 종류를 검증한다.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8CCB2B7-299F-4938-867F-9A62349FA9D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762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lstStyle/>
          <a:p>
            <a:pPr algn="l">
              <a:defRPr sz="750" b="0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750" b="0">
                <a:solidFill>
                  <a:srgbClr val="617082"/>
                </a:solidFill>
                <a:latin typeface="SUIT"/>
                <a:ea typeface="SUIT"/>
                <a:cs typeface="SUIT"/>
              </a:rPr>
              <a:t>닦고조이고기름치자  |  오성민 · 황주희 · 정창민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9F3E62F-1E1D-42E9-8E31-EDBE35C072D5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r">
              <a:defRPr sz="825" b="1">
                <a:solidFill>
                  <a:srgbClr val="617082"/>
                </a:solidFill>
                <a:latin typeface="SUIT"/>
                <a:ea typeface="SUIT"/>
                <a:cs typeface="SUIT"/>
              </a:defRPr>
            </a:pPr>
            <a:r>
              <a:rPr sz="825" b="1">
                <a:solidFill>
                  <a:srgbClr val="617082"/>
                </a:solidFill>
                <a:latin typeface="SUIT"/>
                <a:ea typeface="SUIT"/>
                <a:cs typeface="SUI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273443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1162</Words>
  <Application>Microsoft Office PowerPoint</Application>
  <DocSecurity>0</DocSecurity>
  <PresentationFormat>와이드스크린</PresentationFormat>
  <Paragraphs>237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SUIT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성민 오</cp:lastModifiedBy>
  <cp:revision>3</cp:revision>
  <dcterms:created xsi:type="dcterms:W3CDTF">2026-09-16T01:02:15Z</dcterms:created>
  <dcterms:modified xsi:type="dcterms:W3CDTF">2026-09-16T01:06:57Z</dcterms:modified>
</cp:coreProperties>
</file>