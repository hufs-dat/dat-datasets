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1459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705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 공정 인과추론 프로젝트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0" y="6428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 방학 스터디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58368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58368" y="667512"/>
            <a:ext cx="1783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16152"/>
            <a:ext cx="104241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인과구조 품질에 따른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 공정 반사실적 개입 추천의 신뢰성 평가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2907792"/>
            <a:ext cx="10241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“인과 그래프가 완벽하지 않은 현실에서, Causal Counterfactual을 언제까지 믿을 수 있는가?”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968496"/>
            <a:ext cx="10424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41422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9943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인과구조 추정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18888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(Causal Discovery)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435608" y="4352544"/>
            <a:ext cx="1627632" cy="0"/>
          </a:xfrm>
          <a:prstGeom prst="line">
            <a:avLst/>
          </a:prstGeom>
          <a:noFill/>
          <a:ln w="2032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54680" y="41422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459943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구조식 구성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4818888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(SCM)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630168" y="4352544"/>
            <a:ext cx="1627632" cy="0"/>
          </a:xfrm>
          <a:prstGeom prst="line">
            <a:avLst/>
          </a:prstGeom>
          <a:noFill/>
          <a:ln w="2032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41422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59943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가상 개입 추천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818888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(Counterfactual)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824728" y="4352544"/>
            <a:ext cx="1627632" cy="0"/>
          </a:xfrm>
          <a:prstGeom prst="line">
            <a:avLst/>
          </a:prstGeom>
          <a:noFill/>
          <a:ln w="2032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43800" y="41422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59943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 검증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818888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(TEP Simulator)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8019288" y="4352544"/>
            <a:ext cx="1627632" cy="0"/>
          </a:xfrm>
          <a:prstGeom prst="line">
            <a:avLst/>
          </a:prstGeom>
          <a:noFill/>
          <a:ln w="2032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8360" y="4142232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4599432"/>
            <a:ext cx="1234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신뢰성 기준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4818888"/>
            <a:ext cx="141732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(Decision Guideline)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정창민 · 황주희 · 오성민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01. WHY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“불량 예측”만으로는 부족한가?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현장에서 필요한 것은 예측 결과보다 “무엇을 어떻게 바꿀지”에 대한 처방이다.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제조 AI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480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“이번 공정은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불량일 가능성이 높습니다.”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776472"/>
            <a:ext cx="1234440" cy="310896"/>
          </a:xfrm>
          <a:prstGeom prst="roundRect">
            <a:avLst>
              <a:gd name="adj" fmla="val 35294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785616"/>
            <a:ext cx="1234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33672"/>
            <a:ext cx="4389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불량 여부 예측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중요 변수 탐색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설명 가능한 AI (SHAP)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3584448"/>
            <a:ext cx="82296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9440" y="182880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F1FBFA"/>
          </a:solidFill>
          <a:ln w="12700">
            <a:solidFill>
              <a:srgbClr val="BEE8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103120"/>
            <a:ext cx="23774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풀고 싶은 문제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15184"/>
            <a:ext cx="3886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“그래서 어떤 공정 변수를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바꿔야 정상으로 돌아오는가?”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223760" y="3776472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785616"/>
            <a:ext cx="2057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 Recommendation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279392"/>
            <a:ext cx="37490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예측(Prediction) → 설명(Explanation) →</a:t>
            </a:r>
            <a:endParaRPr lang="en-US" sz="1320" dirty="0"/>
          </a:p>
          <a:p>
            <a:pPr marL="0" indent="0" algn="l">
              <a:buNone/>
            </a:pPr>
            <a:r>
              <a:rPr lang="en-US" sz="132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가능한 개입(Action)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4965192" y="5596128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전환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5870448"/>
            <a:ext cx="6309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“무슨 일이 일어날까?”에서 “무엇을 바꾸면 될까?”로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02. CORE CONCEPT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개념 3단계: 구조를 찾고 → 식으로 만들고 → 가상 개입한다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08483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인과구조 추정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(Causal Discovery)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98648"/>
            <a:ext cx="2697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· DirectLiNGAM · PCMCI+ 등을 이용해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변수 사이의 원인→결과 방향을 추정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14400" y="4069080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0FBF9"/>
          </a:solidFill>
          <a:ln w="12700">
            <a:solidFill>
              <a:srgbClr val="C9E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224528"/>
            <a:ext cx="2514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Valve → Pressure → Temperature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3904488" y="3639312"/>
            <a:ext cx="256032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87952" y="187452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2084832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구조적 인과모형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(SCM)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898648"/>
            <a:ext cx="2697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인과관계를 계산 가능한 구조방정식으로 표현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4443984" y="4069080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5424" y="4224528"/>
            <a:ext cx="2514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Pressure = 2×Valve + 5 + U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434072" y="3639312"/>
            <a:ext cx="256032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17536" y="187452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18704" y="2084832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18704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029968"/>
            <a:ext cx="22860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반사실적 추론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(Counterfactual)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2898648"/>
            <a:ext cx="2697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“그때 조작변수를 다르게 했더라면?”을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공정 상태 기준으로 계산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7973568" y="4069080"/>
            <a:ext cx="2697480" cy="786384"/>
          </a:xfrm>
          <a:prstGeom prst="roundRect">
            <a:avLst>
              <a:gd name="adj" fmla="val 9302"/>
            </a:avLst>
          </a:prstGeom>
          <a:solidFill>
            <a:srgbClr val="F0FBF9"/>
          </a:solidFill>
          <a:ln w="12700">
            <a:solidFill>
              <a:srgbClr val="C9E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65008" y="4224528"/>
            <a:ext cx="2514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Valve 10→8 ⇒ Quality 변화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715000"/>
            <a:ext cx="10378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SCM은 “설명력”을 붙이는 단계라기보다, 각 변수가 부모 변수들에 의해 어떻게 생성되는지 수식화하는 단계</a:t>
            </a:r>
            <a:endParaRPr lang="en-US" sz="12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03. DATA ENVIRONMENT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TEP를 이해하면 실험 구조가 보인다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Tennessee Eastman Process = 화학공정을 컴퓨터 안에 구현한 가상 공장(시뮬레이터)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0"/>
            <a:ext cx="1444752" cy="868680"/>
          </a:xfrm>
          <a:prstGeom prst="roundRect">
            <a:avLst>
              <a:gd name="adj" fmla="val 12632"/>
            </a:avLst>
          </a:prstGeom>
          <a:solidFill>
            <a:srgbClr val="F1FBFA"/>
          </a:solidFill>
          <a:ln w="12700">
            <a:solidFill>
              <a:srgbClr val="BFE9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50592"/>
            <a:ext cx="1444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34056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(Setpoint)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404872" y="2724912"/>
            <a:ext cx="49377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286000"/>
            <a:ext cx="1444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2450592"/>
            <a:ext cx="1444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734056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(Controller)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416552" y="2724912"/>
            <a:ext cx="49377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83480" y="2286000"/>
            <a:ext cx="1444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2450592"/>
            <a:ext cx="1444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조작변수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734056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(XMV)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28232" y="2724912"/>
            <a:ext cx="49377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95160" y="2286000"/>
            <a:ext cx="1444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95160" y="2450592"/>
            <a:ext cx="1444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공정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734056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(Process)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439912" y="2724912"/>
            <a:ext cx="493776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06840" y="2286000"/>
            <a:ext cx="1444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06840" y="2450592"/>
            <a:ext cx="144475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06840" y="2734056"/>
            <a:ext cx="1444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(Measurement)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738360" y="3246120"/>
            <a:ext cx="0" cy="68580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3931920"/>
            <a:ext cx="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1608" y="3931920"/>
            <a:ext cx="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794760" y="4078224"/>
            <a:ext cx="58521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닫힌고리 제어 (Closed-loop): 센서값을 계속 확인하며 제어기가 XMV를 자동 보정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7548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4937760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C5A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Fault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230368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공정을 비정상 상태로 만드는 이상 상황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3621024" y="47548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03904" y="4937760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XMV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803904" y="5230368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밸브 개도·냉각수 유량 등 실제로 움직이는 조작변수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419088" y="47548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01968" y="4937760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Setpoint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6601968" y="5230368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제어기가 맞추려고 하는 목표값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9217152" y="4754880"/>
            <a:ext cx="2514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00032" y="4937760"/>
            <a:ext cx="914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Closed-loop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400032" y="5230368"/>
            <a:ext cx="2148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상태를 보고 XMV를 계속 자동 조정하는 구조</a:t>
            </a:r>
            <a:endParaRPr lang="en-US" sz="97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04. EXPERIMENT PRECONDITION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 전 반드시 정해야 할 두 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여기를 건너뛰면 SCM과 Counterfactual 정의 자체가 흔들린다.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2331720" cy="310896"/>
          </a:xfrm>
          <a:prstGeom prst="roundRect">
            <a:avLst>
              <a:gd name="adj" fmla="val 35294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12264"/>
            <a:ext cx="2331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무엇을 개입할 것인가?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밸브 개도(XMV) 직접 개입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do(XMV = 40%)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65576"/>
            <a:ext cx="1965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제어기가 다시 보상할 수 있음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“내 개입 + 제어기 반응”이 관측됨</a:t>
            </a:r>
            <a:endParaRPr lang="en-US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246120"/>
            <a:ext cx="347472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목표값(Setpoint) 개입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63240"/>
            <a:ext cx="1965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do(Setpoint = 95)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465576"/>
            <a:ext cx="20574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제어기 자체가 새 목표값을 향해 작동</a:t>
            </a:r>
            <a:endParaRPr lang="en-US" sz="1140" dirty="0"/>
          </a:p>
          <a:p>
            <a:pPr marL="0" indent="0" algn="l">
              <a:buNone/>
            </a:pPr>
            <a:r>
              <a:rPr lang="en-US" sz="114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Closed-loop 구조와 더 자연스럽게 연결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37760"/>
            <a:ext cx="4709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무엇을 선택하느냐에 따라 Causal Graph의 노드와 SCM 구조가 달라짐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9FBFD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03120"/>
            <a:ext cx="2560320" cy="310896"/>
          </a:xfrm>
          <a:prstGeom prst="roundRect">
            <a:avLst>
              <a:gd name="adj" fmla="val 35294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112264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어떤 Fault를 평가할 것인가?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697480"/>
            <a:ext cx="44348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복구 가능성 선별 (Recoverability Screening)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6537960" y="3337560"/>
            <a:ext cx="182880" cy="182880"/>
          </a:xfrm>
          <a:prstGeom prst="ellipse">
            <a:avLst/>
          </a:prstGeom>
          <a:solidFill>
            <a:srgbClr val="3A8B63"/>
          </a:solidFill>
          <a:ln w="12700">
            <a:solidFill>
              <a:srgbClr val="3A8B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291840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3A8B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Recoverable</a:t>
            </a:r>
            <a:endParaRPr lang="en-US" sz="117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91840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허용된 조작으로 정상 복귀 가능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537960" y="400507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3959352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Partially Recoverable</a:t>
            </a:r>
            <a:endParaRPr lang="en-US" sz="117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3959352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일부 조건에서만 복구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537960" y="4672584"/>
            <a:ext cx="182880" cy="182880"/>
          </a:xfrm>
          <a:prstGeom prst="ellipse">
            <a:avLst/>
          </a:prstGeom>
          <a:solidFill>
            <a:srgbClr val="DC5A5A"/>
          </a:solidFill>
          <a:ln w="12700">
            <a:solidFill>
              <a:srgbClr val="DC5A5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4626864"/>
            <a:ext cx="1508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DC5A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Non-Recoverable</a:t>
            </a:r>
            <a:endParaRPr lang="en-US" sz="117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4626864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action space로 복구 불가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166360"/>
            <a:ext cx="44348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본실험은 “복구 가능한 Fault” 중심으로 구성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 RESEARCH QUESTIONS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 후 프로젝트의 핵심 연구 질문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주인공은 “Causal CF가 더 좋은가?”가 아니라 “언제 믿을 수 있는가?”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652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21408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30552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RQ1 · Baseline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1993392"/>
            <a:ext cx="64465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동일한 조작 가능성·범위 제약 하에서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Causal CF와 제약형 DiCE(Constrained DiCE)의 복구 성능은 다른가?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2157984"/>
            <a:ext cx="1417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Sanity Check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10652760" cy="1143000"/>
          </a:xfrm>
          <a:prstGeom prst="roundRect">
            <a:avLst>
              <a:gd name="adj" fmla="val 9600"/>
            </a:avLst>
          </a:prstGeom>
          <a:solidFill>
            <a:srgbClr val="F1FBFA"/>
          </a:solidFill>
          <a:ln w="12700">
            <a:solidFill>
              <a:srgbClr val="B8E7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538728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547872"/>
            <a:ext cx="1691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RQ2 · MAIN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3410712"/>
            <a:ext cx="64465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추정된 인과 그래프의 품질이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Causal CF의 실제 개입 성능에 어떤 영향을 미치는가?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3575304"/>
            <a:ext cx="1417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연구 질문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709160"/>
            <a:ext cx="106527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956048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65192"/>
            <a:ext cx="2057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RQ3 · KILLING POINT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4828032"/>
            <a:ext cx="644652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그래프 정확도(Global F1)와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개입 경로 정확도 중 무엇이 추천 성능을 더 잘 설명하는가?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555480" y="4992624"/>
            <a:ext cx="1417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새로운 평가 관점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06. KEY IDEA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Global F1만 보면 안 되는가?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전체 정확도라도 “어디가 틀렸는지”에 따라 Counterfactual 성능은 달라질 수 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 A · 전체 F1 높음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15184"/>
            <a:ext cx="43891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C5A5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개입 경로가 끊김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9FAFB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XMV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0" y="3602736"/>
            <a:ext cx="24688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4884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9FAFB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Pressure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3602736"/>
            <a:ext cx="246888" cy="0"/>
          </a:xfrm>
          <a:prstGeom prst="line">
            <a:avLst/>
          </a:prstGeom>
          <a:noFill/>
          <a:ln w="25400">
            <a:solidFill>
              <a:srgbClr val="DC5A5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9FAFB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06240" y="3602736"/>
            <a:ext cx="24688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2628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9FAFB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233672"/>
            <a:ext cx="4526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주변 간선은 대부분 맞아도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경로 1개 오류가 추천에 치명적일 수 있음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1FBFA"/>
          </a:solidFill>
          <a:ln w="12700">
            <a:solidFill>
              <a:srgbClr val="B8E7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2057400"/>
            <a:ext cx="1737360" cy="310896"/>
          </a:xfrm>
          <a:prstGeom prst="roundRect">
            <a:avLst>
              <a:gd name="adj" fmla="val 35294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2066544"/>
            <a:ext cx="1737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Graph B · 전체 F1 낮음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2615184"/>
            <a:ext cx="43891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개입 경로는 정확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XMV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3602736"/>
            <a:ext cx="24688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77240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Pressure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41080" y="3602736"/>
            <a:ext cx="24688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6112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829800" y="3602736"/>
            <a:ext cx="246888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149840" y="3337560"/>
            <a:ext cx="8686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149840" y="3337560"/>
            <a:ext cx="8686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Quality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4233672"/>
            <a:ext cx="4526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주변 구조는 덜 맞아도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개입→결과 경로가 살아 있으면 추천은 잘 될 수 있음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920240" y="5440680"/>
            <a:ext cx="8321040" cy="594360"/>
          </a:xfrm>
          <a:prstGeom prst="roundRect">
            <a:avLst>
              <a:gd name="adj" fmla="val 18462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057400" y="5577840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가설: Counterfactual 의사결정에서는 “전체 F1”보다 “개입 경로 정확도”가 더 중요할 수 있다.</a:t>
            </a:r>
            <a:endParaRPr lang="en-US" sz="133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07. EXPERIMENT 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실험은 이렇게 흘러간다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추정 그래프를 만들고 → SCM/CF를 구성하고 → TEP Simulator에서 독립적으로 채점한다.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8483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TEP 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65176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정상·Fault 데이터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04488" y="2633472"/>
            <a:ext cx="448056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07992" y="192024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212140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9087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208483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인과구조 추정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64024" y="265176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· LiNGAM · PCMCI+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0" y="2633472"/>
            <a:ext cx="448056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84464" y="192024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7344" y="212140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67344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24544" y="208483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그래프 품질 평가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265176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F1 · SHD · Path Accuracy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22452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18795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SCM + CF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75488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Causal CF 생성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04488" y="4736592"/>
            <a:ext cx="448056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07992" y="4023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0872" y="4224528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148072" y="418795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 방법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764024" y="475488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Constrained DiCE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680960" y="4736592"/>
            <a:ext cx="448056" cy="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84464" y="40233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1FBFA"/>
          </a:solidFill>
          <a:ln w="12700">
            <a:solidFill>
              <a:srgbClr val="B8E7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67344" y="4224528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67344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924544" y="4187952"/>
            <a:ext cx="2194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TEP Simulator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540496" y="4754880"/>
            <a:ext cx="26517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공정 반응 검증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287000" y="3337560"/>
            <a:ext cx="0" cy="548640"/>
          </a:xfrm>
          <a:prstGeom prst="line">
            <a:avLst/>
          </a:prstGeom>
          <a:noFill/>
          <a:ln w="25400">
            <a:solidFill>
              <a:srgbClr val="E9EDF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635240" y="5440680"/>
            <a:ext cx="0" cy="36576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246120" y="5806440"/>
            <a:ext cx="5715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분석: Graph Quality  ↔  Counterfactual Performance</a:t>
            </a:r>
            <a:endParaRPr lang="en-US" sz="15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08. EVALUATION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“좋은 추천”이라고 볼 것인가?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자기 모델이 자기 자신을 채점하지 않고, 시뮬레이터에서 직접 관측되는 결과를 사용한다.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03120"/>
            <a:ext cx="12344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 복구율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2139696"/>
            <a:ext cx="1554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(Recovery Rate)</a:t>
            </a:r>
            <a:endParaRPr lang="en-US" sz="92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57860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개입 후 정상 상태로 안정적으로 복귀한 비율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81728" y="2103120"/>
            <a:ext cx="12344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70448" y="2139696"/>
            <a:ext cx="1554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(Proximity)</a:t>
            </a:r>
            <a:endParaRPr lang="en-US" sz="92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257860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운전조건에서 얼마나 적게 바꿨는가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229600" y="192024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0768" y="2103120"/>
            <a:ext cx="12344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변수 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19488" y="2139696"/>
            <a:ext cx="1554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(Sparsity)</a:t>
            </a:r>
            <a:endParaRPr lang="en-US" sz="92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57860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몇 개의 조작변수만 건드렸는가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606040" y="37947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07208" y="3977640"/>
            <a:ext cx="12344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제약 위반률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4014216"/>
            <a:ext cx="1554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(Constraint Violation)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2807208" y="445312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장비 운전 한계·안전 범위를 넘었는가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3246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3977640"/>
            <a:ext cx="123444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알람/중단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4014216"/>
            <a:ext cx="15544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(Alarm · Shutdown)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6556248" y="4453128"/>
            <a:ext cx="2788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2차 부작용이나 공정 중단이 발생했는가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1645920" y="5486400"/>
            <a:ext cx="8915400" cy="566928"/>
          </a:xfrm>
          <a:prstGeom prst="roundRect">
            <a:avLst>
              <a:gd name="adj" fmla="val 19355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28800" y="5605272"/>
            <a:ext cx="85496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지표끼리 충돌할 수 있으므로 단일 점수 대신 “파레토 전선(Pareto Frontier)”으로 trade-off를 비교</a:t>
            </a:r>
            <a:endParaRPr lang="en-US" sz="128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70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09. EXPECTED OUTCOME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결과가 어떻게 나와도 연구가 끝난다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972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57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“어떤 인과정보가 정확해야 CF를 믿을 수 있는가?”에 대한 가이드라인을 만드는 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Global F1과 CF 성능이 함께 상승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3063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3200400"/>
            <a:ext cx="24231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인과구조 품질이 추천 신뢰성을 설명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F1 기반 사용 임계값 제시 가능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4507992" y="187452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103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Path Accuracy가 더 강하게 설명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3063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DDF6F2"/>
          </a:solidFill>
          <a:ln w="12700">
            <a:solidFill>
              <a:srgbClr val="DDF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55464" y="3200400"/>
            <a:ext cx="24231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그래프보다 개입 경로 정확도가 중요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“핵심 경로 중심 평가” 제안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284464" y="1874520"/>
            <a:ext cx="32461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3064" y="2103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1306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07424" y="20574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둘 다 설명력이 낮음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13064" y="30632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3D8"/>
          </a:solidFill>
          <a:ln w="12700">
            <a:solidFill>
              <a:srgbClr val="FFF3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936" y="3200400"/>
            <a:ext cx="2423160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정확도 외에 함수 계수·동역학이 중요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후속 연구 방향 제시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1188720" y="4709160"/>
            <a:ext cx="9829800" cy="960120"/>
          </a:xfrm>
          <a:prstGeom prst="roundRect">
            <a:avLst>
              <a:gd name="adj" fmla="val 11429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4919472"/>
            <a:ext cx="1143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7E3D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산출물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4818888"/>
            <a:ext cx="8046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“불완전한 인과구조 하에서 Causal Counterfactual을 언제 신뢰할 수 있는가?”에 대한 제조 현장 의사결정 가이드라인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589788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요약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6126480"/>
            <a:ext cx="8321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Causal Discovery의 정확도 자체보다, “의사결정에 필요한 인과정보가 정확한가?”를 묻는 프로젝트</a:t>
            </a:r>
            <a:endParaRPr lang="en-US" sz="142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와이드스크린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인과구조 품질에 따른 제조 공정 반사실적 개입 추천의 신뢰성 평가</dc:title>
  <dc:subject>Causal Counterfactual Manufacturing Project</dc:subject>
  <dc:creator>OpenAI</dc:creator>
  <cp:lastModifiedBy>성민 오</cp:lastModifiedBy>
  <cp:revision>2</cp:revision>
  <dcterms:created xsi:type="dcterms:W3CDTF">2026-09-02T09:47:59Z</dcterms:created>
  <dcterms:modified xsi:type="dcterms:W3CDTF">2026-09-02T10:21:43Z</dcterms:modified>
</cp:coreProperties>
</file>