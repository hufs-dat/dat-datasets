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2"/>
  </p:normalViewPr>
  <p:slideViewPr>
    <p:cSldViewPr snapToGrid="0" showGuides="1">
      <p:cViewPr varScale="1">
        <p:scale>
          <a:sx n="104" d="100"/>
          <a:sy n="104" d="100"/>
        </p:scale>
        <p:origin x="800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attached paper p. 973. Bibliographic metadata: Simon Kwoczek, Sergio Di Martino, Wolfgang Nejdl, Journal of Visual Languages and Computing 25 (2014) 973–980, DOI 10.1016/j.jvlc.2014.10.028.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paper Sections 1–6, pp. 973–979. Timing is presentation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paper pp. 973–974. Commercial systems can learn recurring congestion but cannot predict non-recurring congestion from planned special events. The paper focuses on the outbound wave after an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paper p. 975, Fig. 2. The event day shows an inbound peak before the start and an outbound peak after the concert ends. The diagram is a simplified editable restatement of the paper's observation.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paper p. 976 (CIPA and K-NN regression) and p. 978, Eq. (1) (RMSE). The notation is a compact restatement; reported results use k=5.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paper pp. 975–976, Fig. 3. Exact category counts: 18 concerts, 6 entertainment events, 2 sporting events and 3 comedy events. The paper reports 11 concerts with strong outbound congestion, 1 entertainment event with outbound congestion, comparable behavior for both sports events, and no significant rise for comedy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paper p. 976 (segment selection and DM index) and p. 977, Fig. 4 (Google Earth GUI). The Mark Knopfler example reports a severity index of about 1 s/m over segments covering about 2000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paper pp. 977–979, Fig. 5 and Fig. 6. RMSE: Zero 1918 s, Start 2095 s, CBMA 1364 s, CIPA 1230 s. CIPA reduces error by 35% vs Zero and 41% vs Start. Sport category: CBMA 80 s vs CIPA 418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Archive summary combining the required review elements ① problem, ② core idea and ③ quantified result. Sources: paper pp. 973–979.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paper pp. 979–980. The paper reports up to 35% improvement over state-of-the-art and up to 41% over Start, but no definitive winner between CBMA and CIPA across categories. Limitations are reviewer synthesis from the dataset scope and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99B6078-E878-4224-AC9B-60FD99C76AAE}"/>
              </a:ext>
            </a:extLst>
          </p:cNvPr>
          <p:cNvSpPr>
            <a:spLocks noGrp="1"/>
          </p:cNvSpPr>
          <p:nvPr/>
        </p:nvSpPr>
        <p:spPr>
          <a:xfrm>
            <a:off x="742950" y="5524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PAPER REVIEW · 10 MIN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FC394CE-9C8D-4657-A701-898EF001538C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7239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4000"/>
              </a:lnSpc>
              <a:buNone/>
              <a:defRPr sz="390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행사 교통정체의</a:t>
            </a:r>
          </a:p>
          <a:p>
            <a:pPr algn="l">
              <a:lnSpc>
                <a:spcPct val="94000"/>
              </a:lnSpc>
              <a:buNone/>
              <a:defRPr sz="390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두 번째 파동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E5836C7-A432-4A75-B5C1-E0CB2687F0E2}"/>
              </a:ext>
            </a:extLst>
          </p:cNvPr>
          <p:cNvSpPr>
            <a:spLocks noGrp="1"/>
          </p:cNvSpPr>
          <p:nvPr/>
        </p:nvSpPr>
        <p:spPr>
          <a:xfrm>
            <a:off x="781050" y="3105150"/>
            <a:ext cx="876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9199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9199A0"/>
                </a:solidFill>
                <a:latin typeface="Apple SD Gothic Neo"/>
                <a:ea typeface="Apple SD Gothic Neo"/>
                <a:cs typeface="Apple SD Gothic Neo"/>
              </a:rPr>
              <a:t>Predicting and visualizing traffic congestion in the presence of planned special events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4C37789-0079-49C6-86F6-EB7A5F28002E}"/>
              </a:ext>
            </a:extLst>
          </p:cNvPr>
          <p:cNvSpPr>
            <a:spLocks noGrp="1"/>
          </p:cNvSpPr>
          <p:nvPr/>
        </p:nvSpPr>
        <p:spPr>
          <a:xfrm>
            <a:off x="781050" y="36385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50"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rPr>
              <a:t>행사 종료 후 유출 정체를 예측하는 통합 접근</a:t>
            </a:r>
          </a:p>
        </p:txBody>
      </p:sp>
      <p:sp>
        <p:nvSpPr>
          <p:cNvPr id="5" name="직선 연결선[R] 4">
            <a:extLst>
              <a:ext uri="{FF2B5EF4-FFF2-40B4-BE49-F238E27FC236}">
                <a16:creationId xmlns:a16="http://schemas.microsoft.com/office/drawing/2014/main" id="{C592433B-1513-4C28-BDB0-FA73CAB7671E}"/>
              </a:ext>
            </a:extLst>
          </p:cNvPr>
          <p:cNvSpPr>
            <a:spLocks noGrp="1"/>
          </p:cNvSpPr>
          <p:nvPr/>
        </p:nvSpPr>
        <p:spPr>
          <a:xfrm>
            <a:off x="781050" y="4324350"/>
            <a:ext cx="1043940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2DE0F24-3064-48AE-A6BF-0AC824C167DF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985"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Simon Kwoczek · Sergio Di Martino · Wolfgang Nejdl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3140D4D-7404-48F1-8B21-2F1DE14190BA}"/>
              </a:ext>
            </a:extLst>
          </p:cNvPr>
          <p:cNvSpPr>
            <a:spLocks noGrp="1"/>
          </p:cNvSpPr>
          <p:nvPr/>
        </p:nvSpPr>
        <p:spPr>
          <a:xfrm>
            <a:off x="781050" y="4981575"/>
            <a:ext cx="685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9199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199A0"/>
                </a:solidFill>
                <a:latin typeface="Apple SD Gothic Neo"/>
                <a:ea typeface="Apple SD Gothic Neo"/>
                <a:cs typeface="Apple SD Gothic Neo"/>
              </a:rPr>
              <a:t>Journal of Visual Languages and Computing 25 (2014) 973–980</a:t>
            </a:r>
          </a:p>
          <a:p>
            <a:pPr algn="l">
              <a:lnSpc>
                <a:spcPct val="115000"/>
              </a:lnSpc>
              <a:buNone/>
              <a:defRPr sz="1200" b="0">
                <a:solidFill>
                  <a:srgbClr val="9199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199A0"/>
                </a:solidFill>
                <a:latin typeface="Apple SD Gothic Neo"/>
                <a:ea typeface="Apple SD Gothic Neo"/>
                <a:cs typeface="Apple SD Gothic Neo"/>
              </a:rPr>
              <a:t>DOI 10.1016/j.jvlc.2014.10.028 · Short Paper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31D1F2-C1EE-46AA-B68E-6E75526F1646}"/>
              </a:ext>
            </a:extLst>
          </p:cNvPr>
          <p:cNvSpPr>
            <a:spLocks noGrp="1"/>
          </p:cNvSpPr>
          <p:nvPr/>
        </p:nvSpPr>
        <p:spPr>
          <a:xfrm>
            <a:off x="781050" y="59817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리뷰 팀: 발표자   ·   대상 팀: 연구실 구성원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EED9C33-FFEB-42A3-9244-BF1E7761C8AD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51892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020F8E6F-9BE9-4314-AF67-F0B7B7AD6FA1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02 · 흐름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0275921-ED26-438D-81A7-0F80258989EB}"/>
              </a:ext>
            </a:extLst>
          </p:cNvPr>
          <p:cNvSpPr>
            <a:spLocks noGrp="1"/>
          </p:cNvSpPr>
          <p:nvPr/>
        </p:nvSpPr>
        <p:spPr>
          <a:xfrm>
            <a:off x="742950" y="742950"/>
            <a:ext cx="1038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10분 발표의 구성</a:t>
            </a:r>
          </a:p>
        </p:txBody>
      </p:sp>
      <p:sp>
        <p:nvSpPr>
          <p:cNvPr id="3" name="직선 연결선[R] 2">
            <a:extLst>
              <a:ext uri="{FF2B5EF4-FFF2-40B4-BE49-F238E27FC236}">
                <a16:creationId xmlns:a16="http://schemas.microsoft.com/office/drawing/2014/main" id="{5E6C7032-8823-427D-89EE-8D532755D153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1070610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C961FBE-B8C7-4864-91D3-A942299EA7B9}"/>
              </a:ext>
            </a:extLst>
          </p:cNvPr>
          <p:cNvSpPr>
            <a:spLocks noGrp="1"/>
          </p:cNvSpPr>
          <p:nvPr/>
        </p:nvSpPr>
        <p:spPr>
          <a:xfrm>
            <a:off x="742950" y="64484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PAPER REVIEW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4801E9-5B3F-4F1D-A3C1-89C67B37E3B5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02 / 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38C1129-F421-4527-B93B-91D707F66112}"/>
              </a:ext>
            </a:extLst>
          </p:cNvPr>
          <p:cNvSpPr>
            <a:spLocks noGrp="1"/>
          </p:cNvSpPr>
          <p:nvPr/>
        </p:nvSpPr>
        <p:spPr>
          <a:xfrm>
            <a:off x="742950" y="17907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핵심 메시지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9711B7-CE5D-4964-BA0D-C33CF159868B}"/>
              </a:ext>
            </a:extLst>
          </p:cNvPr>
          <p:cNvSpPr>
            <a:spLocks noGrp="1"/>
          </p:cNvSpPr>
          <p:nvPr/>
        </p:nvSpPr>
        <p:spPr>
          <a:xfrm>
            <a:off x="742950" y="2152650"/>
            <a:ext cx="666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0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반복 정체는 학습할 수 있다.</a:t>
            </a:r>
          </a:p>
          <a:p>
            <a:pPr algn="l">
              <a:lnSpc>
                <a:spcPct val="100000"/>
              </a:lnSpc>
              <a:buNone/>
              <a:defRPr sz="210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PSE의 유출 정체는 유입 정체로 추정한다.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56C1337-2168-4954-84E5-455D7BE30BFB}"/>
              </a:ext>
            </a:extLst>
          </p:cNvPr>
          <p:cNvSpPr>
            <a:spLocks noGrp="1"/>
          </p:cNvSpPr>
          <p:nvPr/>
        </p:nvSpPr>
        <p:spPr>
          <a:xfrm>
            <a:off x="781050" y="34290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01:00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B41B19F-8BFE-4928-9277-3571224F658F}"/>
              </a:ext>
            </a:extLst>
          </p:cNvPr>
          <p:cNvSpPr>
            <a:spLocks noGrp="1"/>
          </p:cNvSpPr>
          <p:nvPr/>
        </p:nvSpPr>
        <p:spPr>
          <a:xfrm>
            <a:off x="2286000" y="34290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153"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문제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37CAB68-B7D2-4AA2-B588-14920DE33A58}"/>
              </a:ext>
            </a:extLst>
          </p:cNvPr>
          <p:cNvSpPr>
            <a:spLocks noGrp="1"/>
          </p:cNvSpPr>
          <p:nvPr/>
        </p:nvSpPr>
        <p:spPr>
          <a:xfrm>
            <a:off x="4762500" y="3429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153"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기존 시스템이 놓친 비반복 정체</a:t>
            </a:r>
          </a:p>
        </p:txBody>
      </p:sp>
      <p:sp>
        <p:nvSpPr>
          <p:cNvPr id="11" name="직선 연결선[R] 10">
            <a:extLst>
              <a:ext uri="{FF2B5EF4-FFF2-40B4-BE49-F238E27FC236}">
                <a16:creationId xmlns:a16="http://schemas.microsoft.com/office/drawing/2014/main" id="{79121FAC-0060-4F8B-B91D-78FE65364B41}"/>
              </a:ext>
            </a:extLst>
          </p:cNvPr>
          <p:cNvSpPr>
            <a:spLocks noGrp="1"/>
          </p:cNvSpPr>
          <p:nvPr/>
        </p:nvSpPr>
        <p:spPr>
          <a:xfrm>
            <a:off x="2286000" y="3867150"/>
            <a:ext cx="838200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AE21215-F18B-4266-B6AD-0FC8A81D2879}"/>
              </a:ext>
            </a:extLst>
          </p:cNvPr>
          <p:cNvSpPr>
            <a:spLocks noGrp="1"/>
          </p:cNvSpPr>
          <p:nvPr/>
        </p:nvSpPr>
        <p:spPr>
          <a:xfrm>
            <a:off x="781050" y="40576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03:00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D78505D-3338-4E39-B692-A97F61BCADEA}"/>
              </a:ext>
            </a:extLst>
          </p:cNvPr>
          <p:cNvSpPr>
            <a:spLocks noGrp="1"/>
          </p:cNvSpPr>
          <p:nvPr/>
        </p:nvSpPr>
        <p:spPr>
          <a:xfrm>
            <a:off x="2286000" y="40576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153"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핵심 아이디어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1B84D48-4A86-4B17-8C46-E694BF9A643B}"/>
              </a:ext>
            </a:extLst>
          </p:cNvPr>
          <p:cNvSpPr>
            <a:spLocks noGrp="1"/>
          </p:cNvSpPr>
          <p:nvPr/>
        </p:nvSpPr>
        <p:spPr>
          <a:xfrm>
            <a:off x="4762500" y="405765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153"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유입 avgdelay로 유출 avgdelay 추정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86D1635F-6B95-49A7-807C-EAE059D52245}"/>
              </a:ext>
            </a:extLst>
          </p:cNvPr>
          <p:cNvSpPr>
            <a:spLocks noGrp="1"/>
          </p:cNvSpPr>
          <p:nvPr/>
        </p:nvSpPr>
        <p:spPr>
          <a:xfrm>
            <a:off x="2286000" y="4495800"/>
            <a:ext cx="838200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794E083-5350-48B2-8025-F8FE2F81EF37}"/>
              </a:ext>
            </a:extLst>
          </p:cNvPr>
          <p:cNvSpPr>
            <a:spLocks noGrp="1"/>
          </p:cNvSpPr>
          <p:nvPr/>
        </p:nvSpPr>
        <p:spPr>
          <a:xfrm>
            <a:off x="781050" y="46863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06:30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1B3EC4-9E9E-4276-A4C7-40E17E8F1FD5}"/>
              </a:ext>
            </a:extLst>
          </p:cNvPr>
          <p:cNvSpPr>
            <a:spLocks noGrp="1"/>
          </p:cNvSpPr>
          <p:nvPr/>
        </p:nvSpPr>
        <p:spPr>
          <a:xfrm>
            <a:off x="2286000" y="46863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153"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57FA84A-15DA-4B04-A312-9B8423B7A267}"/>
              </a:ext>
            </a:extLst>
          </p:cNvPr>
          <p:cNvSpPr>
            <a:spLocks noGrp="1"/>
          </p:cNvSpPr>
          <p:nvPr/>
        </p:nvSpPr>
        <p:spPr>
          <a:xfrm>
            <a:off x="4762500" y="46863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153"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29개 행사, RMSE 비교</a:t>
            </a:r>
          </a:p>
        </p:txBody>
      </p:sp>
      <p:sp>
        <p:nvSpPr>
          <p:cNvPr id="19" name="직선 연결선[R] 18">
            <a:extLst>
              <a:ext uri="{FF2B5EF4-FFF2-40B4-BE49-F238E27FC236}">
                <a16:creationId xmlns:a16="http://schemas.microsoft.com/office/drawing/2014/main" id="{CA2C69C1-6A62-4947-AF88-0F401BB86F47}"/>
              </a:ext>
            </a:extLst>
          </p:cNvPr>
          <p:cNvSpPr>
            <a:spLocks noGrp="1"/>
          </p:cNvSpPr>
          <p:nvPr/>
        </p:nvSpPr>
        <p:spPr>
          <a:xfrm>
            <a:off x="2286000" y="5124450"/>
            <a:ext cx="838200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86CBD10-8307-422D-BDD2-57A3BE74D6DB}"/>
              </a:ext>
            </a:extLst>
          </p:cNvPr>
          <p:cNvSpPr>
            <a:spLocks noGrp="1"/>
          </p:cNvSpPr>
          <p:nvPr/>
        </p:nvSpPr>
        <p:spPr>
          <a:xfrm>
            <a:off x="781050" y="53149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08:30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E828E1E-86BE-4843-A0D2-C730A8A6A76E}"/>
              </a:ext>
            </a:extLst>
          </p:cNvPr>
          <p:cNvSpPr>
            <a:spLocks noGrp="1"/>
          </p:cNvSpPr>
          <p:nvPr/>
        </p:nvSpPr>
        <p:spPr>
          <a:xfrm>
            <a:off x="2286000" y="5314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153"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리뷰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3C388A3-E350-48D5-A991-22740D887392}"/>
              </a:ext>
            </a:extLst>
          </p:cNvPr>
          <p:cNvSpPr>
            <a:spLocks noGrp="1"/>
          </p:cNvSpPr>
          <p:nvPr/>
        </p:nvSpPr>
        <p:spPr>
          <a:xfrm>
            <a:off x="4762500" y="531495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153"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정확도 개선과 일반화 한계</a:t>
            </a:r>
          </a:p>
        </p:txBody>
      </p:sp>
    </p:spTree>
    <p:extLst>
      <p:ext uri="{BB962C8B-B14F-4D97-AF65-F5344CB8AC3E}">
        <p14:creationId xmlns:p14="http://schemas.microsoft.com/office/powerpoint/2010/main" val="1867976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A0912551-DD29-4671-8057-C623E468F9FB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03 · 문제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766FBEB-1F35-4465-A250-722A544F06E9}"/>
              </a:ext>
            </a:extLst>
          </p:cNvPr>
          <p:cNvSpPr>
            <a:spLocks noGrp="1"/>
          </p:cNvSpPr>
          <p:nvPr/>
        </p:nvSpPr>
        <p:spPr>
          <a:xfrm>
            <a:off x="742950" y="742950"/>
            <a:ext cx="1038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반복 정체는 예측했지만, 행사 정체는 놓쳤다</a:t>
            </a:r>
          </a:p>
        </p:txBody>
      </p:sp>
      <p:sp>
        <p:nvSpPr>
          <p:cNvPr id="3" name="직선 연결선[R] 2">
            <a:extLst>
              <a:ext uri="{FF2B5EF4-FFF2-40B4-BE49-F238E27FC236}">
                <a16:creationId xmlns:a16="http://schemas.microsoft.com/office/drawing/2014/main" id="{7073E851-8ECB-4FDD-931D-D434F52CFF4E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1070610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879285F-5576-48D1-A084-7F6C83336CF9}"/>
              </a:ext>
            </a:extLst>
          </p:cNvPr>
          <p:cNvSpPr>
            <a:spLocks noGrp="1"/>
          </p:cNvSpPr>
          <p:nvPr/>
        </p:nvSpPr>
        <p:spPr>
          <a:xfrm>
            <a:off x="742950" y="64484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PAPER REVIEW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B1BEF0-8817-4D97-9242-13074BE94F70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03 / 10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76CD57FA-54AD-45F8-9789-AB5171372B4C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0668000" cy="1524000"/>
          </a:xfrm>
          <a:prstGeom prst="roundRect">
            <a:avLst>
              <a:gd name="adj" fmla="val 7500"/>
            </a:avLst>
          </a:prstGeom>
          <a:solidFill>
            <a:srgbClr val="121517"/>
          </a:solidFill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6B487C8-658C-4215-8270-F766D87EA74C}"/>
              </a:ext>
            </a:extLst>
          </p:cNvPr>
          <p:cNvSpPr>
            <a:spLocks noGrp="1"/>
          </p:cNvSpPr>
          <p:nvPr/>
        </p:nvSpPr>
        <p:spPr>
          <a:xfrm>
            <a:off x="1104900" y="2362200"/>
            <a:ext cx="9715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224"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기존 상용 시스템은 과거 패턴이 반복되는 출퇴근 정체는</a:t>
            </a:r>
          </a:p>
          <a:p>
            <a:pPr algn="l">
              <a:lnSpc>
                <a:spcPct val="105000"/>
              </a:lnSpc>
              <a:buNone/>
              <a:defRPr sz="217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예측했지만, 콘서트·경기 같은 PSE의 종료 후 정체는</a:t>
            </a:r>
          </a:p>
          <a:p>
            <a:pPr algn="l">
              <a:lnSpc>
                <a:spcPct val="105000"/>
              </a:lnSpc>
              <a:buNone/>
              <a:defRPr sz="217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사전에 예측하지 못했다.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AB1F5DA-9B78-40EC-A258-CB3E5932ABFA}"/>
              </a:ext>
            </a:extLst>
          </p:cNvPr>
          <p:cNvSpPr>
            <a:spLocks noGrp="1"/>
          </p:cNvSpPr>
          <p:nvPr/>
        </p:nvSpPr>
        <p:spPr>
          <a:xfrm>
            <a:off x="742950" y="41910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논문의 예측 대상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E1E3445-2937-46DD-AD71-C6F73A30176D}"/>
              </a:ext>
            </a:extLst>
          </p:cNvPr>
          <p:cNvSpPr>
            <a:spLocks noGrp="1"/>
          </p:cNvSpPr>
          <p:nvPr/>
        </p:nvSpPr>
        <p:spPr>
          <a:xfrm>
            <a:off x="742950" y="4552950"/>
            <a:ext cx="533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rPr>
              <a:t>행사 종료 후 관객이 한꺼번에 빠져나가는</a:t>
            </a:r>
          </a:p>
          <a:p>
            <a:pPr algn="l">
              <a:lnSpc>
                <a:spcPct val="100000"/>
              </a:lnSpc>
              <a:buNone/>
              <a:defRPr sz="1950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rPr>
              <a:t>‘두 번째 정체 파동’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77EB2F-E69B-4ACC-838C-4A1F8485A94C}"/>
              </a:ext>
            </a:extLst>
          </p:cNvPr>
          <p:cNvSpPr>
            <a:spLocks noGrp="1"/>
          </p:cNvSpPr>
          <p:nvPr/>
        </p:nvSpPr>
        <p:spPr>
          <a:xfrm>
            <a:off x="6858000" y="4552950"/>
            <a:ext cx="419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5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이 분야의 목적은 도로별 지연을 미리 알아</a:t>
            </a:r>
          </a:p>
          <a:p>
            <a:pPr algn="l">
              <a:lnSpc>
                <a:spcPct val="110000"/>
              </a:lnSpc>
              <a:buNone/>
              <a:defRPr sz="15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더 빠른 경로와 대응을 선택하는 것이다.</a:t>
            </a:r>
          </a:p>
        </p:txBody>
      </p:sp>
    </p:spTree>
    <p:extLst>
      <p:ext uri="{BB962C8B-B14F-4D97-AF65-F5344CB8AC3E}">
        <p14:creationId xmlns:p14="http://schemas.microsoft.com/office/powerpoint/2010/main" val="2083693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6CBDD8A5-5644-4D41-81C4-56603313A2AC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04 · 관찰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A9F7B18-7FB2-411D-AD7C-F6720D8E7A30}"/>
              </a:ext>
            </a:extLst>
          </p:cNvPr>
          <p:cNvSpPr>
            <a:spLocks noGrp="1"/>
          </p:cNvSpPr>
          <p:nvPr/>
        </p:nvSpPr>
        <p:spPr>
          <a:xfrm>
            <a:off x="742950" y="742950"/>
            <a:ext cx="1038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PSE는 두 개의 정체 파동을 만든다</a:t>
            </a:r>
          </a:p>
        </p:txBody>
      </p:sp>
      <p:sp>
        <p:nvSpPr>
          <p:cNvPr id="3" name="직선 연결선[R] 2">
            <a:extLst>
              <a:ext uri="{FF2B5EF4-FFF2-40B4-BE49-F238E27FC236}">
                <a16:creationId xmlns:a16="http://schemas.microsoft.com/office/drawing/2014/main" id="{2D17BAE2-267C-43C9-8D01-A2051C188033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1070610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28DE9A-C5B1-4218-960A-EF3EB83C2AD6}"/>
              </a:ext>
            </a:extLst>
          </p:cNvPr>
          <p:cNvSpPr>
            <a:spLocks noGrp="1"/>
          </p:cNvSpPr>
          <p:nvPr/>
        </p:nvSpPr>
        <p:spPr>
          <a:xfrm>
            <a:off x="742950" y="64484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PAPER REVIEW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76E8AF-66F7-4079-84CB-5AB2CC3EE315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04 / 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2E2934F-AEA8-4686-ADE2-89D7139BCB52}"/>
              </a:ext>
            </a:extLst>
          </p:cNvPr>
          <p:cNvSpPr>
            <a:spLocks noGrp="1"/>
          </p:cNvSpPr>
          <p:nvPr/>
        </p:nvSpPr>
        <p:spPr>
          <a:xfrm>
            <a:off x="1047750" y="21907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행사 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138893-5EA4-43E3-A2D3-3EEA7C25ED0C}"/>
              </a:ext>
            </a:extLst>
          </p:cNvPr>
          <p:cNvSpPr>
            <a:spLocks noGrp="1"/>
          </p:cNvSpPr>
          <p:nvPr/>
        </p:nvSpPr>
        <p:spPr>
          <a:xfrm>
            <a:off x="1047750" y="25527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349"/>
          </a:bodyPr>
          <a:lstStyle/>
          <a:p>
            <a:pPr algn="ctr">
              <a:lnSpc>
                <a:spcPct val="112000"/>
              </a:lnSpc>
              <a:buNone/>
              <a:defRPr sz="210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유입 정체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7609858-6468-4348-A9FD-D44E3DA79758}"/>
              </a:ext>
            </a:extLst>
          </p:cNvPr>
          <p:cNvSpPr>
            <a:spLocks noGrp="1"/>
          </p:cNvSpPr>
          <p:nvPr/>
        </p:nvSpPr>
        <p:spPr>
          <a:xfrm>
            <a:off x="857250" y="30099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관객이 행사장으로 이동</a:t>
            </a:r>
          </a:p>
        </p:txBody>
      </p:sp>
      <p:sp>
        <p:nvSpPr>
          <p:cNvPr id="9" name="직선 연결선[R] 8">
            <a:extLst>
              <a:ext uri="{FF2B5EF4-FFF2-40B4-BE49-F238E27FC236}">
                <a16:creationId xmlns:a16="http://schemas.microsoft.com/office/drawing/2014/main" id="{9EC2F421-7D19-48EA-84BC-09E448945A46}"/>
              </a:ext>
            </a:extLst>
          </p:cNvPr>
          <p:cNvSpPr>
            <a:spLocks noGrp="1"/>
          </p:cNvSpPr>
          <p:nvPr/>
        </p:nvSpPr>
        <p:spPr>
          <a:xfrm>
            <a:off x="3429000" y="2762250"/>
            <a:ext cx="5048250" cy="0"/>
          </a:xfrm>
          <a:prstGeom prst="line">
            <a:avLst/>
          </a:prstGeom>
          <a:noFill/>
          <a:ln w="19050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968D7EB2-6715-4A49-9F22-34381187F1E7}"/>
              </a:ext>
            </a:extLst>
          </p:cNvPr>
          <p:cNvSpPr>
            <a:spLocks noGrp="1"/>
          </p:cNvSpPr>
          <p:nvPr/>
        </p:nvSpPr>
        <p:spPr>
          <a:xfrm>
            <a:off x="5429250" y="2333625"/>
            <a:ext cx="1047750" cy="857250"/>
          </a:xfrm>
          <a:prstGeom prst="roundRect">
            <a:avLst>
              <a:gd name="adj" fmla="val 13333"/>
            </a:avLst>
          </a:prstGeom>
          <a:solidFill>
            <a:srgbClr val="182025"/>
          </a:solidFill>
          <a:ln w="9525">
            <a:solidFill>
              <a:srgbClr val="71E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6E231C-4502-4791-9B79-5775B35CB3D9}"/>
              </a:ext>
            </a:extLst>
          </p:cNvPr>
          <p:cNvSpPr>
            <a:spLocks noGrp="1"/>
          </p:cNvSpPr>
          <p:nvPr/>
        </p:nvSpPr>
        <p:spPr>
          <a:xfrm>
            <a:off x="5429250" y="2514600"/>
            <a:ext cx="104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4551"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행사</a:t>
            </a:r>
          </a:p>
          <a:p>
            <a:pPr algn="ctr">
              <a:lnSpc>
                <a:spcPct val="112000"/>
              </a:lnSpc>
              <a:buNone/>
              <a:defRPr sz="165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시작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DC9D17D-E631-4559-8680-02FDC4F80A57}"/>
              </a:ext>
            </a:extLst>
          </p:cNvPr>
          <p:cNvSpPr>
            <a:spLocks noGrp="1"/>
          </p:cNvSpPr>
          <p:nvPr/>
        </p:nvSpPr>
        <p:spPr>
          <a:xfrm>
            <a:off x="8763000" y="21907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rPr>
              <a:t>행사 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3BF20D4-CEB0-46AE-8E0B-A996F9CB0D60}"/>
              </a:ext>
            </a:extLst>
          </p:cNvPr>
          <p:cNvSpPr>
            <a:spLocks noGrp="1"/>
          </p:cNvSpPr>
          <p:nvPr/>
        </p:nvSpPr>
        <p:spPr>
          <a:xfrm>
            <a:off x="8763000" y="25527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349"/>
          </a:bodyPr>
          <a:lstStyle/>
          <a:p>
            <a:pPr algn="ctr">
              <a:lnSpc>
                <a:spcPct val="112000"/>
              </a:lnSpc>
              <a:buNone/>
              <a:defRPr sz="210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유출 정체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48EFA6C-D4FE-4664-886A-9DD1EA320D48}"/>
              </a:ext>
            </a:extLst>
          </p:cNvPr>
          <p:cNvSpPr>
            <a:spLocks noGrp="1"/>
          </p:cNvSpPr>
          <p:nvPr/>
        </p:nvSpPr>
        <p:spPr>
          <a:xfrm>
            <a:off x="8572500" y="30099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관객이 동시에 귀가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DF4ECD73-A930-46ED-8FA5-95AEB662932B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1070610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98F3FFE-31AA-46DB-B411-E9A6A3CD03CB}"/>
              </a:ext>
            </a:extLst>
          </p:cNvPr>
          <p:cNvSpPr>
            <a:spLocks noGrp="1"/>
          </p:cNvSpPr>
          <p:nvPr/>
        </p:nvSpPr>
        <p:spPr>
          <a:xfrm>
            <a:off x="742950" y="44577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핵심 전환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DAB85CF-1028-4AAB-87C3-8E70DAB4277E}"/>
              </a:ext>
            </a:extLst>
          </p:cNvPr>
          <p:cNvSpPr>
            <a:spLocks noGrp="1"/>
          </p:cNvSpPr>
          <p:nvPr/>
        </p:nvSpPr>
        <p:spPr>
          <a:xfrm>
            <a:off x="742950" y="483870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95"/>
          </a:bodyPr>
          <a:lstStyle/>
          <a:p>
            <a:pPr algn="l">
              <a:lnSpc>
                <a:spcPct val="112000"/>
              </a:lnSpc>
              <a:buNone/>
              <a:defRPr sz="20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행사 전 유입 정체를 관측하면, 행사 후 유출 정체를 준비할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735801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4269E85C-C3C8-4AAF-885B-DE0D1D70B3CF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05 · 핵심 아이디어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150F249-1D99-4F5C-B853-8059B294B4F4}"/>
              </a:ext>
            </a:extLst>
          </p:cNvPr>
          <p:cNvSpPr>
            <a:spLocks noGrp="1"/>
          </p:cNvSpPr>
          <p:nvPr/>
        </p:nvSpPr>
        <p:spPr>
          <a:xfrm>
            <a:off x="742950" y="742950"/>
            <a:ext cx="1038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유입 정체를 행사 규모의 대리변수로 쓴다</a:t>
            </a:r>
          </a:p>
        </p:txBody>
      </p:sp>
      <p:sp>
        <p:nvSpPr>
          <p:cNvPr id="3" name="직선 연결선[R] 2">
            <a:extLst>
              <a:ext uri="{FF2B5EF4-FFF2-40B4-BE49-F238E27FC236}">
                <a16:creationId xmlns:a16="http://schemas.microsoft.com/office/drawing/2014/main" id="{CC4D88C7-A8BC-4D13-9554-BF053132A308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1070610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0F287BE-1B8B-48EA-95F1-C37CC47321AE}"/>
              </a:ext>
            </a:extLst>
          </p:cNvPr>
          <p:cNvSpPr>
            <a:spLocks noGrp="1"/>
          </p:cNvSpPr>
          <p:nvPr/>
        </p:nvSpPr>
        <p:spPr>
          <a:xfrm>
            <a:off x="742950" y="64484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PAPER REVIEW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A0D9BFE-1A4A-46ED-8751-145AC66EE801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05 / 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CBFD483-8773-429F-A55D-5338015908F1}"/>
              </a:ext>
            </a:extLst>
          </p:cNvPr>
          <p:cNvSpPr>
            <a:spLocks noGrp="1"/>
          </p:cNvSpPr>
          <p:nvPr/>
        </p:nvSpPr>
        <p:spPr>
          <a:xfrm>
            <a:off x="742950" y="19621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CIPA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B290695-3ECE-4EAE-A7F1-A014CA1D90DF}"/>
              </a:ext>
            </a:extLst>
          </p:cNvPr>
          <p:cNvSpPr>
            <a:spLocks noGrp="1"/>
          </p:cNvSpPr>
          <p:nvPr/>
        </p:nvSpPr>
        <p:spPr>
          <a:xfrm>
            <a:off x="2476500" y="1943100"/>
            <a:ext cx="685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63"/>
          </a:bodyPr>
          <a:lstStyle/>
          <a:p>
            <a:pPr algn="ctr">
              <a:lnSpc>
                <a:spcPct val="112000"/>
              </a:lnSpc>
              <a:buNone/>
              <a:defRPr sz="315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 dirty="0" err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ŷ_out</a:t>
            </a:r>
            <a:r>
              <a:rPr sz="3150" b="1" dirty="0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 = 1/k  </a:t>
            </a:r>
            <a:r>
              <a:rPr sz="3150" b="1" dirty="0" err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Σ</a:t>
            </a:r>
            <a:r>
              <a:rPr sz="3150" b="1" dirty="0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  </a:t>
            </a:r>
            <a:r>
              <a:rPr sz="3150" b="1" dirty="0" err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y_out,j</a:t>
            </a:r>
            <a:endParaRPr sz="3150" b="1" dirty="0">
              <a:solidFill>
                <a:srgbClr val="71E4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C1C3036-EBC0-4731-9027-C8B5A387DDAA}"/>
              </a:ext>
            </a:extLst>
          </p:cNvPr>
          <p:cNvSpPr>
            <a:spLocks noGrp="1"/>
          </p:cNvSpPr>
          <p:nvPr/>
        </p:nvSpPr>
        <p:spPr>
          <a:xfrm>
            <a:off x="5257800" y="26098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289"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9199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199A0"/>
                </a:solidFill>
                <a:latin typeface="Apple SD Gothic Neo"/>
                <a:ea typeface="Apple SD Gothic Neo"/>
                <a:cs typeface="Apple SD Gothic Neo"/>
              </a:rPr>
              <a:t>j ∈ Nₖ(x)</a:t>
            </a:r>
          </a:p>
        </p:txBody>
      </p:sp>
      <p:sp>
        <p:nvSpPr>
          <p:cNvPr id="9" name="직선 연결선[R] 8">
            <a:extLst>
              <a:ext uri="{FF2B5EF4-FFF2-40B4-BE49-F238E27FC236}">
                <a16:creationId xmlns:a16="http://schemas.microsoft.com/office/drawing/2014/main" id="{0DD52A45-A56F-4806-A8CD-A0E37A7275FE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1070610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AB4A331-F40C-4297-86A5-E8491FD58553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x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971A576-928A-44DC-BA9D-EBD03B1FF6D2}"/>
              </a:ext>
            </a:extLst>
          </p:cNvPr>
          <p:cNvSpPr>
            <a:spLocks noGrp="1"/>
          </p:cNvSpPr>
          <p:nvPr/>
        </p:nvSpPr>
        <p:spPr>
          <a:xfrm>
            <a:off x="742950" y="411480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행사 카테고리 + 행사 전 유입 avgdelay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9D2BDB2-F6EF-40DD-B1CE-02FF79E98616}"/>
              </a:ext>
            </a:extLst>
          </p:cNvPr>
          <p:cNvSpPr>
            <a:spLocks noGrp="1"/>
          </p:cNvSpPr>
          <p:nvPr/>
        </p:nvSpPr>
        <p:spPr>
          <a:xfrm>
            <a:off x="4362450" y="37338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rPr>
              <a:t>Nₖ(x)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A0604F1-F49F-4884-87F9-ADB51F99C595}"/>
              </a:ext>
            </a:extLst>
          </p:cNvPr>
          <p:cNvSpPr>
            <a:spLocks noGrp="1"/>
          </p:cNvSpPr>
          <p:nvPr/>
        </p:nvSpPr>
        <p:spPr>
          <a:xfrm>
            <a:off x="4362450" y="411480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입력 x와 가장 가까운 과거 k개 행사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0499183-2E85-4E5E-A54A-F444D0EE99F2}"/>
              </a:ext>
            </a:extLst>
          </p:cNvPr>
          <p:cNvSpPr>
            <a:spLocks noGrp="1"/>
          </p:cNvSpPr>
          <p:nvPr/>
        </p:nvSpPr>
        <p:spPr>
          <a:xfrm>
            <a:off x="7981950" y="37338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ŷ_out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ED9F7B5-BB64-4B7B-84F6-B5C29663A8C8}"/>
              </a:ext>
            </a:extLst>
          </p:cNvPr>
          <p:cNvSpPr>
            <a:spLocks noGrp="1"/>
          </p:cNvSpPr>
          <p:nvPr/>
        </p:nvSpPr>
        <p:spPr>
          <a:xfrm>
            <a:off x="7981950" y="411480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이웃 행사들의 유출 avgdelay 평균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31ADC53-A81E-4C60-A512-37081BCF02B6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rPr>
              <a:t>평가식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4681783-C1FD-46AC-8E29-D1AACFB5CCC5}"/>
              </a:ext>
            </a:extLst>
          </p:cNvPr>
          <p:cNvSpPr>
            <a:spLocks noGrp="1"/>
          </p:cNvSpPr>
          <p:nvPr/>
        </p:nvSpPr>
        <p:spPr>
          <a:xfrm>
            <a:off x="2000250" y="520065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RMSE = √(1/N · Σ(yᵢ − ŷᵢ)²)   낮을수록 오차가 작다</a:t>
            </a:r>
          </a:p>
        </p:txBody>
      </p:sp>
    </p:spTree>
    <p:extLst>
      <p:ext uri="{BB962C8B-B14F-4D97-AF65-F5344CB8AC3E}">
        <p14:creationId xmlns:p14="http://schemas.microsoft.com/office/powerpoint/2010/main" val="1575285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77568950-E84E-4754-B3F3-9C83D49A2B3D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06 · 보조 장치 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6DE80A0-8B10-4169-AF3A-3902E828BA1E}"/>
              </a:ext>
            </a:extLst>
          </p:cNvPr>
          <p:cNvSpPr>
            <a:spLocks noGrp="1"/>
          </p:cNvSpPr>
          <p:nvPr/>
        </p:nvSpPr>
        <p:spPr>
          <a:xfrm>
            <a:off x="742950" y="742950"/>
            <a:ext cx="1038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CBMA는 행사 전에 기준선을 만든다</a:t>
            </a:r>
          </a:p>
        </p:txBody>
      </p:sp>
      <p:sp>
        <p:nvSpPr>
          <p:cNvPr id="3" name="직선 연결선[R] 2">
            <a:extLst>
              <a:ext uri="{FF2B5EF4-FFF2-40B4-BE49-F238E27FC236}">
                <a16:creationId xmlns:a16="http://schemas.microsoft.com/office/drawing/2014/main" id="{E8012FA0-C4E5-4033-9440-45900756D6AC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1070610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0B8487-7390-4297-81A9-C88225095B0F}"/>
              </a:ext>
            </a:extLst>
          </p:cNvPr>
          <p:cNvSpPr>
            <a:spLocks noGrp="1"/>
          </p:cNvSpPr>
          <p:nvPr/>
        </p:nvSpPr>
        <p:spPr>
          <a:xfrm>
            <a:off x="742950" y="64484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PAPER REVIEW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6835AF-AAB2-4162-9886-AC5595877880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06 / 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016AD6-90AC-4447-ABF2-B3FE8B547915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685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카테고리별 과거 유출 패턴을 평균화하면</a:t>
            </a:r>
          </a:p>
          <a:p>
            <a:pPr algn="l">
              <a:lnSpc>
                <a:spcPct val="100000"/>
              </a:lnSpc>
              <a:buNone/>
              <a:defRPr sz="19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행사 당일 유입을 기다리지 않고 예측할 수 있다.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2535BAB7-2297-4F18-8900-5D173621D9B0}"/>
              </a:ext>
            </a:extLst>
          </p:cNvPr>
          <p:cNvSpPr>
            <a:spLocks noGrp="1"/>
          </p:cNvSpPr>
          <p:nvPr/>
        </p:nvSpPr>
        <p:spPr>
          <a:xfrm>
            <a:off x="742950" y="3048000"/>
            <a:ext cx="1070610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660E4D-313D-4242-82A2-951D9C87E8DC}"/>
              </a:ext>
            </a:extLst>
          </p:cNvPr>
          <p:cNvSpPr>
            <a:spLocks noGrp="1"/>
          </p:cNvSpPr>
          <p:nvPr/>
        </p:nvSpPr>
        <p:spPr>
          <a:xfrm>
            <a:off x="933450" y="34480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Concert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E8F7F2-657F-4818-973A-A4CF783D3879}"/>
              </a:ext>
            </a:extLst>
          </p:cNvPr>
          <p:cNvSpPr>
            <a:spLocks noGrp="1"/>
          </p:cNvSpPr>
          <p:nvPr/>
        </p:nvSpPr>
        <p:spPr>
          <a:xfrm>
            <a:off x="3714750" y="34480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rPr>
              <a:t>18개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3C512D1-98AE-468C-8EF6-3487467A07F9}"/>
              </a:ext>
            </a:extLst>
          </p:cNvPr>
          <p:cNvSpPr>
            <a:spLocks noGrp="1"/>
          </p:cNvSpPr>
          <p:nvPr/>
        </p:nvSpPr>
        <p:spPr>
          <a:xfrm>
            <a:off x="6191250" y="3448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985"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유출 강함 11개</a:t>
            </a:r>
          </a:p>
        </p:txBody>
      </p:sp>
      <p:sp>
        <p:nvSpPr>
          <p:cNvPr id="11" name="직선 연결선[R] 10">
            <a:extLst>
              <a:ext uri="{FF2B5EF4-FFF2-40B4-BE49-F238E27FC236}">
                <a16:creationId xmlns:a16="http://schemas.microsoft.com/office/drawing/2014/main" id="{A88FAE55-C96D-4900-9DB8-E2748886A171}"/>
              </a:ext>
            </a:extLst>
          </p:cNvPr>
          <p:cNvSpPr>
            <a:spLocks noGrp="1"/>
          </p:cNvSpPr>
          <p:nvPr/>
        </p:nvSpPr>
        <p:spPr>
          <a:xfrm>
            <a:off x="933450" y="3848100"/>
            <a:ext cx="935355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2F61C2B-0128-4BD3-A21A-38489DE9FBE5}"/>
              </a:ext>
            </a:extLst>
          </p:cNvPr>
          <p:cNvSpPr>
            <a:spLocks noGrp="1"/>
          </p:cNvSpPr>
          <p:nvPr/>
        </p:nvSpPr>
        <p:spPr>
          <a:xfrm>
            <a:off x="933450" y="40386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Entertainment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38557D1-5099-4B5D-9ED4-379E71D11145}"/>
              </a:ext>
            </a:extLst>
          </p:cNvPr>
          <p:cNvSpPr>
            <a:spLocks noGrp="1"/>
          </p:cNvSpPr>
          <p:nvPr/>
        </p:nvSpPr>
        <p:spPr>
          <a:xfrm>
            <a:off x="3714750" y="40386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FC4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C46B"/>
                </a:solidFill>
                <a:latin typeface="Apple SD Gothic Neo"/>
                <a:ea typeface="Apple SD Gothic Neo"/>
                <a:cs typeface="Apple SD Gothic Neo"/>
              </a:rPr>
              <a:t>6개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9A5AD2-EDFF-4E8C-94F2-8B1774DCB9B8}"/>
              </a:ext>
            </a:extLst>
          </p:cNvPr>
          <p:cNvSpPr>
            <a:spLocks noGrp="1"/>
          </p:cNvSpPr>
          <p:nvPr/>
        </p:nvSpPr>
        <p:spPr>
          <a:xfrm>
            <a:off x="6191250" y="403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985"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유출 강함 1개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797268F4-1390-4B3C-8DAE-7B7355C180A1}"/>
              </a:ext>
            </a:extLst>
          </p:cNvPr>
          <p:cNvSpPr>
            <a:spLocks noGrp="1"/>
          </p:cNvSpPr>
          <p:nvPr/>
        </p:nvSpPr>
        <p:spPr>
          <a:xfrm>
            <a:off x="933450" y="4438650"/>
            <a:ext cx="935355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6793853-0311-44E4-8212-429F0162344C}"/>
              </a:ext>
            </a:extLst>
          </p:cNvPr>
          <p:cNvSpPr>
            <a:spLocks noGrp="1"/>
          </p:cNvSpPr>
          <p:nvPr/>
        </p:nvSpPr>
        <p:spPr>
          <a:xfrm>
            <a:off x="933450" y="46291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Sport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B4B2D7-673A-447C-AACA-5F6AF4AB64BE}"/>
              </a:ext>
            </a:extLst>
          </p:cNvPr>
          <p:cNvSpPr>
            <a:spLocks noGrp="1"/>
          </p:cNvSpPr>
          <p:nvPr/>
        </p:nvSpPr>
        <p:spPr>
          <a:xfrm>
            <a:off x="371475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2개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DFDE13-183C-46D8-B9D4-AAD400293EA6}"/>
              </a:ext>
            </a:extLst>
          </p:cNvPr>
          <p:cNvSpPr>
            <a:spLocks noGrp="1"/>
          </p:cNvSpPr>
          <p:nvPr/>
        </p:nvSpPr>
        <p:spPr>
          <a:xfrm>
            <a:off x="6191250" y="46291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985"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두 행사 모두 유사</a:t>
            </a:r>
          </a:p>
        </p:txBody>
      </p:sp>
      <p:sp>
        <p:nvSpPr>
          <p:cNvPr id="19" name="직선 연결선[R] 18">
            <a:extLst>
              <a:ext uri="{FF2B5EF4-FFF2-40B4-BE49-F238E27FC236}">
                <a16:creationId xmlns:a16="http://schemas.microsoft.com/office/drawing/2014/main" id="{CDF7341A-4B0E-4349-86E2-38915F60B6C0}"/>
              </a:ext>
            </a:extLst>
          </p:cNvPr>
          <p:cNvSpPr>
            <a:spLocks noGrp="1"/>
          </p:cNvSpPr>
          <p:nvPr/>
        </p:nvSpPr>
        <p:spPr>
          <a:xfrm>
            <a:off x="933450" y="5029200"/>
            <a:ext cx="935355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8B93D34-19D8-462B-A806-3D5221273914}"/>
              </a:ext>
            </a:extLst>
          </p:cNvPr>
          <p:cNvSpPr>
            <a:spLocks noGrp="1"/>
          </p:cNvSpPr>
          <p:nvPr/>
        </p:nvSpPr>
        <p:spPr>
          <a:xfrm>
            <a:off x="933450" y="5219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Comedy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7C59A43-7ADA-4F2B-BF81-B5E244329DF8}"/>
              </a:ext>
            </a:extLst>
          </p:cNvPr>
          <p:cNvSpPr>
            <a:spLocks noGrp="1"/>
          </p:cNvSpPr>
          <p:nvPr/>
        </p:nvSpPr>
        <p:spPr>
          <a:xfrm>
            <a:off x="3714750" y="52197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A8F2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A8F28B"/>
                </a:solidFill>
                <a:latin typeface="Apple SD Gothic Neo"/>
                <a:ea typeface="Apple SD Gothic Neo"/>
                <a:cs typeface="Apple SD Gothic Neo"/>
              </a:rPr>
              <a:t>3개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83BDB29-940B-4391-9AE6-C3651C6E4968}"/>
              </a:ext>
            </a:extLst>
          </p:cNvPr>
          <p:cNvSpPr>
            <a:spLocks noGrp="1"/>
          </p:cNvSpPr>
          <p:nvPr/>
        </p:nvSpPr>
        <p:spPr>
          <a:xfrm>
            <a:off x="6191250" y="5219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985"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유의미한 상승 없음</a:t>
            </a:r>
          </a:p>
        </p:txBody>
      </p:sp>
      <p:sp>
        <p:nvSpPr>
          <p:cNvPr id="23" name="직선 연결선[R] 22">
            <a:extLst>
              <a:ext uri="{FF2B5EF4-FFF2-40B4-BE49-F238E27FC236}">
                <a16:creationId xmlns:a16="http://schemas.microsoft.com/office/drawing/2014/main" id="{A7724C5F-7F9A-4780-AA0C-7DCC861516F1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1070610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E07BB1D-D4A7-4BDE-8A7C-77F96A767FC2}"/>
              </a:ext>
            </a:extLst>
          </p:cNvPr>
          <p:cNvSpPr>
            <a:spLocks noGrp="1"/>
          </p:cNvSpPr>
          <p:nvPr/>
        </p:nvSpPr>
        <p:spPr>
          <a:xfrm>
            <a:off x="933450" y="60388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rPr>
              <a:t>리뷰 포인트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64CE5B5-DFD6-44A6-9A54-57CD6A4B5FA5}"/>
              </a:ext>
            </a:extLst>
          </p:cNvPr>
          <p:cNvSpPr>
            <a:spLocks noGrp="1"/>
          </p:cNvSpPr>
          <p:nvPr/>
        </p:nvSpPr>
        <p:spPr>
          <a:xfrm>
            <a:off x="2476500" y="60198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사전 예측에는 강하지만, 같은 카테고리 안의 관객 규모 차이는 반영하기 어렵다.</a:t>
            </a:r>
          </a:p>
        </p:txBody>
      </p:sp>
    </p:spTree>
    <p:extLst>
      <p:ext uri="{BB962C8B-B14F-4D97-AF65-F5344CB8AC3E}">
        <p14:creationId xmlns:p14="http://schemas.microsoft.com/office/powerpoint/2010/main" val="187917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22CE2749-44D1-4C64-A8EE-4878ED18626D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07 · 보조 장치 2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48AA58D-6815-47F9-92FB-76F4066E0EDF}"/>
              </a:ext>
            </a:extLst>
          </p:cNvPr>
          <p:cNvSpPr>
            <a:spLocks noGrp="1"/>
          </p:cNvSpPr>
          <p:nvPr/>
        </p:nvSpPr>
        <p:spPr>
          <a:xfrm>
            <a:off x="742950" y="742950"/>
            <a:ext cx="1038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예측값을 도로와 지도에 얹는다</a:t>
            </a:r>
          </a:p>
        </p:txBody>
      </p:sp>
      <p:sp>
        <p:nvSpPr>
          <p:cNvPr id="3" name="직선 연결선[R] 2">
            <a:extLst>
              <a:ext uri="{FF2B5EF4-FFF2-40B4-BE49-F238E27FC236}">
                <a16:creationId xmlns:a16="http://schemas.microsoft.com/office/drawing/2014/main" id="{ACB6E60A-4879-4428-9AF8-14462F2BD846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1070610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E10C60-D46A-428B-B399-3396CE868A0E}"/>
              </a:ext>
            </a:extLst>
          </p:cNvPr>
          <p:cNvSpPr>
            <a:spLocks noGrp="1"/>
          </p:cNvSpPr>
          <p:nvPr/>
        </p:nvSpPr>
        <p:spPr>
          <a:xfrm>
            <a:off x="742950" y="64484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PAPER REVIEW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FD00804-A457-4B44-BC7C-4A77B7F6A1EB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07 / 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63C45D2-B3F6-46CF-BDAB-B140D4E1C88D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289"/>
          </a:bodyPr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280878-B219-436B-A3AF-2E98AF2D307B}"/>
              </a:ext>
            </a:extLst>
          </p:cNvPr>
          <p:cNvSpPr>
            <a:spLocks noGrp="1"/>
          </p:cNvSpPr>
          <p:nvPr/>
        </p:nvSpPr>
        <p:spPr>
          <a:xfrm>
            <a:off x="1714500" y="20383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580"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세그먼트 선택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19D8B2D-81D8-4F0D-A69E-E56B8A9EE1F5}"/>
              </a:ext>
            </a:extLst>
          </p:cNvPr>
          <p:cNvSpPr>
            <a:spLocks noGrp="1"/>
          </p:cNvSpPr>
          <p:nvPr/>
        </p:nvSpPr>
        <p:spPr>
          <a:xfrm>
            <a:off x="4572000" y="2038350"/>
            <a:ext cx="628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같은 카테고리 또는 K-NN 이웃 행사 중 절반 이상에서 막힌 도로만 선택</a:t>
            </a:r>
          </a:p>
        </p:txBody>
      </p:sp>
      <p:sp>
        <p:nvSpPr>
          <p:cNvPr id="9" name="직선 연결선[R] 8">
            <a:extLst>
              <a:ext uri="{FF2B5EF4-FFF2-40B4-BE49-F238E27FC236}">
                <a16:creationId xmlns:a16="http://schemas.microsoft.com/office/drawing/2014/main" id="{4D45C946-D3C8-4071-8236-EB9B9331B56D}"/>
              </a:ext>
            </a:extLst>
          </p:cNvPr>
          <p:cNvSpPr>
            <a:spLocks noGrp="1"/>
          </p:cNvSpPr>
          <p:nvPr/>
        </p:nvSpPr>
        <p:spPr>
          <a:xfrm>
            <a:off x="1714500" y="2724150"/>
            <a:ext cx="895350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C9B2F2-2355-4DB8-A7BC-E8AC675A980B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289"/>
          </a:bodyPr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97279C7-62CF-4D76-81FE-5F7AA8D87BE8}"/>
              </a:ext>
            </a:extLst>
          </p:cNvPr>
          <p:cNvSpPr>
            <a:spLocks noGrp="1"/>
          </p:cNvSpPr>
          <p:nvPr/>
        </p:nvSpPr>
        <p:spPr>
          <a:xfrm>
            <a:off x="1714500" y="32194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580"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DM 지표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41A7644-159A-40AF-841B-77AB0C7FEE99}"/>
              </a:ext>
            </a:extLst>
          </p:cNvPr>
          <p:cNvSpPr>
            <a:spLocks noGrp="1"/>
          </p:cNvSpPr>
          <p:nvPr/>
        </p:nvSpPr>
        <p:spPr>
          <a:xfrm>
            <a:off x="4572000" y="3219450"/>
            <a:ext cx="628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예측 지연을 도로 길이에 나눠 seconds/meter로 표현</a:t>
            </a:r>
          </a:p>
        </p:txBody>
      </p:sp>
      <p:sp>
        <p:nvSpPr>
          <p:cNvPr id="13" name="직선 연결선[R] 12">
            <a:extLst>
              <a:ext uri="{FF2B5EF4-FFF2-40B4-BE49-F238E27FC236}">
                <a16:creationId xmlns:a16="http://schemas.microsoft.com/office/drawing/2014/main" id="{7D4A0DCC-4E03-4460-BF68-DDDA7F79F35D}"/>
              </a:ext>
            </a:extLst>
          </p:cNvPr>
          <p:cNvSpPr>
            <a:spLocks noGrp="1"/>
          </p:cNvSpPr>
          <p:nvPr/>
        </p:nvSpPr>
        <p:spPr>
          <a:xfrm>
            <a:off x="1714500" y="3905250"/>
            <a:ext cx="895350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08CEABD-CC08-42EF-BCF2-ECBB78BFE307}"/>
              </a:ext>
            </a:extLst>
          </p:cNvPr>
          <p:cNvSpPr>
            <a:spLocks noGrp="1"/>
          </p:cNvSpPr>
          <p:nvPr/>
        </p:nvSpPr>
        <p:spPr>
          <a:xfrm>
            <a:off x="876300" y="4362450"/>
            <a:ext cx="457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289"/>
          </a:bodyPr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838FEA-C5CE-46A0-96E8-547FD9D1B6C4}"/>
              </a:ext>
            </a:extLst>
          </p:cNvPr>
          <p:cNvSpPr>
            <a:spLocks noGrp="1"/>
          </p:cNvSpPr>
          <p:nvPr/>
        </p:nvSpPr>
        <p:spPr>
          <a:xfrm>
            <a:off x="1714500" y="44005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580"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GUI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A5CC1C-8A99-46FA-9E74-EBC0E435E59C}"/>
              </a:ext>
            </a:extLst>
          </p:cNvPr>
          <p:cNvSpPr>
            <a:spLocks noGrp="1"/>
          </p:cNvSpPr>
          <p:nvPr/>
        </p:nvSpPr>
        <p:spPr>
          <a:xfrm>
            <a:off x="4572000" y="4400550"/>
            <a:ext cx="628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Google Earth 위에 혼잡 구간과 심각도를 레이어로 표시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0AFF592A-7CE3-4F5C-9847-4B3C98B334E0}"/>
              </a:ext>
            </a:extLst>
          </p:cNvPr>
          <p:cNvSpPr>
            <a:spLocks noGrp="1"/>
          </p:cNvSpPr>
          <p:nvPr/>
        </p:nvSpPr>
        <p:spPr>
          <a:xfrm>
            <a:off x="1714500" y="5600700"/>
            <a:ext cx="8572500" cy="514350"/>
          </a:xfrm>
          <a:prstGeom prst="roundRect">
            <a:avLst>
              <a:gd name="adj" fmla="val 14815"/>
            </a:avLst>
          </a:prstGeom>
          <a:solidFill>
            <a:srgbClr val="121517"/>
          </a:solidFill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51FF921-A575-43F7-91FD-CDA1EA1749FC}"/>
              </a:ext>
            </a:extLst>
          </p:cNvPr>
          <p:cNvSpPr>
            <a:spLocks noGrp="1"/>
          </p:cNvSpPr>
          <p:nvPr/>
        </p:nvSpPr>
        <p:spPr>
          <a:xfrm>
            <a:off x="2038350" y="5753100"/>
            <a:ext cx="790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153"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rPr>
              <a:t>Mark Knopfler 사례: 약 2,000 m 구간에 DM ≈ 1 s/m</a:t>
            </a:r>
          </a:p>
        </p:txBody>
      </p:sp>
    </p:spTree>
    <p:extLst>
      <p:ext uri="{BB962C8B-B14F-4D97-AF65-F5344CB8AC3E}">
        <p14:creationId xmlns:p14="http://schemas.microsoft.com/office/powerpoint/2010/main" val="1394124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C5C2CAC9-01C4-4113-8BF5-3B5B3783D543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08 · 결과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A8778CA-5D47-4B5D-80EB-01A2B1EC4A0A}"/>
              </a:ext>
            </a:extLst>
          </p:cNvPr>
          <p:cNvSpPr>
            <a:spLocks noGrp="1"/>
          </p:cNvSpPr>
          <p:nvPr/>
        </p:nvSpPr>
        <p:spPr>
          <a:xfrm>
            <a:off x="742950" y="742950"/>
            <a:ext cx="1038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CIPA는 RMSE를 1230초까지 낮췄다</a:t>
            </a:r>
          </a:p>
        </p:txBody>
      </p:sp>
      <p:sp>
        <p:nvSpPr>
          <p:cNvPr id="3" name="직선 연결선[R] 2">
            <a:extLst>
              <a:ext uri="{FF2B5EF4-FFF2-40B4-BE49-F238E27FC236}">
                <a16:creationId xmlns:a16="http://schemas.microsoft.com/office/drawing/2014/main" id="{9FEC6672-95F6-4F4D-BE4A-FF64E141578A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1070610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1F6AA7D-4B5A-4880-A639-83C1C258423C}"/>
              </a:ext>
            </a:extLst>
          </p:cNvPr>
          <p:cNvSpPr>
            <a:spLocks noGrp="1"/>
          </p:cNvSpPr>
          <p:nvPr/>
        </p:nvSpPr>
        <p:spPr>
          <a:xfrm>
            <a:off x="742950" y="64484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PAPER REVIEW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C8E65F-7558-45FB-95F6-FFBEB529490C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08 / 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70C5E7-7338-46FA-9558-A47689D782F3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실험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43E6E5-C534-44FA-B524-9AA345EFC3B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Cologne LANXESS arena · 7개월 · PSE 29개</a:t>
            </a:r>
          </a:p>
          <a:p>
            <a:pPr algn="l">
              <a:lnSpc>
                <a:spcPct val="110000"/>
              </a:lnSpc>
              <a:buNone/>
              <a:defRPr sz="1500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50GB 교통 데이터 · leave-one-out cross validation</a:t>
            </a:r>
          </a:p>
        </p:txBody>
      </p:sp>
      <p:sp>
        <p:nvSpPr>
          <p:cNvPr id="8" name="직선 연결선[R] 7">
            <a:extLst>
              <a:ext uri="{FF2B5EF4-FFF2-40B4-BE49-F238E27FC236}">
                <a16:creationId xmlns:a16="http://schemas.microsoft.com/office/drawing/2014/main" id="{09242C77-A969-4177-8F04-594330CF30E7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0" cy="363855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6698460-DED5-449D-BB88-83CC733E72F9}"/>
              </a:ext>
            </a:extLst>
          </p:cNvPr>
          <p:cNvSpPr>
            <a:spLocks noGrp="1"/>
          </p:cNvSpPr>
          <p:nvPr/>
        </p:nvSpPr>
        <p:spPr>
          <a:xfrm>
            <a:off x="6838950" y="18669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접근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05017D3-46B6-4EEA-9F75-AF172E37CE39}"/>
              </a:ext>
            </a:extLst>
          </p:cNvPr>
          <p:cNvSpPr>
            <a:spLocks noGrp="1"/>
          </p:cNvSpPr>
          <p:nvPr/>
        </p:nvSpPr>
        <p:spPr>
          <a:xfrm>
            <a:off x="8572500" y="18669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RMSE (초)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8CA2625-0788-4EDB-8A00-0D6D826202A0}"/>
              </a:ext>
            </a:extLst>
          </p:cNvPr>
          <p:cNvSpPr>
            <a:spLocks noGrp="1"/>
          </p:cNvSpPr>
          <p:nvPr/>
        </p:nvSpPr>
        <p:spPr>
          <a:xfrm>
            <a:off x="10287000" y="18669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의미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AC5649-3F31-4722-8A27-1084100CEDD1}"/>
              </a:ext>
            </a:extLst>
          </p:cNvPr>
          <p:cNvSpPr>
            <a:spLocks noGrp="1"/>
          </p:cNvSpPr>
          <p:nvPr/>
        </p:nvSpPr>
        <p:spPr>
          <a:xfrm>
            <a:off x="6838950" y="23812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580"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Zero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DC3CDDE-FABF-4E2D-9BA9-20DDED633470}"/>
              </a:ext>
            </a:extLst>
          </p:cNvPr>
          <p:cNvSpPr>
            <a:spLocks noGrp="1"/>
          </p:cNvSpPr>
          <p:nvPr/>
        </p:nvSpPr>
        <p:spPr>
          <a:xfrm>
            <a:off x="8572500" y="23812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333"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1918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9E8CC10-BE0B-494C-90DF-3C50CB3DF3B6}"/>
              </a:ext>
            </a:extLst>
          </p:cNvPr>
          <p:cNvSpPr>
            <a:spLocks noGrp="1"/>
          </p:cNvSpPr>
          <p:nvPr/>
        </p:nvSpPr>
        <p:spPr>
          <a:xfrm>
            <a:off x="9525000" y="23812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2000"/>
              </a:lnSpc>
              <a:buNone/>
              <a:defRPr sz="12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현재 상용 기준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F38FA759-1310-4ECF-96AB-51EB779938C9}"/>
              </a:ext>
            </a:extLst>
          </p:cNvPr>
          <p:cNvSpPr>
            <a:spLocks noGrp="1"/>
          </p:cNvSpPr>
          <p:nvPr/>
        </p:nvSpPr>
        <p:spPr>
          <a:xfrm>
            <a:off x="6838950" y="2838450"/>
            <a:ext cx="459105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D1FD81-7072-44B1-8D7A-BDAE99649422}"/>
              </a:ext>
            </a:extLst>
          </p:cNvPr>
          <p:cNvSpPr>
            <a:spLocks noGrp="1"/>
          </p:cNvSpPr>
          <p:nvPr/>
        </p:nvSpPr>
        <p:spPr>
          <a:xfrm>
            <a:off x="6838950" y="30670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580"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Start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B94DC9E-1725-4A18-A6A9-90800BBDE6BD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333"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rPr>
              <a:t>2095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EF6A983-5EDD-4706-A2D0-B0A49A6713C2}"/>
              </a:ext>
            </a:extLst>
          </p:cNvPr>
          <p:cNvSpPr>
            <a:spLocks noGrp="1"/>
          </p:cNvSpPr>
          <p:nvPr/>
        </p:nvSpPr>
        <p:spPr>
          <a:xfrm>
            <a:off x="9525000" y="30670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2000"/>
              </a:lnSpc>
              <a:buNone/>
              <a:defRPr sz="12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유입=유출 가정</a:t>
            </a:r>
          </a:p>
        </p:txBody>
      </p:sp>
      <p:sp>
        <p:nvSpPr>
          <p:cNvPr id="19" name="직선 연결선[R] 18">
            <a:extLst>
              <a:ext uri="{FF2B5EF4-FFF2-40B4-BE49-F238E27FC236}">
                <a16:creationId xmlns:a16="http://schemas.microsoft.com/office/drawing/2014/main" id="{14A7AA08-539A-4F63-85A8-4A30C2B3BD2C}"/>
              </a:ext>
            </a:extLst>
          </p:cNvPr>
          <p:cNvSpPr>
            <a:spLocks noGrp="1"/>
          </p:cNvSpPr>
          <p:nvPr/>
        </p:nvSpPr>
        <p:spPr>
          <a:xfrm>
            <a:off x="6838950" y="3524250"/>
            <a:ext cx="459105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6C7F864-278C-483A-B436-4173AA32EFFE}"/>
              </a:ext>
            </a:extLst>
          </p:cNvPr>
          <p:cNvSpPr>
            <a:spLocks noGrp="1"/>
          </p:cNvSpPr>
          <p:nvPr/>
        </p:nvSpPr>
        <p:spPr>
          <a:xfrm>
            <a:off x="6838950" y="37528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580"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CBMA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5CF65DE-A92F-414E-A9C3-15A167991BA4}"/>
              </a:ext>
            </a:extLst>
          </p:cNvPr>
          <p:cNvSpPr>
            <a:spLocks noGrp="1"/>
          </p:cNvSpPr>
          <p:nvPr/>
        </p:nvSpPr>
        <p:spPr>
          <a:xfrm>
            <a:off x="8572500" y="37528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333"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FFC4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C46B"/>
                </a:solidFill>
                <a:latin typeface="Apple SD Gothic Neo"/>
                <a:ea typeface="Apple SD Gothic Neo"/>
                <a:cs typeface="Apple SD Gothic Neo"/>
              </a:rPr>
              <a:t>1364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DBBF574-78A6-407B-9EB8-810342B10304}"/>
              </a:ext>
            </a:extLst>
          </p:cNvPr>
          <p:cNvSpPr>
            <a:spLocks noGrp="1"/>
          </p:cNvSpPr>
          <p:nvPr/>
        </p:nvSpPr>
        <p:spPr>
          <a:xfrm>
            <a:off x="9525000" y="37528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2000"/>
              </a:lnSpc>
              <a:buNone/>
              <a:defRPr sz="12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카테고리 평균</a:t>
            </a:r>
          </a:p>
        </p:txBody>
      </p:sp>
      <p:sp>
        <p:nvSpPr>
          <p:cNvPr id="23" name="직선 연결선[R] 22">
            <a:extLst>
              <a:ext uri="{FF2B5EF4-FFF2-40B4-BE49-F238E27FC236}">
                <a16:creationId xmlns:a16="http://schemas.microsoft.com/office/drawing/2014/main" id="{DB65C634-05C9-44C6-95C4-06D7F54DC2CC}"/>
              </a:ext>
            </a:extLst>
          </p:cNvPr>
          <p:cNvSpPr>
            <a:spLocks noGrp="1"/>
          </p:cNvSpPr>
          <p:nvPr/>
        </p:nvSpPr>
        <p:spPr>
          <a:xfrm>
            <a:off x="6838950" y="4210050"/>
            <a:ext cx="459105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60F4917-7A2B-40DE-A461-5EDDC37220E0}"/>
              </a:ext>
            </a:extLst>
          </p:cNvPr>
          <p:cNvSpPr>
            <a:spLocks noGrp="1"/>
          </p:cNvSpPr>
          <p:nvPr/>
        </p:nvSpPr>
        <p:spPr>
          <a:xfrm>
            <a:off x="6838950" y="44386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580"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CIPA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692DE86-73F9-442A-A14C-0B7D9D3CE6B2}"/>
              </a:ext>
            </a:extLst>
          </p:cNvPr>
          <p:cNvSpPr>
            <a:spLocks noGrp="1"/>
          </p:cNvSpPr>
          <p:nvPr/>
        </p:nvSpPr>
        <p:spPr>
          <a:xfrm>
            <a:off x="8572500" y="44386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333"/>
          </a:bodyPr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A8F2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A8F28B"/>
                </a:solidFill>
                <a:latin typeface="Apple SD Gothic Neo"/>
                <a:ea typeface="Apple SD Gothic Neo"/>
                <a:cs typeface="Apple SD Gothic Neo"/>
              </a:rPr>
              <a:t>1230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5C24DD5-A451-4F0B-9E7E-C33DDF2A9092}"/>
              </a:ext>
            </a:extLst>
          </p:cNvPr>
          <p:cNvSpPr>
            <a:spLocks noGrp="1"/>
          </p:cNvSpPr>
          <p:nvPr/>
        </p:nvSpPr>
        <p:spPr>
          <a:xfrm>
            <a:off x="9525000" y="44386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2000"/>
              </a:lnSpc>
              <a:buNone/>
              <a:defRPr sz="12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카테고리+유입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F8A32F04-E2D4-4C64-8412-36489CCA71F9}"/>
              </a:ext>
            </a:extLst>
          </p:cNvPr>
          <p:cNvSpPr>
            <a:spLocks noGrp="1"/>
          </p:cNvSpPr>
          <p:nvPr/>
        </p:nvSpPr>
        <p:spPr>
          <a:xfrm>
            <a:off x="742950" y="4457700"/>
            <a:ext cx="4762500" cy="1066800"/>
          </a:xfrm>
          <a:prstGeom prst="roundRect">
            <a:avLst>
              <a:gd name="adj" fmla="val 8929"/>
            </a:avLst>
          </a:prstGeom>
          <a:solidFill>
            <a:srgbClr val="121517"/>
          </a:solidFill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6CCD3E-8A53-457C-9008-67FFF856E1CB}"/>
              </a:ext>
            </a:extLst>
          </p:cNvPr>
          <p:cNvSpPr>
            <a:spLocks noGrp="1"/>
          </p:cNvSpPr>
          <p:nvPr/>
        </p:nvSpPr>
        <p:spPr>
          <a:xfrm>
            <a:off x="1066800" y="47053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719"/>
          </a:bodyPr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A8F2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A8F28B"/>
                </a:solidFill>
                <a:latin typeface="Apple SD Gothic Neo"/>
                <a:ea typeface="Apple SD Gothic Neo"/>
                <a:cs typeface="Apple SD Gothic Neo"/>
              </a:rPr>
              <a:t>CIPA 1230초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68F489E-92FE-49A9-AEEE-703DAE5EC175}"/>
              </a:ext>
            </a:extLst>
          </p:cNvPr>
          <p:cNvSpPr>
            <a:spLocks noGrp="1"/>
          </p:cNvSpPr>
          <p:nvPr/>
        </p:nvSpPr>
        <p:spPr>
          <a:xfrm>
            <a:off x="1066800" y="5124450"/>
            <a:ext cx="381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732"/>
          </a:bodyPr>
          <a:lstStyle/>
          <a:p>
            <a:pPr algn="l">
              <a:lnSpc>
                <a:spcPct val="110000"/>
              </a:lnSpc>
              <a:buNone/>
              <a:defRPr sz="14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Zero 대비 오류 35% 감소</a:t>
            </a:r>
          </a:p>
          <a:p>
            <a:pPr algn="l">
              <a:lnSpc>
                <a:spcPct val="110000"/>
              </a:lnSpc>
              <a:buNone/>
              <a:defRPr sz="14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Start 대비 오류 41% 감소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43C019C-5B03-4D28-BB11-9DAB9677A36C}"/>
              </a:ext>
            </a:extLst>
          </p:cNvPr>
          <p:cNvSpPr>
            <a:spLocks noGrp="1"/>
          </p:cNvSpPr>
          <p:nvPr/>
        </p:nvSpPr>
        <p:spPr>
          <a:xfrm>
            <a:off x="742950" y="58674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카테고리별로는 CBMA가 더 나은 경우도 있다: Sport 80초 vs 418초.</a:t>
            </a:r>
          </a:p>
        </p:txBody>
      </p:sp>
    </p:spTree>
    <p:extLst>
      <p:ext uri="{BB962C8B-B14F-4D97-AF65-F5344CB8AC3E}">
        <p14:creationId xmlns:p14="http://schemas.microsoft.com/office/powerpoint/2010/main" val="1540937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63D309A0-2CCC-43CB-9702-E8E0CB4C94E5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09 · 핵심 정리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0BEFA5-D323-4B7C-9538-2066C54284CA}"/>
              </a:ext>
            </a:extLst>
          </p:cNvPr>
          <p:cNvSpPr>
            <a:spLocks noGrp="1"/>
          </p:cNvSpPr>
          <p:nvPr/>
        </p:nvSpPr>
        <p:spPr>
          <a:xfrm>
            <a:off x="742950" y="742950"/>
            <a:ext cx="1038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① 문제 · ② 아이디어 · ③ 결과</a:t>
            </a:r>
          </a:p>
        </p:txBody>
      </p:sp>
      <p:sp>
        <p:nvSpPr>
          <p:cNvPr id="3" name="직선 연결선[R] 2">
            <a:extLst>
              <a:ext uri="{FF2B5EF4-FFF2-40B4-BE49-F238E27FC236}">
                <a16:creationId xmlns:a16="http://schemas.microsoft.com/office/drawing/2014/main" id="{98B4ADF6-46EE-4BD2-920C-7B0D87057780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1070610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BA89647-5949-41B5-B556-9968E16E8A89}"/>
              </a:ext>
            </a:extLst>
          </p:cNvPr>
          <p:cNvSpPr>
            <a:spLocks noGrp="1"/>
          </p:cNvSpPr>
          <p:nvPr/>
        </p:nvSpPr>
        <p:spPr>
          <a:xfrm>
            <a:off x="742950" y="64484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PAPER REVIEW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AFE7D2-B89F-4269-8A17-1E135DC20A12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09 / 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AF3AE7B-885B-4A58-A9B4-3D048F98F4BF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552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120"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FF98F9-323E-4A37-940E-B317BF7D16D9}"/>
              </a:ext>
            </a:extLst>
          </p:cNvPr>
          <p:cNvSpPr>
            <a:spLocks noGrp="1"/>
          </p:cNvSpPr>
          <p:nvPr/>
        </p:nvSpPr>
        <p:spPr>
          <a:xfrm>
            <a:off x="1809750" y="21526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120"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문제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C1FA1C-E679-4E61-90BD-9CC7EE74237B}"/>
              </a:ext>
            </a:extLst>
          </p:cNvPr>
          <p:cNvSpPr>
            <a:spLocks noGrp="1"/>
          </p:cNvSpPr>
          <p:nvPr/>
        </p:nvSpPr>
        <p:spPr>
          <a:xfrm>
            <a:off x="3619500" y="21526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5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기존 시스템은 반복 정체는 예측했지만, PSE 유출 정체는 놓쳤다.</a:t>
            </a:r>
          </a:p>
        </p:txBody>
      </p:sp>
      <p:sp>
        <p:nvSpPr>
          <p:cNvPr id="9" name="직선 연결선[R] 8">
            <a:extLst>
              <a:ext uri="{FF2B5EF4-FFF2-40B4-BE49-F238E27FC236}">
                <a16:creationId xmlns:a16="http://schemas.microsoft.com/office/drawing/2014/main" id="{D6CB163D-6996-4C72-A0C2-9C26E596AC2D}"/>
              </a:ext>
            </a:extLst>
          </p:cNvPr>
          <p:cNvSpPr>
            <a:spLocks noGrp="1"/>
          </p:cNvSpPr>
          <p:nvPr/>
        </p:nvSpPr>
        <p:spPr>
          <a:xfrm>
            <a:off x="1809750" y="2914650"/>
            <a:ext cx="904875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F65376C-F841-4198-9F4F-EEECACDC9B0F}"/>
              </a:ext>
            </a:extLst>
          </p:cNvPr>
          <p:cNvSpPr>
            <a:spLocks noGrp="1"/>
          </p:cNvSpPr>
          <p:nvPr/>
        </p:nvSpPr>
        <p:spPr>
          <a:xfrm>
            <a:off x="876300" y="3352800"/>
            <a:ext cx="552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120"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1C37FA1-F6D3-4D07-A30D-551B4C7550B2}"/>
              </a:ext>
            </a:extLst>
          </p:cNvPr>
          <p:cNvSpPr>
            <a:spLocks noGrp="1"/>
          </p:cNvSpPr>
          <p:nvPr/>
        </p:nvSpPr>
        <p:spPr>
          <a:xfrm>
            <a:off x="1809750" y="34099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120"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아이디어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B55F280-ED5D-40B0-AD50-1E235F3A114A}"/>
              </a:ext>
            </a:extLst>
          </p:cNvPr>
          <p:cNvSpPr>
            <a:spLocks noGrp="1"/>
          </p:cNvSpPr>
          <p:nvPr/>
        </p:nvSpPr>
        <p:spPr>
          <a:xfrm>
            <a:off x="3619500" y="34099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5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행사 카테고리와 유입 avgdelay를 K-NN으로 묶어 유출 avgdelay를 추정한다.</a:t>
            </a:r>
          </a:p>
        </p:txBody>
      </p:sp>
      <p:sp>
        <p:nvSpPr>
          <p:cNvPr id="13" name="직선 연결선[R] 12">
            <a:extLst>
              <a:ext uri="{FF2B5EF4-FFF2-40B4-BE49-F238E27FC236}">
                <a16:creationId xmlns:a16="http://schemas.microsoft.com/office/drawing/2014/main" id="{46F81EE5-EB2A-47B9-B68E-F99F8DA6EB49}"/>
              </a:ext>
            </a:extLst>
          </p:cNvPr>
          <p:cNvSpPr>
            <a:spLocks noGrp="1"/>
          </p:cNvSpPr>
          <p:nvPr/>
        </p:nvSpPr>
        <p:spPr>
          <a:xfrm>
            <a:off x="1809750" y="4171950"/>
            <a:ext cx="904875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FC7457-4518-402B-9E51-58D71DB5CD58}"/>
              </a:ext>
            </a:extLst>
          </p:cNvPr>
          <p:cNvSpPr>
            <a:spLocks noGrp="1"/>
          </p:cNvSpPr>
          <p:nvPr/>
        </p:nvSpPr>
        <p:spPr>
          <a:xfrm>
            <a:off x="876300" y="4610100"/>
            <a:ext cx="552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120"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A8F2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A8F28B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F456C46-3047-47E8-8501-85C66B810193}"/>
              </a:ext>
            </a:extLst>
          </p:cNvPr>
          <p:cNvSpPr>
            <a:spLocks noGrp="1"/>
          </p:cNvSpPr>
          <p:nvPr/>
        </p:nvSpPr>
        <p:spPr>
          <a:xfrm>
            <a:off x="1809750" y="46672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120"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97EFFFA-E619-4E95-8A99-84782B18AE16}"/>
              </a:ext>
            </a:extLst>
          </p:cNvPr>
          <p:cNvSpPr>
            <a:spLocks noGrp="1"/>
          </p:cNvSpPr>
          <p:nvPr/>
        </p:nvSpPr>
        <p:spPr>
          <a:xfrm>
            <a:off x="3619500" y="46672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5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CIPA RMSE 1230초. Zero 1918초 대비 오류 35% 감소.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BF4B37CC-64F8-4649-A771-648224346320}"/>
              </a:ext>
            </a:extLst>
          </p:cNvPr>
          <p:cNvSpPr>
            <a:spLocks noGrp="1"/>
          </p:cNvSpPr>
          <p:nvPr/>
        </p:nvSpPr>
        <p:spPr>
          <a:xfrm>
            <a:off x="876300" y="5715000"/>
            <a:ext cx="9906000" cy="495300"/>
          </a:xfrm>
          <a:prstGeom prst="roundRect">
            <a:avLst>
              <a:gd name="adj" fmla="val 15385"/>
            </a:avLst>
          </a:prstGeom>
          <a:solidFill>
            <a:srgbClr val="121517"/>
          </a:solidFill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D0B9A77-2F27-4AA7-AF27-FEBAFE4F74AC}"/>
              </a:ext>
            </a:extLst>
          </p:cNvPr>
          <p:cNvSpPr>
            <a:spLocks noGrp="1"/>
          </p:cNvSpPr>
          <p:nvPr/>
        </p:nvSpPr>
        <p:spPr>
          <a:xfrm>
            <a:off x="1143000" y="5857875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1845"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한 문장: 유입 정체를 이용하면 행사 후 도시 도로 지연을 미리 그릴 수 있다.</a:t>
            </a:r>
          </a:p>
        </p:txBody>
      </p:sp>
    </p:spTree>
    <p:extLst>
      <p:ext uri="{BB962C8B-B14F-4D97-AF65-F5344CB8AC3E}">
        <p14:creationId xmlns:p14="http://schemas.microsoft.com/office/powerpoint/2010/main" val="1316099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981D70-FC80-4861-A487-CB94EFFE9460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10 · 마무리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37F2A40-FA0C-467A-8176-C5D66985EAB2}"/>
              </a:ext>
            </a:extLst>
          </p:cNvPr>
          <p:cNvSpPr>
            <a:spLocks noGrp="1"/>
          </p:cNvSpPr>
          <p:nvPr/>
        </p:nvSpPr>
        <p:spPr>
          <a:xfrm>
            <a:off x="742950" y="742950"/>
            <a:ext cx="1038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아이디어는 설득력 있지만, 범위는 제한적이다</a:t>
            </a:r>
          </a:p>
        </p:txBody>
      </p:sp>
      <p:sp>
        <p:nvSpPr>
          <p:cNvPr id="3" name="직선 연결선[R] 2">
            <a:extLst>
              <a:ext uri="{FF2B5EF4-FFF2-40B4-BE49-F238E27FC236}">
                <a16:creationId xmlns:a16="http://schemas.microsoft.com/office/drawing/2014/main" id="{2C1571C2-50E1-4025-BAC5-867E6B692630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1070610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5181115-1F49-4173-9F1A-0C6B1B096724}"/>
              </a:ext>
            </a:extLst>
          </p:cNvPr>
          <p:cNvSpPr>
            <a:spLocks noGrp="1"/>
          </p:cNvSpPr>
          <p:nvPr/>
        </p:nvSpPr>
        <p:spPr>
          <a:xfrm>
            <a:off x="742950" y="64484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PAPER REVIEW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01997B-7FD4-43FF-BF52-5979DD3EACF4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10 / 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041E7FA-2A32-4104-88BC-D642DE6CE4DA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기여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7204F1-0B62-46AC-90D8-6934360633F7}"/>
              </a:ext>
            </a:extLst>
          </p:cNvPr>
          <p:cNvSpPr>
            <a:spLocks noGrp="1"/>
          </p:cNvSpPr>
          <p:nvPr/>
        </p:nvSpPr>
        <p:spPr>
          <a:xfrm>
            <a:off x="2286000" y="2038350"/>
            <a:ext cx="809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006"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유입 정체를 이용해 유출 정체를 예측하는 연결을 제시했다</a:t>
            </a:r>
          </a:p>
        </p:txBody>
      </p:sp>
      <p:sp>
        <p:nvSpPr>
          <p:cNvPr id="8" name="직선 연결선[R] 7">
            <a:extLst>
              <a:ext uri="{FF2B5EF4-FFF2-40B4-BE49-F238E27FC236}">
                <a16:creationId xmlns:a16="http://schemas.microsoft.com/office/drawing/2014/main" id="{1823CB27-19DC-40BB-8418-E7A9A2900284}"/>
              </a:ext>
            </a:extLst>
          </p:cNvPr>
          <p:cNvSpPr>
            <a:spLocks noGrp="1"/>
          </p:cNvSpPr>
          <p:nvPr/>
        </p:nvSpPr>
        <p:spPr>
          <a:xfrm>
            <a:off x="742950" y="2781300"/>
            <a:ext cx="1047750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D1ACF3-68C1-4DE8-9B10-58973BBB3FE6}"/>
              </a:ext>
            </a:extLst>
          </p:cNvPr>
          <p:cNvSpPr>
            <a:spLocks noGrp="1"/>
          </p:cNvSpPr>
          <p:nvPr/>
        </p:nvSpPr>
        <p:spPr>
          <a:xfrm>
            <a:off x="742950" y="32766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8A82"/>
                </a:solidFill>
                <a:latin typeface="Apple SD Gothic Neo"/>
                <a:ea typeface="Apple SD Gothic Neo"/>
                <a:cs typeface="Apple SD Gothic Neo"/>
              </a:rPr>
              <a:t>한계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4074F02-0747-48D7-9ADF-E6724A6DB031}"/>
              </a:ext>
            </a:extLst>
          </p:cNvPr>
          <p:cNvSpPr>
            <a:spLocks noGrp="1"/>
          </p:cNvSpPr>
          <p:nvPr/>
        </p:nvSpPr>
        <p:spPr>
          <a:xfrm>
            <a:off x="2286000" y="3238500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한 경기장 · 7개월 · 29개 행사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D7DADF"/>
                </a:solidFill>
                <a:latin typeface="Apple SD Gothic Neo"/>
                <a:ea typeface="Apple SD Gothic Neo"/>
                <a:cs typeface="Apple SD Gothic Neo"/>
              </a:rPr>
              <a:t>실제 관객 수 미관측 · 카테고리별 승자 상이</a:t>
            </a:r>
          </a:p>
        </p:txBody>
      </p:sp>
      <p:sp>
        <p:nvSpPr>
          <p:cNvPr id="11" name="직선 연결선[R] 10">
            <a:extLst>
              <a:ext uri="{FF2B5EF4-FFF2-40B4-BE49-F238E27FC236}">
                <a16:creationId xmlns:a16="http://schemas.microsoft.com/office/drawing/2014/main" id="{1A377762-2E22-4F88-BC7A-544C7A944547}"/>
              </a:ext>
            </a:extLst>
          </p:cNvPr>
          <p:cNvSpPr>
            <a:spLocks noGrp="1"/>
          </p:cNvSpPr>
          <p:nvPr/>
        </p:nvSpPr>
        <p:spPr>
          <a:xfrm>
            <a:off x="742950" y="4343400"/>
            <a:ext cx="10477500" cy="0"/>
          </a:xfrm>
          <a:prstGeom prst="line">
            <a:avLst/>
          </a:prstGeom>
          <a:noFill/>
          <a:ln w="9525">
            <a:solidFill>
              <a:srgbClr val="2930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1C82669-BE5F-424C-9594-F3584DB131FB}"/>
              </a:ext>
            </a:extLst>
          </p:cNvPr>
          <p:cNvSpPr>
            <a:spLocks noGrp="1"/>
          </p:cNvSpPr>
          <p:nvPr/>
        </p:nvSpPr>
        <p:spPr>
          <a:xfrm>
            <a:off x="742950" y="48196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1E4FF"/>
                </a:solidFill>
                <a:latin typeface="Apple SD Gothic Neo"/>
                <a:ea typeface="Apple SD Gothic Neo"/>
                <a:cs typeface="Apple SD Gothic Neo"/>
              </a:rPr>
              <a:t>리뷰 결론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68C1A0F-074D-488B-8DC1-EDFD616C3E9A}"/>
              </a:ext>
            </a:extLst>
          </p:cNvPr>
          <p:cNvSpPr>
            <a:spLocks noGrp="1"/>
          </p:cNvSpPr>
          <p:nvPr/>
        </p:nvSpPr>
        <p:spPr>
          <a:xfrm>
            <a:off x="2286000" y="47625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4F5F6"/>
                </a:solidFill>
                <a:latin typeface="Apple SD Gothic Neo"/>
                <a:ea typeface="Apple SD Gothic Neo"/>
                <a:cs typeface="Apple SD Gothic Neo"/>
              </a:rPr>
              <a:t>정확도 개선은 확인됐지만, 도시 전체의 일반 해법으로 확대 해석하기엔 데이터 범위가 좁다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DD5DD39-F33C-44BE-B179-10B266AA8961}"/>
              </a:ext>
            </a:extLst>
          </p:cNvPr>
          <p:cNvSpPr>
            <a:spLocks noGrp="1"/>
          </p:cNvSpPr>
          <p:nvPr/>
        </p:nvSpPr>
        <p:spPr>
          <a:xfrm>
            <a:off x="10648950" y="61341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r">
              <a:lnSpc>
                <a:spcPct val="112000"/>
              </a:lnSpc>
              <a:buNone/>
              <a:defRPr sz="15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E666D"/>
                </a:solidFill>
                <a:latin typeface="Apple SD Gothic Neo"/>
                <a:ea typeface="Apple SD Gothic Neo"/>
                <a:cs typeface="Apple SD Gothic Neo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9579475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Minimal black">
      <a:dk1>
        <a:srgbClr val="090A0B"/>
      </a:dk1>
      <a:lt1>
        <a:srgbClr val="F4F5F6"/>
      </a:lt1>
      <a:dk2>
        <a:srgbClr val="090A0B"/>
      </a:dk2>
      <a:lt2>
        <a:srgbClr val="D7DADF"/>
      </a:lt2>
      <a:accent1>
        <a:srgbClr val="71E4FF"/>
      </a:accent1>
      <a:accent2>
        <a:srgbClr val="FF8A82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1E4FF"/>
      </a:hlink>
      <a:folHlink>
        <a:srgbClr val="71E4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inimal blac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Minimal black">
      <a:dk1>
        <a:srgbClr val="090A0B"/>
      </a:dk1>
      <a:lt1>
        <a:srgbClr val="F4F5F6"/>
      </a:lt1>
      <a:dk2>
        <a:srgbClr val="090A0B"/>
      </a:dk2>
      <a:lt2>
        <a:srgbClr val="D7DADF"/>
      </a:lt2>
      <a:accent1>
        <a:srgbClr val="71E4FF"/>
      </a:accent1>
      <a:accent2>
        <a:srgbClr val="FF8A82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1E4FF"/>
      </a:hlink>
      <a:folHlink>
        <a:srgbClr val="71E4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inimal blac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1105</Words>
  <Application>Microsoft Macintosh PowerPoint</Application>
  <DocSecurity>0</DocSecurity>
  <PresentationFormat>와이드스크린</PresentationFormat>
  <Paragraphs>166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Apple SD Gothic Neo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김태우</cp:lastModifiedBy>
  <cp:revision>1</cp:revision>
  <dcterms:created xsi:type="dcterms:W3CDTF">2026-09-16T01:15:08Z</dcterms:created>
  <dcterms:modified xsi:type="dcterms:W3CDTF">2026-09-16T01:34:08Z</dcterms:modified>
</cp:coreProperties>
</file>