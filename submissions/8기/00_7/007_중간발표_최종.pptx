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6187061db4a0c" /><Relationship Type="http://schemas.openxmlformats.org/officeDocument/2006/relationships/extended-properties" Target="/docProps/app.xml" Id="R377dcbf3397a4bc2" /><Relationship Type="http://schemas.openxmlformats.org/officeDocument/2006/relationships/officeDocument" Target="/ppt/presentation.xml" Id="R76a0636bcc4d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fdec13f884cb8"/>
  </p:sldMasterIdLst>
  <p:notesMasterIdLst>
    <p:notesMasterId xmlns:r="http://schemas.openxmlformats.org/officeDocument/2006/relationships" r:id="R48d1d73133334078"/>
  </p:notesMasterIdLst>
  <p:sldIdLst>
    <p:sldId xmlns:r="http://schemas.openxmlformats.org/officeDocument/2006/relationships" id="256" r:id="R91aa81dca3774387"/>
    <p:sldId xmlns:r="http://schemas.openxmlformats.org/officeDocument/2006/relationships" id="257" r:id="R7cf868bec3ae4639"/>
    <p:sldId xmlns:r="http://schemas.openxmlformats.org/officeDocument/2006/relationships" id="258" r:id="Rfe3b035f685041b8"/>
    <p:sldId xmlns:r="http://schemas.openxmlformats.org/officeDocument/2006/relationships" id="260" r:id="Ra02e1eae39cf4771"/>
    <p:sldId xmlns:r="http://schemas.openxmlformats.org/officeDocument/2006/relationships" id="259" r:id="Ra6b1a75a57fa409e"/>
    <p:sldId xmlns:r="http://schemas.openxmlformats.org/officeDocument/2006/relationships" id="261" r:id="R5c024bc95bc94fee"/>
    <p:sldId xmlns:r="http://schemas.openxmlformats.org/officeDocument/2006/relationships" id="262" r:id="R5a1216ee62ff4428"/>
    <p:sldId xmlns:r="http://schemas.openxmlformats.org/officeDocument/2006/relationships" id="267" r:id="rId1"/>
    <p:sldId xmlns:r="http://schemas.openxmlformats.org/officeDocument/2006/relationships" id="263" r:id="Rff58165f51f24d9b"/>
    <p:sldId xmlns:r="http://schemas.openxmlformats.org/officeDocument/2006/relationships" id="264" r:id="R19bf33aecf2a49e1"/>
    <p:sldId xmlns:r="http://schemas.openxmlformats.org/officeDocument/2006/relationships" id="265" r:id="R2092c019902c4f98"/>
    <p:sldId xmlns:r="http://schemas.openxmlformats.org/officeDocument/2006/relationships" id="266" r:id="Re4591dc76f7744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1814548db4c28" /><Relationship Type="http://schemas.openxmlformats.org/officeDocument/2006/relationships/slideMaster" Target="/ppt/slideMasters/slideMaster1.xml" Id="Ra5ffdec13f884cb8" /><Relationship Type="http://schemas.openxmlformats.org/officeDocument/2006/relationships/notesMaster" Target="/ppt/notesMasters/notesMaster1.xml" Id="R48d1d73133334078" /><Relationship Type="http://schemas.openxmlformats.org/officeDocument/2006/relationships/presProps" Target="/ppt/presProps.xml" Id="Rf7878ac8e601419a" /><Relationship Type="http://schemas.openxmlformats.org/officeDocument/2006/relationships/tableStyles" Target="/ppt/tableStyles.xml" Id="Rbcdc03a12a814c0e" /><Relationship Type="http://schemas.openxmlformats.org/officeDocument/2006/relationships/slide" Target="/ppt/slides/slide1.xml" Id="R91aa81dca3774387" /><Relationship Type="http://schemas.openxmlformats.org/officeDocument/2006/relationships/slide" Target="/ppt/slides/slide2.xml" Id="R7cf868bec3ae4639" /><Relationship Type="http://schemas.openxmlformats.org/officeDocument/2006/relationships/slide" Target="/ppt/slides/slide3.xml" Id="Rfe3b035f685041b8" /><Relationship Type="http://schemas.openxmlformats.org/officeDocument/2006/relationships/slide" Target="/ppt/slides/slide4.xml" Id="Ra6b1a75a57fa409e" /><Relationship Type="http://schemas.openxmlformats.org/officeDocument/2006/relationships/slide" Target="/ppt/slides/slide5.xml" Id="Ra02e1eae39cf4771" /><Relationship Type="http://schemas.openxmlformats.org/officeDocument/2006/relationships/slide" Target="/ppt/slides/slide6.xml" Id="R5c024bc95bc94fee" /><Relationship Type="http://schemas.openxmlformats.org/officeDocument/2006/relationships/slide" Target="/ppt/slides/slide7.xml" Id="R5a1216ee62ff4428" /><Relationship Type="http://schemas.openxmlformats.org/officeDocument/2006/relationships/slide" Target="/ppt/slides/slide8.xml" Id="Rff58165f51f24d9b" /><Relationship Type="http://schemas.openxmlformats.org/officeDocument/2006/relationships/slide" Target="/ppt/slides/slide9.xml" Id="R19bf33aecf2a49e1" /><Relationship Type="http://schemas.openxmlformats.org/officeDocument/2006/relationships/slide" Target="/ppt/slides/slide10.xml" Id="R2092c019902c4f98" /><Relationship Type="http://schemas.openxmlformats.org/officeDocument/2006/relationships/slide" Target="/ppt/slides/slide11.xml" Id="Re4591dc76f774428" />  <Relationship Id="rId1" Type="http://schemas.openxmlformats.org/officeDocument/2006/relationships/slide" Target="slides/slide12.xml"/>
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3becb2efa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3c09fae7fe44dd" /><Relationship Type="http://schemas.openxmlformats.org/officeDocument/2006/relationships/notesMaster" Target="/ppt/notesMasters/notesMaster1.xml" Id="R14a015973e02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bfaa7abf5740f9" /><Relationship Type="http://schemas.openxmlformats.org/officeDocument/2006/relationships/notesMaster" Target="/ppt/notesMasters/notesMaster1.xml" Id="Re5a480f8d17745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ee6a09fb64f93" /><Relationship Type="http://schemas.openxmlformats.org/officeDocument/2006/relationships/notesMaster" Target="/ppt/notesMasters/notesMaster1.xml" Id="R336fe276531d45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c0e69c983540c6" /><Relationship Type="http://schemas.openxmlformats.org/officeDocument/2006/relationships/notesMaster" Target="/ppt/notesMasters/notesMaster1.xml" Id="Rf2286860503a41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0ba787ded4034" /><Relationship Type="http://schemas.openxmlformats.org/officeDocument/2006/relationships/notesMaster" Target="/ppt/notesMasters/notesMaster1.xml" Id="Ra1a52bdd10c8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bf8341566e402f" /><Relationship Type="http://schemas.openxmlformats.org/officeDocument/2006/relationships/notesMaster" Target="/ppt/notesMasters/notesMaster1.xml" Id="Rc117de6e2ee641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7c69af98d14fa6" /><Relationship Type="http://schemas.openxmlformats.org/officeDocument/2006/relationships/notesMaster" Target="/ppt/notesMasters/notesMaster1.xml" Id="R30b256907806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fc59b960a49ab" /><Relationship Type="http://schemas.openxmlformats.org/officeDocument/2006/relationships/notesMaster" Target="/ppt/notesMasters/notesMaster1.xml" Id="R314bab87740a47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3698cedbb48c7" /><Relationship Type="http://schemas.openxmlformats.org/officeDocument/2006/relationships/notesMaster" Target="/ppt/notesMasters/notesMaster1.xml" Id="R7332916a4a1943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cdefd261914f5b" /><Relationship Type="http://schemas.openxmlformats.org/officeDocument/2006/relationships/notesMaster" Target="/ppt/notesMasters/notesMaster1.xml" Id="Rb6a76849533a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2171a5efef482f" /><Relationship Type="http://schemas.openxmlformats.org/officeDocument/2006/relationships/notesMaster" Target="/ppt/notesMasters/notesMaster1.xml" Id="R02d93cbf6db5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캡스톤 중간 발표를 시작하겠습니다. 주제는 예측 시점에 아직 공시되지 않은 재무제표가 부실 예측 성능을 얼마나 부풀리는가입니다.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순서입니다. 배경과 설계, 중간 분석 결과, 중간 점검에서 발견한 오류와 수정, 향후 계획 순으로 말씀드리겠습니다.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12월 결산 법인의 사업보고서는 이듬해 3월 말에 공시되지만 관리종목 지정은 3월에 집중됩니다. A 기업은 2월 7일에 지정되었고 사업보고서는 43일 뒤에 공시되었습니다. 이 시차를 무시하는 것을 시점 누출로 정의했습니다.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미래 재무제표를 쓰면 PR-AUC가 0.206 대 0.121로 0.085 과대추정됩니다. 상위 50개 중 적중도 28곳 대 16곳입니다. 이 누출은 모든 설계 변형에서 유의했습니다.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예측 시점은 매년 1월 1일, 12개월 내 관리종목 지정 여부를 예측합니다. 기준선은 K-Score와 Ohlson O-Score 변수 15개이며, 공시·이력, 주가·거래량, 공매도 정보를 단계적으로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사업보고서가 공개되는 5월 이후에는 두 모형이 같은 재무제표를 쓰므로 격차가 0이 됩니다. 표본이나 모형이 원인이었다면 5월 이후에도 격차가 남았을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공시·이력 정보만으로는 관행 모형 수준에 도달하고, 주가·거래량과 공매도를 더하면 관행 모형을 유의하게 넘습니다. 다만 같은 정보를 관행 모형에도 넣으면 0.037 높아, 잔여 격차는 감사의견·손실지속 등 결산 확정 사유에 집중됩니다.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중간 점검에서 모집단 규칙에 결과 라벨이 개입된 오류를 발견해 예측 시점 정보만으로 모집단을 정하도록 수정하고 전체를 재분석했습니다. 절대 성능은 낮아졌지만 누출 크기는 거의 그대로였고 잔여 격차는 유의해졌습니다.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향후에는 사유별 모형, 학습 목적과 평가 지표를 일치시키는 학습 방식 개선, 2·3월 예측 확장을 진행하고 현금흐름표 원문 파싱 등 한계를 보완하겠습니다.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정리하면 시점 누출은 존재하고, 공개 정보로 절반 이상 대체할 수 있으나 감사·결산 확정 사유에 해당하는 잔여 격차는 남습니다.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1a1b6556244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1a73d596e45c7" /><Relationship Type="http://schemas.openxmlformats.org/officeDocument/2006/relationships/slideLayout" Target="/ppt/slideLayouts/slideLayout1.xml" Id="R6879a6b6d8e5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79a6b6d8e5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79f786cd24271" /><Relationship Type="http://schemas.openxmlformats.org/officeDocument/2006/relationships/notesSlide" Target="/ppt/notesSlides/notesSlide1.xml" Id="R5b4b897412c648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212ef35a45b3" /><Relationship Type="http://schemas.openxmlformats.org/officeDocument/2006/relationships/notesSlide" Target="/ppt/notesSlides/notesSlide2.xml" Id="Ra1c2c63eaf2b4e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2ef0311ea451b" /><Relationship Type="http://schemas.openxmlformats.org/officeDocument/2006/relationships/notesSlide" Target="/ppt/notesSlides/notesSlide3.xml" Id="Rb8435f9c63da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867951706434f" /><Relationship Type="http://schemas.openxmlformats.org/officeDocument/2006/relationships/notesSlide" Target="/ppt/notesSlides/notesSlide4.xml" Id="Rcf3cc9cf8944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285ed6a89413b" /><Relationship Type="http://schemas.openxmlformats.org/officeDocument/2006/relationships/notesSlide" Target="/ppt/notesSlides/notesSlide5.xml" Id="R08f7742b2e214d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fa35fd9a849eb" /><Relationship Type="http://schemas.openxmlformats.org/officeDocument/2006/relationships/notesSlide" Target="/ppt/notesSlides/notesSlide6.xml" Id="R44b920979fdf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c1add3e2b4157" /><Relationship Type="http://schemas.openxmlformats.org/officeDocument/2006/relationships/notesSlide" Target="/ppt/notesSlides/notesSlide7.xml" Id="R0e710c8b278944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0a94738cb4781" /><Relationship Type="http://schemas.openxmlformats.org/officeDocument/2006/relationships/chart" Target="/ppt/slides/charts/chart1.xml" Id="R9436406c158d415f" /><Relationship Type="http://schemas.openxmlformats.org/officeDocument/2006/relationships/notesSlide" Target="/ppt/notesSlides/notesSlide8.xml" Id="Rb952aa71090e4e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fa6b712054114" /><Relationship Type="http://schemas.openxmlformats.org/officeDocument/2006/relationships/notesSlide" Target="/ppt/notesSlides/notesSlide9.xml" Id="R0427c5e5ccae46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bd4a1c5b4705" /><Relationship Type="http://schemas.openxmlformats.org/officeDocument/2006/relationships/notesSlide" Target="/ppt/notesSlides/notesSlide10.xml" Id="R3fcc7f838adf4c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b1a638054948" /><Relationship Type="http://schemas.openxmlformats.org/officeDocument/2006/relationships/notesSlide" Target="/ppt/notesSlides/notesSlide11.xml" Id="Reba7b27024d5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285ed6a8941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2E6FB5"/>
            </a:solidFill>
          </c:spPr>
          <c:cat>
            <c:strRef>
              <c:f>'Chart Data'!$A$2:$A$5</c:f>
              <c:strCache>
                <c:ptCount val="4"/>
                <c:pt idx="0">
                  <c:v>A 관행</c:v>
                </c:pt>
                <c:pt idx="1">
                  <c:v>B 시점 준수</c:v>
                </c:pt>
                <c:pt idx="2">
                  <c:v>B+시장</c:v>
                </c:pt>
                <c:pt idx="3">
                  <c:v>A+시장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0.206</c:v>
                </c:pt>
                <c:pt idx="1">
                  <c:v>0.121</c:v>
                </c:pt>
                <c:pt idx="2">
                  <c:v>0.281</c:v>
                </c:pt>
                <c:pt idx="3">
                  <c:v>0.318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49FAD-1975-4588-8D8A-E16195C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DAT 8기 · CAPSTONE MID-TERM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FDD90-165B-4B1F-972B-A3E4423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EBE9-4994-454D-AB08-FA2FE51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2026. 10. 08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3917C-3B79-4333-8E34-3799F29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80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한국 기업부실 예측의 시점 누출 측정과 공개 정보를 통한 성능 복구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71D8D-EEE1-40C5-BCAE-47D80F2E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80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00" b="1">
                <a:solidFill>
                  <a:srgbClr val="214B7C"/>
                </a:solidFill>
              </a:defRPr>
            </a:pPr>
            <a:r>
              <a:rPr sz="4000" b="1">
                <a:solidFill>
                  <a:srgbClr val="214B7C"/>
                </a:solidFill>
              </a:rPr>
              <a:t>예측 시점에 존재하지 않던 재무제표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94FB7-83B9-4145-A362-9F76687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00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4B7C"/>
                </a:solidFill>
              </a:defRPr>
            </a:pPr>
            <a:r>
              <a:rPr sz="1800" b="1">
                <a:solidFill>
                  <a:srgbClr val="214B7C"/>
                </a:solidFill>
              </a:rPr>
              <a:t>결산일 정렬이 만드는 성능 과대추정은 얼마이며, 공개 정보로 얼마나 복구되는가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98356-39D4-453E-8EA4-0CB80DF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600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KOSDAQ 전수 · 2019–2024 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DFE1-1A9A-4312-9A33-B4D0DEF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00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DART · KIND · KRX 직접 수집 / LightGBM 확장창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4E96-642A-4DEC-ADF7-0A38257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000" y="5657850"/>
            <a:ext cx="550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DAT 8기 00:7 · 배진형 · 최서린 · 박서진 · 강지수</a:t>
            </a:r>
          </a:p>
        </p:txBody>
      </p:sp>
    </p:spTree>
    <p:extLst>
      <p:ext uri="{BB962C8B-B14F-4D97-AF65-F5344CB8AC3E}">
        <p14:creationId xmlns:p14="http://schemas.microsoft.com/office/powerpoint/2010/main" val="633233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B009C9-FDBB-4263-BB4A-28B5805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EDF54-C23A-4B8D-B54C-D0009B90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D56E1-FCCE-49D5-8145-6D7DF29A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발표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7D783-1CA2-45CA-81EB-99FC467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60274-3514-4146-AB91-F8C8043D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72321-2593-47E4-886B-1D24A53B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812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8711B-FFF0-4800-A080-EFBC00F0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24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연구 배경과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5A8F9-E517-43E1-ABB5-CD932FE4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764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결산일 정렬이 만드는 시점 누출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C71D9-1F6E-4213-BA4F-9847C47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AAE49-DAAC-41E3-95AC-2D72D93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49B10-40AE-4FB6-A124-182398D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6583A-9CE8-4725-93F2-446AD7A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연구 설계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6A723-270B-4877-85E3-F399C885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764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관행(A) 대 시점 준수(B)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3D7C-9121-43E3-AFD2-5A35F12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E7B47-64C2-4139-8312-7B9522C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84900-DD99-4E37-B780-E10120B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F8257-CF9F-415C-87FF-2A7BA6A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누출의 크기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AF020-E4EA-44E8-894B-E422587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33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PR-AUC 0.085 과대추정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CB1B5-B8EB-4878-A6E1-BB4B86F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4AAB3-2D4B-4203-A135-4995B09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C01DC-8A38-4E47-93DD-3427DA46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7A535-EDF3-4E3D-ADB0-A1B8B511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시점별 변화 · 복구 · 잔여 격차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FFD1B-4339-4336-BCD0-951EC72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33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RQ2 – RQ4 중간 분석 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16E78-3606-46F2-A251-3CAA71B3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F8901-1F66-4AA5-A12C-1F93F21C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97029-0DD1-4D58-A593-A563CB31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C457F-3816-40DC-A963-4DE46453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표본 오류의 발견과 수정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B0008-D8F4-4A1F-8A87-D6A642A4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91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수정 전후 결과 비교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625D8-4E6F-4389-B3D0-C156F58B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521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363C5-8BCC-4E5D-A6DA-89C0D6F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672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53344-AB4E-4786-9353-6660C5D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95800"/>
            <a:ext cx="95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95B98C-CEF0-4B1C-BCDA-DCD15D4E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향후 계획과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8EA8D-8801-4A3F-9DEF-4BA12CCE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91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사유별 모형 · 학습 방식 · 시점 확장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787EBA-D2E1-47AB-8B82-1067FCF3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3127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CA698-50AF-4FF7-AA99-65B0ACE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D87E9-BC15-4638-8281-4B2C00A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B910A-F00E-419A-9081-FB6D6656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시점 누출: 예측 시점에 없던 재무제표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E7C17-E24F-4EF9-91CA-E5B8AF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결산일 기준 정렬은 아직 공시되지 않은 사업보고서를 모형 입력으로 사용한다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12CA6-82D0-4DBB-AF3D-AD8A853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477C-71B9-47FC-BD43-1E9912F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14B7C"/>
                </a:solidFill>
              </a:defRPr>
            </a:pPr>
            <a:r>
              <a:rPr sz="1900" b="1">
                <a:solidFill>
                  <a:srgbClr val="214B7C"/>
                </a:solidFill>
              </a:rPr>
              <a:t>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2EFBC-B31F-48ED-B659-0D1CFAD7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1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76BBD-C3F8-47A6-88A7-D2A0E070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0000"/>
            <a:ext cx="4550000" cy="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사업보고서는 결산 후 약 90일 뒤 공시되지만 관리종목 지정은 3월에 48% 집중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56760-6C30-43EB-8E14-0CBADAC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8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4EAAB-6920-4FD2-8BD8-CE3CADE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0000"/>
            <a:ext cx="4550000" cy="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선행연구 9편 중 시점 위반 시와의 격차를 측정한 연구는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7224D-7848-470A-8162-A8D1D3D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A4491-77A1-431F-BDC0-A3CC461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0000"/>
            <a:ext cx="4550000" cy="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1월 예측 모형이 3월 문서를 이미 아는 것으로 가정됨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95B10-A695-4E2C-9E42-3713C003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21AB7-84B5-4E30-8122-F07B37C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0000"/>
            <a:ext cx="4550000" cy="5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목적: 누출 크기와 복구 가능성, 잔여 차이 규명 (RQ1–4)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720C7-3893-4231-A727-E61A63C7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6388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FF48D-D869-4D7B-82E9-C7A6363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1950000"/>
            <a:ext cx="5250000" cy="4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4B7C"/>
                </a:solidFill>
              </a:defRPr>
            </a:pPr>
            <a:r>
              <a:rPr sz="1800" b="1">
                <a:solidFill>
                  <a:srgbClr val="214B7C"/>
                </a:solidFill>
              </a:rPr>
              <a:t>A 기업 사례 · 결산일 정렬이 만드는 누출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B599-BEB8-4E84-94E7-9361F7F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0" y="4300000"/>
            <a:ext cx="525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50" b="1">
                <a:solidFill>
                  <a:srgbClr val="214B7C"/>
                </a:solidFill>
              </a:defRPr>
            </a:pPr>
            <a:r>
              <a:rPr sz="1450" b="1">
                <a:solidFill>
                  <a:srgbClr val="214B7C"/>
                </a:solidFill>
              </a:rPr>
              <a:t>2/7 지정 → 43일 뒤 3/21 공시. 1월 1일 예측 모형이 3월 21일 문서를 이미 아는 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7A7C1-8767-4BBD-92E1-C5E9F29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39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21E1-0324-465B-A209-E4413E0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변수의 조건은 새로움이 아니라 예측 시점에 공개되어 있었는가</a:t>
            </a:r>
          </a:p>
        </p:txBody>
      </p:sp>
      <p:sp xmlns:a="http://schemas.openxmlformats.org/drawingml/2006/main">
        <p:nvSpPr>
          <p:cNvPr id="201" name="case201"/>
          <p:cNvSpPr/>
          <p:nvPr/>
        </p:nvSpPr>
        <p:spPr>
          <a:xfrm>
            <a:off x="6300000" y="3336000"/>
            <a:ext cx="4600000" cy="28000"/>
          </a:xfrm>
          <a:prstGeom prst="rect">
            <a:avLst/>
          </a:prstGeom>
          <a:solidFill>
            <a:srgbClr val="9FB4CC"/>
          </a:solidFill>
          <a:ln>
            <a:noFill/>
          </a:ln>
        </p:spPr>
      </p:sp>
      <p:sp xmlns:a="http://schemas.openxmlformats.org/drawingml/2006/main">
        <p:nvSpPr>
          <p:cNvPr id="202" name="case202"/>
          <p:cNvSpPr/>
          <p:nvPr/>
        </p:nvSpPr>
        <p:spPr>
          <a:xfrm>
            <a:off x="6425000" y="3225000"/>
            <a:ext cx="250000" cy="250000"/>
          </a:xfrm>
          <a:prstGeom prst="ellipse">
            <a:avLst/>
          </a:prstGeom>
          <a:solidFill>
            <a:srgbClr val="747D89"/>
          </a:solidFill>
          <a:ln>
            <a:noFill/>
          </a:ln>
        </p:spPr>
      </p:sp>
      <p:sp xmlns:a="http://schemas.openxmlformats.org/drawingml/2006/main">
        <p:nvSpPr>
          <p:cNvPr id="203" name="case203"/>
          <p:cNvSpPr txBox="1"/>
          <p:nvPr/>
        </p:nvSpPr>
        <p:spPr>
          <a:xfrm>
            <a:off x="5900000" y="2730000"/>
            <a:ext cx="13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450" b="1">
                <a:solidFill>
                  <a:srgbClr val="747D89"/>
                </a:solidFill>
              </a:rPr>
              <a:t>2023.12.31</a:t>
            </a:r>
          </a:p>
        </p:txBody>
      </p:sp>
      <p:sp xmlns:a="http://schemas.openxmlformats.org/drawingml/2006/main">
        <p:nvSpPr>
          <p:cNvPr id="204" name="case204"/>
          <p:cNvSpPr txBox="1"/>
          <p:nvPr/>
        </p:nvSpPr>
        <p:spPr>
          <a:xfrm>
            <a:off x="5900000" y="3590000"/>
            <a:ext cx="13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300" b="0">
                <a:solidFill>
                  <a:srgbClr val="4A5360"/>
                </a:solidFill>
              </a:rPr>
              <a:t>회계연도 종료</a:t>
            </a:r>
          </a:p>
        </p:txBody>
      </p:sp>
      <p:sp xmlns:a="http://schemas.openxmlformats.org/drawingml/2006/main">
        <p:nvSpPr>
          <p:cNvPr id="205" name="case205"/>
          <p:cNvSpPr/>
          <p:nvPr/>
        </p:nvSpPr>
        <p:spPr>
          <a:xfrm>
            <a:off x="7775000" y="3225000"/>
            <a:ext cx="250000" cy="250000"/>
          </a:xfrm>
          <a:prstGeom prst="ellipse">
            <a:avLst/>
          </a:prstGeom>
          <a:solidFill>
            <a:srgbClr val="2E6FB5"/>
          </a:solidFill>
          <a:ln>
            <a:noFill/>
          </a:ln>
        </p:spPr>
      </p:sp>
      <p:sp xmlns:a="http://schemas.openxmlformats.org/drawingml/2006/main">
        <p:nvSpPr>
          <p:cNvPr id="206" name="case206"/>
          <p:cNvSpPr txBox="1"/>
          <p:nvPr/>
        </p:nvSpPr>
        <p:spPr>
          <a:xfrm>
            <a:off x="7250000" y="2730000"/>
            <a:ext cx="13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450" b="1">
                <a:solidFill>
                  <a:srgbClr val="2E6FB5"/>
                </a:solidFill>
              </a:rPr>
              <a:t>2024.01.01</a:t>
            </a:r>
          </a:p>
        </p:txBody>
      </p:sp>
      <p:sp xmlns:a="http://schemas.openxmlformats.org/drawingml/2006/main">
        <p:nvSpPr>
          <p:cNvPr id="207" name="case207"/>
          <p:cNvSpPr txBox="1"/>
          <p:nvPr/>
        </p:nvSpPr>
        <p:spPr>
          <a:xfrm>
            <a:off x="7250000" y="3590000"/>
            <a:ext cx="13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300" b="0">
                <a:solidFill>
                  <a:srgbClr val="4A5360"/>
                </a:solidFill>
              </a:rPr>
              <a:t>예측 시점 T</a:t>
            </a:r>
          </a:p>
        </p:txBody>
      </p:sp>
      <p:sp xmlns:a="http://schemas.openxmlformats.org/drawingml/2006/main">
        <p:nvSpPr>
          <p:cNvPr id="208" name="case208"/>
          <p:cNvSpPr/>
          <p:nvPr/>
        </p:nvSpPr>
        <p:spPr>
          <a:xfrm>
            <a:off x="9125000" y="3225000"/>
            <a:ext cx="250000" cy="250000"/>
          </a:xfrm>
          <a:prstGeom prst="ellipse">
            <a:avLst/>
          </a:prstGeom>
          <a:solidFill>
            <a:srgbClr val="D8A529"/>
          </a:solidFill>
          <a:ln>
            <a:noFill/>
          </a:ln>
        </p:spPr>
      </p:sp>
      <p:sp xmlns:a="http://schemas.openxmlformats.org/drawingml/2006/main">
        <p:nvSpPr>
          <p:cNvPr id="209" name="case209"/>
          <p:cNvSpPr txBox="1"/>
          <p:nvPr/>
        </p:nvSpPr>
        <p:spPr>
          <a:xfrm>
            <a:off x="8600000" y="2730000"/>
            <a:ext cx="13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450" b="1">
                <a:solidFill>
                  <a:srgbClr val="D8A529"/>
                </a:solidFill>
              </a:rPr>
              <a:t>2024.02.07</a:t>
            </a:r>
          </a:p>
        </p:txBody>
      </p:sp>
      <p:sp xmlns:a="http://schemas.openxmlformats.org/drawingml/2006/main">
        <p:nvSpPr>
          <p:cNvPr id="210" name="case210"/>
          <p:cNvSpPr txBox="1"/>
          <p:nvPr/>
        </p:nvSpPr>
        <p:spPr>
          <a:xfrm>
            <a:off x="8600000" y="3590000"/>
            <a:ext cx="13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300" b="0">
                <a:solidFill>
                  <a:srgbClr val="4A5360"/>
                </a:solidFill>
              </a:rPr>
              <a:t>A 기업 관리종목 지정</a:t>
            </a:r>
          </a:p>
        </p:txBody>
      </p:sp>
      <p:sp xmlns:a="http://schemas.openxmlformats.org/drawingml/2006/main">
        <p:nvSpPr>
          <p:cNvPr id="211" name="case211"/>
          <p:cNvSpPr/>
          <p:nvPr/>
        </p:nvSpPr>
        <p:spPr>
          <a:xfrm>
            <a:off x="10475000" y="3225000"/>
            <a:ext cx="250000" cy="250000"/>
          </a:xfrm>
          <a:prstGeom prst="ellipse">
            <a:avLst/>
          </a:prstGeom>
          <a:solidFill>
            <a:srgbClr val="214B7C"/>
          </a:solidFill>
          <a:ln>
            <a:noFill/>
          </a:ln>
        </p:spPr>
      </p:sp>
      <p:sp xmlns:a="http://schemas.openxmlformats.org/drawingml/2006/main">
        <p:nvSpPr>
          <p:cNvPr id="212" name="case212"/>
          <p:cNvSpPr txBox="1"/>
          <p:nvPr/>
        </p:nvSpPr>
        <p:spPr>
          <a:xfrm>
            <a:off x="9950000" y="2730000"/>
            <a:ext cx="13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450" b="1">
                <a:solidFill>
                  <a:srgbClr val="214B7C"/>
                </a:solidFill>
              </a:rPr>
              <a:t>2024.03.21</a:t>
            </a:r>
          </a:p>
        </p:txBody>
      </p:sp>
      <p:sp xmlns:a="http://schemas.openxmlformats.org/drawingml/2006/main">
        <p:nvSpPr>
          <p:cNvPr id="213" name="case213"/>
          <p:cNvSpPr txBox="1"/>
          <p:nvPr/>
        </p:nvSpPr>
        <p:spPr>
          <a:xfrm>
            <a:off x="9950000" y="3590000"/>
            <a:ext cx="13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sz="1300" b="0">
                <a:solidFill>
                  <a:srgbClr val="4A5360"/>
                </a:solidFill>
              </a:rPr>
              <a:t>FY2023 사업보고서 공시</a:t>
            </a:r>
          </a:p>
        </p:txBody>
      </p:sp>
    </p:spTree>
    <p:extLst>
      <p:ext uri="{BB962C8B-B14F-4D97-AF65-F5344CB8AC3E}">
        <p14:creationId xmlns:p14="http://schemas.microsoft.com/office/powerpoint/2010/main" val="759330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98B0B-F19E-456D-B84D-237FA91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A676D-44D0-4832-A030-72865A7A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6797-416F-4E45-AB91-A9FDCA2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누출의 크기: PR-AUC 0.085 과대추정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2B30A-2307-4963-800D-7A18169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1월 예측에서 결산일 정렬(A)이 접수일 정렬(B)보다 높게 나타난다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D9E4-FEBF-4EC5-89FA-F7B9595D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7D56-5397-4220-90C6-0E4897D0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14B7C"/>
                </a:solidFill>
              </a:defRPr>
            </a:pPr>
            <a:r>
              <a:rPr sz="6150" b="1">
                <a:solidFill>
                  <a:srgbClr val="214B7C"/>
                </a:solidFill>
              </a:rPr>
              <a:t>+0.085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4E5DB-149E-460D-BFD7-686F95EC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0" b="1">
                <a:solidFill>
                  <a:srgbClr val="111111"/>
                </a:solidFill>
              </a:defRPr>
            </a:pPr>
            <a:r>
              <a:rPr sz="2150" b="1">
                <a:solidFill>
                  <a:srgbClr val="111111"/>
                </a:solidFill>
              </a:rPr>
              <a:t>PR-AUC 격차 (A − B)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8CD-85CA-4A23-8FF3-3D92842C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747D89"/>
                </a:solidFill>
              </a:defRPr>
            </a:pPr>
            <a:r>
              <a:rPr sz="1450" b="0">
                <a:solidFill>
                  <a:srgbClr val="747D89"/>
                </a:solidFill>
              </a:rPr>
              <a:t>95% CI [0.043, 0.126] · p &lt; 0.002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EE947-A6BA-4E9E-AAB5-D391CBB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9525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EC432-8456-4643-A982-D9B31F2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747D89"/>
                </a:solidFill>
              </a:defRPr>
            </a:pPr>
            <a:r>
              <a:rPr sz="1450" b="1">
                <a:solidFill>
                  <a:srgbClr val="747D89"/>
                </a:solidFill>
              </a:rPr>
              <a:t>상위 50 적중 (A 대 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8FA72-2286-431E-9C64-09FEC073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11111"/>
                </a:solidFill>
              </a:defRPr>
            </a:pPr>
            <a:r>
              <a:rPr sz="2800" b="1">
                <a:solidFill>
                  <a:srgbClr val="111111"/>
                </a:solidFill>
              </a:rPr>
              <a:t>28 대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9CC9-6C4E-4624-A8E5-A714AE1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5314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447E6-E5F9-4D6D-BCC6-53726A34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747D89"/>
                </a:solidFill>
              </a:defRPr>
            </a:pPr>
            <a:r>
              <a:rPr sz="1450" b="1">
                <a:solidFill>
                  <a:srgbClr val="747D89"/>
                </a:solidFill>
              </a:rPr>
              <a:t>지정 후 공개된 t−1 비율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166AA-EE31-4D1D-88C2-1653ADD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D8A529"/>
                </a:solidFill>
              </a:defRPr>
            </a:pPr>
            <a:r>
              <a:rPr sz="2800" b="1">
                <a:solidFill>
                  <a:srgbClr val="D8A529"/>
                </a:solidFill>
              </a:rPr>
              <a:t>42.2%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A02D4-F316-48FD-8FF3-085FFDD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5314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834C1-DD83-4E7D-8F69-E8CC338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747D89"/>
                </a:solidFill>
              </a:defRPr>
            </a:pPr>
            <a:r>
              <a:rPr sz="1450" b="1">
                <a:solidFill>
                  <a:srgbClr val="747D89"/>
                </a:solidFill>
              </a:rPr>
              <a:t>평가 사건 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0FA41-3585-4066-9CF5-A814088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11111"/>
                </a:solidFill>
              </a:defRPr>
            </a:pPr>
            <a:r>
              <a:rPr sz="2800" b="1">
                <a:solidFill>
                  <a:srgbClr val="111111"/>
                </a:solidFill>
              </a:rPr>
              <a:t>291건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79FCA-284B-410F-98F5-9592E46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3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747D89"/>
                </a:solidFill>
              </a:defRPr>
            </a:pPr>
            <a:r>
              <a:rPr sz="1100" b="0">
                <a:solidFill>
                  <a:srgbClr val="747D89"/>
                </a:solidFill>
              </a:rPr>
              <a:t>2019–2024 · 8,017행 · 사건율 3.6% · 코스닥 지정 645건 대조</a:t>
            </a:r>
          </a:p>
        </p:txBody>
      </p:sp>
    </p:spTree>
    <p:extLst>
      <p:ext uri="{BB962C8B-B14F-4D97-AF65-F5344CB8AC3E}">
        <p14:creationId xmlns:p14="http://schemas.microsoft.com/office/powerpoint/2010/main" val="12350018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AEC98-8F91-45C2-B166-6C642886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81044-A629-4F91-9FB3-6D868E4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417B-3766-4E24-80F7-341133B8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연구 설계: 관행(A) 대 시점 준수(B)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22CBF-9313-4156-A6A1-0F62A09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두 조건은 같은 관측치와 시가총액을 쓰며 차이는 재무제표뿐이다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6D920-B553-48C3-A4BC-AEDD47E9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E0EEA-A11E-42AE-BA4C-8EE1C310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C2A42-655B-4598-A9B2-E973E71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747D89"/>
                </a:solidFill>
              </a:defRPr>
            </a:pPr>
            <a:r>
              <a:rPr sz="1900" b="1">
                <a:solidFill>
                  <a:srgbClr val="747D89"/>
                </a:solidFill>
              </a:rPr>
              <a:t>A · 관행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304FE-BA2D-4A10-98CE-18AD8DC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50" b="1">
                <a:solidFill>
                  <a:srgbClr val="111111"/>
                </a:solidFill>
              </a:defRPr>
            </a:pPr>
            <a:r>
              <a:rPr sz="2350" b="1">
                <a:solidFill>
                  <a:srgbClr val="111111"/>
                </a:solidFill>
              </a:rPr>
              <a:t>결산일 정렬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37779-F429-42A0-B7E7-21DFD87F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T 시점에 미공개인 FY(Y−1)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89099-A7FF-4A0C-A4C3-1450942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1489A-67E4-45D2-A0B9-4C2E19D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6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재무제표: FY(Y−1) 사업보고서 (3월 말 공시)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EB421-BB30-42AC-99FE-37337568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F0CF5-9CF7-45DB-A560-4C549FA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6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한계: 예측 시점에 없던 문서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7E9CC-CD95-4423-95C5-E6403F9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5505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2E6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2414-6A08-49CE-9B15-4116B56F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E6FB5"/>
                </a:solidFill>
              </a:defRPr>
            </a:pPr>
            <a:r>
              <a:rPr sz="1900" b="1">
                <a:solidFill>
                  <a:srgbClr val="2E6FB5"/>
                </a:solidFill>
              </a:rPr>
              <a:t>B · 시점 준수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62C7C-F6E4-49F5-857F-0E4A23F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50" b="1">
                <a:solidFill>
                  <a:srgbClr val="214B7C"/>
                </a:solidFill>
              </a:defRPr>
            </a:pPr>
            <a:r>
              <a:rPr sz="2350" b="1">
                <a:solidFill>
                  <a:srgbClr val="214B7C"/>
                </a:solidFill>
              </a:rPr>
              <a:t>접수일 정렬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39AE-8020-4F99-BB62-15136E4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DART 실제 접수일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87C37-C016-4981-9F26-4D3C0A0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A2FE1-678C-42F7-BDF0-AD3CDF8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48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재무제표: T 이전 접수된 최신 사업보고서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E0AEA-B202-4A5F-B0AA-2182E45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9FDEB-168D-412A-82A0-A6D1BF4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48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평가: LightGBM 확장창, 8,017행 · 사건 291건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30AEF-4CE2-4D36-B737-62B1FE70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39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1C36D-A30E-4645-BCD2-6107631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50" b="1">
                <a:solidFill>
                  <a:srgbClr val="FFFFFF"/>
                </a:solidFill>
              </a:defRPr>
            </a:pPr>
            <a:r>
              <a:rPr sz="2050" b="1">
                <a:solidFill>
                  <a:srgbClr val="FFFFFF"/>
                </a:solidFill>
              </a:rPr>
              <a:t>A−B = 누출 · (B+시장)−A = 복구 · (A+시장)−(B+시장) = 잔여 격차</a:t>
            </a:r>
          </a:p>
        </p:txBody>
      </p:sp>
    </p:spTree>
    <p:extLst>
      <p:ext uri="{BB962C8B-B14F-4D97-AF65-F5344CB8AC3E}">
        <p14:creationId xmlns:p14="http://schemas.microsoft.com/office/powerpoint/2010/main" val="880272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51386-5750-454D-9476-37757E20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DF879-4EED-4528-B43F-C6A530B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3EDFC-68F2-45B5-8F11-F8F19B29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예측 시점별 격차: 5월 이후 사라짐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AA26-26AF-4109-A716-75DB0BF6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예측 시점을 1–7월로 옮기며 A−B 격차를 반복 측정 (RQ2)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8D848-B6BC-460B-A8F5-02BFC0AF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984D0-A0B6-492E-8AA3-9F28470F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33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14B7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603AC-06F5-40C2-B22D-9B260DE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0FD59-49D3-499B-90F4-D03C5DD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13773-3D3E-4D67-ADBF-03BC23A4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1월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12205-3786-4AC2-BAF2-97E0E8A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+0.085 (유의)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54274-C35E-46F0-926B-AC3C314C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C3D08-BC98-40F4-A520-917AC59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BC00B-C8DC-45A2-83AB-02EB8FD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2월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C42B9-3A48-4B12-B014-7AD2DE81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+0.064 (유의)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E460E-4F6D-497E-AE9B-DCBFB2C2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77919-290E-4844-AA47-AE47988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D8A529"/>
                </a:solidFill>
              </a:defRPr>
            </a:pPr>
            <a:r>
              <a:rPr sz="1300" b="1">
                <a:solidFill>
                  <a:srgbClr val="D8A529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D025C-5F34-4DB0-8991-F77A8040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3월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B137E-A88E-4526-8259-0ADE901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+0.024 (비유의)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0DF5A-1C97-4B21-9D7F-A35983D0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E015C-870A-4DD8-81C1-02DEAA0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2E6FB5"/>
                </a:solidFill>
              </a:defRPr>
            </a:pPr>
            <a:r>
              <a:rPr sz="1300" b="1">
                <a:solidFill>
                  <a:srgbClr val="2E6FB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E7B65-7EF3-43B1-8EE7-67A40ED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111111"/>
                </a:solidFill>
              </a:defRPr>
            </a:pPr>
            <a:r>
              <a:rPr sz="1900" b="1">
                <a:solidFill>
                  <a:srgbClr val="111111"/>
                </a:solidFill>
              </a:rPr>
              <a:t>5월 이후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91A05-7FEA-41BC-BA49-8A1B9A20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0 (동일 재무제표)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02C49-A47A-4025-AACE-173440A4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39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66AF3-A089-4A7B-82AA-F89DC6E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214B7C"/>
                </a:solidFill>
              </a:defRPr>
            </a:pPr>
            <a:r>
              <a:rPr sz="1900" b="1">
                <a:solidFill>
                  <a:srgbClr val="214B7C"/>
                </a:solidFill>
              </a:rPr>
              <a:t>격차는 표본·모형이 아니라 미공개 재무제표에서 비롯된다</a:t>
            </a:r>
          </a:p>
        </p:txBody>
      </p:sp>
    </p:spTree>
    <p:extLst>
      <p:ext uri="{BB962C8B-B14F-4D97-AF65-F5344CB8AC3E}">
        <p14:creationId xmlns:p14="http://schemas.microsoft.com/office/powerpoint/2010/main" val="2045442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61DFE-FF6A-46D3-94A7-A5668ED6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D8352-C20A-402C-909D-4D2E367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54331-7D21-42DA-87E5-32EC811B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공개 정보로 복구, 그러나 잔여 격차 존재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82CCA-E2EC-48B8-928C-D401930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1월 예측 · PR-AUC 기준 (RQ3 · RQ4)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8DF54-410C-4EF9-A0B7-B8341C87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599F2-16B0-4CE3-A586-FE53D55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747D89"/>
                </a:solidFill>
              </a:defRPr>
            </a:pPr>
            <a:r>
              <a:rPr sz="1100" b="1">
                <a:solidFill>
                  <a:srgbClr val="747D89"/>
                </a:solidFill>
              </a:rPr>
              <a:t>조건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8415D-9AC2-4345-A5E4-C05836E9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14B7C"/>
                </a:solidFill>
              </a:defRPr>
            </a:pPr>
            <a:r>
              <a:rPr sz="1400" b="1">
                <a:solidFill>
                  <a:srgbClr val="214B7C"/>
                </a:solidFill>
              </a:rPr>
              <a:t>잔여 우위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8394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2857500"/>
                <a:gridCol w="31242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1111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11111"/>
                          </a:solidFill>
                        </a:rPr>
                        <a:t>A 관행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11111"/>
                          </a:solidFill>
                        </a:rPr>
                        <a:t>B+시장 (시점 준수)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4B7C"/>
                          </a:solidFill>
                        </a:rPr>
                        <a:t>A+시장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4B7C"/>
                          </a:solidFill>
                        </a:rPr>
                        <a:t>PR-AUC</a:t>
                      </a:r>
                    </a:p>
                  </a:txBody>
                  <a:tcPr marL="91440" marR="91440" marT="45720" marB="4572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0.206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0.281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4B7C"/>
                          </a:solidFill>
                        </a:rPr>
                        <a:t>0.318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4B7C"/>
                          </a:solidFill>
                        </a:rPr>
                        <a:t>상위 50 적중</a:t>
                      </a:r>
                    </a:p>
                  </a:txBody>
                  <a:tcPr marL="91440" marR="91440" marT="45720" marB="4572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28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34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4B7C"/>
                          </a:solidFill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4B7C"/>
                          </a:solidFill>
                        </a:rPr>
                        <a:t>상위 100 적중</a:t>
                      </a:r>
                    </a:p>
                  </a:txBody>
                  <a:tcPr marL="91440" marR="91440" marT="45720" marB="4572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38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51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4B7C"/>
                          </a:solidFill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14B7C"/>
                          </a:solidFill>
                        </a:rPr>
                        <a:t>AUC</a:t>
                      </a:r>
                    </a:p>
                  </a:txBody>
                  <a:tcPr marL="91440" marR="91440" marT="45720" marB="45720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0.767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11111"/>
                          </a:solidFill>
                        </a:rPr>
                        <a:t>0.799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4B7C"/>
                          </a:solidFill>
                        </a:rPr>
                        <a:t>0.798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2B2B2-1BF5-41DA-A122-F71CF88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31242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4B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8C9FE-106F-4642-AD90-6F06209C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47381-F49D-4720-8554-647343F4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149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F950F-5D7D-4010-9CC7-E9B4626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3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214B7C"/>
                </a:solidFill>
              </a:defRPr>
            </a:pPr>
            <a:r>
              <a:rPr sz="1700" b="1">
                <a:solidFill>
                  <a:srgbClr val="214B7C"/>
                </a:solidFill>
              </a:rPr>
              <a:t>B+시장이 관행을 상회(+0.075, p=0.012), 동일 정보 추가 시 A+시장이 +0.037 높음(p=0.030)</a:t>
            </a:r>
          </a:p>
        </p:txBody>
      </p:sp>
    </p:spTree>
    <p:extLst>
      <p:ext uri="{BB962C8B-B14F-4D97-AF65-F5344CB8AC3E}">
        <p14:creationId xmlns:p14="http://schemas.microsoft.com/office/powerpoint/2010/main" val="1063034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83768-C28F-4CE9-9E89-64FCBC5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B5D5E-BCB6-4967-BD27-75399136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3E096-FDEF-4C49-874E-4687BD9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표본 오류 수정 후에도 결론 유지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54EBF-1D65-45D8-97AD-FE758ED4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수정 후 조건별 PR-AUC (1월 예측, 2019–2024)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835C4-3262-45D3-A3C0-3AC8DE6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36406c158d415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AF2C0-263A-4980-8703-01035EE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162300" cy="33337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A7CD-2A7C-4EAC-9649-34988B2E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214B7C"/>
                </a:solidFill>
              </a:defRPr>
            </a:pPr>
            <a:r>
              <a:rPr sz="1750" b="1">
                <a:solidFill>
                  <a:srgbClr val="214B7C"/>
                </a:solidFill>
              </a:rPr>
              <a:t>핵심 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A396-11D7-478C-B6DC-B9E6FBD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75" b="1">
                <a:solidFill>
                  <a:srgbClr val="D8A529"/>
                </a:solidFill>
              </a:defRPr>
            </a:pPr>
            <a:r>
              <a:rPr sz="3275" b="1">
                <a:solidFill>
                  <a:srgbClr val="D8A529"/>
                </a:solidFill>
              </a:rPr>
              <a:t>0.085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1E51C-E9DD-431D-99F1-79F69A38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누출 (수정 전 0.092)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77246-A8B3-43E1-83DC-9E70B523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55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5913D-86A7-4316-9FD5-CE51AE4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381250" cy="8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표본 선정 오류 수정 후</a:t>
            </a:r>
          </a:p>
          <a:p xmlns:a="http://schemas.openxmlformats.org/drawingml/2006/main">
            <a:pPr algn="l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성능은 하락, 결론은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50BE9-1D53-46B6-B976-71DD79C9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747D89"/>
                </a:solidFill>
              </a:defRPr>
            </a:pPr>
            <a:r>
              <a:rPr sz="1100" b="0">
                <a:solidFill>
                  <a:srgbClr val="747D89"/>
                </a:solidFill>
              </a:rPr>
              <a:t>수정 후 결과 · 8,017행 · 사건 291건</a:t>
            </a:r>
          </a:p>
        </p:txBody>
      </p:sp>
    </p:spTree>
    <p:extLst>
      <p:ext uri="{BB962C8B-B14F-4D97-AF65-F5344CB8AC3E}">
        <p14:creationId xmlns:p14="http://schemas.microsoft.com/office/powerpoint/2010/main" val="1590943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8F7AF-E9B6-49CE-BE08-C08960CE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91AB3-269F-4214-8CB8-B3DDE9C4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2081-1E90-47C2-887D-DE1804C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향후 계획: 남은 과제와 보완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F416C-9094-47D4-B03D-2A4BDF8F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추가 변수 투입은 한계에 이르러 모형·시점·데이터 보완에 집중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A07D0-4679-46C9-83AA-105FA46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38131-A7E7-4228-83C1-E37F59A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880A0-4CF8-4B3D-AB7E-0393A2F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B1599-B461-47CD-8DE9-64C7DEF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92357-EA7E-4982-92BA-C085914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050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사유별 모형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7DDAE-D01D-482A-8FD8-9D99BF6C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감사·결산 사유별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B05A9-1AE5-45C4-85B5-FF5D5442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D8A529"/>
                </a:solidFill>
              </a:defRPr>
            </a:pPr>
            <a:r>
              <a:rPr sz="1900" b="1">
                <a:solidFill>
                  <a:srgbClr val="D8A529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1FD25-7F11-4EBE-BF59-150D6147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A1FAA-A428-41F9-A736-C2C6EA3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819B8-38BA-4201-BA62-22F9187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0DEC2-850A-43ED-8AD5-441C61E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050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학습 방식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B7BB7-3654-4EA3-971A-40F7D53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순위 최적화 · 기업 고정효과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79DD-AA49-40B6-AFF0-27FC77A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67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D8A529"/>
                </a:solidFill>
              </a:defRPr>
            </a:pPr>
            <a:r>
              <a:rPr sz="1900" b="1">
                <a:solidFill>
                  <a:srgbClr val="D8A529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90664-5BDE-40B1-96C5-2EC7AFEC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2D423-7D76-4C19-9F17-11A9354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26200-44C1-4EDF-ACDB-7F716D60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0F09D-FE64-42AA-9FBB-68DAB5E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시점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6D9EE-76FB-47F8-9123-ADA9EA7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2·3월 예측에서 B+와 A 격차 분석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E6F59-BDF0-483E-8F53-A4CB1DA6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D8A529"/>
                </a:solidFill>
              </a:defRPr>
            </a:pPr>
            <a:r>
              <a:rPr sz="1900" b="1">
                <a:solidFill>
                  <a:srgbClr val="D8A529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2431E-E97C-4AB6-B008-68D2745E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2E6F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14DD0-64B3-460C-B111-D269D84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579A4-1AF0-4A0E-857E-4FE192B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7EA37-67D2-406D-BE28-F2C72908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한계 보완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D81DA5-34D5-4A95-9BF2-24276FC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747D89"/>
                </a:solidFill>
              </a:defRPr>
            </a:pPr>
            <a:r>
              <a:rPr sz="1400" b="0">
                <a:solidFill>
                  <a:srgbClr val="747D89"/>
                </a:solidFill>
              </a:rPr>
              <a:t>현금흐름표 원문 파싱 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E02D7-4342-4E5A-986F-19185C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839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E3366F-143E-449B-B8E1-98F2417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50" b="1">
                <a:solidFill>
                  <a:srgbClr val="FFFFFF"/>
                </a:solidFill>
              </a:defRPr>
            </a:pPr>
            <a:r>
              <a:rPr sz="2050" b="1">
                <a:solidFill>
                  <a:srgbClr val="FFFFFF"/>
                </a:solidFill>
              </a:rPr>
              <a:t>목표: 누출 효과와 복구 한계를 사유별로 규명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59F826-4D09-497A-830A-9B3FD656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2E6FB5"/>
                </a:solidFill>
              </a:defRPr>
            </a:pPr>
            <a:r>
              <a:rPr sz="1450" b="1">
                <a:solidFill>
                  <a:srgbClr val="2E6FB5"/>
                </a:solidFill>
              </a:rPr>
              <a:t>주요 한계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A49956-8295-4F37-8AB6-9C9848E1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사건 291건 · 다중비교 미보정 · 문헌 4편 전문 미확인</a:t>
            </a:r>
          </a:p>
        </p:txBody>
      </p:sp>
    </p:spTree>
    <p:extLst>
      <p:ext uri="{BB962C8B-B14F-4D97-AF65-F5344CB8AC3E}">
        <p14:creationId xmlns:p14="http://schemas.microsoft.com/office/powerpoint/2010/main" val="307581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8602B-CE89-4221-8455-5FBFB7A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EBC02-7588-436D-88B7-8978CD6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DBE78-AC21-4221-8A0E-D7503454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핵심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3634E-8542-4204-B76C-B964659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시점 누출은 존재하며 공개 정보가 절반 이상을 대체하지만 완전히 해소하지는 못한다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48698-134C-4EC4-9CB9-3FABE5B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05823-CE62-4EA7-9467-5E94D74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FB5"/>
                </a:solidFill>
              </a:defRPr>
            </a:pPr>
            <a:r>
              <a:rPr sz="1500" b="1">
                <a:solidFill>
                  <a:srgbClr val="2E6FB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9B244-1414-414B-ADE9-80C5784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629BE-080C-4D12-A708-C359809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478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0" b="1">
                <a:solidFill>
                  <a:srgbClr val="111111"/>
                </a:solidFill>
              </a:defRPr>
            </a:pPr>
            <a:r>
              <a:rPr sz="2150" b="1">
                <a:solidFill>
                  <a:srgbClr val="111111"/>
                </a:solidFill>
              </a:rPr>
              <a:t>누출은 실재한다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D4320-F7B2-4461-BDBD-13C49488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PR-AUC +0.085, 5월 이후 소멸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C2261-2207-4106-82CF-C132668E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FB5"/>
                </a:solidFill>
              </a:defRPr>
            </a:pPr>
            <a:r>
              <a:rPr sz="1500" b="1">
                <a:solidFill>
                  <a:srgbClr val="2E6FB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81079-A8E7-4C37-8BDC-A3E2A252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623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63138-F476-40BF-826B-0BF665F6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718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0" b="1">
                <a:solidFill>
                  <a:srgbClr val="111111"/>
                </a:solidFill>
              </a:defRPr>
            </a:pPr>
            <a:r>
              <a:rPr sz="2150" b="1">
                <a:solidFill>
                  <a:srgbClr val="111111"/>
                </a:solidFill>
              </a:rPr>
              <a:t>공개 정보로 상당 부분 복구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AAB16-742F-44AA-A69E-D6FEB354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시점 준수 0.281 &gt; 관행 0.206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0EAA8-BF03-4CDA-99A9-79DAFC4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6FB5"/>
                </a:solidFill>
              </a:defRPr>
            </a:pPr>
            <a:r>
              <a:rPr sz="1500" b="1">
                <a:solidFill>
                  <a:srgbClr val="2E6FB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8C776-B295-463C-862A-EEFE0325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A5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8D07D-F7D3-4EA5-82F0-F19C952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50" b="1">
                <a:solidFill>
                  <a:srgbClr val="111111"/>
                </a:solidFill>
              </a:defRPr>
            </a:pPr>
            <a:r>
              <a:rPr sz="2150" b="1">
                <a:solidFill>
                  <a:srgbClr val="111111"/>
                </a:solidFill>
              </a:rPr>
              <a:t>잔여 격차는 결산 확정 사유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0B378-DFD0-4833-A363-BB02372B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감사의견 · 손실지속 중심, +0.037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B0C4B-FD4C-4B9B-8EF1-7874D2D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39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3A137-FE4A-47B2-A017-50C1241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50" b="1">
                <a:solidFill>
                  <a:srgbClr val="FFFFFF"/>
                </a:solidFill>
              </a:defRPr>
            </a:pPr>
            <a:r>
              <a:rPr sz="2050" b="1">
                <a:solidFill>
                  <a:srgbClr val="FFFFFF"/>
                </a:solidFill>
              </a:rPr>
              <a:t>관행 보고 성능에는 실제 예측 시점에 달성할 수 없는 부분이 포함되어 있다</a:t>
            </a:r>
          </a:p>
        </p:txBody>
      </p:sp>
    </p:spTree>
    <p:extLst>
      <p:ext uri="{BB962C8B-B14F-4D97-AF65-F5344CB8AC3E}">
        <p14:creationId xmlns:p14="http://schemas.microsoft.com/office/powerpoint/2010/main" val="415808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8DF48-74AB-46A5-95C6-1098872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DAT 8기 · 00:7 · CAPSTONE MID-TERM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CF3F4-70F0-4F8C-8C97-1A9F6031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14B7C"/>
                </a:solidFill>
              </a:defRPr>
            </a:pPr>
            <a:r>
              <a:rPr sz="4350" b="1">
                <a:solidFill>
                  <a:srgbClr val="214B7C"/>
                </a:solidFill>
              </a:rPr>
              <a:t>감사합니다.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C07CF-22B0-4846-AEAA-8C502C6E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A52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E630-19C8-4CB6-B0DD-072E86A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발표를 마치겠습니다. 질문 받겠습니다.</a:t>
            </a:r>
          </a:p>
        </p:txBody>
      </p:sp>
    </p:spTree>
    <p:extLst>
      <p:ext uri="{BB962C8B-B14F-4D97-AF65-F5344CB8AC3E}">
        <p14:creationId xmlns:p14="http://schemas.microsoft.com/office/powerpoint/2010/main" val="1398974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AEC98-8F91-45C2-B166-6C642886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2E6FB5"/>
                </a:solidFill>
              </a:defRPr>
            </a:pPr>
            <a:r>
              <a:rPr sz="1100" b="1">
                <a:solidFill>
                  <a:srgbClr val="2E6FB5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81044-A629-4F91-9FB3-6D868E4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A52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417B-3766-4E24-80F7-341133B8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50" b="1">
                <a:solidFill>
                  <a:srgbClr val="111111"/>
                </a:solidFill>
              </a:defRPr>
            </a:pPr>
            <a:r>
              <a:rPr sz="2950" b="1">
                <a:solidFill>
                  <a:srgbClr val="111111"/>
                </a:solidFill>
              </a:rPr>
              <a:t>표본 오류의 발견과 수정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22CBF-9313-4156-A6A1-0F62A09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747D89"/>
                </a:solidFill>
              </a:defRPr>
            </a:pPr>
            <a:r>
              <a:rPr sz="1300" b="0">
                <a:solidFill>
                  <a:srgbClr val="747D89"/>
                </a:solidFill>
              </a:rPr>
              <a:t>표본 선정에 결과 라벨이 개입 → 예측 시점 정보만으로 모집단 재구성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6D920-B553-48C3-A4BC-AEDD47E9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747D89"/>
                </a:solidFill>
              </a:defRPr>
            </a:pPr>
            <a:r>
              <a:rPr sz="1000" b="0">
                <a:solidFill>
                  <a:srgbClr val="747D8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E0EEA-A11E-42AE-BA4C-8EE1C310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C2A42-655B-4598-A9B2-E973E71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747D89"/>
                </a:solidFill>
              </a:defRPr>
            </a:pPr>
            <a:r>
              <a:rPr sz="1900" b="1">
                <a:solidFill>
                  <a:srgbClr val="747D89"/>
                </a:solidFill>
              </a:rPr>
              <a:t>A · 수정 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304FE-BA2D-4A10-98CE-18AD8DC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50" b="1">
                <a:solidFill>
                  <a:srgbClr val="111111"/>
                </a:solidFill>
              </a:defRPr>
            </a:pPr>
            <a:r>
              <a:rPr sz="2350" b="1">
                <a:solidFill>
                  <a:srgbClr val="111111"/>
                </a:solidFill>
              </a:rPr>
              <a:t>정답을 보고 표본 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37779-F429-42A0-B7E7-21DFD87F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과거 지정 기업은 재지정된 경우만 포함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89099-A7FF-4A0C-A4C3-1450942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1489A-67E4-45D2-A0B9-4C2E19D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6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재지정률 100% (95곳 전부)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EB421-BB30-42AC-99FE-37337568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F0CF5-9CF7-45DB-A560-4C549FA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6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11111"/>
                </a:solidFill>
              </a:defRPr>
            </a:pPr>
            <a:r>
              <a:rPr sz="1600" b="0">
                <a:solidFill>
                  <a:srgbClr val="111111"/>
                </a:solidFill>
              </a:rPr>
              <a:t>정직한 모델 최고 PR-AUC 0.423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7E9CC-CD95-4423-95C5-E6403F9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5505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2E6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A2414-6A08-49CE-9B15-4116B56F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2E6FB5"/>
                </a:solidFill>
              </a:defRPr>
            </a:pPr>
            <a:r>
              <a:rPr sz="1900" b="1">
                <a:solidFill>
                  <a:srgbClr val="2E6FB5"/>
                </a:solidFill>
              </a:rPr>
              <a:t>B · 수정 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62C7C-F6E4-49F5-857F-0E4A23F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50" b="1">
                <a:solidFill>
                  <a:srgbClr val="214B7C"/>
                </a:solidFill>
              </a:defRPr>
            </a:pPr>
            <a:r>
              <a:rPr sz="2350" b="1">
                <a:solidFill>
                  <a:srgbClr val="214B7C"/>
                </a:solidFill>
              </a:rPr>
              <a:t>예측 시점 정보로 표본 선정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239AE-8020-4F99-BB62-15136E4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747D89"/>
                </a:solidFill>
              </a:defRPr>
            </a:pPr>
            <a:r>
              <a:rPr sz="1600" b="0">
                <a:solidFill>
                  <a:srgbClr val="747D89"/>
                </a:solidFill>
              </a:rPr>
              <a:t>1월 1일 관리종목 상태 기업만 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87C37-C016-4981-9F26-4D3C0A0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A2FE1-678C-42F7-BDF0-AD3CDF8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48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재지정률 8.3% (933곳 중 77곳)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E0AEA-B202-4A5F-B0AA-2182E45C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9FDEB-168D-412A-82A0-A6D1BF4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485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14B7C"/>
                </a:solidFill>
              </a:defRPr>
            </a:pPr>
            <a:r>
              <a:rPr sz="1600" b="1">
                <a:solidFill>
                  <a:srgbClr val="214B7C"/>
                </a:solidFill>
              </a:rPr>
              <a:t>정직한 모델 최고 PR-AUC 0.281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30AEF-4CE2-4D36-B737-62B1FE70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39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4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1C36D-A30E-4645-BCD2-6107631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50" b="1">
                <a:solidFill>
                  <a:srgbClr val="FFFFFF"/>
                </a:solidFill>
              </a:defRPr>
            </a:pPr>
            <a:r>
              <a:rPr sz="2050" b="1">
                <a:solidFill>
                  <a:srgbClr val="FFFFFF"/>
                </a:solidFill>
              </a:rPr>
              <a:t>점수는 하락했지만 누출 0.092 → 0.085 유지, 잔여 격차는 0.037로 유의</a:t>
            </a:r>
          </a:p>
        </p:txBody>
      </p:sp>
    </p:spTree>
    <p:extLst>
      <p:ext uri="{BB962C8B-B14F-4D97-AF65-F5344CB8AC3E}">
        <p14:creationId xmlns:p14="http://schemas.microsoft.com/office/powerpoint/2010/main" val="88027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2026-09-14T11:39:40.6290000Z</dcterms:created>
  <dcterms:modified xsi:type="dcterms:W3CDTF">2026-09-14T11:39:40.6290000Z</dcterms:modified>
</coreProperties>
</file>