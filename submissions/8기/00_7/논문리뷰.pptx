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서진 박" userId="a18b6420d338b3ea" providerId="LiveId" clId="{D843B39B-D14F-48E9-A974-400D365B0AA6}"/>
    <pc:docChg chg="custSel modSld">
      <pc:chgData name="서진 박" userId="a18b6420d338b3ea" providerId="LiveId" clId="{D843B39B-D14F-48E9-A974-400D365B0AA6}" dt="2026-09-08T10:38:45.959" v="57" actId="20577"/>
      <pc:docMkLst>
        <pc:docMk/>
      </pc:docMkLst>
      <pc:sldChg chg="modSp mod">
        <pc:chgData name="서진 박" userId="a18b6420d338b3ea" providerId="LiveId" clId="{D843B39B-D14F-48E9-A974-400D365B0AA6}" dt="2026-09-08T10:38:24.697" v="53" actId="20577"/>
        <pc:sldMkLst>
          <pc:docMk/>
          <pc:sldMk cId="1697102007" sldId="256"/>
        </pc:sldMkLst>
        <pc:spChg chg="mod">
          <ac:chgData name="서진 박" userId="a18b6420d338b3ea" providerId="LiveId" clId="{D843B39B-D14F-48E9-A974-400D365B0AA6}" dt="2026-09-08T10:38:24.697" v="53" actId="20577"/>
          <ac:spMkLst>
            <pc:docMk/>
            <pc:sldMk cId="1697102007" sldId="256"/>
            <ac:spMk id="5" creationId="{83D5539B-A3D1-456A-AB95-4ED01399FCE0}"/>
          </ac:spMkLst>
        </pc:spChg>
      </pc:sldChg>
      <pc:sldChg chg="delSp modSp mod">
        <pc:chgData name="서진 박" userId="a18b6420d338b3ea" providerId="LiveId" clId="{D843B39B-D14F-48E9-A974-400D365B0AA6}" dt="2026-09-08T10:38:45.959" v="57" actId="20577"/>
        <pc:sldMkLst>
          <pc:docMk/>
          <pc:sldMk cId="1681378499" sldId="266"/>
        </pc:sldMkLst>
        <pc:spChg chg="mod">
          <ac:chgData name="서진 박" userId="a18b6420d338b3ea" providerId="LiveId" clId="{D843B39B-D14F-48E9-A974-400D365B0AA6}" dt="2026-09-08T10:38:40.056" v="54" actId="20577"/>
          <ac:spMkLst>
            <pc:docMk/>
            <pc:sldMk cId="1681378499" sldId="266"/>
            <ac:spMk id="2" creationId="{91664A5C-30CB-496F-8740-B444904D127E}"/>
          </ac:spMkLst>
        </pc:spChg>
        <pc:spChg chg="del mod">
          <ac:chgData name="서진 박" userId="a18b6420d338b3ea" providerId="LiveId" clId="{D843B39B-D14F-48E9-A974-400D365B0AA6}" dt="2026-09-08T10:38:43.169" v="56" actId="478"/>
          <ac:spMkLst>
            <pc:docMk/>
            <pc:sldMk cId="1681378499" sldId="266"/>
            <ac:spMk id="3" creationId="{C602B191-4203-4B83-9221-E580E67D59FE}"/>
          </ac:spMkLst>
        </pc:spChg>
        <pc:spChg chg="mod">
          <ac:chgData name="서진 박" userId="a18b6420d338b3ea" providerId="LiveId" clId="{D843B39B-D14F-48E9-A974-400D365B0AA6}" dt="2026-09-08T10:38:45.959" v="57" actId="20577"/>
          <ac:spMkLst>
            <pc:docMk/>
            <pc:sldMk cId="1681378499" sldId="266"/>
            <ac:spMk id="4" creationId="{88DC6009-D2C3-42A3-A363-2025E80563EC}"/>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부적응 함축 평균 평정</c:v>
          </c:tx>
          <c:spPr>
            <a:solidFill>
              <a:srgbClr val="102D4F"/>
            </a:solidFill>
          </c:spPr>
          <c:invertIfNegative val="1"/>
          <c:dPt>
            <c:idx val="0"/>
            <c:invertIfNegative val="0"/>
            <c:bubble3D val="0"/>
            <c:spPr>
              <a:solidFill>
                <a:srgbClr val="A5B4C4"/>
              </a:solidFill>
            </c:spPr>
            <c:extLst>
              <c:ext xmlns:c16="http://schemas.microsoft.com/office/drawing/2014/chart" uri="{C3380CC4-5D6E-409C-BE32-E72D297353CC}">
                <c16:uniqueId val="{00000001-7150-4DA6-BB09-46AF24F125BF}"/>
              </c:ext>
            </c:extLst>
          </c:dPt>
          <c:dPt>
            <c:idx val="1"/>
            <c:invertIfNegative val="0"/>
            <c:bubble3D val="0"/>
            <c:extLst>
              <c:ext xmlns:c16="http://schemas.microsoft.com/office/drawing/2014/chart" uri="{C3380CC4-5D6E-409C-BE32-E72D297353CC}">
                <c16:uniqueId val="{00000003-7150-4DA6-BB09-46AF24F125BF}"/>
              </c:ext>
            </c:extLst>
          </c:dPt>
          <c:dLbls>
            <c:spPr>
              <a:noFill/>
              <a:ln>
                <a:noFill/>
              </a:ln>
              <a:effectLst/>
            </c:spPr>
            <c:txPr>
              <a:bodyPr anchorCtr="1"/>
              <a:lstStyle/>
              <a:p>
                <a:pPr>
                  <a:defRPr sz="2175" b="1">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Edwards 39문항</c:v>
                </c:pt>
                <c:pt idx="1">
                  <c:v>M-C 예비 47문항</c:v>
                </c:pt>
              </c:strCache>
            </c:strRef>
          </c:cat>
          <c:val>
            <c:numRef>
              <c:f>'Chart Data'!$B$2:$B$3</c:f>
              <c:numCache>
                <c:formatCode>General</c:formatCode>
                <c:ptCount val="2"/>
                <c:pt idx="0">
                  <c:v>3.9</c:v>
                </c:pt>
                <c:pt idx="1">
                  <c:v>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7150-4DA6-BB09-46AF24F125BF}"/>
            </c:ext>
          </c:extLst>
        </c:ser>
        <c:dLbls>
          <c:dLblPos val="outEnd"/>
          <c:showLegendKey val="0"/>
          <c:showVal val="1"/>
          <c:showCatName val="0"/>
          <c:showSerName val="0"/>
          <c:showPercent val="0"/>
          <c:showBubbleSize val="0"/>
        </c:dLbls>
        <c:gapWidth val="13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5"/>
          <c:min val="1"/>
        </c:scaling>
        <c:delete val="0"/>
        <c:axPos val="l"/>
        <c:majorGridlines>
          <c:spPr>
            <a:ln w="9525">
              <a:solidFill>
                <a:srgbClr val="D8E0E8"/>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50112"/>
        <c:crosses val="autoZero"/>
        <c:crossBetween val="between"/>
        <c:majorUnit val="1"/>
      </c:valAx>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논문은 성격검사에서 자신을 좋게 보이려는 응답을 어떻게 측정할 것인지 다룹니다. 제목의 독립성은 모든 정신병리와 완전히 무관하다는 의미로 받아들이지 않고, 기존 척도와 비교해 어떤 개선을 보였는지 살펴보겠습니다.</a:t>
            </a:r>
          </a:p>
          <a:p>
            <a:endParaRPr/>
          </a:p>
          <a:p>
            <a:r>
              <a:t>출처: Crowne, D. P., &amp; Marlowe, D. (1960). A new scale of social desirability independent of psychopathology. Journal of Consulting Psychology, 24(4), 349–354. p. 349. 팀 정보와 발표일은 발표 전 기입.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문제를 이해하고 문항 설계라는 핵심 아이디어를 보겠습니다. 이어 문항 선별과 신뢰도, 기존 척도 대비 결과를 설명하고 증거의 한계를 검토합니다.</a:t>
            </a:r>
          </a:p>
          <a:p>
            <a:endParaRPr/>
          </a:p>
          <a:p>
            <a:r>
              <a:t>출처: Crowne, D. P., &amp; Marlowe, D. (1960). A new scale of social desirability independent of psychopathology. Journal of Consulting Psychology, 24(4), 349–354. 발표 구성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성격검사는 응답으로 사람의 특성을 추정합니다. 사회적 바람직성이란 사회적으로 좋게 받아들여지는 방향으로 답하는 경향입니다. Edwards 척도는 MMPI에서 문항을 가져왔는데, 증상이 없다는 답은 바람직해 보이는 답이기도 합니다. 예를 들어 수면 문제를 부인하는 두 사람 중 한 명은 정말 문제가 없고, 다른 한 명은 숨길 수 있습니다. 기존 점수만으로는 둘을 구분하기 어렵습니다. 이것이 문항 내용에서 생기는 혼입입니다.</a:t>
            </a:r>
          </a:p>
          <a:p>
            <a:endParaRPr/>
          </a:p>
          <a:p>
            <a:r>
              <a:t>출처: Crowne, D. P., &amp; Marlowe, D. (1960). A new scale of social desirability independent of psychopathology. Journal of Consulting Psychology, 24(4), 349–354. pp. 349–350. 수면 문항은 설명용 번역.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핵심은 통계식을 바꾸는 것이 아니라 문항을 뽑는 기준을 바꾸는 것입니다. 문화적으로 승인되지만 누구나 항상 실천하기는 어려운 행동을 묻습니다. 또 바람직한 방향과 그렇지 않은 방향 어느 쪽으로 답해도 병리적 함의가 작아야 합니다. 저자들은 이런 응답을 승인욕구와 연결합니다. 그림은 두 문항 설계의 차이를 요약한 것으로, 사람의 동기를 직접 관찰했다는 뜻은 아닙니다.</a:t>
            </a:r>
          </a:p>
          <a:p>
            <a:endParaRPr/>
          </a:p>
          <a:p>
            <a:r>
              <a:t>출처: Crowne, D. P., &amp; Marlowe, D. (1960). A new scale of social desirability independent of psychopathology. Journal of Consulting Psychology, 24(4), 349–354. pp. 350, 353.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문항은 항상 실수를 인정한다는 이상적인 자기 묘사입니다. 두 번째는 흔한 결점을 부인하는 방식입니다. 실수를 인정하지 못하거나 가끔 뒷이야기를 한다고 해서 곧바로 정신병리가 있는 것은 아닙니다. 여러 문항에서 반복되는 이상적 응답 방향을 합산합니다. 참을 고르면 점수를 받는 문항도 있고 거짓을 고르면 점수를 받는 문항도 있습니다. 단일 응답이나 높은 점수를 거짓말 판정으로 해석해서는 안 됩니다.</a:t>
            </a:r>
          </a:p>
          <a:p>
            <a:endParaRPr/>
          </a:p>
          <a:p>
            <a:r>
              <a:t>출처: Crowne, D. P., &amp; Marlowe, D. (1960). A new scale of social desirability independent of psychopathology. Journal of Consulting Psychology, 24(4), 349–354. p. 351, Table 1. 16번과 11번 문항.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50개 후보를 10명이 판정해 47개 예비 문항을 얻었습니다. 36개는 만장일치, 11개는 90% 합의였습니다. 76명의 대학생에게 실시해 총점 상위와 하위 집단을 .05 수준 또는 그보다 엄격한 수준에서 변별한 33문항을 남겼습니다. 원문은 구체적인 문항-총점 상관 절차를 명시하지 않으므로 그렇게 단정하지 않습니다. 참과 거짓 채점 방향을 섞은 설계는 단순한 동의 경향의 영향을 줄이려는 장치입니다.</a:t>
            </a:r>
          </a:p>
          <a:p>
            <a:endParaRPr/>
          </a:p>
          <a:p>
            <a:r>
              <a:t>출처: Crowne, D. P., &amp; Marlowe, D. (1960). A new scale of social desirability independent of psychopathology. Journal of Consulting Psychology, 24(4), 349–354. p. 350.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KR-20은 참·거짓 문항에서 응답의 내적 일치도를 확인하는 계수입니다. 39명에서 .88이었습니다. 그중 31명을 약 한 달 뒤 다시 검사한 상관은 .89였습니다. 점수가 비교적 일관되고 안정적이라는 근거입니다. 그러나 높은 신뢰도만으로 단일한 차원이나 승인욕구만의 측정을 증명할 수는 없습니다. 무엇을 측정하는지는 다른 근거가 필요합니다.</a:t>
            </a:r>
          </a:p>
          <a:p>
            <a:endParaRPr/>
          </a:p>
          <a:p>
            <a:r>
              <a:t>출처: Crowne, D. P., &amp; Marlowe, D. (1960). A new scale of social desirability independent of psychopathology. Journal of Consulting Psychology, 24(4), 349–354. p. 350. 내적 일치도 표본: 남 10명, 여 29명, 평균연령 24.4세.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핵심 결과는 3.9와 2.8입니다. 별도의 평정자 10명이 바람직하지 않은 답이 부적응을 얼마나 시사하는지 1에서 5점으로 평가했습니다. 중립점은 3입니다. Edwards 39문항은 3.9, M-C 예비 47문항은 2.8로 1.1점 차이가 났습니다. 이는 증상 개선이나 검사 정확도가 아니라 문항 응답의 의미에 대한 평정입니다. 최종 33문항의 평균으로 잘못 표시하지 않아야 합니다. 보조적으로 현시불안 척도와의 상관은 Edwards −.75, M-C −.25였습니다. 병리적 혼입이 작다는 해석을 뒷받침하는 패턴이지만, 상관 차이의 유의성 검정을 했다고 말하지 않습니다.</a:t>
            </a:r>
          </a:p>
          <a:p>
            <a:endParaRPr/>
          </a:p>
          <a:p>
            <a:r>
              <a:t>출처: Crowne, D. P., &amp; Marlowe, D. (1960). A new scale of social desirability independent of psychopathology. Journal of Consulting Psychology, 24(4), 349–354. p. 350, 평정 및 t 검정. p. 352, Table 3, MAS 행, N=34.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기여는 응답 편향을 잴 때도 문항 내용의 혼입을 점검해야 한다는 것입니다. 동시에 표본은 대학 수강생 중심이고 주요 신뢰도와 MMPI 분석은 작습니다. 정신병리와 완전히 무관한 척도라고 말할 수도 없습니다. Sc와의 상관은 −.40으로 유의했습니다. 마지막으로 승인욕구라는 저자의 개념적 해석과 실제 행동에서 동기를 확인한 증거는 구분해야 합니다. 이 논문의 직접 증거는 척도 개발, 평정, 신뢰도와 상관입니다.</a:t>
            </a:r>
          </a:p>
          <a:p>
            <a:endParaRPr/>
          </a:p>
          <a:p>
            <a:r>
              <a:t>출처: Crowne, D. P., &amp; Marlowe, D. (1960). A new scale of social desirability independent of psychopathology. Journal of Consulting Psychology, 24(4), 349–354. pp. 350, 352–354. Sc는 당시 MMPI 척도 명칭이며, 점수를 임상 진단으로 등치하지 않는다.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가지만 기억하면 됩니다. 문제는 증상 부인과 바람직한 응답이 뒤섞였다는 것입니다. 아이디어는 문항 선정 원칙을 바꾸어 병리적 함의를 줄인 것입니다. 대표 결과는 5점 평정에서 3.9 대 2.8입니다. 33문항은 최종 척도의 길이이고, 이 평정 비교는 예비 47문항 단계의 결과입니다. 결론은 혼입 감소를 지지한다는 것이며 모든 정신병리와의 무상관을 입증한 것은 아닙니다.</a:t>
            </a:r>
          </a:p>
          <a:p>
            <a:endParaRPr/>
          </a:p>
          <a:p>
            <a:r>
              <a:t>출처: Crowne, D. P., &amp; Marlowe, D. (1960). A new scale of social desirability independent of psychopathology. Journal of Consulting Psychology, 24(4), 349–354. pp. 349–350, 353–354.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논문이 남기는 질문은 측정하려는 응답 경향과 문항 내용이 서로 뒤섞이지 않는가입니다. 감사합니다. 질문이 있을 경우에만 짧게 진행합니다.</a:t>
            </a:r>
          </a:p>
          <a:p>
            <a:endParaRPr/>
          </a:p>
          <a:p>
            <a:r>
              <a:t>출처: Crowne, D. P., &amp; Marlowe, D. (1960). A new scale of social desirability independent of psychopathology. Journal of Consulting Psychology, 24(4), 349–354. 리뷰 마무리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D4F"/>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4112E575-4139-4014-83FB-781E6E1179DB}"/>
              </a:ext>
            </a:extLst>
          </p:cNvPr>
          <p:cNvSpPr>
            <a:spLocks noGrp="1"/>
          </p:cNvSpPr>
          <p:nvPr/>
        </p:nvSpPr>
        <p:spPr>
          <a:xfrm>
            <a:off x="609600" y="647700"/>
            <a:ext cx="10477500" cy="342900"/>
          </a:xfrm>
          <a:prstGeom prst="rect">
            <a:avLst/>
          </a:prstGeom>
          <a:noFill/>
          <a:ln w="0">
            <a:noFill/>
          </a:ln>
        </p:spPr>
        <p:txBody>
          <a:bodyPr>
            <a:noAutofit/>
          </a:bodyPr>
          <a:lstStyle/>
          <a:p>
            <a:pPr>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논문 리뷰</a:t>
            </a:r>
          </a:p>
        </p:txBody>
      </p:sp>
      <p:sp>
        <p:nvSpPr>
          <p:cNvPr id="2" name="직사각형 1">
            <a:extLst>
              <a:ext uri="{FF2B5EF4-FFF2-40B4-BE49-F238E27FC236}">
                <a16:creationId xmlns:a16="http://schemas.microsoft.com/office/drawing/2014/main" id="{D31B1DD0-B6E0-4E15-BEE9-E59510D8B1DA}"/>
              </a:ext>
            </a:extLst>
          </p:cNvPr>
          <p:cNvSpPr>
            <a:spLocks noGrp="1"/>
          </p:cNvSpPr>
          <p:nvPr/>
        </p:nvSpPr>
        <p:spPr>
          <a:xfrm>
            <a:off x="609600" y="1562100"/>
            <a:ext cx="10972800" cy="1562100"/>
          </a:xfrm>
          <a:prstGeom prst="rect">
            <a:avLst/>
          </a:prstGeom>
          <a:noFill/>
          <a:ln w="0">
            <a:noFill/>
          </a:ln>
        </p:spPr>
        <p:txBody>
          <a:bodyPr>
            <a:noAutofit/>
          </a:bodyPr>
          <a:lstStyle/>
          <a:p>
            <a:pPr>
              <a:defRPr sz="3525" b="1">
                <a:solidFill>
                  <a:srgbClr val="FFFFFF"/>
                </a:solidFill>
                <a:latin typeface="Malgun Gothic"/>
                <a:ea typeface="Malgun Gothic"/>
                <a:cs typeface="Malgun Gothic"/>
              </a:defRPr>
            </a:pPr>
            <a:r>
              <a:rPr sz="3525" b="1">
                <a:solidFill>
                  <a:srgbClr val="FFFFFF"/>
                </a:solidFill>
                <a:latin typeface="Malgun Gothic"/>
                <a:ea typeface="Malgun Gothic"/>
                <a:cs typeface="Malgun Gothic"/>
              </a:rPr>
              <a:t>A New Scale of Social Desirability</a:t>
            </a:r>
          </a:p>
          <a:p>
            <a:pPr>
              <a:defRPr sz="3525" b="1">
                <a:solidFill>
                  <a:srgbClr val="FFFFFF"/>
                </a:solidFill>
                <a:latin typeface="Malgun Gothic"/>
                <a:ea typeface="Malgun Gothic"/>
                <a:cs typeface="Malgun Gothic"/>
              </a:defRPr>
            </a:pPr>
            <a:r>
              <a:rPr sz="3525" b="1">
                <a:solidFill>
                  <a:srgbClr val="FFFFFF"/>
                </a:solidFill>
                <a:latin typeface="Malgun Gothic"/>
                <a:ea typeface="Malgun Gothic"/>
                <a:cs typeface="Malgun Gothic"/>
              </a:rPr>
              <a:t>Independent of Psychopathology</a:t>
            </a:r>
          </a:p>
        </p:txBody>
      </p:sp>
      <p:sp>
        <p:nvSpPr>
          <p:cNvPr id="3" name="직사각형 2">
            <a:extLst>
              <a:ext uri="{FF2B5EF4-FFF2-40B4-BE49-F238E27FC236}">
                <a16:creationId xmlns:a16="http://schemas.microsoft.com/office/drawing/2014/main" id="{E186D674-16CB-484B-A344-75AA693BE5B4}"/>
              </a:ext>
            </a:extLst>
          </p:cNvPr>
          <p:cNvSpPr>
            <a:spLocks noGrp="1"/>
          </p:cNvSpPr>
          <p:nvPr/>
        </p:nvSpPr>
        <p:spPr>
          <a:xfrm>
            <a:off x="609600" y="3295650"/>
            <a:ext cx="10972800" cy="457200"/>
          </a:xfrm>
          <a:prstGeom prst="rect">
            <a:avLst/>
          </a:prstGeom>
          <a:noFill/>
          <a:ln w="0">
            <a:noFill/>
          </a:ln>
        </p:spPr>
        <p:txBody>
          <a:bodyPr>
            <a:noAutofit/>
          </a:bodyPr>
          <a:lstStyle/>
          <a:p>
            <a:pPr>
              <a:defRPr sz="2175" b="0">
                <a:solidFill>
                  <a:srgbClr val="FFFFFF"/>
                </a:solidFill>
                <a:latin typeface="Malgun Gothic"/>
                <a:ea typeface="Malgun Gothic"/>
                <a:cs typeface="Malgun Gothic"/>
              </a:defRPr>
            </a:pPr>
            <a:r>
              <a:rPr sz="2175" b="0">
                <a:solidFill>
                  <a:srgbClr val="FFFFFF"/>
                </a:solidFill>
                <a:latin typeface="Malgun Gothic"/>
                <a:ea typeface="Malgun Gothic"/>
                <a:cs typeface="Malgun Gothic"/>
              </a:rPr>
              <a:t>정신병리의 영향을 줄인 사회적 바람직성 척도</a:t>
            </a:r>
          </a:p>
        </p:txBody>
      </p:sp>
      <p:sp>
        <p:nvSpPr>
          <p:cNvPr id="4" name="직사각형 3">
            <a:extLst>
              <a:ext uri="{FF2B5EF4-FFF2-40B4-BE49-F238E27FC236}">
                <a16:creationId xmlns:a16="http://schemas.microsoft.com/office/drawing/2014/main" id="{B18B03B8-2573-4F79-9FDD-25307BACDD9B}"/>
              </a:ext>
            </a:extLst>
          </p:cNvPr>
          <p:cNvSpPr>
            <a:spLocks noGrp="1"/>
          </p:cNvSpPr>
          <p:nvPr/>
        </p:nvSpPr>
        <p:spPr>
          <a:xfrm>
            <a:off x="609600" y="4171950"/>
            <a:ext cx="10972800" cy="762000"/>
          </a:xfrm>
          <a:prstGeom prst="rect">
            <a:avLst/>
          </a:prstGeom>
          <a:noFill/>
          <a:ln w="0">
            <a:noFill/>
          </a:ln>
        </p:spPr>
        <p:txBody>
          <a:bodyPr>
            <a:noAutofit/>
          </a:bodyPr>
          <a:lstStyle/>
          <a:p>
            <a:pPr>
              <a:defRPr sz="1725" b="0">
                <a:solidFill>
                  <a:srgbClr val="FFFFFF"/>
                </a:solidFill>
                <a:latin typeface="Malgun Gothic"/>
                <a:ea typeface="Malgun Gothic"/>
                <a:cs typeface="Malgun Gothic"/>
              </a:defRPr>
            </a:pPr>
            <a:r>
              <a:rPr sz="1725" b="0">
                <a:solidFill>
                  <a:srgbClr val="FFFFFF"/>
                </a:solidFill>
                <a:latin typeface="Malgun Gothic"/>
                <a:ea typeface="Malgun Gothic"/>
                <a:cs typeface="Malgun Gothic"/>
              </a:rPr>
              <a:t>Douglas P. Crowne &amp; David Marlowe (1960)</a:t>
            </a:r>
          </a:p>
          <a:p>
            <a:pPr>
              <a:defRPr sz="1725" b="0">
                <a:solidFill>
                  <a:srgbClr val="FFFFFF"/>
                </a:solidFill>
                <a:latin typeface="Malgun Gothic"/>
                <a:ea typeface="Malgun Gothic"/>
                <a:cs typeface="Malgun Gothic"/>
              </a:defRPr>
            </a:pPr>
            <a:r>
              <a:rPr sz="1725" b="0">
                <a:solidFill>
                  <a:srgbClr val="FFFFFF"/>
                </a:solidFill>
                <a:latin typeface="Malgun Gothic"/>
                <a:ea typeface="Malgun Gothic"/>
                <a:cs typeface="Malgun Gothic"/>
              </a:rPr>
              <a:t>Journal of Consulting Psychology, 24(4), 349–354</a:t>
            </a:r>
          </a:p>
        </p:txBody>
      </p:sp>
      <p:sp>
        <p:nvSpPr>
          <p:cNvPr id="5" name="직사각형 4">
            <a:extLst>
              <a:ext uri="{FF2B5EF4-FFF2-40B4-BE49-F238E27FC236}">
                <a16:creationId xmlns:a16="http://schemas.microsoft.com/office/drawing/2014/main" id="{83D5539B-A3D1-456A-AB95-4ED01399FCE0}"/>
              </a:ext>
            </a:extLst>
          </p:cNvPr>
          <p:cNvSpPr>
            <a:spLocks noGrp="1"/>
          </p:cNvSpPr>
          <p:nvPr/>
        </p:nvSpPr>
        <p:spPr>
          <a:xfrm>
            <a:off x="609600" y="6029325"/>
            <a:ext cx="10858500" cy="323850"/>
          </a:xfrm>
          <a:prstGeom prst="rect">
            <a:avLst/>
          </a:prstGeom>
          <a:noFill/>
          <a:ln w="0">
            <a:noFill/>
          </a:ln>
        </p:spPr>
        <p:txBody>
          <a:bodyPr>
            <a:noAutofit/>
          </a:bodyPr>
          <a:lstStyle/>
          <a:p>
            <a:pPr>
              <a:defRPr sz="1350" b="0">
                <a:solidFill>
                  <a:srgbClr val="FFFFFF"/>
                </a:solidFill>
                <a:latin typeface="Malgun Gothic"/>
                <a:ea typeface="Malgun Gothic"/>
                <a:cs typeface="Malgun Gothic"/>
              </a:defRPr>
            </a:pPr>
            <a:r>
              <a:rPr sz="1350" b="0" dirty="0" err="1">
                <a:solidFill>
                  <a:srgbClr val="FFFFFF"/>
                </a:solidFill>
                <a:latin typeface="Malgun Gothic"/>
                <a:ea typeface="Malgun Gothic"/>
                <a:cs typeface="Malgun Gothic"/>
              </a:rPr>
              <a:t>리뷰</a:t>
            </a:r>
            <a:r>
              <a:rPr sz="1350" b="0" dirty="0">
                <a:solidFill>
                  <a:srgbClr val="FFFFFF"/>
                </a:solidFill>
                <a:latin typeface="Malgun Gothic"/>
                <a:ea typeface="Malgun Gothic"/>
                <a:cs typeface="Malgun Gothic"/>
              </a:rPr>
              <a:t> 팀: </a:t>
            </a:r>
            <a:r>
              <a:rPr lang="en-US" sz="1350" b="0" dirty="0">
                <a:solidFill>
                  <a:srgbClr val="FFFFFF"/>
                </a:solidFill>
                <a:latin typeface="Malgun Gothic"/>
                <a:ea typeface="Malgun Gothic"/>
                <a:cs typeface="Malgun Gothic"/>
              </a:rPr>
              <a:t>00:7</a:t>
            </a:r>
            <a:r>
              <a:rPr sz="1350" b="0" dirty="0">
                <a:solidFill>
                  <a:srgbClr val="FFFFFF"/>
                </a:solidFill>
                <a:latin typeface="Malgun Gothic"/>
                <a:ea typeface="Malgun Gothic"/>
                <a:cs typeface="Malgun Gothic"/>
              </a:rPr>
              <a:t>   </a:t>
            </a:r>
            <a:r>
              <a:rPr sz="1350" b="0" dirty="0" err="1">
                <a:solidFill>
                  <a:srgbClr val="FFFFFF"/>
                </a:solidFill>
                <a:latin typeface="Malgun Gothic"/>
                <a:ea typeface="Malgun Gothic"/>
                <a:cs typeface="Malgun Gothic"/>
              </a:rPr>
              <a:t>대상</a:t>
            </a:r>
            <a:r>
              <a:rPr sz="1350" b="0" dirty="0">
                <a:solidFill>
                  <a:srgbClr val="FFFFFF"/>
                </a:solidFill>
                <a:latin typeface="Malgun Gothic"/>
                <a:ea typeface="Malgun Gothic"/>
                <a:cs typeface="Malgun Gothic"/>
              </a:rPr>
              <a:t> 팀: </a:t>
            </a:r>
            <a:r>
              <a:rPr lang="en-US" sz="1350" b="0" dirty="0" err="1">
                <a:solidFill>
                  <a:srgbClr val="FFFFFF"/>
                </a:solidFill>
                <a:latin typeface="Malgun Gothic"/>
                <a:ea typeface="Malgun Gothic"/>
                <a:cs typeface="Malgun Gothic"/>
              </a:rPr>
              <a:t>kosmos</a:t>
            </a:r>
            <a:r>
              <a:rPr sz="1350" b="0" dirty="0">
                <a:solidFill>
                  <a:srgbClr val="FFFFFF"/>
                </a:solidFill>
                <a:latin typeface="Malgun Gothic"/>
                <a:ea typeface="Malgun Gothic"/>
                <a:cs typeface="Malgun Gothic"/>
              </a:rPr>
              <a:t>    </a:t>
            </a:r>
          </a:p>
        </p:txBody>
      </p:sp>
    </p:spTree>
    <p:extLst>
      <p:ext uri="{BB962C8B-B14F-4D97-AF65-F5344CB8AC3E}">
        <p14:creationId xmlns:p14="http://schemas.microsoft.com/office/powerpoint/2010/main" val="1697102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885E8401-07C8-491B-91FF-6ED0B0C42415}"/>
              </a:ext>
            </a:extLst>
          </p:cNvPr>
          <p:cNvSpPr>
            <a:spLocks noGrp="1"/>
          </p:cNvSpPr>
          <p:nvPr/>
        </p:nvSpPr>
        <p:spPr>
          <a:xfrm>
            <a:off x="609600" y="304800"/>
            <a:ext cx="10668000" cy="228600"/>
          </a:xfrm>
          <a:prstGeom prst="rect">
            <a:avLst/>
          </a:prstGeom>
          <a:noFill/>
          <a:ln w="0">
            <a:noFill/>
          </a:ln>
        </p:spPr>
        <p:txBody>
          <a:bodyPr>
            <a:noAutofit/>
          </a:bodyPr>
          <a:lstStyle/>
          <a:p>
            <a:pPr>
              <a:defRPr sz="1125" b="1">
                <a:solidFill>
                  <a:srgbClr val="102D4F"/>
                </a:solidFill>
                <a:latin typeface="Malgun Gothic"/>
                <a:ea typeface="Malgun Gothic"/>
                <a:cs typeface="Malgun Gothic"/>
              </a:defRPr>
            </a:pPr>
            <a:r>
              <a:rPr sz="1125" b="1">
                <a:solidFill>
                  <a:srgbClr val="102D4F"/>
                </a:solidFill>
                <a:latin typeface="Malgun Gothic"/>
                <a:ea typeface="Malgun Gothic"/>
                <a:cs typeface="Malgun Gothic"/>
              </a:rPr>
              <a:t>논문 리뷰</a:t>
            </a:r>
          </a:p>
        </p:txBody>
      </p:sp>
      <p:sp>
        <p:nvSpPr>
          <p:cNvPr id="2" name="직사각형 1">
            <a:extLst>
              <a:ext uri="{FF2B5EF4-FFF2-40B4-BE49-F238E27FC236}">
                <a16:creationId xmlns:a16="http://schemas.microsoft.com/office/drawing/2014/main" id="{FC6D5821-362D-4B26-B697-E136C0327849}"/>
              </a:ext>
            </a:extLst>
          </p:cNvPr>
          <p:cNvSpPr>
            <a:spLocks noGrp="1"/>
          </p:cNvSpPr>
          <p:nvPr/>
        </p:nvSpPr>
        <p:spPr>
          <a:xfrm>
            <a:off x="609600" y="695325"/>
            <a:ext cx="10972800" cy="628650"/>
          </a:xfrm>
          <a:prstGeom prst="rect">
            <a:avLst/>
          </a:prstGeom>
          <a:noFill/>
          <a:ln w="0">
            <a:noFill/>
          </a:ln>
        </p:spPr>
        <p:txBody>
          <a:bodyPr>
            <a:noAutofit/>
          </a:bodyPr>
          <a:lstStyle/>
          <a:p>
            <a:pPr>
              <a:defRPr sz="3000" b="1">
                <a:solidFill>
                  <a:srgbClr val="152538"/>
                </a:solidFill>
                <a:latin typeface="Malgun Gothic"/>
                <a:ea typeface="Malgun Gothic"/>
                <a:cs typeface="Malgun Gothic"/>
              </a:defRPr>
            </a:pPr>
            <a:r>
              <a:rPr sz="3000" b="1">
                <a:solidFill>
                  <a:srgbClr val="152538"/>
                </a:solidFill>
                <a:latin typeface="Malgun Gothic"/>
                <a:ea typeface="Malgun Gothic"/>
                <a:cs typeface="Malgun Gothic"/>
              </a:rPr>
              <a:t>목차</a:t>
            </a:r>
          </a:p>
        </p:txBody>
      </p:sp>
      <p:sp>
        <p:nvSpPr>
          <p:cNvPr id="3" name="직사각형 2">
            <a:extLst>
              <a:ext uri="{FF2B5EF4-FFF2-40B4-BE49-F238E27FC236}">
                <a16:creationId xmlns:a16="http://schemas.microsoft.com/office/drawing/2014/main" id="{A9E8610D-AAFA-452B-8EB0-9E63EEA5C90F}"/>
              </a:ext>
            </a:extLst>
          </p:cNvPr>
          <p:cNvSpPr>
            <a:spLocks noGrp="1"/>
          </p:cNvSpPr>
          <p:nvPr/>
        </p:nvSpPr>
        <p:spPr>
          <a:xfrm>
            <a:off x="609600" y="6372225"/>
            <a:ext cx="10287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Crowne &amp; Marlowe (1960)</a:t>
            </a:r>
          </a:p>
        </p:txBody>
      </p:sp>
      <p:sp>
        <p:nvSpPr>
          <p:cNvPr id="4" name="직사각형 3">
            <a:extLst>
              <a:ext uri="{FF2B5EF4-FFF2-40B4-BE49-F238E27FC236}">
                <a16:creationId xmlns:a16="http://schemas.microsoft.com/office/drawing/2014/main" id="{5A2391CB-9AF7-44C5-8F6C-552C70A17A80}"/>
              </a:ext>
            </a:extLst>
          </p:cNvPr>
          <p:cNvSpPr>
            <a:spLocks noGrp="1"/>
          </p:cNvSpPr>
          <p:nvPr/>
        </p:nvSpPr>
        <p:spPr>
          <a:xfrm>
            <a:off x="11239500" y="6372225"/>
            <a:ext cx="381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2</a:t>
            </a:r>
          </a:p>
        </p:txBody>
      </p:sp>
      <p:sp>
        <p:nvSpPr>
          <p:cNvPr id="5" name="직사각형 4">
            <a:extLst>
              <a:ext uri="{FF2B5EF4-FFF2-40B4-BE49-F238E27FC236}">
                <a16:creationId xmlns:a16="http://schemas.microsoft.com/office/drawing/2014/main" id="{81A87996-FC6B-406A-97FF-60A7EDAFD648}"/>
              </a:ext>
            </a:extLst>
          </p:cNvPr>
          <p:cNvSpPr>
            <a:spLocks noGrp="1"/>
          </p:cNvSpPr>
          <p:nvPr/>
        </p:nvSpPr>
        <p:spPr>
          <a:xfrm>
            <a:off x="609600" y="2114550"/>
            <a:ext cx="571500" cy="381000"/>
          </a:xfrm>
          <a:prstGeom prst="rect">
            <a:avLst/>
          </a:prstGeom>
          <a:noFill/>
          <a:ln w="0">
            <a:noFill/>
          </a:ln>
        </p:spPr>
        <p:txBody>
          <a:bodyPr>
            <a:noAutofit/>
          </a:bodyPr>
          <a:lstStyle/>
          <a:p>
            <a:pPr>
              <a:defRPr sz="1950" b="1">
                <a:solidFill>
                  <a:srgbClr val="102D4F"/>
                </a:solidFill>
                <a:latin typeface="Malgun Gothic"/>
                <a:ea typeface="Malgun Gothic"/>
                <a:cs typeface="Malgun Gothic"/>
              </a:defRPr>
            </a:pPr>
            <a:r>
              <a:rPr sz="1950" b="1">
                <a:solidFill>
                  <a:srgbClr val="102D4F"/>
                </a:solidFill>
                <a:latin typeface="Malgun Gothic"/>
                <a:ea typeface="Malgun Gothic"/>
                <a:cs typeface="Malgun Gothic"/>
              </a:rPr>
              <a:t>01</a:t>
            </a:r>
          </a:p>
        </p:txBody>
      </p:sp>
      <p:sp>
        <p:nvSpPr>
          <p:cNvPr id="6" name="직사각형 5">
            <a:extLst>
              <a:ext uri="{FF2B5EF4-FFF2-40B4-BE49-F238E27FC236}">
                <a16:creationId xmlns:a16="http://schemas.microsoft.com/office/drawing/2014/main" id="{C434CC56-9F0B-40C2-B707-A1630BCD3598}"/>
              </a:ext>
            </a:extLst>
          </p:cNvPr>
          <p:cNvSpPr>
            <a:spLocks noGrp="1"/>
          </p:cNvSpPr>
          <p:nvPr/>
        </p:nvSpPr>
        <p:spPr>
          <a:xfrm>
            <a:off x="1323975" y="2114550"/>
            <a:ext cx="4905375" cy="381000"/>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문제와 배경</a:t>
            </a:r>
          </a:p>
        </p:txBody>
      </p:sp>
      <p:sp>
        <p:nvSpPr>
          <p:cNvPr id="7" name="직사각형 6">
            <a:extLst>
              <a:ext uri="{FF2B5EF4-FFF2-40B4-BE49-F238E27FC236}">
                <a16:creationId xmlns:a16="http://schemas.microsoft.com/office/drawing/2014/main" id="{5162BCD6-017D-4D53-B0D6-FDD8F711C975}"/>
              </a:ext>
            </a:extLst>
          </p:cNvPr>
          <p:cNvSpPr>
            <a:spLocks noGrp="1"/>
          </p:cNvSpPr>
          <p:nvPr/>
        </p:nvSpPr>
        <p:spPr>
          <a:xfrm>
            <a:off x="609600" y="2800350"/>
            <a:ext cx="571500" cy="381000"/>
          </a:xfrm>
          <a:prstGeom prst="rect">
            <a:avLst/>
          </a:prstGeom>
          <a:noFill/>
          <a:ln w="0">
            <a:noFill/>
          </a:ln>
        </p:spPr>
        <p:txBody>
          <a:bodyPr>
            <a:noAutofit/>
          </a:bodyPr>
          <a:lstStyle/>
          <a:p>
            <a:pPr>
              <a:defRPr sz="1950" b="1">
                <a:solidFill>
                  <a:srgbClr val="102D4F"/>
                </a:solidFill>
                <a:latin typeface="Malgun Gothic"/>
                <a:ea typeface="Malgun Gothic"/>
                <a:cs typeface="Malgun Gothic"/>
              </a:defRPr>
            </a:pPr>
            <a:r>
              <a:rPr sz="1950" b="1">
                <a:solidFill>
                  <a:srgbClr val="102D4F"/>
                </a:solidFill>
                <a:latin typeface="Malgun Gothic"/>
                <a:ea typeface="Malgun Gothic"/>
                <a:cs typeface="Malgun Gothic"/>
              </a:rPr>
              <a:t>02</a:t>
            </a:r>
          </a:p>
        </p:txBody>
      </p:sp>
      <p:sp>
        <p:nvSpPr>
          <p:cNvPr id="8" name="직사각형 7">
            <a:extLst>
              <a:ext uri="{FF2B5EF4-FFF2-40B4-BE49-F238E27FC236}">
                <a16:creationId xmlns:a16="http://schemas.microsoft.com/office/drawing/2014/main" id="{509DA3F8-F293-411A-B170-D177CDF6E074}"/>
              </a:ext>
            </a:extLst>
          </p:cNvPr>
          <p:cNvSpPr>
            <a:spLocks noGrp="1"/>
          </p:cNvSpPr>
          <p:nvPr/>
        </p:nvSpPr>
        <p:spPr>
          <a:xfrm>
            <a:off x="1323975" y="2800350"/>
            <a:ext cx="4905375" cy="381000"/>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핵심 아이디어와 문항 예시</a:t>
            </a:r>
          </a:p>
        </p:txBody>
      </p:sp>
      <p:sp>
        <p:nvSpPr>
          <p:cNvPr id="9" name="직사각형 8">
            <a:extLst>
              <a:ext uri="{FF2B5EF4-FFF2-40B4-BE49-F238E27FC236}">
                <a16:creationId xmlns:a16="http://schemas.microsoft.com/office/drawing/2014/main" id="{0542E7DE-E910-4521-820D-E4B889884C52}"/>
              </a:ext>
            </a:extLst>
          </p:cNvPr>
          <p:cNvSpPr>
            <a:spLocks noGrp="1"/>
          </p:cNvSpPr>
          <p:nvPr/>
        </p:nvSpPr>
        <p:spPr>
          <a:xfrm>
            <a:off x="609600" y="3486150"/>
            <a:ext cx="571500" cy="381000"/>
          </a:xfrm>
          <a:prstGeom prst="rect">
            <a:avLst/>
          </a:prstGeom>
          <a:noFill/>
          <a:ln w="0">
            <a:noFill/>
          </a:ln>
        </p:spPr>
        <p:txBody>
          <a:bodyPr>
            <a:noAutofit/>
          </a:bodyPr>
          <a:lstStyle/>
          <a:p>
            <a:pPr>
              <a:defRPr sz="1950" b="1">
                <a:solidFill>
                  <a:srgbClr val="102D4F"/>
                </a:solidFill>
                <a:latin typeface="Malgun Gothic"/>
                <a:ea typeface="Malgun Gothic"/>
                <a:cs typeface="Malgun Gothic"/>
              </a:defRPr>
            </a:pPr>
            <a:r>
              <a:rPr sz="1950" b="1">
                <a:solidFill>
                  <a:srgbClr val="102D4F"/>
                </a:solidFill>
                <a:latin typeface="Malgun Gothic"/>
                <a:ea typeface="Malgun Gothic"/>
                <a:cs typeface="Malgun Gothic"/>
              </a:rPr>
              <a:t>03</a:t>
            </a:r>
          </a:p>
        </p:txBody>
      </p:sp>
      <p:sp>
        <p:nvSpPr>
          <p:cNvPr id="10" name="직사각형 9">
            <a:extLst>
              <a:ext uri="{FF2B5EF4-FFF2-40B4-BE49-F238E27FC236}">
                <a16:creationId xmlns:a16="http://schemas.microsoft.com/office/drawing/2014/main" id="{55ABF5E8-9856-4477-8E62-F9A26AEBCF4A}"/>
              </a:ext>
            </a:extLst>
          </p:cNvPr>
          <p:cNvSpPr>
            <a:spLocks noGrp="1"/>
          </p:cNvSpPr>
          <p:nvPr/>
        </p:nvSpPr>
        <p:spPr>
          <a:xfrm>
            <a:off x="1323975" y="3486150"/>
            <a:ext cx="4905375" cy="381000"/>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문항 선별과 신뢰도</a:t>
            </a:r>
          </a:p>
        </p:txBody>
      </p:sp>
      <p:sp>
        <p:nvSpPr>
          <p:cNvPr id="11" name="직사각형 10">
            <a:extLst>
              <a:ext uri="{FF2B5EF4-FFF2-40B4-BE49-F238E27FC236}">
                <a16:creationId xmlns:a16="http://schemas.microsoft.com/office/drawing/2014/main" id="{6E1F4E58-D863-4B86-AAAE-69B3DC88682C}"/>
              </a:ext>
            </a:extLst>
          </p:cNvPr>
          <p:cNvSpPr>
            <a:spLocks noGrp="1"/>
          </p:cNvSpPr>
          <p:nvPr/>
        </p:nvSpPr>
        <p:spPr>
          <a:xfrm>
            <a:off x="609600" y="4171950"/>
            <a:ext cx="571500" cy="381000"/>
          </a:xfrm>
          <a:prstGeom prst="rect">
            <a:avLst/>
          </a:prstGeom>
          <a:noFill/>
          <a:ln w="0">
            <a:noFill/>
          </a:ln>
        </p:spPr>
        <p:txBody>
          <a:bodyPr>
            <a:noAutofit/>
          </a:bodyPr>
          <a:lstStyle/>
          <a:p>
            <a:pPr>
              <a:defRPr sz="1950" b="1">
                <a:solidFill>
                  <a:srgbClr val="102D4F"/>
                </a:solidFill>
                <a:latin typeface="Malgun Gothic"/>
                <a:ea typeface="Malgun Gothic"/>
                <a:cs typeface="Malgun Gothic"/>
              </a:defRPr>
            </a:pPr>
            <a:r>
              <a:rPr sz="1950" b="1">
                <a:solidFill>
                  <a:srgbClr val="102D4F"/>
                </a:solidFill>
                <a:latin typeface="Malgun Gothic"/>
                <a:ea typeface="Malgun Gothic"/>
                <a:cs typeface="Malgun Gothic"/>
              </a:rPr>
              <a:t>04</a:t>
            </a:r>
          </a:p>
        </p:txBody>
      </p:sp>
      <p:sp>
        <p:nvSpPr>
          <p:cNvPr id="12" name="직사각형 11">
            <a:extLst>
              <a:ext uri="{FF2B5EF4-FFF2-40B4-BE49-F238E27FC236}">
                <a16:creationId xmlns:a16="http://schemas.microsoft.com/office/drawing/2014/main" id="{F6FEE980-8F68-4C31-918D-BAD2140840D2}"/>
              </a:ext>
            </a:extLst>
          </p:cNvPr>
          <p:cNvSpPr>
            <a:spLocks noGrp="1"/>
          </p:cNvSpPr>
          <p:nvPr/>
        </p:nvSpPr>
        <p:spPr>
          <a:xfrm>
            <a:off x="1323975" y="4171950"/>
            <a:ext cx="4905375" cy="381000"/>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결과</a:t>
            </a:r>
          </a:p>
        </p:txBody>
      </p:sp>
      <p:sp>
        <p:nvSpPr>
          <p:cNvPr id="13" name="직사각형 12">
            <a:extLst>
              <a:ext uri="{FF2B5EF4-FFF2-40B4-BE49-F238E27FC236}">
                <a16:creationId xmlns:a16="http://schemas.microsoft.com/office/drawing/2014/main" id="{19172F9E-B3AD-495D-994D-1BE83A3D54E0}"/>
              </a:ext>
            </a:extLst>
          </p:cNvPr>
          <p:cNvSpPr>
            <a:spLocks noGrp="1"/>
          </p:cNvSpPr>
          <p:nvPr/>
        </p:nvSpPr>
        <p:spPr>
          <a:xfrm>
            <a:off x="609600" y="4857750"/>
            <a:ext cx="571500" cy="381000"/>
          </a:xfrm>
          <a:prstGeom prst="rect">
            <a:avLst/>
          </a:prstGeom>
          <a:noFill/>
          <a:ln w="0">
            <a:noFill/>
          </a:ln>
        </p:spPr>
        <p:txBody>
          <a:bodyPr>
            <a:noAutofit/>
          </a:bodyPr>
          <a:lstStyle/>
          <a:p>
            <a:pPr>
              <a:defRPr sz="1950" b="1">
                <a:solidFill>
                  <a:srgbClr val="102D4F"/>
                </a:solidFill>
                <a:latin typeface="Malgun Gothic"/>
                <a:ea typeface="Malgun Gothic"/>
                <a:cs typeface="Malgun Gothic"/>
              </a:defRPr>
            </a:pPr>
            <a:r>
              <a:rPr sz="1950" b="1">
                <a:solidFill>
                  <a:srgbClr val="102D4F"/>
                </a:solidFill>
                <a:latin typeface="Malgun Gothic"/>
                <a:ea typeface="Malgun Gothic"/>
                <a:cs typeface="Malgun Gothic"/>
              </a:rPr>
              <a:t>05</a:t>
            </a:r>
          </a:p>
        </p:txBody>
      </p:sp>
      <p:sp>
        <p:nvSpPr>
          <p:cNvPr id="14" name="직사각형 13">
            <a:extLst>
              <a:ext uri="{FF2B5EF4-FFF2-40B4-BE49-F238E27FC236}">
                <a16:creationId xmlns:a16="http://schemas.microsoft.com/office/drawing/2014/main" id="{8A615999-3583-4EE5-BC97-B3F217BEAE79}"/>
              </a:ext>
            </a:extLst>
          </p:cNvPr>
          <p:cNvSpPr>
            <a:spLocks noGrp="1"/>
          </p:cNvSpPr>
          <p:nvPr/>
        </p:nvSpPr>
        <p:spPr>
          <a:xfrm>
            <a:off x="1323975" y="4857750"/>
            <a:ext cx="4905375" cy="381000"/>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리뷰와 핵심 정리</a:t>
            </a:r>
          </a:p>
        </p:txBody>
      </p:sp>
      <p:sp>
        <p:nvSpPr>
          <p:cNvPr id="15" name="직사각형 14">
            <a:extLst>
              <a:ext uri="{FF2B5EF4-FFF2-40B4-BE49-F238E27FC236}">
                <a16:creationId xmlns:a16="http://schemas.microsoft.com/office/drawing/2014/main" id="{BC9140A5-4CC1-47F2-AD70-55B1D204118A}"/>
              </a:ext>
            </a:extLst>
          </p:cNvPr>
          <p:cNvSpPr>
            <a:spLocks noGrp="1"/>
          </p:cNvSpPr>
          <p:nvPr/>
        </p:nvSpPr>
        <p:spPr>
          <a:xfrm>
            <a:off x="7181850" y="2114550"/>
            <a:ext cx="4400550" cy="3286125"/>
          </a:xfrm>
          <a:prstGeom prst="rect">
            <a:avLst/>
          </a:prstGeom>
          <a:solidFill>
            <a:srgbClr val="102D4F"/>
          </a:solidFill>
          <a:ln w="0">
            <a:noFill/>
          </a:ln>
        </p:spPr>
        <p:txBody>
          <a:bodyPr/>
          <a:lstStyle/>
          <a:p>
            <a:endParaRPr lang="ko-KR" altLang="en-US"/>
          </a:p>
        </p:txBody>
      </p:sp>
      <p:sp>
        <p:nvSpPr>
          <p:cNvPr id="16" name="직사각형 15">
            <a:extLst>
              <a:ext uri="{FF2B5EF4-FFF2-40B4-BE49-F238E27FC236}">
                <a16:creationId xmlns:a16="http://schemas.microsoft.com/office/drawing/2014/main" id="{543D1160-3B3E-4DD5-AC2C-55B2E3F6C5DC}"/>
              </a:ext>
            </a:extLst>
          </p:cNvPr>
          <p:cNvSpPr>
            <a:spLocks noGrp="1"/>
          </p:cNvSpPr>
          <p:nvPr/>
        </p:nvSpPr>
        <p:spPr>
          <a:xfrm>
            <a:off x="7486650" y="2419350"/>
            <a:ext cx="3790950" cy="342900"/>
          </a:xfrm>
          <a:prstGeom prst="rect">
            <a:avLst/>
          </a:prstGeom>
          <a:noFill/>
          <a:ln w="0">
            <a:noFill/>
          </a:ln>
        </p:spPr>
        <p:txBody>
          <a:bodyPr>
            <a:noAutofit/>
          </a:bodyPr>
          <a:lstStyle/>
          <a:p>
            <a:pP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핵심 메시지</a:t>
            </a:r>
          </a:p>
        </p:txBody>
      </p:sp>
      <p:sp>
        <p:nvSpPr>
          <p:cNvPr id="17" name="직사각형 16">
            <a:extLst>
              <a:ext uri="{FF2B5EF4-FFF2-40B4-BE49-F238E27FC236}">
                <a16:creationId xmlns:a16="http://schemas.microsoft.com/office/drawing/2014/main" id="{DA569602-F4A5-46DF-AF47-98D5D09C379D}"/>
              </a:ext>
            </a:extLst>
          </p:cNvPr>
          <p:cNvSpPr>
            <a:spLocks noGrp="1"/>
          </p:cNvSpPr>
          <p:nvPr/>
        </p:nvSpPr>
        <p:spPr>
          <a:xfrm>
            <a:off x="7486650" y="2990850"/>
            <a:ext cx="3790950" cy="2000250"/>
          </a:xfrm>
          <a:prstGeom prst="rect">
            <a:avLst/>
          </a:prstGeom>
          <a:noFill/>
          <a:ln w="0">
            <a:noFill/>
          </a:ln>
        </p:spPr>
        <p:txBody>
          <a:bodyPr>
            <a:noAutofit/>
          </a:bodyPr>
          <a:lstStyle/>
          <a:p>
            <a:pPr>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좋게 보이려는 응답과</a:t>
            </a:r>
          </a:p>
          <a:p>
            <a:pPr>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실제로 증상이 없는 응답이</a:t>
            </a:r>
          </a:p>
          <a:p>
            <a:pPr>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뒤섞이지 않도록</a:t>
            </a:r>
          </a:p>
          <a:p>
            <a:pPr>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문항 자체를 설계한다.</a:t>
            </a:r>
          </a:p>
        </p:txBody>
      </p:sp>
    </p:spTree>
    <p:extLst>
      <p:ext uri="{BB962C8B-B14F-4D97-AF65-F5344CB8AC3E}">
        <p14:creationId xmlns:p14="http://schemas.microsoft.com/office/powerpoint/2010/main" val="1845043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49FC8D89-12BF-4DD8-969C-606F4330F284}"/>
              </a:ext>
            </a:extLst>
          </p:cNvPr>
          <p:cNvSpPr>
            <a:spLocks noGrp="1"/>
          </p:cNvSpPr>
          <p:nvPr/>
        </p:nvSpPr>
        <p:spPr>
          <a:xfrm>
            <a:off x="609600" y="304800"/>
            <a:ext cx="10668000" cy="228600"/>
          </a:xfrm>
          <a:prstGeom prst="rect">
            <a:avLst/>
          </a:prstGeom>
          <a:noFill/>
          <a:ln w="0">
            <a:noFill/>
          </a:ln>
        </p:spPr>
        <p:txBody>
          <a:bodyPr>
            <a:noAutofit/>
          </a:bodyPr>
          <a:lstStyle/>
          <a:p>
            <a:pPr>
              <a:defRPr sz="1125" b="1">
                <a:solidFill>
                  <a:srgbClr val="102D4F"/>
                </a:solidFill>
                <a:latin typeface="Malgun Gothic"/>
                <a:ea typeface="Malgun Gothic"/>
                <a:cs typeface="Malgun Gothic"/>
              </a:defRPr>
            </a:pPr>
            <a:r>
              <a:rPr sz="1125" b="1">
                <a:solidFill>
                  <a:srgbClr val="102D4F"/>
                </a:solidFill>
                <a:latin typeface="Malgun Gothic"/>
                <a:ea typeface="Malgun Gothic"/>
                <a:cs typeface="Malgun Gothic"/>
              </a:rPr>
              <a:t>문제 ①</a:t>
            </a:r>
          </a:p>
        </p:txBody>
      </p:sp>
      <p:sp>
        <p:nvSpPr>
          <p:cNvPr id="2" name="직사각형 1">
            <a:extLst>
              <a:ext uri="{FF2B5EF4-FFF2-40B4-BE49-F238E27FC236}">
                <a16:creationId xmlns:a16="http://schemas.microsoft.com/office/drawing/2014/main" id="{1944FC43-7AE4-43D7-8855-24CCA2252856}"/>
              </a:ext>
            </a:extLst>
          </p:cNvPr>
          <p:cNvSpPr>
            <a:spLocks noGrp="1"/>
          </p:cNvSpPr>
          <p:nvPr/>
        </p:nvSpPr>
        <p:spPr>
          <a:xfrm>
            <a:off x="609600" y="695325"/>
            <a:ext cx="10972800" cy="628650"/>
          </a:xfrm>
          <a:prstGeom prst="rect">
            <a:avLst/>
          </a:prstGeom>
          <a:noFill/>
          <a:ln w="0">
            <a:noFill/>
          </a:ln>
        </p:spPr>
        <p:txBody>
          <a:bodyPr>
            <a:noAutofit/>
          </a:bodyPr>
          <a:lstStyle/>
          <a:p>
            <a:pPr>
              <a:defRPr sz="3000" b="1">
                <a:solidFill>
                  <a:srgbClr val="152538"/>
                </a:solidFill>
                <a:latin typeface="Malgun Gothic"/>
                <a:ea typeface="Malgun Gothic"/>
                <a:cs typeface="Malgun Gothic"/>
              </a:defRPr>
            </a:pPr>
            <a:r>
              <a:rPr sz="3000" b="1">
                <a:solidFill>
                  <a:srgbClr val="152538"/>
                </a:solidFill>
                <a:latin typeface="Malgun Gothic"/>
                <a:ea typeface="Malgun Gothic"/>
                <a:cs typeface="Malgun Gothic"/>
              </a:rPr>
              <a:t>기존 척도는 무엇을 구분하지 못했나</a:t>
            </a:r>
          </a:p>
        </p:txBody>
      </p:sp>
      <p:sp>
        <p:nvSpPr>
          <p:cNvPr id="3" name="직사각형 2">
            <a:extLst>
              <a:ext uri="{FF2B5EF4-FFF2-40B4-BE49-F238E27FC236}">
                <a16:creationId xmlns:a16="http://schemas.microsoft.com/office/drawing/2014/main" id="{BE59EC61-5AD7-4266-ADAC-2F9AFF302070}"/>
              </a:ext>
            </a:extLst>
          </p:cNvPr>
          <p:cNvSpPr>
            <a:spLocks noGrp="1"/>
          </p:cNvSpPr>
          <p:nvPr/>
        </p:nvSpPr>
        <p:spPr>
          <a:xfrm>
            <a:off x="609600" y="1390650"/>
            <a:ext cx="10972800" cy="409575"/>
          </a:xfrm>
          <a:prstGeom prst="rect">
            <a:avLst/>
          </a:prstGeom>
          <a:noFill/>
          <a:ln w="0">
            <a:noFill/>
          </a:ln>
        </p:spPr>
        <p:txBody>
          <a:bodyPr>
            <a:noAutofit/>
          </a:bodyPr>
          <a:lstStyle/>
          <a:p>
            <a:pPr>
              <a:defRPr sz="1575" b="0">
                <a:solidFill>
                  <a:srgbClr val="5A6878"/>
                </a:solidFill>
                <a:latin typeface="Malgun Gothic"/>
                <a:ea typeface="Malgun Gothic"/>
                <a:cs typeface="Malgun Gothic"/>
              </a:defRPr>
            </a:pPr>
            <a:r>
              <a:rPr sz="1575" b="0">
                <a:solidFill>
                  <a:srgbClr val="5A6878"/>
                </a:solidFill>
                <a:latin typeface="Malgun Gothic"/>
                <a:ea typeface="Malgun Gothic"/>
                <a:cs typeface="Malgun Gothic"/>
              </a:rPr>
              <a:t>성격검사는 실제 특성을 측정하려 하지만, 좋게 보이려는 응답도 섞인다.</a:t>
            </a:r>
          </a:p>
        </p:txBody>
      </p:sp>
      <p:sp>
        <p:nvSpPr>
          <p:cNvPr id="4" name="직사각형 3">
            <a:extLst>
              <a:ext uri="{FF2B5EF4-FFF2-40B4-BE49-F238E27FC236}">
                <a16:creationId xmlns:a16="http://schemas.microsoft.com/office/drawing/2014/main" id="{762F63A7-9739-4BF1-8FC3-917A15871067}"/>
              </a:ext>
            </a:extLst>
          </p:cNvPr>
          <p:cNvSpPr>
            <a:spLocks noGrp="1"/>
          </p:cNvSpPr>
          <p:nvPr/>
        </p:nvSpPr>
        <p:spPr>
          <a:xfrm>
            <a:off x="609600" y="6372225"/>
            <a:ext cx="10287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출처: 원문 pp. 349–350</a:t>
            </a:r>
          </a:p>
        </p:txBody>
      </p:sp>
      <p:sp>
        <p:nvSpPr>
          <p:cNvPr id="5" name="직사각형 4">
            <a:extLst>
              <a:ext uri="{FF2B5EF4-FFF2-40B4-BE49-F238E27FC236}">
                <a16:creationId xmlns:a16="http://schemas.microsoft.com/office/drawing/2014/main" id="{E19CF4DA-9CE3-485B-B84C-4A73DEE81C47}"/>
              </a:ext>
            </a:extLst>
          </p:cNvPr>
          <p:cNvSpPr>
            <a:spLocks noGrp="1"/>
          </p:cNvSpPr>
          <p:nvPr/>
        </p:nvSpPr>
        <p:spPr>
          <a:xfrm>
            <a:off x="11239500" y="6372225"/>
            <a:ext cx="381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3</a:t>
            </a:r>
          </a:p>
        </p:txBody>
      </p:sp>
      <p:sp>
        <p:nvSpPr>
          <p:cNvPr id="6" name="직사각형 5">
            <a:extLst>
              <a:ext uri="{FF2B5EF4-FFF2-40B4-BE49-F238E27FC236}">
                <a16:creationId xmlns:a16="http://schemas.microsoft.com/office/drawing/2014/main" id="{E76224F8-F339-49EA-8D06-D47C74A9A86F}"/>
              </a:ext>
            </a:extLst>
          </p:cNvPr>
          <p:cNvSpPr>
            <a:spLocks noGrp="1"/>
          </p:cNvSpPr>
          <p:nvPr/>
        </p:nvSpPr>
        <p:spPr>
          <a:xfrm>
            <a:off x="609600" y="2038350"/>
            <a:ext cx="10972800" cy="504825"/>
          </a:xfrm>
          <a:prstGeom prst="rect">
            <a:avLst/>
          </a:prstGeom>
          <a:noFill/>
          <a:ln w="0">
            <a:noFill/>
          </a:ln>
        </p:spPr>
        <p:txBody>
          <a:bodyPr>
            <a:noAutofit/>
          </a:bodyPr>
          <a:lstStyle/>
          <a:p>
            <a:pPr>
              <a:defRPr sz="2325" b="1">
                <a:solidFill>
                  <a:srgbClr val="152538"/>
                </a:solidFill>
                <a:latin typeface="Malgun Gothic"/>
                <a:ea typeface="Malgun Gothic"/>
                <a:cs typeface="Malgun Gothic"/>
              </a:defRPr>
            </a:pPr>
            <a:r>
              <a:rPr sz="2325" b="1">
                <a:solidFill>
                  <a:srgbClr val="152538"/>
                </a:solidFill>
                <a:latin typeface="Malgun Gothic"/>
                <a:ea typeface="Malgun Gothic"/>
                <a:cs typeface="Malgun Gothic"/>
              </a:rPr>
              <a:t>“잠을 설치고 뒤척인다”에 “아니다”라고 답했다면</a:t>
            </a:r>
          </a:p>
        </p:txBody>
      </p:sp>
      <p:sp>
        <p:nvSpPr>
          <p:cNvPr id="7" name="직사각형 6">
            <a:extLst>
              <a:ext uri="{FF2B5EF4-FFF2-40B4-BE49-F238E27FC236}">
                <a16:creationId xmlns:a16="http://schemas.microsoft.com/office/drawing/2014/main" id="{55A817D6-5AA2-4DBA-8765-71D0619E2783}"/>
              </a:ext>
            </a:extLst>
          </p:cNvPr>
          <p:cNvSpPr>
            <a:spLocks noGrp="1"/>
          </p:cNvSpPr>
          <p:nvPr/>
        </p:nvSpPr>
        <p:spPr>
          <a:xfrm>
            <a:off x="609600" y="2857500"/>
            <a:ext cx="5257800" cy="1524000"/>
          </a:xfrm>
          <a:prstGeom prst="rect">
            <a:avLst/>
          </a:prstGeom>
          <a:solidFill>
            <a:srgbClr val="F5F7FA"/>
          </a:solidFill>
          <a:ln w="0">
            <a:noFill/>
          </a:ln>
        </p:spPr>
        <p:txBody>
          <a:bodyPr/>
          <a:lstStyle/>
          <a:p>
            <a:endParaRPr lang="ko-KR" altLang="en-US"/>
          </a:p>
        </p:txBody>
      </p:sp>
      <p:sp>
        <p:nvSpPr>
          <p:cNvPr id="8" name="직사각형 7">
            <a:extLst>
              <a:ext uri="{FF2B5EF4-FFF2-40B4-BE49-F238E27FC236}">
                <a16:creationId xmlns:a16="http://schemas.microsoft.com/office/drawing/2014/main" id="{8626A7F7-15FE-4682-B009-8C91C264A4CC}"/>
              </a:ext>
            </a:extLst>
          </p:cNvPr>
          <p:cNvSpPr>
            <a:spLocks noGrp="1"/>
          </p:cNvSpPr>
          <p:nvPr/>
        </p:nvSpPr>
        <p:spPr>
          <a:xfrm>
            <a:off x="6172200" y="2857500"/>
            <a:ext cx="5410200" cy="1524000"/>
          </a:xfrm>
          <a:prstGeom prst="rect">
            <a:avLst/>
          </a:prstGeom>
          <a:solidFill>
            <a:srgbClr val="EDF2F7"/>
          </a:solidFill>
          <a:ln w="0">
            <a:noFill/>
          </a:ln>
        </p:spPr>
        <p:txBody>
          <a:bodyPr/>
          <a:lstStyle/>
          <a:p>
            <a:endParaRPr lang="ko-KR" altLang="en-US"/>
          </a:p>
        </p:txBody>
      </p:sp>
      <p:sp>
        <p:nvSpPr>
          <p:cNvPr id="9" name="직사각형 8">
            <a:extLst>
              <a:ext uri="{FF2B5EF4-FFF2-40B4-BE49-F238E27FC236}">
                <a16:creationId xmlns:a16="http://schemas.microsoft.com/office/drawing/2014/main" id="{F2141E76-6261-4EE8-AB72-D924AF88D942}"/>
              </a:ext>
            </a:extLst>
          </p:cNvPr>
          <p:cNvSpPr>
            <a:spLocks noGrp="1"/>
          </p:cNvSpPr>
          <p:nvPr/>
        </p:nvSpPr>
        <p:spPr>
          <a:xfrm>
            <a:off x="866775" y="3124200"/>
            <a:ext cx="4667250" cy="438150"/>
          </a:xfrm>
          <a:prstGeom prst="rect">
            <a:avLst/>
          </a:prstGeom>
          <a:noFill/>
          <a:ln w="0">
            <a:noFill/>
          </a:ln>
        </p:spPr>
        <p:txBody>
          <a:bodyPr>
            <a:noAutofit/>
          </a:bodyPr>
          <a:lstStyle/>
          <a:p>
            <a:pPr>
              <a:defRPr sz="2175" b="1">
                <a:solidFill>
                  <a:srgbClr val="152538"/>
                </a:solidFill>
                <a:latin typeface="Malgun Gothic"/>
                <a:ea typeface="Malgun Gothic"/>
                <a:cs typeface="Malgun Gothic"/>
              </a:defRPr>
            </a:pPr>
            <a:r>
              <a:rPr sz="2175" b="1">
                <a:solidFill>
                  <a:srgbClr val="152538"/>
                </a:solidFill>
                <a:latin typeface="Malgun Gothic"/>
                <a:ea typeface="Malgun Gothic"/>
                <a:cs typeface="Malgun Gothic"/>
              </a:rPr>
              <a:t>실제로 증상이 없음</a:t>
            </a:r>
          </a:p>
        </p:txBody>
      </p:sp>
      <p:sp>
        <p:nvSpPr>
          <p:cNvPr id="10" name="직사각형 9">
            <a:extLst>
              <a:ext uri="{FF2B5EF4-FFF2-40B4-BE49-F238E27FC236}">
                <a16:creationId xmlns:a16="http://schemas.microsoft.com/office/drawing/2014/main" id="{500C79B1-A5DB-4318-9AA4-CAE6AEAB0AF8}"/>
              </a:ext>
            </a:extLst>
          </p:cNvPr>
          <p:cNvSpPr>
            <a:spLocks noGrp="1"/>
          </p:cNvSpPr>
          <p:nvPr/>
        </p:nvSpPr>
        <p:spPr>
          <a:xfrm>
            <a:off x="866775" y="3714750"/>
            <a:ext cx="4667250" cy="409575"/>
          </a:xfrm>
          <a:prstGeom prst="rect">
            <a:avLst/>
          </a:prstGeom>
          <a:noFill/>
          <a:ln w="0">
            <a:noFill/>
          </a:ln>
        </p:spPr>
        <p:txBody>
          <a:bodyPr>
            <a:noAutofit/>
          </a:bodyPr>
          <a:lstStyle/>
          <a:p>
            <a:pPr>
              <a:defRPr sz="1800" b="0">
                <a:solidFill>
                  <a:srgbClr val="152538"/>
                </a:solidFill>
                <a:latin typeface="Malgun Gothic"/>
                <a:ea typeface="Malgun Gothic"/>
                <a:cs typeface="Malgun Gothic"/>
              </a:defRPr>
            </a:pPr>
            <a:r>
              <a:rPr sz="1800" b="0">
                <a:solidFill>
                  <a:srgbClr val="152538"/>
                </a:solidFill>
                <a:latin typeface="Malgun Gothic"/>
                <a:ea typeface="Malgun Gothic"/>
                <a:cs typeface="Malgun Gothic"/>
              </a:rPr>
              <a:t>수면 문제가 없어서 부인한다.</a:t>
            </a:r>
          </a:p>
        </p:txBody>
      </p:sp>
      <p:sp>
        <p:nvSpPr>
          <p:cNvPr id="11" name="직사각형 10">
            <a:extLst>
              <a:ext uri="{FF2B5EF4-FFF2-40B4-BE49-F238E27FC236}">
                <a16:creationId xmlns:a16="http://schemas.microsoft.com/office/drawing/2014/main" id="{0E84621D-5D37-4202-B7A5-0EFBD7ACF128}"/>
              </a:ext>
            </a:extLst>
          </p:cNvPr>
          <p:cNvSpPr>
            <a:spLocks noGrp="1"/>
          </p:cNvSpPr>
          <p:nvPr/>
        </p:nvSpPr>
        <p:spPr>
          <a:xfrm>
            <a:off x="6429375" y="3124200"/>
            <a:ext cx="4857750" cy="438150"/>
          </a:xfrm>
          <a:prstGeom prst="rect">
            <a:avLst/>
          </a:prstGeom>
          <a:noFill/>
          <a:ln w="0">
            <a:noFill/>
          </a:ln>
        </p:spPr>
        <p:txBody>
          <a:bodyPr>
            <a:noAutofit/>
          </a:bodyPr>
          <a:lstStyle/>
          <a:p>
            <a:pPr>
              <a:defRPr sz="2175" b="1">
                <a:solidFill>
                  <a:srgbClr val="102D4F"/>
                </a:solidFill>
                <a:latin typeface="Malgun Gothic"/>
                <a:ea typeface="Malgun Gothic"/>
                <a:cs typeface="Malgun Gothic"/>
              </a:defRPr>
            </a:pPr>
            <a:r>
              <a:rPr sz="2175" b="1">
                <a:solidFill>
                  <a:srgbClr val="102D4F"/>
                </a:solidFill>
                <a:latin typeface="Malgun Gothic"/>
                <a:ea typeface="Malgun Gothic"/>
                <a:cs typeface="Malgun Gothic"/>
              </a:rPr>
              <a:t>좋게 보이려는 응답</a:t>
            </a:r>
          </a:p>
        </p:txBody>
      </p:sp>
      <p:sp>
        <p:nvSpPr>
          <p:cNvPr id="12" name="직사각형 11">
            <a:extLst>
              <a:ext uri="{FF2B5EF4-FFF2-40B4-BE49-F238E27FC236}">
                <a16:creationId xmlns:a16="http://schemas.microsoft.com/office/drawing/2014/main" id="{80C22199-0494-42C2-8BB0-60AF5AF3323C}"/>
              </a:ext>
            </a:extLst>
          </p:cNvPr>
          <p:cNvSpPr>
            <a:spLocks noGrp="1"/>
          </p:cNvSpPr>
          <p:nvPr/>
        </p:nvSpPr>
        <p:spPr>
          <a:xfrm>
            <a:off x="6429375" y="3714750"/>
            <a:ext cx="4857750" cy="409575"/>
          </a:xfrm>
          <a:prstGeom prst="rect">
            <a:avLst/>
          </a:prstGeom>
          <a:noFill/>
          <a:ln w="0">
            <a:noFill/>
          </a:ln>
        </p:spPr>
        <p:txBody>
          <a:bodyPr>
            <a:noAutofit/>
          </a:bodyPr>
          <a:lstStyle/>
          <a:p>
            <a:pPr>
              <a:defRPr sz="1800" b="0">
                <a:solidFill>
                  <a:srgbClr val="152538"/>
                </a:solidFill>
                <a:latin typeface="Malgun Gothic"/>
                <a:ea typeface="Malgun Gothic"/>
                <a:cs typeface="Malgun Gothic"/>
              </a:defRPr>
            </a:pPr>
            <a:r>
              <a:rPr sz="1800" b="0">
                <a:solidFill>
                  <a:srgbClr val="152538"/>
                </a:solidFill>
                <a:latin typeface="Malgun Gothic"/>
                <a:ea typeface="Malgun Gothic"/>
                <a:cs typeface="Malgun Gothic"/>
              </a:rPr>
              <a:t>문제가 있지만 드러내지 않는다.</a:t>
            </a:r>
          </a:p>
        </p:txBody>
      </p:sp>
      <p:sp>
        <p:nvSpPr>
          <p:cNvPr id="13" name="직사각형 12">
            <a:extLst>
              <a:ext uri="{FF2B5EF4-FFF2-40B4-BE49-F238E27FC236}">
                <a16:creationId xmlns:a16="http://schemas.microsoft.com/office/drawing/2014/main" id="{B2CFD650-F686-48D6-955E-76E5371FFFEA}"/>
              </a:ext>
            </a:extLst>
          </p:cNvPr>
          <p:cNvSpPr>
            <a:spLocks noGrp="1"/>
          </p:cNvSpPr>
          <p:nvPr/>
        </p:nvSpPr>
        <p:spPr>
          <a:xfrm>
            <a:off x="609600" y="4838700"/>
            <a:ext cx="10972800" cy="438150"/>
          </a:xfrm>
          <a:prstGeom prst="rect">
            <a:avLst/>
          </a:prstGeom>
          <a:noFill/>
          <a:ln w="0">
            <a:noFill/>
          </a:ln>
        </p:spPr>
        <p:txBody>
          <a:bodyPr>
            <a:noAutofit/>
          </a:bodyPr>
          <a:lstStyle/>
          <a:p>
            <a:pPr>
              <a:defRPr sz="2175" b="1">
                <a:solidFill>
                  <a:srgbClr val="102D4F"/>
                </a:solidFill>
                <a:latin typeface="Malgun Gothic"/>
                <a:ea typeface="Malgun Gothic"/>
                <a:cs typeface="Malgun Gothic"/>
              </a:defRPr>
            </a:pPr>
            <a:r>
              <a:rPr sz="2175" b="1">
                <a:solidFill>
                  <a:srgbClr val="102D4F"/>
                </a:solidFill>
                <a:latin typeface="Malgun Gothic"/>
                <a:ea typeface="Malgun Gothic"/>
                <a:cs typeface="Malgun Gothic"/>
              </a:rPr>
              <a:t>같은 응답, 다른 이유</a:t>
            </a:r>
          </a:p>
        </p:txBody>
      </p:sp>
      <p:sp>
        <p:nvSpPr>
          <p:cNvPr id="14" name="직사각형 13">
            <a:extLst>
              <a:ext uri="{FF2B5EF4-FFF2-40B4-BE49-F238E27FC236}">
                <a16:creationId xmlns:a16="http://schemas.microsoft.com/office/drawing/2014/main" id="{3755C6FC-C45B-41AD-8427-9268BA47D6EA}"/>
              </a:ext>
            </a:extLst>
          </p:cNvPr>
          <p:cNvSpPr>
            <a:spLocks noGrp="1"/>
          </p:cNvSpPr>
          <p:nvPr/>
        </p:nvSpPr>
        <p:spPr>
          <a:xfrm>
            <a:off x="609600" y="5324475"/>
            <a:ext cx="10972800" cy="762000"/>
          </a:xfrm>
          <a:prstGeom prst="rect">
            <a:avLst/>
          </a:prstGeom>
          <a:noFill/>
          <a:ln w="0">
            <a:noFill/>
          </a:ln>
        </p:spPr>
        <p:txBody>
          <a:bodyPr>
            <a:noAutofit/>
          </a:bodyPr>
          <a:lstStyle/>
          <a:p>
            <a:pPr>
              <a:defRPr sz="2175" b="0">
                <a:solidFill>
                  <a:srgbClr val="152538"/>
                </a:solidFill>
                <a:latin typeface="Malgun Gothic"/>
                <a:ea typeface="Malgun Gothic"/>
                <a:cs typeface="Malgun Gothic"/>
              </a:defRPr>
            </a:pPr>
            <a:r>
              <a:rPr sz="2175" b="0">
                <a:solidFill>
                  <a:srgbClr val="152538"/>
                </a:solidFill>
                <a:latin typeface="Malgun Gothic"/>
                <a:ea typeface="Malgun Gothic"/>
                <a:cs typeface="Malgun Gothic"/>
              </a:rPr>
              <a:t>기존 Edwards 척도는 증상 관련 문항을 포함해</a:t>
            </a:r>
          </a:p>
          <a:p>
            <a:pPr>
              <a:defRPr sz="2175" b="0">
                <a:solidFill>
                  <a:srgbClr val="152538"/>
                </a:solidFill>
                <a:latin typeface="Malgun Gothic"/>
                <a:ea typeface="Malgun Gothic"/>
                <a:cs typeface="Malgun Gothic"/>
              </a:defRPr>
            </a:pPr>
            <a:r>
              <a:rPr sz="2175" b="0">
                <a:solidFill>
                  <a:srgbClr val="152538"/>
                </a:solidFill>
                <a:latin typeface="Malgun Gothic"/>
                <a:ea typeface="Malgun Gothic"/>
                <a:cs typeface="Malgun Gothic"/>
              </a:rPr>
              <a:t>높은 점수가 어느 이유 때문인지 구분하기 어려웠다.</a:t>
            </a:r>
          </a:p>
        </p:txBody>
      </p:sp>
    </p:spTree>
    <p:extLst>
      <p:ext uri="{BB962C8B-B14F-4D97-AF65-F5344CB8AC3E}">
        <p14:creationId xmlns:p14="http://schemas.microsoft.com/office/powerpoint/2010/main" val="775035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F29750DD-1DC2-4484-B651-922684A52ABB}"/>
              </a:ext>
            </a:extLst>
          </p:cNvPr>
          <p:cNvSpPr>
            <a:spLocks noGrp="1"/>
          </p:cNvSpPr>
          <p:nvPr/>
        </p:nvSpPr>
        <p:spPr>
          <a:xfrm>
            <a:off x="609600" y="304800"/>
            <a:ext cx="10668000" cy="228600"/>
          </a:xfrm>
          <a:prstGeom prst="rect">
            <a:avLst/>
          </a:prstGeom>
          <a:noFill/>
          <a:ln w="0">
            <a:noFill/>
          </a:ln>
        </p:spPr>
        <p:txBody>
          <a:bodyPr>
            <a:noAutofit/>
          </a:bodyPr>
          <a:lstStyle/>
          <a:p>
            <a:pPr>
              <a:defRPr sz="1125" b="1">
                <a:solidFill>
                  <a:srgbClr val="102D4F"/>
                </a:solidFill>
                <a:latin typeface="Malgun Gothic"/>
                <a:ea typeface="Malgun Gothic"/>
                <a:cs typeface="Malgun Gothic"/>
              </a:defRPr>
            </a:pPr>
            <a:r>
              <a:rPr sz="1125" b="1">
                <a:solidFill>
                  <a:srgbClr val="102D4F"/>
                </a:solidFill>
                <a:latin typeface="Malgun Gothic"/>
                <a:ea typeface="Malgun Gothic"/>
                <a:cs typeface="Malgun Gothic"/>
              </a:rPr>
              <a:t>핵심 아이디어 ②</a:t>
            </a:r>
          </a:p>
        </p:txBody>
      </p:sp>
      <p:sp>
        <p:nvSpPr>
          <p:cNvPr id="2" name="직사각형 1">
            <a:extLst>
              <a:ext uri="{FF2B5EF4-FFF2-40B4-BE49-F238E27FC236}">
                <a16:creationId xmlns:a16="http://schemas.microsoft.com/office/drawing/2014/main" id="{CAD5299A-6BF4-49DE-BF55-196D656E7D48}"/>
              </a:ext>
            </a:extLst>
          </p:cNvPr>
          <p:cNvSpPr>
            <a:spLocks noGrp="1"/>
          </p:cNvSpPr>
          <p:nvPr/>
        </p:nvSpPr>
        <p:spPr>
          <a:xfrm>
            <a:off x="609600" y="695325"/>
            <a:ext cx="10972800" cy="628650"/>
          </a:xfrm>
          <a:prstGeom prst="rect">
            <a:avLst/>
          </a:prstGeom>
          <a:noFill/>
          <a:ln w="0">
            <a:noFill/>
          </a:ln>
        </p:spPr>
        <p:txBody>
          <a:bodyPr>
            <a:noAutofit/>
          </a:bodyPr>
          <a:lstStyle/>
          <a:p>
            <a:pPr>
              <a:defRPr sz="3000" b="1">
                <a:solidFill>
                  <a:srgbClr val="152538"/>
                </a:solidFill>
                <a:latin typeface="Malgun Gothic"/>
                <a:ea typeface="Malgun Gothic"/>
                <a:cs typeface="Malgun Gothic"/>
              </a:defRPr>
            </a:pPr>
            <a:r>
              <a:rPr sz="3000" b="1">
                <a:solidFill>
                  <a:srgbClr val="152538"/>
                </a:solidFill>
                <a:latin typeface="Malgun Gothic"/>
                <a:ea typeface="Malgun Gothic"/>
                <a:cs typeface="Malgun Gothic"/>
              </a:rPr>
              <a:t>문항을 고르는 기준을 바꾼다</a:t>
            </a:r>
          </a:p>
        </p:txBody>
      </p:sp>
      <p:sp>
        <p:nvSpPr>
          <p:cNvPr id="3" name="직사각형 2">
            <a:extLst>
              <a:ext uri="{FF2B5EF4-FFF2-40B4-BE49-F238E27FC236}">
                <a16:creationId xmlns:a16="http://schemas.microsoft.com/office/drawing/2014/main" id="{901EA3A1-4636-4CFF-9C1E-4130BA1CACBE}"/>
              </a:ext>
            </a:extLst>
          </p:cNvPr>
          <p:cNvSpPr>
            <a:spLocks noGrp="1"/>
          </p:cNvSpPr>
          <p:nvPr/>
        </p:nvSpPr>
        <p:spPr>
          <a:xfrm>
            <a:off x="609600" y="1390650"/>
            <a:ext cx="10972800" cy="409575"/>
          </a:xfrm>
          <a:prstGeom prst="rect">
            <a:avLst/>
          </a:prstGeom>
          <a:noFill/>
          <a:ln w="0">
            <a:noFill/>
          </a:ln>
        </p:spPr>
        <p:txBody>
          <a:bodyPr>
            <a:noAutofit/>
          </a:bodyPr>
          <a:lstStyle/>
          <a:p>
            <a:pPr>
              <a:defRPr sz="1575" b="0">
                <a:solidFill>
                  <a:srgbClr val="5A6878"/>
                </a:solidFill>
                <a:latin typeface="Malgun Gothic"/>
                <a:ea typeface="Malgun Gothic"/>
                <a:cs typeface="Malgun Gothic"/>
              </a:defRPr>
            </a:pPr>
            <a:r>
              <a:rPr sz="1575" b="0">
                <a:solidFill>
                  <a:srgbClr val="5A6878"/>
                </a:solidFill>
                <a:latin typeface="Malgun Gothic"/>
                <a:ea typeface="Malgun Gothic"/>
                <a:cs typeface="Malgun Gothic"/>
              </a:rPr>
              <a:t>문화적으로 바람직하지만 일관되게 실천하기는 드문 행동을 묻는다.</a:t>
            </a:r>
          </a:p>
        </p:txBody>
      </p:sp>
      <p:sp>
        <p:nvSpPr>
          <p:cNvPr id="4" name="직사각형 3">
            <a:extLst>
              <a:ext uri="{FF2B5EF4-FFF2-40B4-BE49-F238E27FC236}">
                <a16:creationId xmlns:a16="http://schemas.microsoft.com/office/drawing/2014/main" id="{95B02389-FC75-4EBB-ADAA-EB5271AE9BF0}"/>
              </a:ext>
            </a:extLst>
          </p:cNvPr>
          <p:cNvSpPr>
            <a:spLocks noGrp="1"/>
          </p:cNvSpPr>
          <p:nvPr/>
        </p:nvSpPr>
        <p:spPr>
          <a:xfrm>
            <a:off x="609600" y="6372225"/>
            <a:ext cx="10287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출처: 원문 pp. 350, 353 · 개념 비교도는 원문 설명을 재구성</a:t>
            </a:r>
          </a:p>
        </p:txBody>
      </p:sp>
      <p:sp>
        <p:nvSpPr>
          <p:cNvPr id="5" name="직사각형 4">
            <a:extLst>
              <a:ext uri="{FF2B5EF4-FFF2-40B4-BE49-F238E27FC236}">
                <a16:creationId xmlns:a16="http://schemas.microsoft.com/office/drawing/2014/main" id="{39835CC9-3B41-4B6F-94D2-2678FE069AB8}"/>
              </a:ext>
            </a:extLst>
          </p:cNvPr>
          <p:cNvSpPr>
            <a:spLocks noGrp="1"/>
          </p:cNvSpPr>
          <p:nvPr/>
        </p:nvSpPr>
        <p:spPr>
          <a:xfrm>
            <a:off x="11239500" y="6372225"/>
            <a:ext cx="381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4</a:t>
            </a:r>
          </a:p>
        </p:txBody>
      </p:sp>
      <p:sp>
        <p:nvSpPr>
          <p:cNvPr id="6" name="직사각형 5">
            <a:extLst>
              <a:ext uri="{FF2B5EF4-FFF2-40B4-BE49-F238E27FC236}">
                <a16:creationId xmlns:a16="http://schemas.microsoft.com/office/drawing/2014/main" id="{220FB844-B11F-426D-BDAE-92E92CF60377}"/>
              </a:ext>
            </a:extLst>
          </p:cNvPr>
          <p:cNvSpPr>
            <a:spLocks noGrp="1"/>
          </p:cNvSpPr>
          <p:nvPr/>
        </p:nvSpPr>
        <p:spPr>
          <a:xfrm>
            <a:off x="609600" y="2114550"/>
            <a:ext cx="5191125" cy="3057525"/>
          </a:xfrm>
          <a:prstGeom prst="rect">
            <a:avLst/>
          </a:prstGeom>
          <a:solidFill>
            <a:srgbClr val="F5F7FA"/>
          </a:solidFill>
          <a:ln w="0">
            <a:noFill/>
          </a:ln>
        </p:spPr>
        <p:txBody>
          <a:bodyPr/>
          <a:lstStyle/>
          <a:p>
            <a:endParaRPr lang="ko-KR" altLang="en-US"/>
          </a:p>
        </p:txBody>
      </p:sp>
      <p:sp>
        <p:nvSpPr>
          <p:cNvPr id="7" name="직사각형 6">
            <a:extLst>
              <a:ext uri="{FF2B5EF4-FFF2-40B4-BE49-F238E27FC236}">
                <a16:creationId xmlns:a16="http://schemas.microsoft.com/office/drawing/2014/main" id="{AA766F0A-5FFA-4364-827A-16D2063905A3}"/>
              </a:ext>
            </a:extLst>
          </p:cNvPr>
          <p:cNvSpPr>
            <a:spLocks noGrp="1"/>
          </p:cNvSpPr>
          <p:nvPr/>
        </p:nvSpPr>
        <p:spPr>
          <a:xfrm>
            <a:off x="6105525" y="2114550"/>
            <a:ext cx="5476875" cy="3057525"/>
          </a:xfrm>
          <a:prstGeom prst="rect">
            <a:avLst/>
          </a:prstGeom>
          <a:solidFill>
            <a:srgbClr val="EDF2F7"/>
          </a:solidFill>
          <a:ln w="0">
            <a:noFill/>
          </a:ln>
        </p:spPr>
        <p:txBody>
          <a:bodyPr/>
          <a:lstStyle/>
          <a:p>
            <a:endParaRPr lang="ko-KR" altLang="en-US"/>
          </a:p>
        </p:txBody>
      </p:sp>
      <p:sp>
        <p:nvSpPr>
          <p:cNvPr id="8" name="직사각형 7">
            <a:extLst>
              <a:ext uri="{FF2B5EF4-FFF2-40B4-BE49-F238E27FC236}">
                <a16:creationId xmlns:a16="http://schemas.microsoft.com/office/drawing/2014/main" id="{283F88F8-8228-439A-94C4-24A8986AA4F6}"/>
              </a:ext>
            </a:extLst>
          </p:cNvPr>
          <p:cNvSpPr>
            <a:spLocks noGrp="1"/>
          </p:cNvSpPr>
          <p:nvPr/>
        </p:nvSpPr>
        <p:spPr>
          <a:xfrm>
            <a:off x="866775" y="2362200"/>
            <a:ext cx="4667250" cy="428625"/>
          </a:xfrm>
          <a:prstGeom prst="rect">
            <a:avLst/>
          </a:prstGeom>
          <a:noFill/>
          <a:ln w="0">
            <a:noFill/>
          </a:ln>
        </p:spPr>
        <p:txBody>
          <a:bodyPr>
            <a:noAutofit/>
          </a:bodyPr>
          <a:lstStyle/>
          <a:p>
            <a:pPr>
              <a:defRPr sz="2100" b="1">
                <a:solidFill>
                  <a:srgbClr val="152538"/>
                </a:solidFill>
                <a:latin typeface="Malgun Gothic"/>
                <a:ea typeface="Malgun Gothic"/>
                <a:cs typeface="Malgun Gothic"/>
              </a:defRPr>
            </a:pPr>
            <a:r>
              <a:rPr sz="2100" b="1">
                <a:solidFill>
                  <a:srgbClr val="152538"/>
                </a:solidFill>
                <a:latin typeface="Malgun Gothic"/>
                <a:ea typeface="Malgun Gothic"/>
                <a:cs typeface="Malgun Gothic"/>
              </a:rPr>
              <a:t>기존 Edwards 척도</a:t>
            </a:r>
          </a:p>
        </p:txBody>
      </p:sp>
      <p:sp>
        <p:nvSpPr>
          <p:cNvPr id="9" name="직사각형 8">
            <a:extLst>
              <a:ext uri="{FF2B5EF4-FFF2-40B4-BE49-F238E27FC236}">
                <a16:creationId xmlns:a16="http://schemas.microsoft.com/office/drawing/2014/main" id="{3E898073-011A-4AA6-B8E3-7655B4CEB00E}"/>
              </a:ext>
            </a:extLst>
          </p:cNvPr>
          <p:cNvSpPr>
            <a:spLocks noGrp="1"/>
          </p:cNvSpPr>
          <p:nvPr/>
        </p:nvSpPr>
        <p:spPr>
          <a:xfrm>
            <a:off x="866775" y="3067050"/>
            <a:ext cx="4667250" cy="400050"/>
          </a:xfrm>
          <a:prstGeom prst="rect">
            <a:avLst/>
          </a:prstGeom>
          <a:noFill/>
          <a:ln w="0">
            <a:noFill/>
          </a:ln>
        </p:spPr>
        <p:txBody>
          <a:bodyPr>
            <a:noAutofit/>
          </a:bodyPr>
          <a:lstStyle/>
          <a:p>
            <a:pPr>
              <a:defRPr sz="2175" b="1">
                <a:solidFill>
                  <a:srgbClr val="152538"/>
                </a:solidFill>
                <a:latin typeface="Malgun Gothic"/>
                <a:ea typeface="Malgun Gothic"/>
                <a:cs typeface="Malgun Gothic"/>
              </a:defRPr>
            </a:pPr>
            <a:r>
              <a:rPr sz="2175" b="1">
                <a:solidFill>
                  <a:srgbClr val="152538"/>
                </a:solidFill>
                <a:latin typeface="Malgun Gothic"/>
                <a:ea typeface="Malgun Gothic"/>
                <a:cs typeface="Malgun Gothic"/>
              </a:rPr>
              <a:t>증상 관련 문항</a:t>
            </a:r>
          </a:p>
        </p:txBody>
      </p:sp>
      <p:sp>
        <p:nvSpPr>
          <p:cNvPr id="10" name="직사각형 9">
            <a:extLst>
              <a:ext uri="{FF2B5EF4-FFF2-40B4-BE49-F238E27FC236}">
                <a16:creationId xmlns:a16="http://schemas.microsoft.com/office/drawing/2014/main" id="{2272DDB5-A485-4D25-908B-DD77C8577DD4}"/>
              </a:ext>
            </a:extLst>
          </p:cNvPr>
          <p:cNvSpPr>
            <a:spLocks noGrp="1"/>
          </p:cNvSpPr>
          <p:nvPr/>
        </p:nvSpPr>
        <p:spPr>
          <a:xfrm>
            <a:off x="866775" y="3657600"/>
            <a:ext cx="4667250" cy="1285875"/>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증상을 부인하는 답</a:t>
            </a:r>
          </a:p>
          <a:p>
            <a:endParaRPr sz="1875" b="0">
              <a:solidFill>
                <a:srgbClr val="152538"/>
              </a:solidFill>
              <a:latin typeface="Malgun Gothic"/>
              <a:ea typeface="Malgun Gothic"/>
              <a:cs typeface="Malgun Gothic"/>
            </a:endParaRPr>
          </a:p>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실제 증상 유무와 응답 경향이 혼입</a:t>
            </a:r>
          </a:p>
        </p:txBody>
      </p:sp>
      <p:sp>
        <p:nvSpPr>
          <p:cNvPr id="11" name="직사각형 10">
            <a:extLst>
              <a:ext uri="{FF2B5EF4-FFF2-40B4-BE49-F238E27FC236}">
                <a16:creationId xmlns:a16="http://schemas.microsoft.com/office/drawing/2014/main" id="{7FAC0432-7120-4505-B362-5BF4354D32A0}"/>
              </a:ext>
            </a:extLst>
          </p:cNvPr>
          <p:cNvSpPr>
            <a:spLocks noGrp="1"/>
          </p:cNvSpPr>
          <p:nvPr/>
        </p:nvSpPr>
        <p:spPr>
          <a:xfrm>
            <a:off x="6362700" y="2362200"/>
            <a:ext cx="4953000" cy="428625"/>
          </a:xfrm>
          <a:prstGeom prst="rect">
            <a:avLst/>
          </a:prstGeom>
          <a:noFill/>
          <a:ln w="0">
            <a:noFill/>
          </a:ln>
        </p:spPr>
        <p:txBody>
          <a:bodyPr>
            <a:noAutofit/>
          </a:bodyPr>
          <a:lstStyle/>
          <a:p>
            <a:pPr>
              <a:defRPr sz="1875" b="1">
                <a:solidFill>
                  <a:srgbClr val="102D4F"/>
                </a:solidFill>
                <a:latin typeface="Malgun Gothic"/>
                <a:ea typeface="Malgun Gothic"/>
                <a:cs typeface="Malgun Gothic"/>
              </a:defRPr>
            </a:pPr>
            <a:r>
              <a:rPr sz="1875" b="1">
                <a:solidFill>
                  <a:srgbClr val="102D4F"/>
                </a:solidFill>
                <a:latin typeface="Malgun Gothic"/>
                <a:ea typeface="Malgun Gothic"/>
                <a:cs typeface="Malgun Gothic"/>
              </a:rPr>
              <a:t>Marlowe–Crowne 척도 (M-C SDS)</a:t>
            </a:r>
          </a:p>
        </p:txBody>
      </p:sp>
      <p:sp>
        <p:nvSpPr>
          <p:cNvPr id="12" name="직사각형 11">
            <a:extLst>
              <a:ext uri="{FF2B5EF4-FFF2-40B4-BE49-F238E27FC236}">
                <a16:creationId xmlns:a16="http://schemas.microsoft.com/office/drawing/2014/main" id="{1DBF16C7-4FDC-4158-8C2A-1921A7F30444}"/>
              </a:ext>
            </a:extLst>
          </p:cNvPr>
          <p:cNvSpPr>
            <a:spLocks noGrp="1"/>
          </p:cNvSpPr>
          <p:nvPr/>
        </p:nvSpPr>
        <p:spPr>
          <a:xfrm>
            <a:off x="6362700" y="3067050"/>
            <a:ext cx="4953000" cy="400050"/>
          </a:xfrm>
          <a:prstGeom prst="rect">
            <a:avLst/>
          </a:prstGeom>
          <a:noFill/>
          <a:ln w="0">
            <a:noFill/>
          </a:ln>
        </p:spPr>
        <p:txBody>
          <a:bodyPr>
            <a:noAutofit/>
          </a:bodyPr>
          <a:lstStyle/>
          <a:p>
            <a:pPr>
              <a:defRPr sz="2175" b="1">
                <a:solidFill>
                  <a:srgbClr val="152538"/>
                </a:solidFill>
                <a:latin typeface="Malgun Gothic"/>
                <a:ea typeface="Malgun Gothic"/>
                <a:cs typeface="Malgun Gothic"/>
              </a:defRPr>
            </a:pPr>
            <a:r>
              <a:rPr sz="2175" b="1">
                <a:solidFill>
                  <a:srgbClr val="152538"/>
                </a:solidFill>
                <a:latin typeface="Malgun Gothic"/>
                <a:ea typeface="Malgun Gothic"/>
                <a:cs typeface="Malgun Gothic"/>
              </a:rPr>
              <a:t>일상적 태도와 행동</a:t>
            </a:r>
          </a:p>
        </p:txBody>
      </p:sp>
      <p:sp>
        <p:nvSpPr>
          <p:cNvPr id="13" name="직사각형 12">
            <a:extLst>
              <a:ext uri="{FF2B5EF4-FFF2-40B4-BE49-F238E27FC236}">
                <a16:creationId xmlns:a16="http://schemas.microsoft.com/office/drawing/2014/main" id="{2896CA6A-F032-47AD-8DAC-06A2D990BA8F}"/>
              </a:ext>
            </a:extLst>
          </p:cNvPr>
          <p:cNvSpPr>
            <a:spLocks noGrp="1"/>
          </p:cNvSpPr>
          <p:nvPr/>
        </p:nvSpPr>
        <p:spPr>
          <a:xfrm>
            <a:off x="6362700" y="3609975"/>
            <a:ext cx="4953000" cy="1457325"/>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이상적 행동을 인정하거나</a:t>
            </a:r>
          </a:p>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흔한 결점을 부인하는 답</a:t>
            </a:r>
          </a:p>
          <a:p>
            <a:endParaRPr sz="1875" b="0">
              <a:solidFill>
                <a:srgbClr val="152538"/>
              </a:solidFill>
              <a:latin typeface="Malgun Gothic"/>
              <a:ea typeface="Malgun Gothic"/>
              <a:cs typeface="Malgun Gothic"/>
            </a:endParaRPr>
          </a:p>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양쪽 응답의 병리적 함의를 최소화</a:t>
            </a:r>
          </a:p>
        </p:txBody>
      </p:sp>
      <p:sp>
        <p:nvSpPr>
          <p:cNvPr id="14" name="직사각형 13">
            <a:extLst>
              <a:ext uri="{FF2B5EF4-FFF2-40B4-BE49-F238E27FC236}">
                <a16:creationId xmlns:a16="http://schemas.microsoft.com/office/drawing/2014/main" id="{5E321F33-DBA8-4778-ADAA-20239D31CD66}"/>
              </a:ext>
            </a:extLst>
          </p:cNvPr>
          <p:cNvSpPr>
            <a:spLocks noGrp="1"/>
          </p:cNvSpPr>
          <p:nvPr/>
        </p:nvSpPr>
        <p:spPr>
          <a:xfrm>
            <a:off x="609600" y="5505450"/>
            <a:ext cx="10972800" cy="619125"/>
          </a:xfrm>
          <a:prstGeom prst="rect">
            <a:avLst/>
          </a:prstGeom>
          <a:noFill/>
          <a:ln w="0">
            <a:noFill/>
          </a:ln>
        </p:spPr>
        <p:txBody>
          <a:bodyPr>
            <a:noAutofit/>
          </a:bodyPr>
          <a:lstStyle/>
          <a:p>
            <a:pPr>
              <a:defRPr sz="2025" b="1">
                <a:solidFill>
                  <a:srgbClr val="102D4F"/>
                </a:solidFill>
                <a:latin typeface="Malgun Gothic"/>
                <a:ea typeface="Malgun Gothic"/>
                <a:cs typeface="Malgun Gothic"/>
              </a:defRPr>
            </a:pPr>
            <a:r>
              <a:rPr sz="2025" b="1">
                <a:solidFill>
                  <a:srgbClr val="102D4F"/>
                </a:solidFill>
                <a:latin typeface="Malgun Gothic"/>
                <a:ea typeface="Malgun Gothic"/>
                <a:cs typeface="Malgun Gothic"/>
              </a:rPr>
              <a:t>측정하려는 것: 문화적으로 승인되는 방식으로 답해 승인을 얻으려는 경향</a:t>
            </a:r>
          </a:p>
        </p:txBody>
      </p:sp>
    </p:spTree>
    <p:extLst>
      <p:ext uri="{BB962C8B-B14F-4D97-AF65-F5344CB8AC3E}">
        <p14:creationId xmlns:p14="http://schemas.microsoft.com/office/powerpoint/2010/main" val="462990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BA9A6053-4EC4-43C8-B62D-676C9405C3D2}"/>
              </a:ext>
            </a:extLst>
          </p:cNvPr>
          <p:cNvSpPr>
            <a:spLocks noGrp="1"/>
          </p:cNvSpPr>
          <p:nvPr/>
        </p:nvSpPr>
        <p:spPr>
          <a:xfrm>
            <a:off x="609600" y="304800"/>
            <a:ext cx="10668000" cy="228600"/>
          </a:xfrm>
          <a:prstGeom prst="rect">
            <a:avLst/>
          </a:prstGeom>
          <a:noFill/>
          <a:ln w="0">
            <a:noFill/>
          </a:ln>
        </p:spPr>
        <p:txBody>
          <a:bodyPr>
            <a:noAutofit/>
          </a:bodyPr>
          <a:lstStyle/>
          <a:p>
            <a:pPr>
              <a:defRPr sz="1125" b="1">
                <a:solidFill>
                  <a:srgbClr val="102D4F"/>
                </a:solidFill>
                <a:latin typeface="Malgun Gothic"/>
                <a:ea typeface="Malgun Gothic"/>
                <a:cs typeface="Malgun Gothic"/>
              </a:defRPr>
            </a:pPr>
            <a:r>
              <a:rPr sz="1125" b="1">
                <a:solidFill>
                  <a:srgbClr val="102D4F"/>
                </a:solidFill>
                <a:latin typeface="Malgun Gothic"/>
                <a:ea typeface="Malgun Gothic"/>
                <a:cs typeface="Malgun Gothic"/>
              </a:rPr>
              <a:t>핵심 아이디어 ②</a:t>
            </a:r>
          </a:p>
        </p:txBody>
      </p:sp>
      <p:sp>
        <p:nvSpPr>
          <p:cNvPr id="2" name="직사각형 1">
            <a:extLst>
              <a:ext uri="{FF2B5EF4-FFF2-40B4-BE49-F238E27FC236}">
                <a16:creationId xmlns:a16="http://schemas.microsoft.com/office/drawing/2014/main" id="{754DB714-7822-4C87-8D7D-B14E689297E1}"/>
              </a:ext>
            </a:extLst>
          </p:cNvPr>
          <p:cNvSpPr>
            <a:spLocks noGrp="1"/>
          </p:cNvSpPr>
          <p:nvPr/>
        </p:nvSpPr>
        <p:spPr>
          <a:xfrm>
            <a:off x="609600" y="695325"/>
            <a:ext cx="10972800" cy="628650"/>
          </a:xfrm>
          <a:prstGeom prst="rect">
            <a:avLst/>
          </a:prstGeom>
          <a:noFill/>
          <a:ln w="0">
            <a:noFill/>
          </a:ln>
        </p:spPr>
        <p:txBody>
          <a:bodyPr>
            <a:noAutofit/>
          </a:bodyPr>
          <a:lstStyle/>
          <a:p>
            <a:pPr>
              <a:defRPr sz="3000" b="1">
                <a:solidFill>
                  <a:srgbClr val="152538"/>
                </a:solidFill>
                <a:latin typeface="Malgun Gothic"/>
                <a:ea typeface="Malgun Gothic"/>
                <a:cs typeface="Malgun Gothic"/>
              </a:defRPr>
            </a:pPr>
            <a:r>
              <a:rPr sz="3000" b="1">
                <a:solidFill>
                  <a:srgbClr val="152538"/>
                </a:solidFill>
                <a:latin typeface="Malgun Gothic"/>
                <a:ea typeface="Malgun Gothic"/>
                <a:cs typeface="Malgun Gothic"/>
              </a:rPr>
              <a:t>실제 문항으로 이해하기</a:t>
            </a:r>
          </a:p>
        </p:txBody>
      </p:sp>
      <p:sp>
        <p:nvSpPr>
          <p:cNvPr id="3" name="직사각형 2">
            <a:extLst>
              <a:ext uri="{FF2B5EF4-FFF2-40B4-BE49-F238E27FC236}">
                <a16:creationId xmlns:a16="http://schemas.microsoft.com/office/drawing/2014/main" id="{C36CDAC2-922D-4721-AA12-203DF206203E}"/>
              </a:ext>
            </a:extLst>
          </p:cNvPr>
          <p:cNvSpPr>
            <a:spLocks noGrp="1"/>
          </p:cNvSpPr>
          <p:nvPr/>
        </p:nvSpPr>
        <p:spPr>
          <a:xfrm>
            <a:off x="609600" y="1390650"/>
            <a:ext cx="10972800" cy="409575"/>
          </a:xfrm>
          <a:prstGeom prst="rect">
            <a:avLst/>
          </a:prstGeom>
          <a:noFill/>
          <a:ln w="0">
            <a:noFill/>
          </a:ln>
        </p:spPr>
        <p:txBody>
          <a:bodyPr>
            <a:noAutofit/>
          </a:bodyPr>
          <a:lstStyle/>
          <a:p>
            <a:pPr>
              <a:defRPr sz="1575" b="0">
                <a:solidFill>
                  <a:srgbClr val="5A6878"/>
                </a:solidFill>
                <a:latin typeface="Malgun Gothic"/>
                <a:ea typeface="Malgun Gothic"/>
                <a:cs typeface="Malgun Gothic"/>
              </a:defRPr>
            </a:pPr>
            <a:r>
              <a:rPr sz="1575" b="0">
                <a:solidFill>
                  <a:srgbClr val="5A6878"/>
                </a:solidFill>
                <a:latin typeface="Malgun Gothic"/>
                <a:ea typeface="Malgun Gothic"/>
                <a:cs typeface="Malgun Gothic"/>
              </a:rPr>
              <a:t>바람직한 행동의 인정과, 바람직하지 않은 행동의 부인</a:t>
            </a:r>
          </a:p>
        </p:txBody>
      </p:sp>
      <p:sp>
        <p:nvSpPr>
          <p:cNvPr id="4" name="직사각형 3">
            <a:extLst>
              <a:ext uri="{FF2B5EF4-FFF2-40B4-BE49-F238E27FC236}">
                <a16:creationId xmlns:a16="http://schemas.microsoft.com/office/drawing/2014/main" id="{35C983D1-2001-4E13-AF73-A15D0961DDE9}"/>
              </a:ext>
            </a:extLst>
          </p:cNvPr>
          <p:cNvSpPr>
            <a:spLocks noGrp="1"/>
          </p:cNvSpPr>
          <p:nvPr/>
        </p:nvSpPr>
        <p:spPr>
          <a:xfrm>
            <a:off x="609600" y="6372225"/>
            <a:ext cx="10287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출처: 원문 p. 351, Table 1 · 문항은 발표용 번역</a:t>
            </a:r>
          </a:p>
        </p:txBody>
      </p:sp>
      <p:sp>
        <p:nvSpPr>
          <p:cNvPr id="5" name="직사각형 4">
            <a:extLst>
              <a:ext uri="{FF2B5EF4-FFF2-40B4-BE49-F238E27FC236}">
                <a16:creationId xmlns:a16="http://schemas.microsoft.com/office/drawing/2014/main" id="{BB9E2DD0-D47B-468E-BF14-B1621A702F00}"/>
              </a:ext>
            </a:extLst>
          </p:cNvPr>
          <p:cNvSpPr>
            <a:spLocks noGrp="1"/>
          </p:cNvSpPr>
          <p:nvPr/>
        </p:nvSpPr>
        <p:spPr>
          <a:xfrm>
            <a:off x="11239500" y="6372225"/>
            <a:ext cx="381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5</a:t>
            </a:r>
          </a:p>
        </p:txBody>
      </p:sp>
      <p:sp>
        <p:nvSpPr>
          <p:cNvPr id="6" name="직사각형 5">
            <a:extLst>
              <a:ext uri="{FF2B5EF4-FFF2-40B4-BE49-F238E27FC236}">
                <a16:creationId xmlns:a16="http://schemas.microsoft.com/office/drawing/2014/main" id="{AB7E9E3C-C204-4AAB-A96A-AB7B0D2B4120}"/>
              </a:ext>
            </a:extLst>
          </p:cNvPr>
          <p:cNvSpPr>
            <a:spLocks noGrp="1"/>
          </p:cNvSpPr>
          <p:nvPr/>
        </p:nvSpPr>
        <p:spPr>
          <a:xfrm>
            <a:off x="609600" y="2124075"/>
            <a:ext cx="10972800" cy="1428750"/>
          </a:xfrm>
          <a:prstGeom prst="rect">
            <a:avLst/>
          </a:prstGeom>
          <a:solidFill>
            <a:srgbClr val="EDF2F7"/>
          </a:solidFill>
          <a:ln w="0">
            <a:noFill/>
          </a:ln>
        </p:spPr>
        <p:txBody>
          <a:bodyPr/>
          <a:lstStyle/>
          <a:p>
            <a:endParaRPr lang="ko-KR" altLang="en-US"/>
          </a:p>
        </p:txBody>
      </p:sp>
      <p:sp>
        <p:nvSpPr>
          <p:cNvPr id="7" name="직사각형 6">
            <a:extLst>
              <a:ext uri="{FF2B5EF4-FFF2-40B4-BE49-F238E27FC236}">
                <a16:creationId xmlns:a16="http://schemas.microsoft.com/office/drawing/2014/main" id="{140AE316-F8A3-49D2-8304-EA2C0A59D2D0}"/>
              </a:ext>
            </a:extLst>
          </p:cNvPr>
          <p:cNvSpPr>
            <a:spLocks noGrp="1"/>
          </p:cNvSpPr>
          <p:nvPr/>
        </p:nvSpPr>
        <p:spPr>
          <a:xfrm>
            <a:off x="857250" y="2333625"/>
            <a:ext cx="990600" cy="381000"/>
          </a:xfrm>
          <a:prstGeom prst="rect">
            <a:avLst/>
          </a:prstGeom>
          <a:noFill/>
          <a:ln w="0">
            <a:noFill/>
          </a:ln>
        </p:spPr>
        <p:txBody>
          <a:bodyPr>
            <a:noAutofit/>
          </a:bodyPr>
          <a:lstStyle/>
          <a:p>
            <a:pPr>
              <a:defRPr sz="1725" b="1">
                <a:solidFill>
                  <a:srgbClr val="102D4F"/>
                </a:solidFill>
                <a:latin typeface="Malgun Gothic"/>
                <a:ea typeface="Malgun Gothic"/>
                <a:cs typeface="Malgun Gothic"/>
              </a:defRPr>
            </a:pPr>
            <a:r>
              <a:rPr sz="1725" b="1">
                <a:solidFill>
                  <a:srgbClr val="102D4F"/>
                </a:solidFill>
                <a:latin typeface="Malgun Gothic"/>
                <a:ea typeface="Malgun Gothic"/>
                <a:cs typeface="Malgun Gothic"/>
              </a:rPr>
              <a:t>16번</a:t>
            </a:r>
          </a:p>
        </p:txBody>
      </p:sp>
      <p:sp>
        <p:nvSpPr>
          <p:cNvPr id="8" name="직사각형 7">
            <a:extLst>
              <a:ext uri="{FF2B5EF4-FFF2-40B4-BE49-F238E27FC236}">
                <a16:creationId xmlns:a16="http://schemas.microsoft.com/office/drawing/2014/main" id="{7924E305-ADA8-4986-9DFE-CFB93CDFD09B}"/>
              </a:ext>
            </a:extLst>
          </p:cNvPr>
          <p:cNvSpPr>
            <a:spLocks noGrp="1"/>
          </p:cNvSpPr>
          <p:nvPr/>
        </p:nvSpPr>
        <p:spPr>
          <a:xfrm>
            <a:off x="2019300" y="2343150"/>
            <a:ext cx="9001125" cy="523875"/>
          </a:xfrm>
          <a:prstGeom prst="rect">
            <a:avLst/>
          </a:prstGeom>
          <a:noFill/>
          <a:ln w="0">
            <a:noFill/>
          </a:ln>
        </p:spPr>
        <p:txBody>
          <a:bodyPr>
            <a:noAutofit/>
          </a:bodyPr>
          <a:lstStyle/>
          <a:p>
            <a:pPr>
              <a:defRPr sz="2175" b="1">
                <a:solidFill>
                  <a:srgbClr val="152538"/>
                </a:solidFill>
                <a:latin typeface="Malgun Gothic"/>
                <a:ea typeface="Malgun Gothic"/>
                <a:cs typeface="Malgun Gothic"/>
              </a:defRPr>
            </a:pPr>
            <a:r>
              <a:rPr sz="2175" b="1">
                <a:solidFill>
                  <a:srgbClr val="152538"/>
                </a:solidFill>
                <a:latin typeface="Malgun Gothic"/>
                <a:ea typeface="Malgun Gothic"/>
                <a:cs typeface="Malgun Gothic"/>
              </a:rPr>
              <a:t>“나는 실수를 했을 때 언제나 기꺼이 인정한다.”</a:t>
            </a:r>
          </a:p>
        </p:txBody>
      </p:sp>
      <p:sp>
        <p:nvSpPr>
          <p:cNvPr id="9" name="직사각형 8">
            <a:extLst>
              <a:ext uri="{FF2B5EF4-FFF2-40B4-BE49-F238E27FC236}">
                <a16:creationId xmlns:a16="http://schemas.microsoft.com/office/drawing/2014/main" id="{87E0BB93-652A-47E7-8CEA-205C06E5C516}"/>
              </a:ext>
            </a:extLst>
          </p:cNvPr>
          <p:cNvSpPr>
            <a:spLocks noGrp="1"/>
          </p:cNvSpPr>
          <p:nvPr/>
        </p:nvSpPr>
        <p:spPr>
          <a:xfrm>
            <a:off x="2019300" y="3000375"/>
            <a:ext cx="8572500" cy="381000"/>
          </a:xfrm>
          <a:prstGeom prst="rect">
            <a:avLst/>
          </a:prstGeom>
          <a:noFill/>
          <a:ln w="0">
            <a:noFill/>
          </a:ln>
        </p:spPr>
        <p:txBody>
          <a:bodyPr>
            <a:noAutofit/>
          </a:bodyPr>
          <a:lstStyle/>
          <a:p>
            <a:pPr>
              <a:defRPr sz="1800" b="0">
                <a:solidFill>
                  <a:srgbClr val="102D4F"/>
                </a:solidFill>
                <a:latin typeface="Malgun Gothic"/>
                <a:ea typeface="Malgun Gothic"/>
                <a:cs typeface="Malgun Gothic"/>
              </a:defRPr>
            </a:pPr>
            <a:r>
              <a:rPr sz="1800" b="0">
                <a:solidFill>
                  <a:srgbClr val="102D4F"/>
                </a:solidFill>
                <a:latin typeface="Malgun Gothic"/>
                <a:ea typeface="Malgun Gothic"/>
                <a:cs typeface="Malgun Gothic"/>
              </a:rPr>
              <a:t>바람직한 채점 방향: 참</a:t>
            </a:r>
          </a:p>
        </p:txBody>
      </p:sp>
      <p:sp>
        <p:nvSpPr>
          <p:cNvPr id="10" name="직사각형 9">
            <a:extLst>
              <a:ext uri="{FF2B5EF4-FFF2-40B4-BE49-F238E27FC236}">
                <a16:creationId xmlns:a16="http://schemas.microsoft.com/office/drawing/2014/main" id="{9209204F-6AA8-4C19-B3D9-94BBAEDD45F9}"/>
              </a:ext>
            </a:extLst>
          </p:cNvPr>
          <p:cNvSpPr>
            <a:spLocks noGrp="1"/>
          </p:cNvSpPr>
          <p:nvPr/>
        </p:nvSpPr>
        <p:spPr>
          <a:xfrm>
            <a:off x="609600" y="3743325"/>
            <a:ext cx="10972800" cy="1428750"/>
          </a:xfrm>
          <a:prstGeom prst="rect">
            <a:avLst/>
          </a:prstGeom>
          <a:solidFill>
            <a:srgbClr val="F5F7FA"/>
          </a:solidFill>
          <a:ln w="0">
            <a:noFill/>
          </a:ln>
        </p:spPr>
        <p:txBody>
          <a:bodyPr/>
          <a:lstStyle/>
          <a:p>
            <a:endParaRPr lang="ko-KR" altLang="en-US"/>
          </a:p>
        </p:txBody>
      </p:sp>
      <p:sp>
        <p:nvSpPr>
          <p:cNvPr id="11" name="직사각형 10">
            <a:extLst>
              <a:ext uri="{FF2B5EF4-FFF2-40B4-BE49-F238E27FC236}">
                <a16:creationId xmlns:a16="http://schemas.microsoft.com/office/drawing/2014/main" id="{BC8917A8-ACA6-4D31-91E9-3720AC9084B8}"/>
              </a:ext>
            </a:extLst>
          </p:cNvPr>
          <p:cNvSpPr>
            <a:spLocks noGrp="1"/>
          </p:cNvSpPr>
          <p:nvPr/>
        </p:nvSpPr>
        <p:spPr>
          <a:xfrm>
            <a:off x="857250" y="3952875"/>
            <a:ext cx="990600" cy="381000"/>
          </a:xfrm>
          <a:prstGeom prst="rect">
            <a:avLst/>
          </a:prstGeom>
          <a:noFill/>
          <a:ln w="0">
            <a:noFill/>
          </a:ln>
        </p:spPr>
        <p:txBody>
          <a:bodyPr>
            <a:noAutofit/>
          </a:bodyPr>
          <a:lstStyle/>
          <a:p>
            <a:pPr>
              <a:defRPr sz="1725" b="1">
                <a:solidFill>
                  <a:srgbClr val="102D4F"/>
                </a:solidFill>
                <a:latin typeface="Malgun Gothic"/>
                <a:ea typeface="Malgun Gothic"/>
                <a:cs typeface="Malgun Gothic"/>
              </a:defRPr>
            </a:pPr>
            <a:r>
              <a:rPr sz="1725" b="1">
                <a:solidFill>
                  <a:srgbClr val="102D4F"/>
                </a:solidFill>
                <a:latin typeface="Malgun Gothic"/>
                <a:ea typeface="Malgun Gothic"/>
                <a:cs typeface="Malgun Gothic"/>
              </a:rPr>
              <a:t>11번</a:t>
            </a:r>
          </a:p>
        </p:txBody>
      </p:sp>
      <p:sp>
        <p:nvSpPr>
          <p:cNvPr id="12" name="직사각형 11">
            <a:extLst>
              <a:ext uri="{FF2B5EF4-FFF2-40B4-BE49-F238E27FC236}">
                <a16:creationId xmlns:a16="http://schemas.microsoft.com/office/drawing/2014/main" id="{A0FB3746-E4AC-43B5-BB60-BEBB1D5EBC65}"/>
              </a:ext>
            </a:extLst>
          </p:cNvPr>
          <p:cNvSpPr>
            <a:spLocks noGrp="1"/>
          </p:cNvSpPr>
          <p:nvPr/>
        </p:nvSpPr>
        <p:spPr>
          <a:xfrm>
            <a:off x="2019300" y="3962400"/>
            <a:ext cx="9001125" cy="523875"/>
          </a:xfrm>
          <a:prstGeom prst="rect">
            <a:avLst/>
          </a:prstGeom>
          <a:noFill/>
          <a:ln w="0">
            <a:noFill/>
          </a:ln>
        </p:spPr>
        <p:txBody>
          <a:bodyPr>
            <a:noAutofit/>
          </a:bodyPr>
          <a:lstStyle/>
          <a:p>
            <a:pPr>
              <a:defRPr sz="2175" b="1">
                <a:solidFill>
                  <a:srgbClr val="152538"/>
                </a:solidFill>
                <a:latin typeface="Malgun Gothic"/>
                <a:ea typeface="Malgun Gothic"/>
                <a:cs typeface="Malgun Gothic"/>
              </a:defRPr>
            </a:pPr>
            <a:r>
              <a:rPr sz="2175" b="1">
                <a:solidFill>
                  <a:srgbClr val="152538"/>
                </a:solidFill>
                <a:latin typeface="Malgun Gothic"/>
                <a:ea typeface="Malgun Gothic"/>
                <a:cs typeface="Malgun Gothic"/>
              </a:rPr>
              <a:t>“나는 가끔 남의 뒷이야기를 하는 것을 좋아한다.”</a:t>
            </a:r>
          </a:p>
        </p:txBody>
      </p:sp>
      <p:sp>
        <p:nvSpPr>
          <p:cNvPr id="13" name="직사각형 12">
            <a:extLst>
              <a:ext uri="{FF2B5EF4-FFF2-40B4-BE49-F238E27FC236}">
                <a16:creationId xmlns:a16="http://schemas.microsoft.com/office/drawing/2014/main" id="{4F9457C9-853F-4CEA-92EB-B776BDCA9178}"/>
              </a:ext>
            </a:extLst>
          </p:cNvPr>
          <p:cNvSpPr>
            <a:spLocks noGrp="1"/>
          </p:cNvSpPr>
          <p:nvPr/>
        </p:nvSpPr>
        <p:spPr>
          <a:xfrm>
            <a:off x="2019300" y="4619625"/>
            <a:ext cx="8572500" cy="381000"/>
          </a:xfrm>
          <a:prstGeom prst="rect">
            <a:avLst/>
          </a:prstGeom>
          <a:noFill/>
          <a:ln w="0">
            <a:noFill/>
          </a:ln>
        </p:spPr>
        <p:txBody>
          <a:bodyPr>
            <a:noAutofit/>
          </a:bodyPr>
          <a:lstStyle/>
          <a:p>
            <a:pPr>
              <a:defRPr sz="1800" b="0">
                <a:solidFill>
                  <a:srgbClr val="102D4F"/>
                </a:solidFill>
                <a:latin typeface="Malgun Gothic"/>
                <a:ea typeface="Malgun Gothic"/>
                <a:cs typeface="Malgun Gothic"/>
              </a:defRPr>
            </a:pPr>
            <a:r>
              <a:rPr sz="1800" b="0">
                <a:solidFill>
                  <a:srgbClr val="102D4F"/>
                </a:solidFill>
                <a:latin typeface="Malgun Gothic"/>
                <a:ea typeface="Malgun Gothic"/>
                <a:cs typeface="Malgun Gothic"/>
              </a:rPr>
              <a:t>바람직한 채점 방향: 거짓</a:t>
            </a:r>
          </a:p>
        </p:txBody>
      </p:sp>
      <p:sp>
        <p:nvSpPr>
          <p:cNvPr id="14" name="직사각형 13">
            <a:extLst>
              <a:ext uri="{FF2B5EF4-FFF2-40B4-BE49-F238E27FC236}">
                <a16:creationId xmlns:a16="http://schemas.microsoft.com/office/drawing/2014/main" id="{368830D8-360A-40AD-8D59-2CF2977B12CA}"/>
              </a:ext>
            </a:extLst>
          </p:cNvPr>
          <p:cNvSpPr>
            <a:spLocks noGrp="1"/>
          </p:cNvSpPr>
          <p:nvPr/>
        </p:nvSpPr>
        <p:spPr>
          <a:xfrm>
            <a:off x="609600" y="5429250"/>
            <a:ext cx="10972800" cy="381000"/>
          </a:xfrm>
          <a:prstGeom prst="rect">
            <a:avLst/>
          </a:prstGeom>
          <a:noFill/>
          <a:ln w="0">
            <a:noFill/>
          </a:ln>
        </p:spPr>
        <p:txBody>
          <a:bodyPr>
            <a:noAutofit/>
          </a:bodyPr>
          <a:lstStyle/>
          <a:p>
            <a:pPr>
              <a:defRPr sz="2025" b="1">
                <a:solidFill>
                  <a:srgbClr val="152538"/>
                </a:solidFill>
                <a:latin typeface="Malgun Gothic"/>
                <a:ea typeface="Malgun Gothic"/>
                <a:cs typeface="Malgun Gothic"/>
              </a:defRPr>
            </a:pPr>
            <a:r>
              <a:rPr sz="2025" b="1">
                <a:solidFill>
                  <a:srgbClr val="152538"/>
                </a:solidFill>
                <a:latin typeface="Malgun Gothic"/>
                <a:ea typeface="Malgun Gothic"/>
                <a:cs typeface="Malgun Gothic"/>
              </a:rPr>
              <a:t>33문항의 바람직한 응답을 합산: 0–33점</a:t>
            </a:r>
          </a:p>
        </p:txBody>
      </p:sp>
      <p:sp>
        <p:nvSpPr>
          <p:cNvPr id="15" name="직사각형 14">
            <a:extLst>
              <a:ext uri="{FF2B5EF4-FFF2-40B4-BE49-F238E27FC236}">
                <a16:creationId xmlns:a16="http://schemas.microsoft.com/office/drawing/2014/main" id="{9B9C6BDE-AAF3-460A-A055-B2DA53F7510E}"/>
              </a:ext>
            </a:extLst>
          </p:cNvPr>
          <p:cNvSpPr>
            <a:spLocks noGrp="1"/>
          </p:cNvSpPr>
          <p:nvPr/>
        </p:nvSpPr>
        <p:spPr>
          <a:xfrm>
            <a:off x="609600" y="5895975"/>
            <a:ext cx="10972800" cy="323850"/>
          </a:xfrm>
          <a:prstGeom prst="rect">
            <a:avLst/>
          </a:prstGeom>
          <a:noFill/>
          <a:ln w="0">
            <a:noFill/>
          </a:ln>
        </p:spPr>
        <p:txBody>
          <a:bodyPr>
            <a:noAutofit/>
          </a:bodyPr>
          <a:lstStyle/>
          <a:p>
            <a:pPr>
              <a:defRPr sz="1650" b="0">
                <a:solidFill>
                  <a:srgbClr val="5A6878"/>
                </a:solidFill>
                <a:latin typeface="Malgun Gothic"/>
                <a:ea typeface="Malgun Gothic"/>
                <a:cs typeface="Malgun Gothic"/>
              </a:defRPr>
            </a:pPr>
            <a:r>
              <a:rPr sz="1650" b="0">
                <a:solidFill>
                  <a:srgbClr val="5A6878"/>
                </a:solidFill>
                <a:latin typeface="Malgun Gothic"/>
                <a:ea typeface="Malgun Gothic"/>
                <a:cs typeface="Malgun Gothic"/>
              </a:rPr>
              <a:t>한 문항의 답이나 높은 총점만으로 개인의 거짓말을 확정할 수는 없다.</a:t>
            </a:r>
          </a:p>
        </p:txBody>
      </p:sp>
    </p:spTree>
    <p:extLst>
      <p:ext uri="{BB962C8B-B14F-4D97-AF65-F5344CB8AC3E}">
        <p14:creationId xmlns:p14="http://schemas.microsoft.com/office/powerpoint/2010/main" val="1762042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500D2F13-7BF0-4CC8-ADF1-A17C50EB3F18}"/>
              </a:ext>
            </a:extLst>
          </p:cNvPr>
          <p:cNvSpPr>
            <a:spLocks noGrp="1"/>
          </p:cNvSpPr>
          <p:nvPr/>
        </p:nvSpPr>
        <p:spPr>
          <a:xfrm>
            <a:off x="609600" y="304800"/>
            <a:ext cx="10668000" cy="228600"/>
          </a:xfrm>
          <a:prstGeom prst="rect">
            <a:avLst/>
          </a:prstGeom>
          <a:noFill/>
          <a:ln w="0">
            <a:noFill/>
          </a:ln>
        </p:spPr>
        <p:txBody>
          <a:bodyPr>
            <a:noAutofit/>
          </a:bodyPr>
          <a:lstStyle/>
          <a:p>
            <a:pPr>
              <a:defRPr sz="1125" b="1">
                <a:solidFill>
                  <a:srgbClr val="102D4F"/>
                </a:solidFill>
                <a:latin typeface="Malgun Gothic"/>
                <a:ea typeface="Malgun Gothic"/>
                <a:cs typeface="Malgun Gothic"/>
              </a:defRPr>
            </a:pPr>
            <a:r>
              <a:rPr sz="1125" b="1">
                <a:solidFill>
                  <a:srgbClr val="102D4F"/>
                </a:solidFill>
                <a:latin typeface="Malgun Gothic"/>
                <a:ea typeface="Malgun Gothic"/>
                <a:cs typeface="Malgun Gothic"/>
              </a:rPr>
              <a:t>아이디어를 완성하는 장치 1</a:t>
            </a:r>
          </a:p>
        </p:txBody>
      </p:sp>
      <p:sp>
        <p:nvSpPr>
          <p:cNvPr id="2" name="직사각형 1">
            <a:extLst>
              <a:ext uri="{FF2B5EF4-FFF2-40B4-BE49-F238E27FC236}">
                <a16:creationId xmlns:a16="http://schemas.microsoft.com/office/drawing/2014/main" id="{9BD4E6DE-2D98-4FEE-8389-8D74A72076BC}"/>
              </a:ext>
            </a:extLst>
          </p:cNvPr>
          <p:cNvSpPr>
            <a:spLocks noGrp="1"/>
          </p:cNvSpPr>
          <p:nvPr/>
        </p:nvSpPr>
        <p:spPr>
          <a:xfrm>
            <a:off x="609600" y="695325"/>
            <a:ext cx="10972800" cy="628650"/>
          </a:xfrm>
          <a:prstGeom prst="rect">
            <a:avLst/>
          </a:prstGeom>
          <a:noFill/>
          <a:ln w="0">
            <a:noFill/>
          </a:ln>
        </p:spPr>
        <p:txBody>
          <a:bodyPr>
            <a:noAutofit/>
          </a:bodyPr>
          <a:lstStyle/>
          <a:p>
            <a:pPr>
              <a:defRPr sz="3000" b="1">
                <a:solidFill>
                  <a:srgbClr val="152538"/>
                </a:solidFill>
                <a:latin typeface="Malgun Gothic"/>
                <a:ea typeface="Malgun Gothic"/>
                <a:cs typeface="Malgun Gothic"/>
              </a:defRPr>
            </a:pPr>
            <a:r>
              <a:rPr sz="3000" b="1">
                <a:solidFill>
                  <a:srgbClr val="152538"/>
                </a:solidFill>
                <a:latin typeface="Malgun Gothic"/>
                <a:ea typeface="Malgun Gothic"/>
                <a:cs typeface="Malgun Gothic"/>
              </a:rPr>
              <a:t>문항 선별과 채점 방향</a:t>
            </a:r>
          </a:p>
        </p:txBody>
      </p:sp>
      <p:sp>
        <p:nvSpPr>
          <p:cNvPr id="3" name="직사각형 2">
            <a:extLst>
              <a:ext uri="{FF2B5EF4-FFF2-40B4-BE49-F238E27FC236}">
                <a16:creationId xmlns:a16="http://schemas.microsoft.com/office/drawing/2014/main" id="{75D79091-6B48-4D6B-97FD-1CC3358BAFB8}"/>
              </a:ext>
            </a:extLst>
          </p:cNvPr>
          <p:cNvSpPr>
            <a:spLocks noGrp="1"/>
          </p:cNvSpPr>
          <p:nvPr/>
        </p:nvSpPr>
        <p:spPr>
          <a:xfrm>
            <a:off x="609600" y="1390650"/>
            <a:ext cx="10972800" cy="409575"/>
          </a:xfrm>
          <a:prstGeom prst="rect">
            <a:avLst/>
          </a:prstGeom>
          <a:noFill/>
          <a:ln w="0">
            <a:noFill/>
          </a:ln>
        </p:spPr>
        <p:txBody>
          <a:bodyPr>
            <a:noAutofit/>
          </a:bodyPr>
          <a:lstStyle/>
          <a:p>
            <a:pPr>
              <a:defRPr sz="1575" b="0">
                <a:solidFill>
                  <a:srgbClr val="5A6878"/>
                </a:solidFill>
                <a:latin typeface="Malgun Gothic"/>
                <a:ea typeface="Malgun Gothic"/>
                <a:cs typeface="Malgun Gothic"/>
              </a:defRPr>
            </a:pPr>
            <a:r>
              <a:rPr sz="1575" b="0">
                <a:solidFill>
                  <a:srgbClr val="5A6878"/>
                </a:solidFill>
                <a:latin typeface="Malgun Gothic"/>
                <a:ea typeface="Malgun Gothic"/>
                <a:cs typeface="Malgun Gothic"/>
              </a:rPr>
              <a:t>바람직성 방향의 합의와, 총점 상·하 집단의 변별을 확인했다.</a:t>
            </a:r>
          </a:p>
        </p:txBody>
      </p:sp>
      <p:sp>
        <p:nvSpPr>
          <p:cNvPr id="4" name="직사각형 3">
            <a:extLst>
              <a:ext uri="{FF2B5EF4-FFF2-40B4-BE49-F238E27FC236}">
                <a16:creationId xmlns:a16="http://schemas.microsoft.com/office/drawing/2014/main" id="{0E134E83-047D-41BA-A46C-0D04A710A3E2}"/>
              </a:ext>
            </a:extLst>
          </p:cNvPr>
          <p:cNvSpPr>
            <a:spLocks noGrp="1"/>
          </p:cNvSpPr>
          <p:nvPr/>
        </p:nvSpPr>
        <p:spPr>
          <a:xfrm>
            <a:off x="609600" y="6372225"/>
            <a:ext cx="10287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출처: 원문 p. 350, Development of Scale</a:t>
            </a:r>
          </a:p>
        </p:txBody>
      </p:sp>
      <p:sp>
        <p:nvSpPr>
          <p:cNvPr id="5" name="직사각형 4">
            <a:extLst>
              <a:ext uri="{FF2B5EF4-FFF2-40B4-BE49-F238E27FC236}">
                <a16:creationId xmlns:a16="http://schemas.microsoft.com/office/drawing/2014/main" id="{72794205-9B73-4BCD-B585-E84160419D30}"/>
              </a:ext>
            </a:extLst>
          </p:cNvPr>
          <p:cNvSpPr>
            <a:spLocks noGrp="1"/>
          </p:cNvSpPr>
          <p:nvPr/>
        </p:nvSpPr>
        <p:spPr>
          <a:xfrm>
            <a:off x="11239500" y="6372225"/>
            <a:ext cx="381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6</a:t>
            </a:r>
          </a:p>
        </p:txBody>
      </p:sp>
      <p:sp>
        <p:nvSpPr>
          <p:cNvPr id="6" name="직사각형 5">
            <a:extLst>
              <a:ext uri="{FF2B5EF4-FFF2-40B4-BE49-F238E27FC236}">
                <a16:creationId xmlns:a16="http://schemas.microsoft.com/office/drawing/2014/main" id="{38763B28-00E4-40AE-AD34-F43325E3655C}"/>
              </a:ext>
            </a:extLst>
          </p:cNvPr>
          <p:cNvSpPr>
            <a:spLocks noGrp="1"/>
          </p:cNvSpPr>
          <p:nvPr/>
        </p:nvSpPr>
        <p:spPr>
          <a:xfrm>
            <a:off x="609600" y="2143125"/>
            <a:ext cx="3190875" cy="1076325"/>
          </a:xfrm>
          <a:prstGeom prst="rect">
            <a:avLst/>
          </a:prstGeom>
          <a:noFill/>
          <a:ln w="0">
            <a:noFill/>
          </a:ln>
        </p:spPr>
        <p:txBody>
          <a:bodyPr>
            <a:noAutofit/>
          </a:bodyPr>
          <a:lstStyle/>
          <a:p>
            <a:pPr>
              <a:defRPr sz="6000" b="1">
                <a:solidFill>
                  <a:srgbClr val="102D4F"/>
                </a:solidFill>
                <a:latin typeface="Malgun Gothic"/>
                <a:ea typeface="Malgun Gothic"/>
                <a:cs typeface="Malgun Gothic"/>
              </a:defRPr>
            </a:pPr>
            <a:r>
              <a:rPr sz="6000" b="1">
                <a:solidFill>
                  <a:srgbClr val="102D4F"/>
                </a:solidFill>
                <a:latin typeface="Malgun Gothic"/>
                <a:ea typeface="Malgun Gothic"/>
                <a:cs typeface="Malgun Gothic"/>
              </a:rPr>
              <a:t>50</a:t>
            </a:r>
          </a:p>
        </p:txBody>
      </p:sp>
      <p:sp>
        <p:nvSpPr>
          <p:cNvPr id="7" name="직사각형 6">
            <a:extLst>
              <a:ext uri="{FF2B5EF4-FFF2-40B4-BE49-F238E27FC236}">
                <a16:creationId xmlns:a16="http://schemas.microsoft.com/office/drawing/2014/main" id="{6D9864ED-338D-429E-92F4-4B1A14D7C2A9}"/>
              </a:ext>
            </a:extLst>
          </p:cNvPr>
          <p:cNvSpPr>
            <a:spLocks noGrp="1"/>
          </p:cNvSpPr>
          <p:nvPr/>
        </p:nvSpPr>
        <p:spPr>
          <a:xfrm>
            <a:off x="609600" y="3286125"/>
            <a:ext cx="3238500" cy="438150"/>
          </a:xfrm>
          <a:prstGeom prst="rect">
            <a:avLst/>
          </a:prstGeom>
          <a:noFill/>
          <a:ln w="0">
            <a:noFill/>
          </a:ln>
        </p:spPr>
        <p:txBody>
          <a:bodyPr>
            <a:noAutofit/>
          </a:bodyPr>
          <a:lstStyle/>
          <a:p>
            <a:pPr>
              <a:defRPr sz="2175" b="1">
                <a:solidFill>
                  <a:srgbClr val="152538"/>
                </a:solidFill>
                <a:latin typeface="Malgun Gothic"/>
                <a:ea typeface="Malgun Gothic"/>
                <a:cs typeface="Malgun Gothic"/>
              </a:defRPr>
            </a:pPr>
            <a:r>
              <a:rPr sz="2175" b="1">
                <a:solidFill>
                  <a:srgbClr val="152538"/>
                </a:solidFill>
                <a:latin typeface="Malgun Gothic"/>
                <a:ea typeface="Malgun Gothic"/>
                <a:cs typeface="Malgun Gothic"/>
              </a:rPr>
              <a:t>후보 문항</a:t>
            </a:r>
          </a:p>
        </p:txBody>
      </p:sp>
      <p:sp>
        <p:nvSpPr>
          <p:cNvPr id="8" name="직사각형 7">
            <a:extLst>
              <a:ext uri="{FF2B5EF4-FFF2-40B4-BE49-F238E27FC236}">
                <a16:creationId xmlns:a16="http://schemas.microsoft.com/office/drawing/2014/main" id="{38DDB76D-9B31-4175-94B7-D645EE3BBA13}"/>
              </a:ext>
            </a:extLst>
          </p:cNvPr>
          <p:cNvSpPr>
            <a:spLocks noGrp="1"/>
          </p:cNvSpPr>
          <p:nvPr/>
        </p:nvSpPr>
        <p:spPr>
          <a:xfrm>
            <a:off x="609600" y="3924300"/>
            <a:ext cx="3238500" cy="933450"/>
          </a:xfrm>
          <a:prstGeom prst="rect">
            <a:avLst/>
          </a:prstGeom>
          <a:noFill/>
          <a:ln w="0">
            <a:noFill/>
          </a:ln>
        </p:spPr>
        <p:txBody>
          <a:bodyPr>
            <a:noAutofit/>
          </a:bodyPr>
          <a:lstStyle/>
          <a:p>
            <a:pPr>
              <a:defRPr sz="1725" b="0">
                <a:solidFill>
                  <a:srgbClr val="152538"/>
                </a:solidFill>
                <a:latin typeface="Malgun Gothic"/>
                <a:ea typeface="Malgun Gothic"/>
                <a:cs typeface="Malgun Gothic"/>
              </a:defRPr>
            </a:pPr>
            <a:r>
              <a:rPr sz="1725" b="0">
                <a:solidFill>
                  <a:srgbClr val="152538"/>
                </a:solidFill>
                <a:latin typeface="Malgun Gothic"/>
                <a:ea typeface="Malgun Gothic"/>
                <a:cs typeface="Malgun Gothic"/>
              </a:rPr>
              <a:t>선정 원칙에 맞는</a:t>
            </a:r>
          </a:p>
          <a:p>
            <a:pPr>
              <a:defRPr sz="1725" b="0">
                <a:solidFill>
                  <a:srgbClr val="152538"/>
                </a:solidFill>
                <a:latin typeface="Malgun Gothic"/>
                <a:ea typeface="Malgun Gothic"/>
                <a:cs typeface="Malgun Gothic"/>
              </a:defRPr>
            </a:pPr>
            <a:r>
              <a:rPr sz="1725" b="0">
                <a:solidFill>
                  <a:srgbClr val="152538"/>
                </a:solidFill>
                <a:latin typeface="Malgun Gothic"/>
                <a:ea typeface="Malgun Gothic"/>
                <a:cs typeface="Malgun Gothic"/>
              </a:rPr>
              <a:t>문항 마련</a:t>
            </a:r>
          </a:p>
        </p:txBody>
      </p:sp>
      <p:sp>
        <p:nvSpPr>
          <p:cNvPr id="9" name="직사각형 8">
            <a:extLst>
              <a:ext uri="{FF2B5EF4-FFF2-40B4-BE49-F238E27FC236}">
                <a16:creationId xmlns:a16="http://schemas.microsoft.com/office/drawing/2014/main" id="{00A2B151-9420-4349-AC8A-661AE3022A1D}"/>
              </a:ext>
            </a:extLst>
          </p:cNvPr>
          <p:cNvSpPr>
            <a:spLocks noGrp="1"/>
          </p:cNvSpPr>
          <p:nvPr/>
        </p:nvSpPr>
        <p:spPr>
          <a:xfrm>
            <a:off x="4333875" y="2143125"/>
            <a:ext cx="3190875" cy="1076325"/>
          </a:xfrm>
          <a:prstGeom prst="rect">
            <a:avLst/>
          </a:prstGeom>
          <a:noFill/>
          <a:ln w="0">
            <a:noFill/>
          </a:ln>
        </p:spPr>
        <p:txBody>
          <a:bodyPr>
            <a:noAutofit/>
          </a:bodyPr>
          <a:lstStyle/>
          <a:p>
            <a:pPr>
              <a:defRPr sz="6000" b="1">
                <a:solidFill>
                  <a:srgbClr val="102D4F"/>
                </a:solidFill>
                <a:latin typeface="Malgun Gothic"/>
                <a:ea typeface="Malgun Gothic"/>
                <a:cs typeface="Malgun Gothic"/>
              </a:defRPr>
            </a:pPr>
            <a:r>
              <a:rPr sz="6000" b="1">
                <a:solidFill>
                  <a:srgbClr val="102D4F"/>
                </a:solidFill>
                <a:latin typeface="Malgun Gothic"/>
                <a:ea typeface="Malgun Gothic"/>
                <a:cs typeface="Malgun Gothic"/>
              </a:rPr>
              <a:t>47</a:t>
            </a:r>
          </a:p>
        </p:txBody>
      </p:sp>
      <p:sp>
        <p:nvSpPr>
          <p:cNvPr id="10" name="직사각형 9">
            <a:extLst>
              <a:ext uri="{FF2B5EF4-FFF2-40B4-BE49-F238E27FC236}">
                <a16:creationId xmlns:a16="http://schemas.microsoft.com/office/drawing/2014/main" id="{EB613B21-DB10-43C9-B8B4-68E36DBE5FE9}"/>
              </a:ext>
            </a:extLst>
          </p:cNvPr>
          <p:cNvSpPr>
            <a:spLocks noGrp="1"/>
          </p:cNvSpPr>
          <p:nvPr/>
        </p:nvSpPr>
        <p:spPr>
          <a:xfrm>
            <a:off x="4333875" y="3286125"/>
            <a:ext cx="3238500" cy="438150"/>
          </a:xfrm>
          <a:prstGeom prst="rect">
            <a:avLst/>
          </a:prstGeom>
          <a:noFill/>
          <a:ln w="0">
            <a:noFill/>
          </a:ln>
        </p:spPr>
        <p:txBody>
          <a:bodyPr>
            <a:noAutofit/>
          </a:bodyPr>
          <a:lstStyle/>
          <a:p>
            <a:pPr>
              <a:defRPr sz="2175" b="1">
                <a:solidFill>
                  <a:srgbClr val="152538"/>
                </a:solidFill>
                <a:latin typeface="Malgun Gothic"/>
                <a:ea typeface="Malgun Gothic"/>
                <a:cs typeface="Malgun Gothic"/>
              </a:defRPr>
            </a:pPr>
            <a:r>
              <a:rPr sz="2175" b="1">
                <a:solidFill>
                  <a:srgbClr val="152538"/>
                </a:solidFill>
                <a:latin typeface="Malgun Gothic"/>
                <a:ea typeface="Malgun Gothic"/>
                <a:cs typeface="Malgun Gothic"/>
              </a:rPr>
              <a:t>예비 문항</a:t>
            </a:r>
          </a:p>
        </p:txBody>
      </p:sp>
      <p:sp>
        <p:nvSpPr>
          <p:cNvPr id="11" name="직사각형 10">
            <a:extLst>
              <a:ext uri="{FF2B5EF4-FFF2-40B4-BE49-F238E27FC236}">
                <a16:creationId xmlns:a16="http://schemas.microsoft.com/office/drawing/2014/main" id="{DFE8389A-8AEE-4EA7-A167-271EC0D4B2E0}"/>
              </a:ext>
            </a:extLst>
          </p:cNvPr>
          <p:cNvSpPr>
            <a:spLocks noGrp="1"/>
          </p:cNvSpPr>
          <p:nvPr/>
        </p:nvSpPr>
        <p:spPr>
          <a:xfrm>
            <a:off x="4333875" y="3924300"/>
            <a:ext cx="3238500" cy="933450"/>
          </a:xfrm>
          <a:prstGeom prst="rect">
            <a:avLst/>
          </a:prstGeom>
          <a:noFill/>
          <a:ln w="0">
            <a:noFill/>
          </a:ln>
        </p:spPr>
        <p:txBody>
          <a:bodyPr>
            <a:noAutofit/>
          </a:bodyPr>
          <a:lstStyle/>
          <a:p>
            <a:pPr>
              <a:defRPr sz="1725" b="0">
                <a:solidFill>
                  <a:srgbClr val="152538"/>
                </a:solidFill>
                <a:latin typeface="Malgun Gothic"/>
                <a:ea typeface="Malgun Gothic"/>
                <a:cs typeface="Malgun Gothic"/>
              </a:defRPr>
            </a:pPr>
            <a:r>
              <a:rPr sz="1725" b="0">
                <a:solidFill>
                  <a:srgbClr val="152538"/>
                </a:solidFill>
                <a:latin typeface="Malgun Gothic"/>
                <a:ea typeface="Malgun Gothic"/>
                <a:cs typeface="Malgun Gothic"/>
              </a:rPr>
              <a:t>평정자 10명</a:t>
            </a:r>
          </a:p>
          <a:p>
            <a:pPr>
              <a:defRPr sz="1725" b="0">
                <a:solidFill>
                  <a:srgbClr val="152538"/>
                </a:solidFill>
                <a:latin typeface="Malgun Gothic"/>
                <a:ea typeface="Malgun Gothic"/>
                <a:cs typeface="Malgun Gothic"/>
              </a:defRPr>
            </a:pPr>
            <a:r>
              <a:rPr sz="1725" b="0">
                <a:solidFill>
                  <a:srgbClr val="152538"/>
                </a:solidFill>
                <a:latin typeface="Malgun Gothic"/>
                <a:ea typeface="Malgun Gothic"/>
                <a:cs typeface="Malgun Gothic"/>
              </a:rPr>
              <a:t>36개 전원 합의</a:t>
            </a:r>
          </a:p>
          <a:p>
            <a:pPr>
              <a:defRPr sz="1725" b="0">
                <a:solidFill>
                  <a:srgbClr val="152538"/>
                </a:solidFill>
                <a:latin typeface="Malgun Gothic"/>
                <a:ea typeface="Malgun Gothic"/>
                <a:cs typeface="Malgun Gothic"/>
              </a:defRPr>
            </a:pPr>
            <a:r>
              <a:rPr sz="1725" b="0">
                <a:solidFill>
                  <a:srgbClr val="152538"/>
                </a:solidFill>
                <a:latin typeface="Malgun Gothic"/>
                <a:ea typeface="Malgun Gothic"/>
                <a:cs typeface="Malgun Gothic"/>
              </a:rPr>
              <a:t>11개 90% 합의</a:t>
            </a:r>
          </a:p>
        </p:txBody>
      </p:sp>
      <p:sp>
        <p:nvSpPr>
          <p:cNvPr id="12" name="직사각형 11">
            <a:extLst>
              <a:ext uri="{FF2B5EF4-FFF2-40B4-BE49-F238E27FC236}">
                <a16:creationId xmlns:a16="http://schemas.microsoft.com/office/drawing/2014/main" id="{A252411E-215B-461D-ADE4-59976A69A5C2}"/>
              </a:ext>
            </a:extLst>
          </p:cNvPr>
          <p:cNvSpPr>
            <a:spLocks noGrp="1"/>
          </p:cNvSpPr>
          <p:nvPr/>
        </p:nvSpPr>
        <p:spPr>
          <a:xfrm>
            <a:off x="8058150" y="2143125"/>
            <a:ext cx="3190875" cy="1076325"/>
          </a:xfrm>
          <a:prstGeom prst="rect">
            <a:avLst/>
          </a:prstGeom>
          <a:noFill/>
          <a:ln w="0">
            <a:noFill/>
          </a:ln>
        </p:spPr>
        <p:txBody>
          <a:bodyPr>
            <a:noAutofit/>
          </a:bodyPr>
          <a:lstStyle/>
          <a:p>
            <a:pPr>
              <a:defRPr sz="6000" b="1">
                <a:solidFill>
                  <a:srgbClr val="102D4F"/>
                </a:solidFill>
                <a:latin typeface="Malgun Gothic"/>
                <a:ea typeface="Malgun Gothic"/>
                <a:cs typeface="Malgun Gothic"/>
              </a:defRPr>
            </a:pPr>
            <a:r>
              <a:rPr sz="6000" b="1">
                <a:solidFill>
                  <a:srgbClr val="102D4F"/>
                </a:solidFill>
                <a:latin typeface="Malgun Gothic"/>
                <a:ea typeface="Malgun Gothic"/>
                <a:cs typeface="Malgun Gothic"/>
              </a:rPr>
              <a:t>33</a:t>
            </a:r>
          </a:p>
        </p:txBody>
      </p:sp>
      <p:sp>
        <p:nvSpPr>
          <p:cNvPr id="13" name="직사각형 12">
            <a:extLst>
              <a:ext uri="{FF2B5EF4-FFF2-40B4-BE49-F238E27FC236}">
                <a16:creationId xmlns:a16="http://schemas.microsoft.com/office/drawing/2014/main" id="{A8CA60C7-AE9E-41C1-A84F-57F68FD25D90}"/>
              </a:ext>
            </a:extLst>
          </p:cNvPr>
          <p:cNvSpPr>
            <a:spLocks noGrp="1"/>
          </p:cNvSpPr>
          <p:nvPr/>
        </p:nvSpPr>
        <p:spPr>
          <a:xfrm>
            <a:off x="8058150" y="3286125"/>
            <a:ext cx="3238500" cy="438150"/>
          </a:xfrm>
          <a:prstGeom prst="rect">
            <a:avLst/>
          </a:prstGeom>
          <a:noFill/>
          <a:ln w="0">
            <a:noFill/>
          </a:ln>
        </p:spPr>
        <p:txBody>
          <a:bodyPr>
            <a:noAutofit/>
          </a:bodyPr>
          <a:lstStyle/>
          <a:p>
            <a:pPr>
              <a:defRPr sz="2175" b="1">
                <a:solidFill>
                  <a:srgbClr val="152538"/>
                </a:solidFill>
                <a:latin typeface="Malgun Gothic"/>
                <a:ea typeface="Malgun Gothic"/>
                <a:cs typeface="Malgun Gothic"/>
              </a:defRPr>
            </a:pPr>
            <a:r>
              <a:rPr sz="2175" b="1">
                <a:solidFill>
                  <a:srgbClr val="152538"/>
                </a:solidFill>
                <a:latin typeface="Malgun Gothic"/>
                <a:ea typeface="Malgun Gothic"/>
                <a:cs typeface="Malgun Gothic"/>
              </a:rPr>
              <a:t>최종 문항</a:t>
            </a:r>
          </a:p>
        </p:txBody>
      </p:sp>
      <p:sp>
        <p:nvSpPr>
          <p:cNvPr id="14" name="직사각형 13">
            <a:extLst>
              <a:ext uri="{FF2B5EF4-FFF2-40B4-BE49-F238E27FC236}">
                <a16:creationId xmlns:a16="http://schemas.microsoft.com/office/drawing/2014/main" id="{65A1567E-7A90-4DF4-8B2F-BA30B9E586A4}"/>
              </a:ext>
            </a:extLst>
          </p:cNvPr>
          <p:cNvSpPr>
            <a:spLocks noGrp="1"/>
          </p:cNvSpPr>
          <p:nvPr/>
        </p:nvSpPr>
        <p:spPr>
          <a:xfrm>
            <a:off x="8058150" y="3924300"/>
            <a:ext cx="3238500" cy="933450"/>
          </a:xfrm>
          <a:prstGeom prst="rect">
            <a:avLst/>
          </a:prstGeom>
          <a:noFill/>
          <a:ln w="0">
            <a:noFill/>
          </a:ln>
        </p:spPr>
        <p:txBody>
          <a:bodyPr>
            <a:noAutofit/>
          </a:bodyPr>
          <a:lstStyle/>
          <a:p>
            <a:pPr>
              <a:defRPr sz="1725" b="0">
                <a:solidFill>
                  <a:srgbClr val="152538"/>
                </a:solidFill>
                <a:latin typeface="Malgun Gothic"/>
                <a:ea typeface="Malgun Gothic"/>
                <a:cs typeface="Malgun Gothic"/>
              </a:defRPr>
            </a:pPr>
            <a:r>
              <a:rPr sz="1725" b="0">
                <a:solidFill>
                  <a:srgbClr val="152538"/>
                </a:solidFill>
                <a:latin typeface="Malgun Gothic"/>
                <a:ea typeface="Malgun Gothic"/>
                <a:cs typeface="Malgun Gothic"/>
              </a:rPr>
              <a:t>대학생 76명에게 실시</a:t>
            </a:r>
          </a:p>
          <a:p>
            <a:pPr>
              <a:defRPr sz="1725" b="0">
                <a:solidFill>
                  <a:srgbClr val="152538"/>
                </a:solidFill>
                <a:latin typeface="Malgun Gothic"/>
                <a:ea typeface="Malgun Gothic"/>
                <a:cs typeface="Malgun Gothic"/>
              </a:defRPr>
            </a:pPr>
            <a:r>
              <a:rPr sz="1725" b="0">
                <a:solidFill>
                  <a:srgbClr val="152538"/>
                </a:solidFill>
                <a:latin typeface="Malgun Gothic"/>
                <a:ea typeface="Malgun Gothic"/>
                <a:cs typeface="Malgun Gothic"/>
              </a:rPr>
              <a:t>총점 상·하 집단 변별</a:t>
            </a:r>
          </a:p>
        </p:txBody>
      </p:sp>
      <p:sp>
        <p:nvSpPr>
          <p:cNvPr id="15" name="직사각형 14">
            <a:extLst>
              <a:ext uri="{FF2B5EF4-FFF2-40B4-BE49-F238E27FC236}">
                <a16:creationId xmlns:a16="http://schemas.microsoft.com/office/drawing/2014/main" id="{8DAC4650-E99C-4AEC-9AB4-8AFE2F31D33A}"/>
              </a:ext>
            </a:extLst>
          </p:cNvPr>
          <p:cNvSpPr>
            <a:spLocks noGrp="1"/>
          </p:cNvSpPr>
          <p:nvPr/>
        </p:nvSpPr>
        <p:spPr>
          <a:xfrm>
            <a:off x="609600" y="5248275"/>
            <a:ext cx="10972800" cy="457200"/>
          </a:xfrm>
          <a:prstGeom prst="rect">
            <a:avLst/>
          </a:prstGeom>
          <a:noFill/>
          <a:ln w="0">
            <a:noFill/>
          </a:ln>
        </p:spPr>
        <p:txBody>
          <a:bodyPr>
            <a:noAutofit/>
          </a:bodyPr>
          <a:lstStyle/>
          <a:p>
            <a:pPr>
              <a:defRPr sz="2400" b="1">
                <a:solidFill>
                  <a:srgbClr val="102D4F"/>
                </a:solidFill>
                <a:latin typeface="Malgun Gothic"/>
                <a:ea typeface="Malgun Gothic"/>
                <a:cs typeface="Malgun Gothic"/>
              </a:defRPr>
            </a:pPr>
            <a:r>
              <a:rPr sz="2400" b="1">
                <a:solidFill>
                  <a:srgbClr val="102D4F"/>
                </a:solidFill>
                <a:latin typeface="Malgun Gothic"/>
                <a:ea typeface="Malgun Gothic"/>
                <a:cs typeface="Malgun Gothic"/>
              </a:rPr>
              <a:t>참 방향 18문항 · 거짓 방향 15문항</a:t>
            </a:r>
          </a:p>
        </p:txBody>
      </p:sp>
      <p:sp>
        <p:nvSpPr>
          <p:cNvPr id="16" name="직사각형 15">
            <a:extLst>
              <a:ext uri="{FF2B5EF4-FFF2-40B4-BE49-F238E27FC236}">
                <a16:creationId xmlns:a16="http://schemas.microsoft.com/office/drawing/2014/main" id="{2AB92266-B17B-4E6D-A81F-0CBF73D6E968}"/>
              </a:ext>
            </a:extLst>
          </p:cNvPr>
          <p:cNvSpPr>
            <a:spLocks noGrp="1"/>
          </p:cNvSpPr>
          <p:nvPr/>
        </p:nvSpPr>
        <p:spPr>
          <a:xfrm>
            <a:off x="609600" y="5810250"/>
            <a:ext cx="10972800" cy="409575"/>
          </a:xfrm>
          <a:prstGeom prst="rect">
            <a:avLst/>
          </a:prstGeom>
          <a:noFill/>
          <a:ln w="0">
            <a:noFill/>
          </a:ln>
        </p:spPr>
        <p:txBody>
          <a:bodyPr>
            <a:noAutofit/>
          </a:bodyPr>
          <a:lstStyle/>
          <a:p>
            <a:pPr>
              <a:defRPr sz="1800" b="0">
                <a:solidFill>
                  <a:srgbClr val="152538"/>
                </a:solidFill>
                <a:latin typeface="Malgun Gothic"/>
                <a:ea typeface="Malgun Gothic"/>
                <a:cs typeface="Malgun Gothic"/>
              </a:defRPr>
            </a:pPr>
            <a:r>
              <a:rPr sz="1800" b="0">
                <a:solidFill>
                  <a:srgbClr val="152538"/>
                </a:solidFill>
                <a:latin typeface="Malgun Gothic"/>
                <a:ea typeface="Malgun Gothic"/>
                <a:cs typeface="Malgun Gothic"/>
              </a:rPr>
              <a:t>모든 문항에 “참”을 고르는 경향만으로 점수가 결정되는 문제를 줄인다.</a:t>
            </a:r>
          </a:p>
        </p:txBody>
      </p:sp>
    </p:spTree>
    <p:extLst>
      <p:ext uri="{BB962C8B-B14F-4D97-AF65-F5344CB8AC3E}">
        <p14:creationId xmlns:p14="http://schemas.microsoft.com/office/powerpoint/2010/main" val="873582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38FA89D0-06ED-418E-9700-B336976D59CC}"/>
              </a:ext>
            </a:extLst>
          </p:cNvPr>
          <p:cNvSpPr>
            <a:spLocks noGrp="1"/>
          </p:cNvSpPr>
          <p:nvPr/>
        </p:nvSpPr>
        <p:spPr>
          <a:xfrm>
            <a:off x="609600" y="304800"/>
            <a:ext cx="10668000" cy="228600"/>
          </a:xfrm>
          <a:prstGeom prst="rect">
            <a:avLst/>
          </a:prstGeom>
          <a:noFill/>
          <a:ln w="0">
            <a:noFill/>
          </a:ln>
        </p:spPr>
        <p:txBody>
          <a:bodyPr>
            <a:noAutofit/>
          </a:bodyPr>
          <a:lstStyle/>
          <a:p>
            <a:pPr>
              <a:defRPr sz="1125" b="1">
                <a:solidFill>
                  <a:srgbClr val="102D4F"/>
                </a:solidFill>
                <a:latin typeface="Malgun Gothic"/>
                <a:ea typeface="Malgun Gothic"/>
                <a:cs typeface="Malgun Gothic"/>
              </a:defRPr>
            </a:pPr>
            <a:r>
              <a:rPr sz="1125" b="1">
                <a:solidFill>
                  <a:srgbClr val="102D4F"/>
                </a:solidFill>
                <a:latin typeface="Malgun Gothic"/>
                <a:ea typeface="Malgun Gothic"/>
                <a:cs typeface="Malgun Gothic"/>
              </a:rPr>
              <a:t>아이디어를 완성하는 장치 2</a:t>
            </a:r>
          </a:p>
        </p:txBody>
      </p:sp>
      <p:sp>
        <p:nvSpPr>
          <p:cNvPr id="2" name="직사각형 1">
            <a:extLst>
              <a:ext uri="{FF2B5EF4-FFF2-40B4-BE49-F238E27FC236}">
                <a16:creationId xmlns:a16="http://schemas.microsoft.com/office/drawing/2014/main" id="{16A1FD69-22B8-4BE2-8BE6-3F2F67726BA0}"/>
              </a:ext>
            </a:extLst>
          </p:cNvPr>
          <p:cNvSpPr>
            <a:spLocks noGrp="1"/>
          </p:cNvSpPr>
          <p:nvPr/>
        </p:nvSpPr>
        <p:spPr>
          <a:xfrm>
            <a:off x="609600" y="695325"/>
            <a:ext cx="10972800" cy="628650"/>
          </a:xfrm>
          <a:prstGeom prst="rect">
            <a:avLst/>
          </a:prstGeom>
          <a:noFill/>
          <a:ln w="0">
            <a:noFill/>
          </a:ln>
        </p:spPr>
        <p:txBody>
          <a:bodyPr>
            <a:noAutofit/>
          </a:bodyPr>
          <a:lstStyle/>
          <a:p>
            <a:pPr>
              <a:defRPr sz="3000" b="1">
                <a:solidFill>
                  <a:srgbClr val="152538"/>
                </a:solidFill>
                <a:latin typeface="Malgun Gothic"/>
                <a:ea typeface="Malgun Gothic"/>
                <a:cs typeface="Malgun Gothic"/>
              </a:defRPr>
            </a:pPr>
            <a:r>
              <a:rPr sz="3000" b="1">
                <a:solidFill>
                  <a:srgbClr val="152538"/>
                </a:solidFill>
                <a:latin typeface="Malgun Gothic"/>
                <a:ea typeface="Malgun Gothic"/>
                <a:cs typeface="Malgun Gothic"/>
              </a:rPr>
              <a:t>점수는 일관되고 안정적인가</a:t>
            </a:r>
          </a:p>
        </p:txBody>
      </p:sp>
      <p:sp>
        <p:nvSpPr>
          <p:cNvPr id="3" name="직사각형 2">
            <a:extLst>
              <a:ext uri="{FF2B5EF4-FFF2-40B4-BE49-F238E27FC236}">
                <a16:creationId xmlns:a16="http://schemas.microsoft.com/office/drawing/2014/main" id="{D5673B68-CB84-46DC-A76A-488D514BADDE}"/>
              </a:ext>
            </a:extLst>
          </p:cNvPr>
          <p:cNvSpPr>
            <a:spLocks noGrp="1"/>
          </p:cNvSpPr>
          <p:nvPr/>
        </p:nvSpPr>
        <p:spPr>
          <a:xfrm>
            <a:off x="609600" y="1390650"/>
            <a:ext cx="10972800" cy="409575"/>
          </a:xfrm>
          <a:prstGeom prst="rect">
            <a:avLst/>
          </a:prstGeom>
          <a:noFill/>
          <a:ln w="0">
            <a:noFill/>
          </a:ln>
        </p:spPr>
        <p:txBody>
          <a:bodyPr>
            <a:noAutofit/>
          </a:bodyPr>
          <a:lstStyle/>
          <a:p>
            <a:pPr>
              <a:defRPr sz="1575" b="0">
                <a:solidFill>
                  <a:srgbClr val="5A6878"/>
                </a:solidFill>
                <a:latin typeface="Malgun Gothic"/>
                <a:ea typeface="Malgun Gothic"/>
                <a:cs typeface="Malgun Gothic"/>
              </a:defRPr>
            </a:pPr>
            <a:r>
              <a:rPr sz="1575" b="0">
                <a:solidFill>
                  <a:srgbClr val="5A6878"/>
                </a:solidFill>
                <a:latin typeface="Malgun Gothic"/>
                <a:ea typeface="Malgun Gothic"/>
                <a:cs typeface="Malgun Gothic"/>
              </a:rPr>
              <a:t>문항 간 일관성과 시간에 따른 안정성은 서로 다른 검증이다.</a:t>
            </a:r>
          </a:p>
        </p:txBody>
      </p:sp>
      <p:sp>
        <p:nvSpPr>
          <p:cNvPr id="4" name="직사각형 3">
            <a:extLst>
              <a:ext uri="{FF2B5EF4-FFF2-40B4-BE49-F238E27FC236}">
                <a16:creationId xmlns:a16="http://schemas.microsoft.com/office/drawing/2014/main" id="{44B0B5F4-9E24-49BF-A3E7-4024B01052A7}"/>
              </a:ext>
            </a:extLst>
          </p:cNvPr>
          <p:cNvSpPr>
            <a:spLocks noGrp="1"/>
          </p:cNvSpPr>
          <p:nvPr/>
        </p:nvSpPr>
        <p:spPr>
          <a:xfrm>
            <a:off x="609600" y="6372225"/>
            <a:ext cx="10287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출처: 원문 p. 350, Reliability</a:t>
            </a:r>
          </a:p>
        </p:txBody>
      </p:sp>
      <p:sp>
        <p:nvSpPr>
          <p:cNvPr id="5" name="직사각형 4">
            <a:extLst>
              <a:ext uri="{FF2B5EF4-FFF2-40B4-BE49-F238E27FC236}">
                <a16:creationId xmlns:a16="http://schemas.microsoft.com/office/drawing/2014/main" id="{03ACB709-ACA0-47EB-B7CC-D08041C7F13A}"/>
              </a:ext>
            </a:extLst>
          </p:cNvPr>
          <p:cNvSpPr>
            <a:spLocks noGrp="1"/>
          </p:cNvSpPr>
          <p:nvPr/>
        </p:nvSpPr>
        <p:spPr>
          <a:xfrm>
            <a:off x="11239500" y="6372225"/>
            <a:ext cx="381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7</a:t>
            </a:r>
          </a:p>
        </p:txBody>
      </p:sp>
      <p:sp>
        <p:nvSpPr>
          <p:cNvPr id="6" name="직사각형 5">
            <a:extLst>
              <a:ext uri="{FF2B5EF4-FFF2-40B4-BE49-F238E27FC236}">
                <a16:creationId xmlns:a16="http://schemas.microsoft.com/office/drawing/2014/main" id="{43317B52-77D2-4F27-B8D0-21553AECD7BD}"/>
              </a:ext>
            </a:extLst>
          </p:cNvPr>
          <p:cNvSpPr>
            <a:spLocks noGrp="1"/>
          </p:cNvSpPr>
          <p:nvPr/>
        </p:nvSpPr>
        <p:spPr>
          <a:xfrm>
            <a:off x="609600" y="2114550"/>
            <a:ext cx="5257800" cy="3086100"/>
          </a:xfrm>
          <a:prstGeom prst="rect">
            <a:avLst/>
          </a:prstGeom>
          <a:solidFill>
            <a:srgbClr val="F5F7FA"/>
          </a:solidFill>
          <a:ln w="0">
            <a:noFill/>
          </a:ln>
        </p:spPr>
        <p:txBody>
          <a:bodyPr/>
          <a:lstStyle/>
          <a:p>
            <a:endParaRPr lang="ko-KR" altLang="en-US"/>
          </a:p>
        </p:txBody>
      </p:sp>
      <p:sp>
        <p:nvSpPr>
          <p:cNvPr id="7" name="직사각형 6">
            <a:extLst>
              <a:ext uri="{FF2B5EF4-FFF2-40B4-BE49-F238E27FC236}">
                <a16:creationId xmlns:a16="http://schemas.microsoft.com/office/drawing/2014/main" id="{92B0146E-6D7F-45CC-A6C6-9E62F9DDECC6}"/>
              </a:ext>
            </a:extLst>
          </p:cNvPr>
          <p:cNvSpPr>
            <a:spLocks noGrp="1"/>
          </p:cNvSpPr>
          <p:nvPr/>
        </p:nvSpPr>
        <p:spPr>
          <a:xfrm>
            <a:off x="6172200" y="2114550"/>
            <a:ext cx="5410200" cy="3086100"/>
          </a:xfrm>
          <a:prstGeom prst="rect">
            <a:avLst/>
          </a:prstGeom>
          <a:solidFill>
            <a:srgbClr val="EDF2F7"/>
          </a:solidFill>
          <a:ln w="0">
            <a:noFill/>
          </a:ln>
        </p:spPr>
        <p:txBody>
          <a:bodyPr/>
          <a:lstStyle/>
          <a:p>
            <a:endParaRPr lang="ko-KR" altLang="en-US"/>
          </a:p>
        </p:txBody>
      </p:sp>
      <p:sp>
        <p:nvSpPr>
          <p:cNvPr id="8" name="직사각형 7">
            <a:extLst>
              <a:ext uri="{FF2B5EF4-FFF2-40B4-BE49-F238E27FC236}">
                <a16:creationId xmlns:a16="http://schemas.microsoft.com/office/drawing/2014/main" id="{D94DAAFD-8B4C-4DF7-98E4-8457B8570315}"/>
              </a:ext>
            </a:extLst>
          </p:cNvPr>
          <p:cNvSpPr>
            <a:spLocks noGrp="1"/>
          </p:cNvSpPr>
          <p:nvPr/>
        </p:nvSpPr>
        <p:spPr>
          <a:xfrm>
            <a:off x="866775" y="2390775"/>
            <a:ext cx="4695825" cy="790575"/>
          </a:xfrm>
          <a:prstGeom prst="rect">
            <a:avLst/>
          </a:prstGeom>
          <a:noFill/>
          <a:ln w="0">
            <a:noFill/>
          </a:ln>
        </p:spPr>
        <p:txBody>
          <a:bodyPr>
            <a:noAutofit/>
          </a:bodyPr>
          <a:lstStyle/>
          <a:p>
            <a:pPr>
              <a:defRPr sz="4125" b="1">
                <a:solidFill>
                  <a:srgbClr val="102D4F"/>
                </a:solidFill>
                <a:latin typeface="Malgun Gothic"/>
                <a:ea typeface="Malgun Gothic"/>
                <a:cs typeface="Malgun Gothic"/>
              </a:defRPr>
            </a:pPr>
            <a:r>
              <a:rPr sz="4125" b="1">
                <a:solidFill>
                  <a:srgbClr val="102D4F"/>
                </a:solidFill>
                <a:latin typeface="Malgun Gothic"/>
                <a:ea typeface="Malgun Gothic"/>
                <a:cs typeface="Malgun Gothic"/>
              </a:rPr>
              <a:t>KR-20 = .88</a:t>
            </a:r>
          </a:p>
        </p:txBody>
      </p:sp>
      <p:sp>
        <p:nvSpPr>
          <p:cNvPr id="9" name="직사각형 8">
            <a:extLst>
              <a:ext uri="{FF2B5EF4-FFF2-40B4-BE49-F238E27FC236}">
                <a16:creationId xmlns:a16="http://schemas.microsoft.com/office/drawing/2014/main" id="{0B11B4E1-EF06-4F1B-8A9F-B56A383EBE8F}"/>
              </a:ext>
            </a:extLst>
          </p:cNvPr>
          <p:cNvSpPr>
            <a:spLocks noGrp="1"/>
          </p:cNvSpPr>
          <p:nvPr/>
        </p:nvSpPr>
        <p:spPr>
          <a:xfrm>
            <a:off x="866775" y="3362325"/>
            <a:ext cx="4667250" cy="419100"/>
          </a:xfrm>
          <a:prstGeom prst="rect">
            <a:avLst/>
          </a:prstGeom>
          <a:noFill/>
          <a:ln w="0">
            <a:noFill/>
          </a:ln>
        </p:spPr>
        <p:txBody>
          <a:bodyPr>
            <a:noAutofit/>
          </a:bodyPr>
          <a:lstStyle/>
          <a:p>
            <a:pPr>
              <a:defRPr sz="2250" b="1">
                <a:solidFill>
                  <a:srgbClr val="152538"/>
                </a:solidFill>
                <a:latin typeface="Malgun Gothic"/>
                <a:ea typeface="Malgun Gothic"/>
                <a:cs typeface="Malgun Gothic"/>
              </a:defRPr>
            </a:pPr>
            <a:r>
              <a:rPr sz="2250" b="1">
                <a:solidFill>
                  <a:srgbClr val="152538"/>
                </a:solidFill>
                <a:latin typeface="Malgun Gothic"/>
                <a:ea typeface="Malgun Gothic"/>
                <a:cs typeface="Malgun Gothic"/>
              </a:rPr>
              <a:t>내적 일치도</a:t>
            </a:r>
          </a:p>
        </p:txBody>
      </p:sp>
      <p:sp>
        <p:nvSpPr>
          <p:cNvPr id="10" name="직사각형 9">
            <a:extLst>
              <a:ext uri="{FF2B5EF4-FFF2-40B4-BE49-F238E27FC236}">
                <a16:creationId xmlns:a16="http://schemas.microsoft.com/office/drawing/2014/main" id="{A50BF0DE-684C-46D0-87DB-1F7A36DC5354}"/>
              </a:ext>
            </a:extLst>
          </p:cNvPr>
          <p:cNvSpPr>
            <a:spLocks noGrp="1"/>
          </p:cNvSpPr>
          <p:nvPr/>
        </p:nvSpPr>
        <p:spPr>
          <a:xfrm>
            <a:off x="866775" y="4019550"/>
            <a:ext cx="4667250" cy="895350"/>
          </a:xfrm>
          <a:prstGeom prst="rect">
            <a:avLst/>
          </a:prstGeom>
          <a:noFill/>
          <a:ln w="0">
            <a:noFill/>
          </a:ln>
        </p:spPr>
        <p:txBody>
          <a:bodyPr>
            <a:noAutofit/>
          </a:bodyPr>
          <a:lstStyle/>
          <a:p>
            <a:pPr>
              <a:defRPr sz="1800" b="0">
                <a:solidFill>
                  <a:srgbClr val="152538"/>
                </a:solidFill>
                <a:latin typeface="Malgun Gothic"/>
                <a:ea typeface="Malgun Gothic"/>
                <a:cs typeface="Malgun Gothic"/>
              </a:defRPr>
            </a:pPr>
            <a:r>
              <a:rPr sz="1800" b="0">
                <a:solidFill>
                  <a:srgbClr val="152538"/>
                </a:solidFill>
                <a:latin typeface="Malgun Gothic"/>
                <a:ea typeface="Malgun Gothic"/>
                <a:cs typeface="Malgun Gothic"/>
              </a:rPr>
              <a:t>문항 응답이 서로 얼마나 일관되는가</a:t>
            </a:r>
          </a:p>
          <a:p>
            <a:pPr>
              <a:defRPr sz="1800" b="0">
                <a:solidFill>
                  <a:srgbClr val="152538"/>
                </a:solidFill>
                <a:latin typeface="Malgun Gothic"/>
                <a:ea typeface="Malgun Gothic"/>
                <a:cs typeface="Malgun Gothic"/>
              </a:defRPr>
            </a:pPr>
            <a:r>
              <a:rPr sz="1800" b="0">
                <a:solidFill>
                  <a:srgbClr val="152538"/>
                </a:solidFill>
                <a:latin typeface="Malgun Gothic"/>
                <a:ea typeface="Malgun Gothic"/>
                <a:cs typeface="Malgun Gothic"/>
              </a:rPr>
              <a:t>N = 39</a:t>
            </a:r>
          </a:p>
        </p:txBody>
      </p:sp>
      <p:sp>
        <p:nvSpPr>
          <p:cNvPr id="11" name="직사각형 10">
            <a:extLst>
              <a:ext uri="{FF2B5EF4-FFF2-40B4-BE49-F238E27FC236}">
                <a16:creationId xmlns:a16="http://schemas.microsoft.com/office/drawing/2014/main" id="{0046C948-8753-4FCA-B4BE-251D8920D218}"/>
              </a:ext>
            </a:extLst>
          </p:cNvPr>
          <p:cNvSpPr>
            <a:spLocks noGrp="1"/>
          </p:cNvSpPr>
          <p:nvPr/>
        </p:nvSpPr>
        <p:spPr>
          <a:xfrm>
            <a:off x="6429375" y="2390775"/>
            <a:ext cx="4810125" cy="790575"/>
          </a:xfrm>
          <a:prstGeom prst="rect">
            <a:avLst/>
          </a:prstGeom>
          <a:noFill/>
          <a:ln w="0">
            <a:noFill/>
          </a:ln>
        </p:spPr>
        <p:txBody>
          <a:bodyPr>
            <a:noAutofit/>
          </a:bodyPr>
          <a:lstStyle/>
          <a:p>
            <a:pPr>
              <a:defRPr sz="4125" b="1">
                <a:solidFill>
                  <a:srgbClr val="102D4F"/>
                </a:solidFill>
                <a:latin typeface="Malgun Gothic"/>
                <a:ea typeface="Malgun Gothic"/>
                <a:cs typeface="Malgun Gothic"/>
              </a:defRPr>
            </a:pPr>
            <a:r>
              <a:rPr sz="4125" b="1">
                <a:solidFill>
                  <a:srgbClr val="102D4F"/>
                </a:solidFill>
                <a:latin typeface="Malgun Gothic"/>
                <a:ea typeface="Malgun Gothic"/>
                <a:cs typeface="Malgun Gothic"/>
              </a:rPr>
              <a:t>r = .89</a:t>
            </a:r>
          </a:p>
        </p:txBody>
      </p:sp>
      <p:sp>
        <p:nvSpPr>
          <p:cNvPr id="12" name="직사각형 11">
            <a:extLst>
              <a:ext uri="{FF2B5EF4-FFF2-40B4-BE49-F238E27FC236}">
                <a16:creationId xmlns:a16="http://schemas.microsoft.com/office/drawing/2014/main" id="{AE33622B-DC59-4F7D-9557-E8523CC5FA5B}"/>
              </a:ext>
            </a:extLst>
          </p:cNvPr>
          <p:cNvSpPr>
            <a:spLocks noGrp="1"/>
          </p:cNvSpPr>
          <p:nvPr/>
        </p:nvSpPr>
        <p:spPr>
          <a:xfrm>
            <a:off x="6429375" y="3362325"/>
            <a:ext cx="4810125" cy="419100"/>
          </a:xfrm>
          <a:prstGeom prst="rect">
            <a:avLst/>
          </a:prstGeom>
          <a:noFill/>
          <a:ln w="0">
            <a:noFill/>
          </a:ln>
        </p:spPr>
        <p:txBody>
          <a:bodyPr>
            <a:noAutofit/>
          </a:bodyPr>
          <a:lstStyle/>
          <a:p>
            <a:pPr>
              <a:defRPr sz="2250" b="1">
                <a:solidFill>
                  <a:srgbClr val="152538"/>
                </a:solidFill>
                <a:latin typeface="Malgun Gothic"/>
                <a:ea typeface="Malgun Gothic"/>
                <a:cs typeface="Malgun Gothic"/>
              </a:defRPr>
            </a:pPr>
            <a:r>
              <a:rPr sz="2250" b="1">
                <a:solidFill>
                  <a:srgbClr val="152538"/>
                </a:solidFill>
                <a:latin typeface="Malgun Gothic"/>
                <a:ea typeface="Malgun Gothic"/>
                <a:cs typeface="Malgun Gothic"/>
              </a:rPr>
              <a:t>약 1개월 후 재검사</a:t>
            </a:r>
          </a:p>
        </p:txBody>
      </p:sp>
      <p:sp>
        <p:nvSpPr>
          <p:cNvPr id="13" name="직사각형 12">
            <a:extLst>
              <a:ext uri="{FF2B5EF4-FFF2-40B4-BE49-F238E27FC236}">
                <a16:creationId xmlns:a16="http://schemas.microsoft.com/office/drawing/2014/main" id="{B98F0997-96A9-4A7D-8D24-D7D590C88AAA}"/>
              </a:ext>
            </a:extLst>
          </p:cNvPr>
          <p:cNvSpPr>
            <a:spLocks noGrp="1"/>
          </p:cNvSpPr>
          <p:nvPr/>
        </p:nvSpPr>
        <p:spPr>
          <a:xfrm>
            <a:off x="6429375" y="4019550"/>
            <a:ext cx="4810125" cy="895350"/>
          </a:xfrm>
          <a:prstGeom prst="rect">
            <a:avLst/>
          </a:prstGeom>
          <a:noFill/>
          <a:ln w="0">
            <a:noFill/>
          </a:ln>
        </p:spPr>
        <p:txBody>
          <a:bodyPr>
            <a:noAutofit/>
          </a:bodyPr>
          <a:lstStyle/>
          <a:p>
            <a:pPr>
              <a:defRPr sz="1800" b="0">
                <a:solidFill>
                  <a:srgbClr val="152538"/>
                </a:solidFill>
                <a:latin typeface="Malgun Gothic"/>
                <a:ea typeface="Malgun Gothic"/>
                <a:cs typeface="Malgun Gothic"/>
              </a:defRPr>
            </a:pPr>
            <a:r>
              <a:rPr sz="1800" b="0">
                <a:solidFill>
                  <a:srgbClr val="152538"/>
                </a:solidFill>
                <a:latin typeface="Malgun Gothic"/>
                <a:ea typeface="Malgun Gothic"/>
                <a:cs typeface="Malgun Gothic"/>
              </a:rPr>
              <a:t>개인 간 점수 관계가 얼마나 안정적인가</a:t>
            </a:r>
          </a:p>
          <a:p>
            <a:pPr>
              <a:defRPr sz="1800" b="0">
                <a:solidFill>
                  <a:srgbClr val="152538"/>
                </a:solidFill>
                <a:latin typeface="Malgun Gothic"/>
                <a:ea typeface="Malgun Gothic"/>
                <a:cs typeface="Malgun Gothic"/>
              </a:defRPr>
            </a:pPr>
            <a:r>
              <a:rPr sz="1800" b="0">
                <a:solidFill>
                  <a:srgbClr val="152538"/>
                </a:solidFill>
                <a:latin typeface="Malgun Gothic"/>
                <a:ea typeface="Malgun Gothic"/>
                <a:cs typeface="Malgun Gothic"/>
              </a:rPr>
              <a:t>N = 31</a:t>
            </a:r>
          </a:p>
        </p:txBody>
      </p:sp>
      <p:sp>
        <p:nvSpPr>
          <p:cNvPr id="14" name="직사각형 13">
            <a:extLst>
              <a:ext uri="{FF2B5EF4-FFF2-40B4-BE49-F238E27FC236}">
                <a16:creationId xmlns:a16="http://schemas.microsoft.com/office/drawing/2014/main" id="{C88D1B7B-874A-4EB8-B30E-22AB897E6981}"/>
              </a:ext>
            </a:extLst>
          </p:cNvPr>
          <p:cNvSpPr>
            <a:spLocks noGrp="1"/>
          </p:cNvSpPr>
          <p:nvPr/>
        </p:nvSpPr>
        <p:spPr>
          <a:xfrm>
            <a:off x="609600" y="5581650"/>
            <a:ext cx="10972800" cy="590550"/>
          </a:xfrm>
          <a:prstGeom prst="rect">
            <a:avLst/>
          </a:prstGeom>
          <a:noFill/>
          <a:ln w="0">
            <a:noFill/>
          </a:ln>
        </p:spPr>
        <p:txBody>
          <a:bodyPr>
            <a:noAutofit/>
          </a:bodyPr>
          <a:lstStyle/>
          <a:p>
            <a:pPr>
              <a:defRPr sz="2175" b="1">
                <a:solidFill>
                  <a:srgbClr val="152538"/>
                </a:solidFill>
                <a:latin typeface="Malgun Gothic"/>
                <a:ea typeface="Malgun Gothic"/>
                <a:cs typeface="Malgun Gothic"/>
              </a:defRPr>
            </a:pPr>
            <a:r>
              <a:rPr sz="2175" b="1">
                <a:solidFill>
                  <a:srgbClr val="152538"/>
                </a:solidFill>
                <a:latin typeface="Malgun Gothic"/>
                <a:ea typeface="Malgun Gothic"/>
                <a:cs typeface="Malgun Gothic"/>
              </a:rPr>
              <a:t>신뢰도는 확보했지만, 승인욕구만을 측정한다는 증명은 아니다.</a:t>
            </a:r>
          </a:p>
        </p:txBody>
      </p:sp>
    </p:spTree>
    <p:extLst>
      <p:ext uri="{BB962C8B-B14F-4D97-AF65-F5344CB8AC3E}">
        <p14:creationId xmlns:p14="http://schemas.microsoft.com/office/powerpoint/2010/main" val="66658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F387D326-38FB-4890-81D2-B4BD82D8327F}"/>
              </a:ext>
            </a:extLst>
          </p:cNvPr>
          <p:cNvSpPr>
            <a:spLocks noGrp="1"/>
          </p:cNvSpPr>
          <p:nvPr/>
        </p:nvSpPr>
        <p:spPr>
          <a:xfrm>
            <a:off x="609600" y="304800"/>
            <a:ext cx="10668000" cy="228600"/>
          </a:xfrm>
          <a:prstGeom prst="rect">
            <a:avLst/>
          </a:prstGeom>
          <a:noFill/>
          <a:ln w="0">
            <a:noFill/>
          </a:ln>
        </p:spPr>
        <p:txBody>
          <a:bodyPr>
            <a:noAutofit/>
          </a:bodyPr>
          <a:lstStyle/>
          <a:p>
            <a:pPr>
              <a:defRPr sz="1125" b="1">
                <a:solidFill>
                  <a:srgbClr val="102D4F"/>
                </a:solidFill>
                <a:latin typeface="Malgun Gothic"/>
                <a:ea typeface="Malgun Gothic"/>
                <a:cs typeface="Malgun Gothic"/>
              </a:defRPr>
            </a:pPr>
            <a:r>
              <a:rPr sz="1125" b="1">
                <a:solidFill>
                  <a:srgbClr val="102D4F"/>
                </a:solidFill>
                <a:latin typeface="Malgun Gothic"/>
                <a:ea typeface="Malgun Gothic"/>
                <a:cs typeface="Malgun Gothic"/>
              </a:rPr>
              <a:t>결과 ③</a:t>
            </a:r>
          </a:p>
        </p:txBody>
      </p:sp>
      <p:sp>
        <p:nvSpPr>
          <p:cNvPr id="2" name="직사각형 1">
            <a:extLst>
              <a:ext uri="{FF2B5EF4-FFF2-40B4-BE49-F238E27FC236}">
                <a16:creationId xmlns:a16="http://schemas.microsoft.com/office/drawing/2014/main" id="{49B8B735-ED52-4CA2-9651-A0F355D42FE9}"/>
              </a:ext>
            </a:extLst>
          </p:cNvPr>
          <p:cNvSpPr>
            <a:spLocks noGrp="1"/>
          </p:cNvSpPr>
          <p:nvPr/>
        </p:nvSpPr>
        <p:spPr>
          <a:xfrm>
            <a:off x="609600" y="695325"/>
            <a:ext cx="10972800" cy="628650"/>
          </a:xfrm>
          <a:prstGeom prst="rect">
            <a:avLst/>
          </a:prstGeom>
          <a:noFill/>
          <a:ln w="0">
            <a:noFill/>
          </a:ln>
        </p:spPr>
        <p:txBody>
          <a:bodyPr>
            <a:noAutofit/>
          </a:bodyPr>
          <a:lstStyle/>
          <a:p>
            <a:pPr>
              <a:defRPr sz="3000" b="1">
                <a:solidFill>
                  <a:srgbClr val="152538"/>
                </a:solidFill>
                <a:latin typeface="Malgun Gothic"/>
                <a:ea typeface="Malgun Gothic"/>
                <a:cs typeface="Malgun Gothic"/>
              </a:defRPr>
            </a:pPr>
            <a:r>
              <a:rPr sz="3000" b="1">
                <a:solidFill>
                  <a:srgbClr val="152538"/>
                </a:solidFill>
                <a:latin typeface="Malgun Gothic"/>
                <a:ea typeface="Malgun Gothic"/>
                <a:cs typeface="Malgun Gothic"/>
              </a:rPr>
              <a:t>병리적 함축은 기존 척도보다 작았다</a:t>
            </a:r>
          </a:p>
        </p:txBody>
      </p:sp>
      <p:sp>
        <p:nvSpPr>
          <p:cNvPr id="3" name="직사각형 2">
            <a:extLst>
              <a:ext uri="{FF2B5EF4-FFF2-40B4-BE49-F238E27FC236}">
                <a16:creationId xmlns:a16="http://schemas.microsoft.com/office/drawing/2014/main" id="{306B4A75-C86F-49B6-8BC0-9F4911C233F9}"/>
              </a:ext>
            </a:extLst>
          </p:cNvPr>
          <p:cNvSpPr>
            <a:spLocks noGrp="1"/>
          </p:cNvSpPr>
          <p:nvPr/>
        </p:nvSpPr>
        <p:spPr>
          <a:xfrm>
            <a:off x="609600" y="1390650"/>
            <a:ext cx="10972800" cy="409575"/>
          </a:xfrm>
          <a:prstGeom prst="rect">
            <a:avLst/>
          </a:prstGeom>
          <a:noFill/>
          <a:ln w="0">
            <a:noFill/>
          </a:ln>
        </p:spPr>
        <p:txBody>
          <a:bodyPr>
            <a:noAutofit/>
          </a:bodyPr>
          <a:lstStyle/>
          <a:p>
            <a:pPr>
              <a:defRPr sz="1575" b="0">
                <a:solidFill>
                  <a:srgbClr val="5A6878"/>
                </a:solidFill>
                <a:latin typeface="Malgun Gothic"/>
                <a:ea typeface="Malgun Gothic"/>
                <a:cs typeface="Malgun Gothic"/>
              </a:defRPr>
            </a:pPr>
            <a:r>
              <a:rPr sz="1575" b="0">
                <a:solidFill>
                  <a:srgbClr val="5A6878"/>
                </a:solidFill>
                <a:latin typeface="Malgun Gothic"/>
                <a:ea typeface="Malgun Gothic"/>
                <a:cs typeface="Malgun Gothic"/>
              </a:rPr>
              <a:t>바람직하지 않은 응답이 부적응을 얼마나 시사하는지 평정했다.</a:t>
            </a:r>
          </a:p>
        </p:txBody>
      </p:sp>
      <p:sp>
        <p:nvSpPr>
          <p:cNvPr id="4" name="직사각형 3">
            <a:extLst>
              <a:ext uri="{FF2B5EF4-FFF2-40B4-BE49-F238E27FC236}">
                <a16:creationId xmlns:a16="http://schemas.microsoft.com/office/drawing/2014/main" id="{65F73545-39B2-4A06-8B16-9DD367EBC900}"/>
              </a:ext>
            </a:extLst>
          </p:cNvPr>
          <p:cNvSpPr>
            <a:spLocks noGrp="1"/>
          </p:cNvSpPr>
          <p:nvPr/>
        </p:nvSpPr>
        <p:spPr>
          <a:xfrm>
            <a:off x="609600" y="6372225"/>
            <a:ext cx="10287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출처: 원문 p. 350; p. 352, Table 3 · 차이 1.1점은 두 평균으로 계산</a:t>
            </a:r>
          </a:p>
        </p:txBody>
      </p:sp>
      <p:sp>
        <p:nvSpPr>
          <p:cNvPr id="5" name="직사각형 4">
            <a:extLst>
              <a:ext uri="{FF2B5EF4-FFF2-40B4-BE49-F238E27FC236}">
                <a16:creationId xmlns:a16="http://schemas.microsoft.com/office/drawing/2014/main" id="{3DA478C0-2A56-4B8C-ACBA-2DBC4A22C0BA}"/>
              </a:ext>
            </a:extLst>
          </p:cNvPr>
          <p:cNvSpPr>
            <a:spLocks noGrp="1"/>
          </p:cNvSpPr>
          <p:nvPr/>
        </p:nvSpPr>
        <p:spPr>
          <a:xfrm>
            <a:off x="11239500" y="6372225"/>
            <a:ext cx="381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8</a:t>
            </a:r>
          </a:p>
        </p:txBody>
      </p:sp>
      <p:graphicFrame>
        <p:nvGraphicFramePr>
          <p:cNvPr id="17" name="Chart"/>
          <p:cNvGraphicFramePr/>
          <p:nvPr/>
        </p:nvGraphicFramePr>
        <p:xfrm>
          <a:off x="609600" y="2181225"/>
          <a:ext cx="6381750" cy="3076575"/>
        </p:xfrm>
        <a:graphic>
          <a:graphicData uri="http://schemas.openxmlformats.org/drawingml/2006/chart">
            <c:chart xmlns:c="http://schemas.openxmlformats.org/drawingml/2006/chart" xmlns:r="http://schemas.openxmlformats.org/officeDocument/2006/relationships" r:id="rId3"/>
          </a:graphicData>
        </a:graphic>
      </p:graphicFrame>
      <p:sp>
        <p:nvSpPr>
          <p:cNvPr id="7" name="직사각형 6">
            <a:extLst>
              <a:ext uri="{FF2B5EF4-FFF2-40B4-BE49-F238E27FC236}">
                <a16:creationId xmlns:a16="http://schemas.microsoft.com/office/drawing/2014/main" id="{1036702C-5BDB-4252-85DA-5270488C2CD6}"/>
              </a:ext>
            </a:extLst>
          </p:cNvPr>
          <p:cNvSpPr>
            <a:spLocks noGrp="1"/>
          </p:cNvSpPr>
          <p:nvPr/>
        </p:nvSpPr>
        <p:spPr>
          <a:xfrm>
            <a:off x="7467600" y="2209800"/>
            <a:ext cx="4019550" cy="685800"/>
          </a:xfrm>
          <a:prstGeom prst="rect">
            <a:avLst/>
          </a:prstGeom>
          <a:noFill/>
          <a:ln w="0">
            <a:noFill/>
          </a:ln>
        </p:spPr>
        <p:txBody>
          <a:bodyPr>
            <a:noAutofit/>
          </a:bodyPr>
          <a:lstStyle/>
          <a:p>
            <a:pPr>
              <a:defRPr sz="3525" b="1">
                <a:solidFill>
                  <a:srgbClr val="102D4F"/>
                </a:solidFill>
                <a:latin typeface="Malgun Gothic"/>
                <a:ea typeface="Malgun Gothic"/>
                <a:cs typeface="Malgun Gothic"/>
              </a:defRPr>
            </a:pPr>
            <a:r>
              <a:rPr sz="3525" b="1">
                <a:solidFill>
                  <a:srgbClr val="102D4F"/>
                </a:solidFill>
                <a:latin typeface="Malgun Gothic"/>
                <a:ea typeface="Malgun Gothic"/>
                <a:cs typeface="Malgun Gothic"/>
              </a:rPr>
              <a:t>1.1점 낮음</a:t>
            </a:r>
          </a:p>
        </p:txBody>
      </p:sp>
      <p:sp>
        <p:nvSpPr>
          <p:cNvPr id="8" name="직사각형 7">
            <a:extLst>
              <a:ext uri="{FF2B5EF4-FFF2-40B4-BE49-F238E27FC236}">
                <a16:creationId xmlns:a16="http://schemas.microsoft.com/office/drawing/2014/main" id="{68A8DF93-ECBD-43F0-ABB6-79818AE9768A}"/>
              </a:ext>
            </a:extLst>
          </p:cNvPr>
          <p:cNvSpPr>
            <a:spLocks noGrp="1"/>
          </p:cNvSpPr>
          <p:nvPr/>
        </p:nvSpPr>
        <p:spPr>
          <a:xfrm>
            <a:off x="7467600" y="3181350"/>
            <a:ext cx="4019550" cy="762000"/>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평정자 10명</a:t>
            </a:r>
          </a:p>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t = 15.27, p &lt; .0001</a:t>
            </a:r>
          </a:p>
        </p:txBody>
      </p:sp>
      <p:sp>
        <p:nvSpPr>
          <p:cNvPr id="9" name="직사각형 8">
            <a:extLst>
              <a:ext uri="{FF2B5EF4-FFF2-40B4-BE49-F238E27FC236}">
                <a16:creationId xmlns:a16="http://schemas.microsoft.com/office/drawing/2014/main" id="{74961813-B13B-4E5A-AC74-715116E29F33}"/>
              </a:ext>
            </a:extLst>
          </p:cNvPr>
          <p:cNvSpPr>
            <a:spLocks noGrp="1"/>
          </p:cNvSpPr>
          <p:nvPr/>
        </p:nvSpPr>
        <p:spPr>
          <a:xfrm>
            <a:off x="7467600" y="4152900"/>
            <a:ext cx="4019550" cy="1047750"/>
          </a:xfrm>
          <a:prstGeom prst="rect">
            <a:avLst/>
          </a:prstGeom>
          <a:noFill/>
          <a:ln w="0">
            <a:noFill/>
          </a:ln>
        </p:spPr>
        <p:txBody>
          <a:bodyPr>
            <a:noAutofit/>
          </a:bodyPr>
          <a:lstStyle/>
          <a:p>
            <a:pPr>
              <a:defRPr sz="1725" b="0">
                <a:solidFill>
                  <a:srgbClr val="5A6878"/>
                </a:solidFill>
                <a:latin typeface="Malgun Gothic"/>
                <a:ea typeface="Malgun Gothic"/>
                <a:cs typeface="Malgun Gothic"/>
              </a:defRPr>
            </a:pPr>
            <a:r>
              <a:rPr sz="1725" b="0">
                <a:solidFill>
                  <a:srgbClr val="5A6878"/>
                </a:solidFill>
                <a:latin typeface="Malgun Gothic"/>
                <a:ea typeface="Malgun Gothic"/>
                <a:cs typeface="Malgun Gothic"/>
              </a:rPr>
              <a:t>1 = 매우 적응적</a:t>
            </a:r>
          </a:p>
          <a:p>
            <a:pPr>
              <a:defRPr sz="1725" b="0">
                <a:solidFill>
                  <a:srgbClr val="5A6878"/>
                </a:solidFill>
                <a:latin typeface="Malgun Gothic"/>
                <a:ea typeface="Malgun Gothic"/>
                <a:cs typeface="Malgun Gothic"/>
              </a:defRPr>
            </a:pPr>
            <a:r>
              <a:rPr sz="1725" b="0">
                <a:solidFill>
                  <a:srgbClr val="5A6878"/>
                </a:solidFill>
                <a:latin typeface="Malgun Gothic"/>
                <a:ea typeface="Malgun Gothic"/>
                <a:cs typeface="Malgun Gothic"/>
              </a:rPr>
              <a:t>3 = 중립</a:t>
            </a:r>
          </a:p>
          <a:p>
            <a:pPr>
              <a:defRPr sz="1725" b="0">
                <a:solidFill>
                  <a:srgbClr val="5A6878"/>
                </a:solidFill>
                <a:latin typeface="Malgun Gothic"/>
                <a:ea typeface="Malgun Gothic"/>
                <a:cs typeface="Malgun Gothic"/>
              </a:defRPr>
            </a:pPr>
            <a:r>
              <a:rPr sz="1725" b="0">
                <a:solidFill>
                  <a:srgbClr val="5A6878"/>
                </a:solidFill>
                <a:latin typeface="Malgun Gothic"/>
                <a:ea typeface="Malgun Gothic"/>
                <a:cs typeface="Malgun Gothic"/>
              </a:rPr>
              <a:t>5 = 매우 부적응적</a:t>
            </a:r>
          </a:p>
        </p:txBody>
      </p:sp>
      <p:sp>
        <p:nvSpPr>
          <p:cNvPr id="10" name="직사각형 9">
            <a:extLst>
              <a:ext uri="{FF2B5EF4-FFF2-40B4-BE49-F238E27FC236}">
                <a16:creationId xmlns:a16="http://schemas.microsoft.com/office/drawing/2014/main" id="{5990F3EE-BFEA-45C7-BCBE-B4FDB5321DEB}"/>
              </a:ext>
            </a:extLst>
          </p:cNvPr>
          <p:cNvSpPr>
            <a:spLocks noGrp="1"/>
          </p:cNvSpPr>
          <p:nvPr/>
        </p:nvSpPr>
        <p:spPr>
          <a:xfrm>
            <a:off x="609600" y="5438775"/>
            <a:ext cx="10972800" cy="371475"/>
          </a:xfrm>
          <a:prstGeom prst="rect">
            <a:avLst/>
          </a:prstGeom>
          <a:noFill/>
          <a:ln w="0">
            <a:noFill/>
          </a:ln>
        </p:spPr>
        <p:txBody>
          <a:bodyPr>
            <a:noAutofit/>
          </a:bodyPr>
          <a:lstStyle/>
          <a:p>
            <a:pPr>
              <a:defRPr sz="1800" b="1">
                <a:solidFill>
                  <a:srgbClr val="152538"/>
                </a:solidFill>
                <a:latin typeface="Malgun Gothic"/>
                <a:ea typeface="Malgun Gothic"/>
                <a:cs typeface="Malgun Gothic"/>
              </a:defRPr>
            </a:pPr>
            <a:r>
              <a:rPr sz="1800" b="1">
                <a:solidFill>
                  <a:srgbClr val="152538"/>
                </a:solidFill>
                <a:latin typeface="Malgun Gothic"/>
                <a:ea typeface="Malgun Gothic"/>
                <a:cs typeface="Malgun Gothic"/>
              </a:rPr>
              <a:t>보조 근거: 현시불안(MAS)과의 상관</a:t>
            </a:r>
          </a:p>
        </p:txBody>
      </p:sp>
      <p:sp>
        <p:nvSpPr>
          <p:cNvPr id="11" name="직사각형 10">
            <a:extLst>
              <a:ext uri="{FF2B5EF4-FFF2-40B4-BE49-F238E27FC236}">
                <a16:creationId xmlns:a16="http://schemas.microsoft.com/office/drawing/2014/main" id="{0D84CAEC-1D87-46ED-9926-D9F915D27DC0}"/>
              </a:ext>
            </a:extLst>
          </p:cNvPr>
          <p:cNvSpPr>
            <a:spLocks noGrp="1"/>
          </p:cNvSpPr>
          <p:nvPr/>
        </p:nvSpPr>
        <p:spPr>
          <a:xfrm>
            <a:off x="609600" y="5848350"/>
            <a:ext cx="10972800" cy="352425"/>
          </a:xfrm>
          <a:prstGeom prst="rect">
            <a:avLst/>
          </a:prstGeom>
          <a:noFill/>
          <a:ln w="0">
            <a:noFill/>
          </a:ln>
        </p:spPr>
        <p:txBody>
          <a:bodyPr>
            <a:noAutofit/>
          </a:bodyPr>
          <a:lstStyle/>
          <a:p>
            <a:pPr>
              <a:defRPr sz="2025" b="1">
                <a:solidFill>
                  <a:srgbClr val="102D4F"/>
                </a:solidFill>
                <a:latin typeface="Malgun Gothic"/>
                <a:ea typeface="Malgun Gothic"/>
                <a:cs typeface="Malgun Gothic"/>
              </a:defRPr>
            </a:pPr>
            <a:r>
              <a:rPr sz="2025" b="1">
                <a:solidFill>
                  <a:srgbClr val="102D4F"/>
                </a:solidFill>
                <a:latin typeface="Malgun Gothic"/>
                <a:ea typeface="Malgun Gothic"/>
                <a:cs typeface="Malgun Gothic"/>
              </a:rPr>
              <a:t>Edwards −.75 / M-C −.25   (N = 34)</a:t>
            </a:r>
          </a:p>
        </p:txBody>
      </p:sp>
    </p:spTree>
    <p:extLst>
      <p:ext uri="{BB962C8B-B14F-4D97-AF65-F5344CB8AC3E}">
        <p14:creationId xmlns:p14="http://schemas.microsoft.com/office/powerpoint/2010/main" val="698817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E9A1B7D0-B66F-4755-86A2-80D3DAA90E2A}"/>
              </a:ext>
            </a:extLst>
          </p:cNvPr>
          <p:cNvSpPr>
            <a:spLocks noGrp="1"/>
          </p:cNvSpPr>
          <p:nvPr/>
        </p:nvSpPr>
        <p:spPr>
          <a:xfrm>
            <a:off x="609600" y="304800"/>
            <a:ext cx="10668000" cy="228600"/>
          </a:xfrm>
          <a:prstGeom prst="rect">
            <a:avLst/>
          </a:prstGeom>
          <a:noFill/>
          <a:ln w="0">
            <a:noFill/>
          </a:ln>
        </p:spPr>
        <p:txBody>
          <a:bodyPr>
            <a:noAutofit/>
          </a:bodyPr>
          <a:lstStyle/>
          <a:p>
            <a:pPr>
              <a:defRPr sz="1125" b="1">
                <a:solidFill>
                  <a:srgbClr val="102D4F"/>
                </a:solidFill>
                <a:latin typeface="Malgun Gothic"/>
                <a:ea typeface="Malgun Gothic"/>
                <a:cs typeface="Malgun Gothic"/>
              </a:defRPr>
            </a:pPr>
            <a:r>
              <a:rPr sz="1125" b="1">
                <a:solidFill>
                  <a:srgbClr val="102D4F"/>
                </a:solidFill>
                <a:latin typeface="Malgun Gothic"/>
                <a:ea typeface="Malgun Gothic"/>
                <a:cs typeface="Malgun Gothic"/>
              </a:rPr>
              <a:t>리뷰</a:t>
            </a:r>
          </a:p>
        </p:txBody>
      </p:sp>
      <p:sp>
        <p:nvSpPr>
          <p:cNvPr id="2" name="직사각형 1">
            <a:extLst>
              <a:ext uri="{FF2B5EF4-FFF2-40B4-BE49-F238E27FC236}">
                <a16:creationId xmlns:a16="http://schemas.microsoft.com/office/drawing/2014/main" id="{C676F842-1ADC-48FA-8445-0982AEA919D4}"/>
              </a:ext>
            </a:extLst>
          </p:cNvPr>
          <p:cNvSpPr>
            <a:spLocks noGrp="1"/>
          </p:cNvSpPr>
          <p:nvPr/>
        </p:nvSpPr>
        <p:spPr>
          <a:xfrm>
            <a:off x="609600" y="695325"/>
            <a:ext cx="10972800" cy="628650"/>
          </a:xfrm>
          <a:prstGeom prst="rect">
            <a:avLst/>
          </a:prstGeom>
          <a:noFill/>
          <a:ln w="0">
            <a:noFill/>
          </a:ln>
        </p:spPr>
        <p:txBody>
          <a:bodyPr>
            <a:noAutofit/>
          </a:bodyPr>
          <a:lstStyle/>
          <a:p>
            <a:pPr>
              <a:defRPr sz="3000" b="1">
                <a:solidFill>
                  <a:srgbClr val="152538"/>
                </a:solidFill>
                <a:latin typeface="Malgun Gothic"/>
                <a:ea typeface="Malgun Gothic"/>
                <a:cs typeface="Malgun Gothic"/>
              </a:defRPr>
            </a:pPr>
            <a:r>
              <a:rPr sz="3000" b="1">
                <a:solidFill>
                  <a:srgbClr val="152538"/>
                </a:solidFill>
                <a:latin typeface="Malgun Gothic"/>
                <a:ea typeface="Malgun Gothic"/>
                <a:cs typeface="Malgun Gothic"/>
              </a:rPr>
              <a:t>기여와 증거의 한계</a:t>
            </a:r>
          </a:p>
        </p:txBody>
      </p:sp>
      <p:sp>
        <p:nvSpPr>
          <p:cNvPr id="3" name="직사각형 2">
            <a:extLst>
              <a:ext uri="{FF2B5EF4-FFF2-40B4-BE49-F238E27FC236}">
                <a16:creationId xmlns:a16="http://schemas.microsoft.com/office/drawing/2014/main" id="{A2F82394-4B5F-453F-B519-6FCE598CC6EF}"/>
              </a:ext>
            </a:extLst>
          </p:cNvPr>
          <p:cNvSpPr>
            <a:spLocks noGrp="1"/>
          </p:cNvSpPr>
          <p:nvPr/>
        </p:nvSpPr>
        <p:spPr>
          <a:xfrm>
            <a:off x="609600" y="1390650"/>
            <a:ext cx="10972800" cy="409575"/>
          </a:xfrm>
          <a:prstGeom prst="rect">
            <a:avLst/>
          </a:prstGeom>
          <a:noFill/>
          <a:ln w="0">
            <a:noFill/>
          </a:ln>
        </p:spPr>
        <p:txBody>
          <a:bodyPr>
            <a:noAutofit/>
          </a:bodyPr>
          <a:lstStyle/>
          <a:p>
            <a:pPr>
              <a:defRPr sz="1575" b="0">
                <a:solidFill>
                  <a:srgbClr val="5A6878"/>
                </a:solidFill>
                <a:latin typeface="Malgun Gothic"/>
                <a:ea typeface="Malgun Gothic"/>
                <a:cs typeface="Malgun Gothic"/>
              </a:defRPr>
            </a:pPr>
            <a:r>
              <a:rPr sz="1575" b="0">
                <a:solidFill>
                  <a:srgbClr val="5A6878"/>
                </a:solidFill>
                <a:latin typeface="Malgun Gothic"/>
                <a:ea typeface="Malgun Gothic"/>
                <a:cs typeface="Malgun Gothic"/>
              </a:rPr>
              <a:t>문항 설계의 개선과, 측정 해석의 범위를 함께 평가한다.</a:t>
            </a:r>
          </a:p>
        </p:txBody>
      </p:sp>
      <p:sp>
        <p:nvSpPr>
          <p:cNvPr id="4" name="직사각형 3">
            <a:extLst>
              <a:ext uri="{FF2B5EF4-FFF2-40B4-BE49-F238E27FC236}">
                <a16:creationId xmlns:a16="http://schemas.microsoft.com/office/drawing/2014/main" id="{BFC518B9-7DC4-4A36-A978-26FA34F33C9A}"/>
              </a:ext>
            </a:extLst>
          </p:cNvPr>
          <p:cNvSpPr>
            <a:spLocks noGrp="1"/>
          </p:cNvSpPr>
          <p:nvPr/>
        </p:nvSpPr>
        <p:spPr>
          <a:xfrm>
            <a:off x="609600" y="6372225"/>
            <a:ext cx="10287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출처: 원문 pp. 350, 352–354 · 종합 판단은 리뷰 해석</a:t>
            </a:r>
          </a:p>
        </p:txBody>
      </p:sp>
      <p:sp>
        <p:nvSpPr>
          <p:cNvPr id="5" name="직사각형 4">
            <a:extLst>
              <a:ext uri="{FF2B5EF4-FFF2-40B4-BE49-F238E27FC236}">
                <a16:creationId xmlns:a16="http://schemas.microsoft.com/office/drawing/2014/main" id="{E2353DFF-B77D-4DED-8AC8-283138F32172}"/>
              </a:ext>
            </a:extLst>
          </p:cNvPr>
          <p:cNvSpPr>
            <a:spLocks noGrp="1"/>
          </p:cNvSpPr>
          <p:nvPr/>
        </p:nvSpPr>
        <p:spPr>
          <a:xfrm>
            <a:off x="11239500" y="6372225"/>
            <a:ext cx="381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9</a:t>
            </a:r>
          </a:p>
        </p:txBody>
      </p:sp>
      <p:sp>
        <p:nvSpPr>
          <p:cNvPr id="6" name="직사각형 5">
            <a:extLst>
              <a:ext uri="{FF2B5EF4-FFF2-40B4-BE49-F238E27FC236}">
                <a16:creationId xmlns:a16="http://schemas.microsoft.com/office/drawing/2014/main" id="{34800D98-074E-4E1D-A9EA-95C6BA89D8C2}"/>
              </a:ext>
            </a:extLst>
          </p:cNvPr>
          <p:cNvSpPr>
            <a:spLocks noGrp="1"/>
          </p:cNvSpPr>
          <p:nvPr/>
        </p:nvSpPr>
        <p:spPr>
          <a:xfrm>
            <a:off x="609600" y="2095500"/>
            <a:ext cx="1524000" cy="428625"/>
          </a:xfrm>
          <a:prstGeom prst="rect">
            <a:avLst/>
          </a:prstGeom>
          <a:noFill/>
          <a:ln w="0">
            <a:noFill/>
          </a:ln>
        </p:spPr>
        <p:txBody>
          <a:bodyPr>
            <a:noAutofit/>
          </a:bodyPr>
          <a:lstStyle/>
          <a:p>
            <a:pPr>
              <a:defRPr sz="2175" b="1">
                <a:solidFill>
                  <a:srgbClr val="102D4F"/>
                </a:solidFill>
                <a:latin typeface="Malgun Gothic"/>
                <a:ea typeface="Malgun Gothic"/>
                <a:cs typeface="Malgun Gothic"/>
              </a:defRPr>
            </a:pPr>
            <a:r>
              <a:rPr sz="2175" b="1">
                <a:solidFill>
                  <a:srgbClr val="102D4F"/>
                </a:solidFill>
                <a:latin typeface="Malgun Gothic"/>
                <a:ea typeface="Malgun Gothic"/>
                <a:cs typeface="Malgun Gothic"/>
              </a:rPr>
              <a:t>기여</a:t>
            </a:r>
          </a:p>
        </p:txBody>
      </p:sp>
      <p:sp>
        <p:nvSpPr>
          <p:cNvPr id="7" name="직사각형 6">
            <a:extLst>
              <a:ext uri="{FF2B5EF4-FFF2-40B4-BE49-F238E27FC236}">
                <a16:creationId xmlns:a16="http://schemas.microsoft.com/office/drawing/2014/main" id="{A388AFD8-60F6-476D-8D73-E08BAD4A5522}"/>
              </a:ext>
            </a:extLst>
          </p:cNvPr>
          <p:cNvSpPr>
            <a:spLocks noGrp="1"/>
          </p:cNvSpPr>
          <p:nvPr/>
        </p:nvSpPr>
        <p:spPr>
          <a:xfrm>
            <a:off x="2305050" y="2095500"/>
            <a:ext cx="9277350" cy="923925"/>
          </a:xfrm>
          <a:prstGeom prst="rect">
            <a:avLst/>
          </a:prstGeom>
          <a:noFill/>
          <a:ln w="0">
            <a:noFill/>
          </a:ln>
        </p:spPr>
        <p:txBody>
          <a:bodyPr>
            <a:noAutofit/>
          </a:bodyPr>
          <a:lstStyle/>
          <a:p>
            <a:pPr>
              <a:defRPr sz="2100" b="1">
                <a:solidFill>
                  <a:srgbClr val="152538"/>
                </a:solidFill>
                <a:latin typeface="Malgun Gothic"/>
                <a:ea typeface="Malgun Gothic"/>
                <a:cs typeface="Malgun Gothic"/>
              </a:defRPr>
            </a:pPr>
            <a:r>
              <a:rPr sz="2100" b="1">
                <a:solidFill>
                  <a:srgbClr val="152538"/>
                </a:solidFill>
                <a:latin typeface="Malgun Gothic"/>
                <a:ea typeface="Malgun Gothic"/>
                <a:cs typeface="Malgun Gothic"/>
              </a:rPr>
              <a:t>문항 내용 자체가 응답 성향의 측정을 흐릴 수 있음을 지적하고,</a:t>
            </a:r>
          </a:p>
          <a:p>
            <a:pPr>
              <a:defRPr sz="2100" b="1">
                <a:solidFill>
                  <a:srgbClr val="152538"/>
                </a:solidFill>
                <a:latin typeface="Malgun Gothic"/>
                <a:ea typeface="Malgun Gothic"/>
                <a:cs typeface="Malgun Gothic"/>
              </a:defRPr>
            </a:pPr>
            <a:r>
              <a:rPr sz="2100" b="1">
                <a:solidFill>
                  <a:srgbClr val="152538"/>
                </a:solidFill>
                <a:latin typeface="Malgun Gothic"/>
                <a:ea typeface="Malgun Gothic"/>
                <a:cs typeface="Malgun Gothic"/>
              </a:rPr>
              <a:t>병리적 혼입을 줄이는 문항 선정 원칙을 제시했다.</a:t>
            </a:r>
          </a:p>
        </p:txBody>
      </p:sp>
      <p:sp>
        <p:nvSpPr>
          <p:cNvPr id="8" name="직사각형 7">
            <a:extLst>
              <a:ext uri="{FF2B5EF4-FFF2-40B4-BE49-F238E27FC236}">
                <a16:creationId xmlns:a16="http://schemas.microsoft.com/office/drawing/2014/main" id="{D974446B-0F2A-441B-9F15-87544E0E5706}"/>
              </a:ext>
            </a:extLst>
          </p:cNvPr>
          <p:cNvSpPr>
            <a:spLocks noGrp="1"/>
          </p:cNvSpPr>
          <p:nvPr/>
        </p:nvSpPr>
        <p:spPr>
          <a:xfrm>
            <a:off x="609600" y="3362325"/>
            <a:ext cx="1524000" cy="352425"/>
          </a:xfrm>
          <a:prstGeom prst="rect">
            <a:avLst/>
          </a:prstGeom>
          <a:noFill/>
          <a:ln w="0">
            <a:noFill/>
          </a:ln>
        </p:spPr>
        <p:txBody>
          <a:bodyPr>
            <a:noAutofit/>
          </a:bodyPr>
          <a:lstStyle/>
          <a:p>
            <a:pPr>
              <a:defRPr sz="1875" b="1">
                <a:solidFill>
                  <a:srgbClr val="102D4F"/>
                </a:solidFill>
                <a:latin typeface="Malgun Gothic"/>
                <a:ea typeface="Malgun Gothic"/>
                <a:cs typeface="Malgun Gothic"/>
              </a:defRPr>
            </a:pPr>
            <a:r>
              <a:rPr sz="1875" b="1">
                <a:solidFill>
                  <a:srgbClr val="102D4F"/>
                </a:solidFill>
                <a:latin typeface="Malgun Gothic"/>
                <a:ea typeface="Malgun Gothic"/>
                <a:cs typeface="Malgun Gothic"/>
              </a:rPr>
              <a:t>표본</a:t>
            </a:r>
          </a:p>
        </p:txBody>
      </p:sp>
      <p:sp>
        <p:nvSpPr>
          <p:cNvPr id="9" name="직사각형 8">
            <a:extLst>
              <a:ext uri="{FF2B5EF4-FFF2-40B4-BE49-F238E27FC236}">
                <a16:creationId xmlns:a16="http://schemas.microsoft.com/office/drawing/2014/main" id="{1191023A-DCBB-412B-89C9-9779481B1CD9}"/>
              </a:ext>
            </a:extLst>
          </p:cNvPr>
          <p:cNvSpPr>
            <a:spLocks noGrp="1"/>
          </p:cNvSpPr>
          <p:nvPr/>
        </p:nvSpPr>
        <p:spPr>
          <a:xfrm>
            <a:off x="2305050" y="3362325"/>
            <a:ext cx="9277350" cy="733425"/>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대학 수강생 중심이며 주요 검증 표본이 작다.</a:t>
            </a:r>
          </a:p>
        </p:txBody>
      </p:sp>
      <p:sp>
        <p:nvSpPr>
          <p:cNvPr id="10" name="직사각형 9">
            <a:extLst>
              <a:ext uri="{FF2B5EF4-FFF2-40B4-BE49-F238E27FC236}">
                <a16:creationId xmlns:a16="http://schemas.microsoft.com/office/drawing/2014/main" id="{3E856BCD-C5FA-4742-A968-7A3BACB47780}"/>
              </a:ext>
            </a:extLst>
          </p:cNvPr>
          <p:cNvSpPr>
            <a:spLocks noGrp="1"/>
          </p:cNvSpPr>
          <p:nvPr/>
        </p:nvSpPr>
        <p:spPr>
          <a:xfrm>
            <a:off x="609600" y="4229100"/>
            <a:ext cx="1524000" cy="352425"/>
          </a:xfrm>
          <a:prstGeom prst="rect">
            <a:avLst/>
          </a:prstGeom>
          <a:noFill/>
          <a:ln w="0">
            <a:noFill/>
          </a:ln>
        </p:spPr>
        <p:txBody>
          <a:bodyPr>
            <a:noAutofit/>
          </a:bodyPr>
          <a:lstStyle/>
          <a:p>
            <a:pPr>
              <a:defRPr sz="1875" b="1">
                <a:solidFill>
                  <a:srgbClr val="102D4F"/>
                </a:solidFill>
                <a:latin typeface="Malgun Gothic"/>
                <a:ea typeface="Malgun Gothic"/>
                <a:cs typeface="Malgun Gothic"/>
              </a:defRPr>
            </a:pPr>
            <a:r>
              <a:rPr sz="1875" b="1">
                <a:solidFill>
                  <a:srgbClr val="102D4F"/>
                </a:solidFill>
                <a:latin typeface="Malgun Gothic"/>
                <a:ea typeface="Malgun Gothic"/>
                <a:cs typeface="Malgun Gothic"/>
              </a:rPr>
              <a:t>독립성</a:t>
            </a:r>
          </a:p>
        </p:txBody>
      </p:sp>
      <p:sp>
        <p:nvSpPr>
          <p:cNvPr id="11" name="직사각형 10">
            <a:extLst>
              <a:ext uri="{FF2B5EF4-FFF2-40B4-BE49-F238E27FC236}">
                <a16:creationId xmlns:a16="http://schemas.microsoft.com/office/drawing/2014/main" id="{AED4AD9E-4FBE-4CF9-A74C-29A29991A76F}"/>
              </a:ext>
            </a:extLst>
          </p:cNvPr>
          <p:cNvSpPr>
            <a:spLocks noGrp="1"/>
          </p:cNvSpPr>
          <p:nvPr/>
        </p:nvSpPr>
        <p:spPr>
          <a:xfrm>
            <a:off x="2305050" y="4229100"/>
            <a:ext cx="9277350" cy="733425"/>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일부 MMPI 척도와는 유의한 상관이 남는다.</a:t>
            </a:r>
          </a:p>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예: Sc와 r = −.40 (N = 37, p &lt; .05)</a:t>
            </a:r>
          </a:p>
        </p:txBody>
      </p:sp>
      <p:sp>
        <p:nvSpPr>
          <p:cNvPr id="12" name="직사각형 11">
            <a:extLst>
              <a:ext uri="{FF2B5EF4-FFF2-40B4-BE49-F238E27FC236}">
                <a16:creationId xmlns:a16="http://schemas.microsoft.com/office/drawing/2014/main" id="{84CBCD0F-3EC6-478F-9E82-AF985333238E}"/>
              </a:ext>
            </a:extLst>
          </p:cNvPr>
          <p:cNvSpPr>
            <a:spLocks noGrp="1"/>
          </p:cNvSpPr>
          <p:nvPr/>
        </p:nvSpPr>
        <p:spPr>
          <a:xfrm>
            <a:off x="609600" y="5095875"/>
            <a:ext cx="1524000" cy="352425"/>
          </a:xfrm>
          <a:prstGeom prst="rect">
            <a:avLst/>
          </a:prstGeom>
          <a:noFill/>
          <a:ln w="0">
            <a:noFill/>
          </a:ln>
        </p:spPr>
        <p:txBody>
          <a:bodyPr>
            <a:noAutofit/>
          </a:bodyPr>
          <a:lstStyle/>
          <a:p>
            <a:pPr>
              <a:defRPr sz="1875" b="1">
                <a:solidFill>
                  <a:srgbClr val="102D4F"/>
                </a:solidFill>
                <a:latin typeface="Malgun Gothic"/>
                <a:ea typeface="Malgun Gothic"/>
                <a:cs typeface="Malgun Gothic"/>
              </a:defRPr>
            </a:pPr>
            <a:r>
              <a:rPr sz="1875" b="1">
                <a:solidFill>
                  <a:srgbClr val="102D4F"/>
                </a:solidFill>
                <a:latin typeface="Malgun Gothic"/>
                <a:ea typeface="Malgun Gothic"/>
                <a:cs typeface="Malgun Gothic"/>
              </a:rPr>
              <a:t>해석</a:t>
            </a:r>
          </a:p>
        </p:txBody>
      </p:sp>
      <p:sp>
        <p:nvSpPr>
          <p:cNvPr id="13" name="직사각형 12">
            <a:extLst>
              <a:ext uri="{FF2B5EF4-FFF2-40B4-BE49-F238E27FC236}">
                <a16:creationId xmlns:a16="http://schemas.microsoft.com/office/drawing/2014/main" id="{C53C32E8-D2CD-4439-96BE-C1E0D7C6068A}"/>
              </a:ext>
            </a:extLst>
          </p:cNvPr>
          <p:cNvSpPr>
            <a:spLocks noGrp="1"/>
          </p:cNvSpPr>
          <p:nvPr/>
        </p:nvSpPr>
        <p:spPr>
          <a:xfrm>
            <a:off x="2305050" y="5095875"/>
            <a:ext cx="9277350" cy="733425"/>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문항 평정과 상관만으로 실제 승인욕구나</a:t>
            </a:r>
          </a:p>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의도적 거짓말을 직접 입증하지는 못했다.</a:t>
            </a:r>
          </a:p>
        </p:txBody>
      </p:sp>
    </p:spTree>
    <p:extLst>
      <p:ext uri="{BB962C8B-B14F-4D97-AF65-F5344CB8AC3E}">
        <p14:creationId xmlns:p14="http://schemas.microsoft.com/office/powerpoint/2010/main" val="937134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35FF50FC-7E1C-4955-A676-B407B6057FFB}"/>
              </a:ext>
            </a:extLst>
          </p:cNvPr>
          <p:cNvSpPr>
            <a:spLocks noGrp="1"/>
          </p:cNvSpPr>
          <p:nvPr/>
        </p:nvSpPr>
        <p:spPr>
          <a:xfrm>
            <a:off x="609600" y="304800"/>
            <a:ext cx="10668000" cy="228600"/>
          </a:xfrm>
          <a:prstGeom prst="rect">
            <a:avLst/>
          </a:prstGeom>
          <a:noFill/>
          <a:ln w="0">
            <a:noFill/>
          </a:ln>
        </p:spPr>
        <p:txBody>
          <a:bodyPr>
            <a:noAutofit/>
          </a:bodyPr>
          <a:lstStyle/>
          <a:p>
            <a:pPr>
              <a:defRPr sz="1125" b="1">
                <a:solidFill>
                  <a:srgbClr val="102D4F"/>
                </a:solidFill>
                <a:latin typeface="Malgun Gothic"/>
                <a:ea typeface="Malgun Gothic"/>
                <a:cs typeface="Malgun Gothic"/>
              </a:defRPr>
            </a:pPr>
            <a:r>
              <a:rPr sz="1125" b="1">
                <a:solidFill>
                  <a:srgbClr val="102D4F"/>
                </a:solidFill>
                <a:latin typeface="Malgun Gothic"/>
                <a:ea typeface="Malgun Gothic"/>
                <a:cs typeface="Malgun Gothic"/>
              </a:rPr>
              <a:t>핵심 정리</a:t>
            </a:r>
          </a:p>
        </p:txBody>
      </p:sp>
      <p:sp>
        <p:nvSpPr>
          <p:cNvPr id="2" name="직사각형 1">
            <a:extLst>
              <a:ext uri="{FF2B5EF4-FFF2-40B4-BE49-F238E27FC236}">
                <a16:creationId xmlns:a16="http://schemas.microsoft.com/office/drawing/2014/main" id="{13C68FB7-029D-4301-8062-F63C213FA3BA}"/>
              </a:ext>
            </a:extLst>
          </p:cNvPr>
          <p:cNvSpPr>
            <a:spLocks noGrp="1"/>
          </p:cNvSpPr>
          <p:nvPr/>
        </p:nvSpPr>
        <p:spPr>
          <a:xfrm>
            <a:off x="609600" y="695325"/>
            <a:ext cx="10972800" cy="628650"/>
          </a:xfrm>
          <a:prstGeom prst="rect">
            <a:avLst/>
          </a:prstGeom>
          <a:noFill/>
          <a:ln w="0">
            <a:noFill/>
          </a:ln>
        </p:spPr>
        <p:txBody>
          <a:bodyPr>
            <a:noAutofit/>
          </a:bodyPr>
          <a:lstStyle/>
          <a:p>
            <a:pPr>
              <a:defRPr sz="3000" b="1">
                <a:solidFill>
                  <a:srgbClr val="152538"/>
                </a:solidFill>
                <a:latin typeface="Malgun Gothic"/>
                <a:ea typeface="Malgun Gothic"/>
                <a:cs typeface="Malgun Gothic"/>
              </a:defRPr>
            </a:pPr>
            <a:r>
              <a:rPr sz="3000" b="1">
                <a:solidFill>
                  <a:srgbClr val="152538"/>
                </a:solidFill>
                <a:latin typeface="Malgun Gothic"/>
                <a:ea typeface="Malgun Gothic"/>
                <a:cs typeface="Malgun Gothic"/>
              </a:rPr>
              <a:t>Crowne &amp; Marlowe (1960) · M-C SDS</a:t>
            </a:r>
          </a:p>
        </p:txBody>
      </p:sp>
      <p:sp>
        <p:nvSpPr>
          <p:cNvPr id="3" name="직사각형 2">
            <a:extLst>
              <a:ext uri="{FF2B5EF4-FFF2-40B4-BE49-F238E27FC236}">
                <a16:creationId xmlns:a16="http://schemas.microsoft.com/office/drawing/2014/main" id="{596381EE-A2F6-4205-AEB2-6C9FF517864D}"/>
              </a:ext>
            </a:extLst>
          </p:cNvPr>
          <p:cNvSpPr>
            <a:spLocks noGrp="1"/>
          </p:cNvSpPr>
          <p:nvPr/>
        </p:nvSpPr>
        <p:spPr>
          <a:xfrm>
            <a:off x="609600" y="1390650"/>
            <a:ext cx="10972800" cy="409575"/>
          </a:xfrm>
          <a:prstGeom prst="rect">
            <a:avLst/>
          </a:prstGeom>
          <a:noFill/>
          <a:ln w="0">
            <a:noFill/>
          </a:ln>
        </p:spPr>
        <p:txBody>
          <a:bodyPr>
            <a:noAutofit/>
          </a:bodyPr>
          <a:lstStyle/>
          <a:p>
            <a:pPr>
              <a:defRPr sz="1575" b="0">
                <a:solidFill>
                  <a:srgbClr val="5A6878"/>
                </a:solidFill>
                <a:latin typeface="Malgun Gothic"/>
                <a:ea typeface="Malgun Gothic"/>
                <a:cs typeface="Malgun Gothic"/>
              </a:defRPr>
            </a:pPr>
            <a:r>
              <a:rPr sz="1575" b="0">
                <a:solidFill>
                  <a:srgbClr val="5A6878"/>
                </a:solidFill>
                <a:latin typeface="Malgun Gothic"/>
                <a:ea typeface="Malgun Gothic"/>
                <a:cs typeface="Malgun Gothic"/>
              </a:rPr>
              <a:t>Marlowe–Crowne 사회적 바람직성 척도 · 문제 ① · 아이디어 ② · 결과 ③</a:t>
            </a:r>
          </a:p>
        </p:txBody>
      </p:sp>
      <p:sp>
        <p:nvSpPr>
          <p:cNvPr id="4" name="직사각형 3">
            <a:extLst>
              <a:ext uri="{FF2B5EF4-FFF2-40B4-BE49-F238E27FC236}">
                <a16:creationId xmlns:a16="http://schemas.microsoft.com/office/drawing/2014/main" id="{BE8B53AA-5529-41A9-A5E0-54A70181F001}"/>
              </a:ext>
            </a:extLst>
          </p:cNvPr>
          <p:cNvSpPr>
            <a:spLocks noGrp="1"/>
          </p:cNvSpPr>
          <p:nvPr/>
        </p:nvSpPr>
        <p:spPr>
          <a:xfrm>
            <a:off x="609600" y="6372225"/>
            <a:ext cx="10287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Crowne &amp; Marlowe (1960). Journal of Consulting Psychology, 24(4), 349–354. 결과: p. 350.</a:t>
            </a:r>
          </a:p>
        </p:txBody>
      </p:sp>
      <p:sp>
        <p:nvSpPr>
          <p:cNvPr id="5" name="직사각형 4">
            <a:extLst>
              <a:ext uri="{FF2B5EF4-FFF2-40B4-BE49-F238E27FC236}">
                <a16:creationId xmlns:a16="http://schemas.microsoft.com/office/drawing/2014/main" id="{B506A9CB-2041-4A5F-85F7-3D01B58F07A9}"/>
              </a:ext>
            </a:extLst>
          </p:cNvPr>
          <p:cNvSpPr>
            <a:spLocks noGrp="1"/>
          </p:cNvSpPr>
          <p:nvPr/>
        </p:nvSpPr>
        <p:spPr>
          <a:xfrm>
            <a:off x="11239500" y="6372225"/>
            <a:ext cx="381000" cy="228600"/>
          </a:xfrm>
          <a:prstGeom prst="rect">
            <a:avLst/>
          </a:prstGeom>
          <a:noFill/>
          <a:ln w="0">
            <a:noFill/>
          </a:ln>
        </p:spPr>
        <p:txBody>
          <a:bodyPr>
            <a:noAutofit/>
          </a:bodyPr>
          <a:lstStyle/>
          <a:p>
            <a:pPr>
              <a:defRPr sz="975" b="0">
                <a:solidFill>
                  <a:srgbClr val="5A6878"/>
                </a:solidFill>
                <a:latin typeface="Malgun Gothic"/>
                <a:ea typeface="Malgun Gothic"/>
                <a:cs typeface="Malgun Gothic"/>
              </a:defRPr>
            </a:pPr>
            <a:r>
              <a:rPr sz="975" b="0">
                <a:solidFill>
                  <a:srgbClr val="5A6878"/>
                </a:solidFill>
                <a:latin typeface="Malgun Gothic"/>
                <a:ea typeface="Malgun Gothic"/>
                <a:cs typeface="Malgun Gothic"/>
              </a:rPr>
              <a:t>10</a:t>
            </a:r>
          </a:p>
        </p:txBody>
      </p:sp>
      <p:sp>
        <p:nvSpPr>
          <p:cNvPr id="6" name="직사각형 5">
            <a:extLst>
              <a:ext uri="{FF2B5EF4-FFF2-40B4-BE49-F238E27FC236}">
                <a16:creationId xmlns:a16="http://schemas.microsoft.com/office/drawing/2014/main" id="{36FB3E4E-0BDF-4CF6-B46C-6959CFAB04C4}"/>
              </a:ext>
            </a:extLst>
          </p:cNvPr>
          <p:cNvSpPr>
            <a:spLocks noGrp="1"/>
          </p:cNvSpPr>
          <p:nvPr/>
        </p:nvSpPr>
        <p:spPr>
          <a:xfrm>
            <a:off x="609600" y="2066925"/>
            <a:ext cx="2076450" cy="381000"/>
          </a:xfrm>
          <a:prstGeom prst="rect">
            <a:avLst/>
          </a:prstGeom>
          <a:noFill/>
          <a:ln w="0">
            <a:noFill/>
          </a:ln>
        </p:spPr>
        <p:txBody>
          <a:bodyPr>
            <a:noAutofit/>
          </a:bodyPr>
          <a:lstStyle/>
          <a:p>
            <a:pPr>
              <a:defRPr sz="1875" b="1">
                <a:solidFill>
                  <a:srgbClr val="102D4F"/>
                </a:solidFill>
                <a:latin typeface="Malgun Gothic"/>
                <a:ea typeface="Malgun Gothic"/>
                <a:cs typeface="Malgun Gothic"/>
              </a:defRPr>
            </a:pPr>
            <a:r>
              <a:rPr sz="1875" b="1">
                <a:solidFill>
                  <a:srgbClr val="102D4F"/>
                </a:solidFill>
                <a:latin typeface="Malgun Gothic"/>
                <a:ea typeface="Malgun Gothic"/>
                <a:cs typeface="Malgun Gothic"/>
              </a:rPr>
              <a:t>① 문제</a:t>
            </a:r>
          </a:p>
        </p:txBody>
      </p:sp>
      <p:sp>
        <p:nvSpPr>
          <p:cNvPr id="7" name="직사각형 6">
            <a:extLst>
              <a:ext uri="{FF2B5EF4-FFF2-40B4-BE49-F238E27FC236}">
                <a16:creationId xmlns:a16="http://schemas.microsoft.com/office/drawing/2014/main" id="{90B28890-2A62-4CAE-9853-64B895995EC1}"/>
              </a:ext>
            </a:extLst>
          </p:cNvPr>
          <p:cNvSpPr>
            <a:spLocks noGrp="1"/>
          </p:cNvSpPr>
          <p:nvPr/>
        </p:nvSpPr>
        <p:spPr>
          <a:xfrm>
            <a:off x="2800350" y="2066925"/>
            <a:ext cx="8782050" cy="914400"/>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기존 Edwards 척도는 증상 관련 문항을 포함해, 높은 점수가</a:t>
            </a:r>
          </a:p>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좋게 보이려는 응답 때문인지 실제로 증상이 없기 때문인지 구분하기 어려웠다.</a:t>
            </a:r>
          </a:p>
        </p:txBody>
      </p:sp>
      <p:sp>
        <p:nvSpPr>
          <p:cNvPr id="8" name="직사각형 7">
            <a:extLst>
              <a:ext uri="{FF2B5EF4-FFF2-40B4-BE49-F238E27FC236}">
                <a16:creationId xmlns:a16="http://schemas.microsoft.com/office/drawing/2014/main" id="{9C79E772-60D2-4A7E-8242-E0FC75CFA248}"/>
              </a:ext>
            </a:extLst>
          </p:cNvPr>
          <p:cNvSpPr>
            <a:spLocks noGrp="1"/>
          </p:cNvSpPr>
          <p:nvPr/>
        </p:nvSpPr>
        <p:spPr>
          <a:xfrm>
            <a:off x="609600" y="3209925"/>
            <a:ext cx="2076450" cy="381000"/>
          </a:xfrm>
          <a:prstGeom prst="rect">
            <a:avLst/>
          </a:prstGeom>
          <a:noFill/>
          <a:ln w="0">
            <a:noFill/>
          </a:ln>
        </p:spPr>
        <p:txBody>
          <a:bodyPr>
            <a:noAutofit/>
          </a:bodyPr>
          <a:lstStyle/>
          <a:p>
            <a:pPr>
              <a:defRPr sz="1875" b="1">
                <a:solidFill>
                  <a:srgbClr val="102D4F"/>
                </a:solidFill>
                <a:latin typeface="Malgun Gothic"/>
                <a:ea typeface="Malgun Gothic"/>
                <a:cs typeface="Malgun Gothic"/>
              </a:defRPr>
            </a:pPr>
            <a:r>
              <a:rPr sz="1875" b="1">
                <a:solidFill>
                  <a:srgbClr val="102D4F"/>
                </a:solidFill>
                <a:latin typeface="Malgun Gothic"/>
                <a:ea typeface="Malgun Gothic"/>
                <a:cs typeface="Malgun Gothic"/>
              </a:rPr>
              <a:t>② 핵심 아이디어</a:t>
            </a:r>
          </a:p>
        </p:txBody>
      </p:sp>
      <p:sp>
        <p:nvSpPr>
          <p:cNvPr id="9" name="직사각형 8">
            <a:extLst>
              <a:ext uri="{FF2B5EF4-FFF2-40B4-BE49-F238E27FC236}">
                <a16:creationId xmlns:a16="http://schemas.microsoft.com/office/drawing/2014/main" id="{49E10AC8-1115-47FF-B553-D1647554A559}"/>
              </a:ext>
            </a:extLst>
          </p:cNvPr>
          <p:cNvSpPr>
            <a:spLocks noGrp="1"/>
          </p:cNvSpPr>
          <p:nvPr/>
        </p:nvSpPr>
        <p:spPr>
          <a:xfrm>
            <a:off x="2800350" y="3209925"/>
            <a:ext cx="8782050" cy="914400"/>
          </a:xfrm>
          <a:prstGeom prst="rect">
            <a:avLst/>
          </a:prstGeom>
          <a:noFill/>
          <a:ln w="0">
            <a:noFill/>
          </a:ln>
        </p:spPr>
        <p:txBody>
          <a:bodyPr>
            <a:noAutofit/>
          </a:bodyPr>
          <a:lstStyle/>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문화적으로 바람직하지만 일관되게 나타나기는 드문 행동을 묻고,</a:t>
            </a:r>
          </a:p>
          <a:p>
            <a:pPr>
              <a:defRPr sz="1875" b="0">
                <a:solidFill>
                  <a:srgbClr val="152538"/>
                </a:solidFill>
                <a:latin typeface="Malgun Gothic"/>
                <a:ea typeface="Malgun Gothic"/>
                <a:cs typeface="Malgun Gothic"/>
              </a:defRPr>
            </a:pPr>
            <a:r>
              <a:rPr sz="1875" b="0">
                <a:solidFill>
                  <a:srgbClr val="152538"/>
                </a:solidFill>
                <a:latin typeface="Malgun Gothic"/>
                <a:ea typeface="Malgun Gothic"/>
                <a:cs typeface="Malgun Gothic"/>
              </a:rPr>
              <a:t>응답의 병리적 함의를 최소화한 참·거짓 33문항 척도를 개발했다.</a:t>
            </a:r>
          </a:p>
        </p:txBody>
      </p:sp>
      <p:sp>
        <p:nvSpPr>
          <p:cNvPr id="10" name="직사각형 9">
            <a:extLst>
              <a:ext uri="{FF2B5EF4-FFF2-40B4-BE49-F238E27FC236}">
                <a16:creationId xmlns:a16="http://schemas.microsoft.com/office/drawing/2014/main" id="{BD1EBB99-E1DD-49CC-9DD3-904E93DE56CF}"/>
              </a:ext>
            </a:extLst>
          </p:cNvPr>
          <p:cNvSpPr>
            <a:spLocks noGrp="1"/>
          </p:cNvSpPr>
          <p:nvPr/>
        </p:nvSpPr>
        <p:spPr>
          <a:xfrm>
            <a:off x="609600" y="4352925"/>
            <a:ext cx="2076450" cy="381000"/>
          </a:xfrm>
          <a:prstGeom prst="rect">
            <a:avLst/>
          </a:prstGeom>
          <a:noFill/>
          <a:ln w="0">
            <a:noFill/>
          </a:ln>
        </p:spPr>
        <p:txBody>
          <a:bodyPr>
            <a:noAutofit/>
          </a:bodyPr>
          <a:lstStyle/>
          <a:p>
            <a:pPr>
              <a:defRPr sz="1875" b="1">
                <a:solidFill>
                  <a:srgbClr val="102D4F"/>
                </a:solidFill>
                <a:latin typeface="Malgun Gothic"/>
                <a:ea typeface="Malgun Gothic"/>
                <a:cs typeface="Malgun Gothic"/>
              </a:defRPr>
            </a:pPr>
            <a:r>
              <a:rPr sz="1875" b="1">
                <a:solidFill>
                  <a:srgbClr val="102D4F"/>
                </a:solidFill>
                <a:latin typeface="Malgun Gothic"/>
                <a:ea typeface="Malgun Gothic"/>
                <a:cs typeface="Malgun Gothic"/>
              </a:rPr>
              <a:t>③ 결과</a:t>
            </a:r>
          </a:p>
        </p:txBody>
      </p:sp>
      <p:sp>
        <p:nvSpPr>
          <p:cNvPr id="11" name="직사각형 10">
            <a:extLst>
              <a:ext uri="{FF2B5EF4-FFF2-40B4-BE49-F238E27FC236}">
                <a16:creationId xmlns:a16="http://schemas.microsoft.com/office/drawing/2014/main" id="{2582FDDC-85A2-4504-B2C9-306A206B3846}"/>
              </a:ext>
            </a:extLst>
          </p:cNvPr>
          <p:cNvSpPr>
            <a:spLocks noGrp="1"/>
          </p:cNvSpPr>
          <p:nvPr/>
        </p:nvSpPr>
        <p:spPr>
          <a:xfrm>
            <a:off x="2800350" y="4352925"/>
            <a:ext cx="8782050" cy="914400"/>
          </a:xfrm>
          <a:prstGeom prst="rect">
            <a:avLst/>
          </a:prstGeom>
          <a:noFill/>
          <a:ln w="0">
            <a:noFill/>
          </a:ln>
        </p:spPr>
        <p:txBody>
          <a:bodyPr>
            <a:noAutofit/>
          </a:bodyPr>
          <a:lstStyle/>
          <a:p>
            <a:pPr>
              <a:defRPr sz="1875" b="1">
                <a:solidFill>
                  <a:srgbClr val="152538"/>
                </a:solidFill>
                <a:latin typeface="Malgun Gothic"/>
                <a:ea typeface="Malgun Gothic"/>
                <a:cs typeface="Malgun Gothic"/>
              </a:defRPr>
            </a:pPr>
            <a:r>
              <a:rPr sz="1875" b="1">
                <a:solidFill>
                  <a:srgbClr val="152538"/>
                </a:solidFill>
                <a:latin typeface="Malgun Gothic"/>
                <a:ea typeface="Malgun Gothic"/>
                <a:cs typeface="Malgun Gothic"/>
              </a:rPr>
              <a:t>부적응 함축 평정은 M-C 예비 문항 2.8점, Edwards 문항 3.9점.</a:t>
            </a:r>
          </a:p>
          <a:p>
            <a:pPr>
              <a:defRPr sz="1875" b="1">
                <a:solidFill>
                  <a:srgbClr val="152538"/>
                </a:solidFill>
                <a:latin typeface="Malgun Gothic"/>
                <a:ea typeface="Malgun Gothic"/>
                <a:cs typeface="Malgun Gothic"/>
              </a:defRPr>
            </a:pPr>
            <a:r>
              <a:rPr sz="1875" b="1">
                <a:solidFill>
                  <a:srgbClr val="152538"/>
                </a:solidFill>
                <a:latin typeface="Malgun Gothic"/>
                <a:ea typeface="Malgun Gothic"/>
                <a:cs typeface="Malgun Gothic"/>
              </a:rPr>
              <a:t>동일한 5점 척도에서 1.1점 낮았다 (평정자 10명).</a:t>
            </a:r>
          </a:p>
        </p:txBody>
      </p:sp>
      <p:sp>
        <p:nvSpPr>
          <p:cNvPr id="12" name="직사각형 11">
            <a:extLst>
              <a:ext uri="{FF2B5EF4-FFF2-40B4-BE49-F238E27FC236}">
                <a16:creationId xmlns:a16="http://schemas.microsoft.com/office/drawing/2014/main" id="{C746F027-C178-42C8-9F4C-B473F7631DFF}"/>
              </a:ext>
            </a:extLst>
          </p:cNvPr>
          <p:cNvSpPr>
            <a:spLocks noGrp="1"/>
          </p:cNvSpPr>
          <p:nvPr/>
        </p:nvSpPr>
        <p:spPr>
          <a:xfrm>
            <a:off x="609600" y="5657850"/>
            <a:ext cx="10972800" cy="514350"/>
          </a:xfrm>
          <a:prstGeom prst="rect">
            <a:avLst/>
          </a:prstGeom>
          <a:solidFill>
            <a:srgbClr val="EDF2F7"/>
          </a:solidFill>
          <a:ln w="0">
            <a:noFill/>
          </a:ln>
        </p:spPr>
        <p:txBody>
          <a:bodyPr/>
          <a:lstStyle/>
          <a:p>
            <a:endParaRPr lang="ko-KR" altLang="en-US"/>
          </a:p>
        </p:txBody>
      </p:sp>
      <p:sp>
        <p:nvSpPr>
          <p:cNvPr id="13" name="직사각형 12">
            <a:extLst>
              <a:ext uri="{FF2B5EF4-FFF2-40B4-BE49-F238E27FC236}">
                <a16:creationId xmlns:a16="http://schemas.microsoft.com/office/drawing/2014/main" id="{AF16F716-A37C-4AF1-8942-1594E36240AD}"/>
              </a:ext>
            </a:extLst>
          </p:cNvPr>
          <p:cNvSpPr>
            <a:spLocks noGrp="1"/>
          </p:cNvSpPr>
          <p:nvPr/>
        </p:nvSpPr>
        <p:spPr>
          <a:xfrm>
            <a:off x="771525" y="5753100"/>
            <a:ext cx="10648950" cy="342900"/>
          </a:xfrm>
          <a:prstGeom prst="rect">
            <a:avLst/>
          </a:prstGeom>
          <a:noFill/>
          <a:ln w="0">
            <a:noFill/>
          </a:ln>
        </p:spPr>
        <p:txBody>
          <a:bodyPr>
            <a:noAutofit/>
          </a:bodyPr>
          <a:lstStyle/>
          <a:p>
            <a:pPr>
              <a:defRPr sz="1725" b="1">
                <a:solidFill>
                  <a:srgbClr val="102D4F"/>
                </a:solidFill>
                <a:latin typeface="Malgun Gothic"/>
                <a:ea typeface="Malgun Gothic"/>
                <a:cs typeface="Malgun Gothic"/>
              </a:defRPr>
            </a:pPr>
            <a:r>
              <a:rPr sz="1725" b="1">
                <a:solidFill>
                  <a:srgbClr val="102D4F"/>
                </a:solidFill>
                <a:latin typeface="Malgun Gothic"/>
                <a:ea typeface="Malgun Gothic"/>
                <a:cs typeface="Malgun Gothic"/>
              </a:rPr>
              <a:t>리뷰: 병리적 혼입을 줄였다는 근거이며, 완전한 무관성을 뜻하지는 않는다.</a:t>
            </a:r>
          </a:p>
        </p:txBody>
      </p:sp>
    </p:spTree>
    <p:extLst>
      <p:ext uri="{BB962C8B-B14F-4D97-AF65-F5344CB8AC3E}">
        <p14:creationId xmlns:p14="http://schemas.microsoft.com/office/powerpoint/2010/main" val="832588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D4F"/>
        </a:solidFill>
        <a:effectLst/>
      </p:bgPr>
    </p:bg>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88DC6009-D2C3-42A3-A363-2025E80563EC}"/>
              </a:ext>
            </a:extLst>
          </p:cNvPr>
          <p:cNvSpPr>
            <a:spLocks noGrp="1"/>
          </p:cNvSpPr>
          <p:nvPr/>
        </p:nvSpPr>
        <p:spPr>
          <a:xfrm>
            <a:off x="609600" y="2076450"/>
            <a:ext cx="10972800" cy="952500"/>
          </a:xfrm>
          <a:prstGeom prst="rect">
            <a:avLst/>
          </a:prstGeom>
          <a:noFill/>
          <a:ln w="0">
            <a:noFill/>
          </a:ln>
        </p:spPr>
        <p:txBody>
          <a:bodyPr>
            <a:noAutofit/>
          </a:bodyPr>
          <a:lstStyle/>
          <a:p>
            <a:pPr>
              <a:defRPr sz="4800" b="1">
                <a:solidFill>
                  <a:srgbClr val="FFFFFF"/>
                </a:solidFill>
                <a:latin typeface="Malgun Gothic"/>
                <a:ea typeface="Malgun Gothic"/>
                <a:cs typeface="Malgun Gothic"/>
              </a:defRPr>
            </a:pPr>
            <a:r>
              <a:rPr sz="4800" b="1" dirty="0" err="1">
                <a:solidFill>
                  <a:srgbClr val="FFFFFF"/>
                </a:solidFill>
                <a:latin typeface="Malgun Gothic"/>
                <a:ea typeface="Malgun Gothic"/>
                <a:cs typeface="Malgun Gothic"/>
              </a:rPr>
              <a:t>감사합니다</a:t>
            </a:r>
            <a:r>
              <a:rPr lang="en-US" sz="4800" b="1">
                <a:solidFill>
                  <a:srgbClr val="FFFFFF"/>
                </a:solidFill>
                <a:latin typeface="Malgun Gothic"/>
                <a:ea typeface="Malgun Gothic"/>
                <a:cs typeface="Malgun Gothic"/>
              </a:rPr>
              <a:t>!</a:t>
            </a:r>
            <a:endParaRPr sz="4800" b="1">
              <a:solidFill>
                <a:srgbClr val="FFFFFF"/>
              </a:solidFill>
              <a:latin typeface="Malgun Gothic"/>
              <a:ea typeface="Malgun Gothic"/>
              <a:cs typeface="Malgun Gothic"/>
            </a:endParaRPr>
          </a:p>
        </p:txBody>
      </p:sp>
      <p:sp>
        <p:nvSpPr>
          <p:cNvPr id="2" name="직사각형 1">
            <a:extLst>
              <a:ext uri="{FF2B5EF4-FFF2-40B4-BE49-F238E27FC236}">
                <a16:creationId xmlns:a16="http://schemas.microsoft.com/office/drawing/2014/main" id="{91664A5C-30CB-496F-8740-B444904D127E}"/>
              </a:ext>
            </a:extLst>
          </p:cNvPr>
          <p:cNvSpPr>
            <a:spLocks noGrp="1"/>
          </p:cNvSpPr>
          <p:nvPr/>
        </p:nvSpPr>
        <p:spPr>
          <a:xfrm>
            <a:off x="609600" y="3390900"/>
            <a:ext cx="10972800" cy="1162050"/>
          </a:xfrm>
          <a:prstGeom prst="rect">
            <a:avLst/>
          </a:prstGeom>
          <a:noFill/>
          <a:ln w="0">
            <a:noFill/>
          </a:ln>
        </p:spPr>
        <p:txBody>
          <a:bodyPr>
            <a:noAutofit/>
          </a:bodyPr>
          <a:lstStyle/>
          <a:p>
            <a:pPr>
              <a:defRPr sz="2925" b="0">
                <a:solidFill>
                  <a:srgbClr val="FFFFFF"/>
                </a:solidFill>
                <a:latin typeface="Malgun Gothic"/>
                <a:ea typeface="Malgun Gothic"/>
                <a:cs typeface="Malgun Gothic"/>
              </a:defRPr>
            </a:pPr>
            <a:endParaRPr sz="2925" b="0" dirty="0">
              <a:solidFill>
                <a:srgbClr val="FFFFFF"/>
              </a:solidFill>
              <a:latin typeface="Malgun Gothic"/>
              <a:ea typeface="Malgun Gothic"/>
              <a:cs typeface="Malgun Gothic"/>
            </a:endParaRPr>
          </a:p>
        </p:txBody>
      </p:sp>
    </p:spTree>
    <p:extLst>
      <p:ext uri="{BB962C8B-B14F-4D97-AF65-F5344CB8AC3E}">
        <p14:creationId xmlns:p14="http://schemas.microsoft.com/office/powerpoint/2010/main" val="168137849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1879</Words>
  <Application>Microsoft Office PowerPoint</Application>
  <DocSecurity>0</DocSecurity>
  <PresentationFormat>와이드스크린</PresentationFormat>
  <Paragraphs>181</Paragraphs>
  <Slides>11</Slides>
  <Notes>11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11</vt:i4>
      </vt:variant>
    </vt:vector>
  </HeadingPairs>
  <TitlesOfParts>
    <vt:vector size="14" baseType="lpstr">
      <vt:lpstr>Malgun Gothic</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서진 박</cp:lastModifiedBy>
  <cp:revision>1</cp:revision>
  <dcterms:created xsi:type="dcterms:W3CDTF">2026-09-08T10:34:27Z</dcterms:created>
  <dcterms:modified xsi:type="dcterms:W3CDTF">2026-09-08T10:38:46Z</dcterms:modified>
</cp:coreProperties>
</file>